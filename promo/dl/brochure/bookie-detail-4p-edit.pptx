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7560005" cy="10692003"/>
  <p:notesSz cx="10692003" cy="756000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96082" y="495300"/>
            <a:ext cx="398297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3266059" y="2755900"/>
            <a:ext cx="3912997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65697" y="4635500"/>
            <a:ext cx="713359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4208" y="6362192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4106037" y="6553200"/>
            <a:ext cx="3073019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7500" y="9232900"/>
            <a:ext cx="6925056" cy="889000"/>
          </a:xfrm>
          <a:prstGeom prst="roundRect">
            <a:avLst>
              <a:gd name="adj" fmla="val 11429"/>
            </a:avLst>
          </a:prstGeom>
          <a:solidFill>
            <a:srgbClr val="F0F5EF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19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20" name="txt-2-0"/>
          <p:cNvSpPr txBox="1"/>
          <p:nvPr/>
        </p:nvSpPr>
        <p:spPr>
          <a:xfrm>
            <a:off x="381000" y="296926"/>
            <a:ext cx="3081401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현장 초등교사가 드리는 제안</a:t>
            </a:r>
            <a:endParaRPr lang="en-US" sz="1700" dirty="0"/>
          </a:p>
        </p:txBody>
      </p:sp>
      <p:sp>
        <p:nvSpPr>
          <p:cNvPr id="21" name="txt-2-1"/>
          <p:cNvSpPr txBox="1"/>
          <p:nvPr/>
        </p:nvSpPr>
        <p:spPr>
          <a:xfrm>
            <a:off x="381000" y="730758"/>
            <a:ext cx="4901565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스스로 생각할 기회를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잃을까 두렵습니다.</a:t>
            </a:r>
            <a:endParaRPr lang="en-US" sz="3700" dirty="0"/>
          </a:p>
        </p:txBody>
      </p:sp>
      <p:sp>
        <p:nvSpPr>
          <p:cNvPr id="22" name="txt-2-2"/>
          <p:cNvSpPr txBox="1"/>
          <p:nvPr/>
        </p:nvSpPr>
        <p:spPr>
          <a:xfrm>
            <a:off x="863346" y="2545207"/>
            <a:ext cx="2655316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교실에서 마주한 걱정</a:t>
            </a:r>
            <a:endParaRPr lang="en-US" sz="1950" dirty="0"/>
          </a:p>
        </p:txBody>
      </p:sp>
      <p:sp>
        <p:nvSpPr>
          <p:cNvPr id="23" name="txt-2-3"/>
          <p:cNvSpPr txBox="1"/>
          <p:nvPr/>
        </p:nvSpPr>
        <p:spPr>
          <a:xfrm>
            <a:off x="381000" y="3027680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학교 현장에서 아이들이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책을 충분히 읽지 않는 현실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마주했습니다.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사람의 생각을 차분히 따라 읽고,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생각을 만들어 볼 기회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마저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잃은 채 자랄까 두렵습니다.</a:t>
            </a:r>
            <a:endParaRPr lang="en-US" sz="1800" dirty="0"/>
          </a:p>
        </p:txBody>
      </p:sp>
      <p:sp>
        <p:nvSpPr>
          <p:cNvPr id="24" name="txt-2-4"/>
          <p:cNvSpPr txBox="1"/>
          <p:nvPr/>
        </p:nvSpPr>
        <p:spPr>
          <a:xfrm>
            <a:off x="863346" y="4424426"/>
            <a:ext cx="6174994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정보가 많아도, 깊은 이해는 저절로 생기지 않습니다</a:t>
            </a:r>
            <a:endParaRPr lang="en-US" sz="1950" dirty="0"/>
          </a:p>
        </p:txBody>
      </p:sp>
      <p:sp>
        <p:nvSpPr>
          <p:cNvPr id="25" name="txt-2-5"/>
          <p:cNvSpPr txBox="1"/>
          <p:nvPr/>
        </p:nvSpPr>
        <p:spPr>
          <a:xfrm>
            <a:off x="381000" y="4945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문장의 뜻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헤아리고,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앞뒤 내용을 연결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하고,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오래 생각하는 시간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따로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필요합니다. 짧은 영상과 빠른 답에 익숙해지는 동안, 학생 안에 무엇이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남고 있는지 묻고 싶습니다.</a:t>
            </a:r>
            <a:endParaRPr lang="en-US" sz="1800" dirty="0"/>
          </a:p>
        </p:txBody>
      </p:sp>
      <p:sp>
        <p:nvSpPr>
          <p:cNvPr id="26" name="txt-2-6"/>
          <p:cNvSpPr txBox="1"/>
          <p:nvPr/>
        </p:nvSpPr>
        <p:spPr>
          <a:xfrm>
            <a:off x="863346" y="6341999"/>
            <a:ext cx="3579368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학교가 먼저 고민해야 할 질문</a:t>
            </a:r>
            <a:endParaRPr lang="en-US" sz="1950" dirty="0"/>
          </a:p>
        </p:txBody>
      </p:sp>
      <p:sp>
        <p:nvSpPr>
          <p:cNvPr id="27" name="txt-2-7"/>
          <p:cNvSpPr txBox="1"/>
          <p:nvPr/>
        </p:nvSpPr>
        <p:spPr>
          <a:xfrm>
            <a:off x="381000" y="6837045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학생은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알고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경험을 쌓고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생각하는 사람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자라야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할까요. 디지털 도구를 도입하는 일에도 이 질문이 먼저 놓여야 합니다.</a:t>
            </a:r>
            <a:endParaRPr lang="en-US" sz="1800" dirty="0"/>
          </a:p>
        </p:txBody>
      </p:sp>
      <p:sp>
        <p:nvSpPr>
          <p:cNvPr id="28" name="txt-2-8"/>
          <p:cNvSpPr txBox="1"/>
          <p:nvPr/>
        </p:nvSpPr>
        <p:spPr>
          <a:xfrm>
            <a:off x="381000" y="7637145"/>
            <a:ext cx="6979285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스스로 읽고 이해하며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근거를 들어 말하는 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꾸준히 길러 주어야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합니다. 이 절실함에서 부기가 시작됐습니다.</a:t>
            </a:r>
            <a:endParaRPr lang="en-US" sz="1800" dirty="0"/>
          </a:p>
        </p:txBody>
      </p:sp>
      <p:sp>
        <p:nvSpPr>
          <p:cNvPr id="29" name="txt-2-9"/>
          <p:cNvSpPr txBox="1"/>
          <p:nvPr/>
        </p:nvSpPr>
        <p:spPr>
          <a:xfrm>
            <a:off x="963295" y="9322562"/>
            <a:ext cx="5632323" cy="715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스마트폰 속 세상에 빠져 있는 아이들이</a:t>
            </a:r>
            <a:endParaRPr lang="en-US" sz="1750" dirty="0"/>
          </a:p>
          <a:p>
            <a:pPr algn="ctr" indent="0" marL="0">
              <a:lnSpc>
                <a:spcPts val="2450"/>
              </a:lnSpc>
              <a:buNone/>
            </a:pPr>
            <a:r>
              <a:rPr lang="ko-KR" altLang="en-US" sz="17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세상을 깊이있게 이해하는 아이로 자라고 있을까요?</a:t>
            </a:r>
            <a:endParaRPr lang="en-US" sz="1750" dirty="0"/>
          </a:p>
        </p:txBody>
      </p:sp>
      <p:sp>
        <p:nvSpPr>
          <p:cNvPr id="30" name="txt-2-10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 / 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87548" y="495300"/>
            <a:ext cx="4191508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5720842" y="2755900"/>
            <a:ext cx="145821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86119" y="4635500"/>
            <a:ext cx="892937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7500" y="7988300"/>
            <a:ext cx="6925056" cy="622300"/>
          </a:xfrm>
          <a:prstGeom prst="roundRect">
            <a:avLst>
              <a:gd name="adj" fmla="val 16327"/>
            </a:avLst>
          </a:prstGeom>
          <a:solidFill>
            <a:srgbClr val="F0F5EF"/>
          </a:solidFill>
          <a:ln/>
        </p:spPr>
      </p:sp>
      <p:sp>
        <p:nvSpPr>
          <p:cNvPr id="15" name="Shape 13"/>
          <p:cNvSpPr/>
          <p:nvPr/>
        </p:nvSpPr>
        <p:spPr>
          <a:xfrm>
            <a:off x="494284" y="8165084"/>
            <a:ext cx="256159" cy="244475"/>
          </a:xfrm>
          <a:custGeom>
            <a:avLst/>
            <a:gdLst/>
            <a:ahLst/>
            <a:cxnLst/>
            <a:rect l="l" t="t" r="r" b="b"/>
            <a:pathLst>
              <a:path w="256159" h="244475">
                <a:moveTo>
                  <a:pt x="128054" y="244475"/>
                </a:moveTo>
                <a:lnTo>
                  <a:pt x="128054" y="34925"/>
                </a:lnTo>
                <a:cubicBezTo>
                  <a:pt x="81496" y="0"/>
                  <a:pt x="34925" y="0"/>
                  <a:pt x="0" y="23279"/>
                </a:cubicBezTo>
                <a:lnTo>
                  <a:pt x="0" y="232829"/>
                </a:lnTo>
                <a:cubicBezTo>
                  <a:pt x="34925" y="209550"/>
                  <a:pt x="81496" y="209550"/>
                  <a:pt x="128054" y="244475"/>
                </a:cubicBezTo>
                <a:cubicBezTo>
                  <a:pt x="174625" y="209550"/>
                  <a:pt x="221196" y="209550"/>
                  <a:pt x="256121" y="232829"/>
                </a:cubicBezTo>
                <a:lnTo>
                  <a:pt x="256121" y="23279"/>
                </a:lnTo>
                <a:cubicBezTo>
                  <a:pt x="221196" y="0"/>
                  <a:pt x="174625" y="0"/>
                  <a:pt x="128054" y="34925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66009" y="8165084"/>
            <a:ext cx="186309" cy="186309"/>
          </a:xfrm>
          <a:custGeom>
            <a:avLst/>
            <a:gdLst/>
            <a:ahLst/>
            <a:cxnLst/>
            <a:rect l="l" t="t" r="r" b="b"/>
            <a:pathLst>
              <a:path w="186309" h="186309">
                <a:moveTo>
                  <a:pt x="186271" y="93129"/>
                </a:moveTo>
                <a:cubicBezTo>
                  <a:pt x="186271" y="41694"/>
                  <a:pt x="144564" y="0"/>
                  <a:pt x="93129" y="0"/>
                </a:cubicBezTo>
                <a:cubicBezTo>
                  <a:pt x="41694" y="0"/>
                  <a:pt x="0" y="41694"/>
                  <a:pt x="0" y="93129"/>
                </a:cubicBezTo>
                <a:cubicBezTo>
                  <a:pt x="0" y="144564"/>
                  <a:pt x="41694" y="186271"/>
                  <a:pt x="93129" y="186271"/>
                </a:cubicBezTo>
                <a:cubicBezTo>
                  <a:pt x="144564" y="186271"/>
                  <a:pt x="186271" y="144564"/>
                  <a:pt x="186271" y="93129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2491" y="8339709"/>
            <a:ext cx="0" cy="46482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05709" y="8339709"/>
            <a:ext cx="0" cy="46482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2491" y="8386191"/>
            <a:ext cx="93218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24175" y="8421116"/>
            <a:ext cx="69850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59100" y="8258175"/>
            <a:ext cx="0" cy="116459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24175" y="8223250"/>
            <a:ext cx="34925" cy="34925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59100" y="8223250"/>
            <a:ext cx="34925" cy="34925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91125" y="8176641"/>
            <a:ext cx="232791" cy="232791"/>
          </a:xfrm>
          <a:custGeom>
            <a:avLst/>
            <a:gdLst/>
            <a:ahLst/>
            <a:cxnLst/>
            <a:rect l="l" t="t" r="r" b="b"/>
            <a:pathLst>
              <a:path w="232791" h="232791">
                <a:moveTo>
                  <a:pt x="0" y="232829"/>
                </a:moveTo>
                <a:lnTo>
                  <a:pt x="23279" y="151346"/>
                </a:lnTo>
                <a:lnTo>
                  <a:pt x="174625" y="0"/>
                </a:lnTo>
                <a:lnTo>
                  <a:pt x="232829" y="58204"/>
                </a:lnTo>
                <a:lnTo>
                  <a:pt x="81496" y="209550"/>
                </a:lnTo>
                <a:lnTo>
                  <a:pt x="0" y="232829"/>
                </a:ln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14366" y="8328025"/>
            <a:ext cx="58293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30825" y="8211566"/>
            <a:ext cx="58166" cy="58293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7500" y="8826500"/>
            <a:ext cx="6925056" cy="825500"/>
          </a:xfrm>
          <a:prstGeom prst="roundRect">
            <a:avLst>
              <a:gd name="adj" fmla="val 12308"/>
            </a:avLst>
          </a:prstGeom>
          <a:solidFill>
            <a:srgbClr val="F0F5EF"/>
          </a:solidFill>
          <a:ln/>
        </p:spPr>
      </p:sp>
      <p:sp>
        <p:nvSpPr>
          <p:cNvPr id="28" name="Shape 26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30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31" name="txt-3-0"/>
          <p:cNvSpPr txBox="1"/>
          <p:nvPr/>
        </p:nvSpPr>
        <p:spPr>
          <a:xfrm>
            <a:off x="381000" y="296926"/>
            <a:ext cx="2851912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독서가 만드는 이해의 바탕</a:t>
            </a:r>
            <a:endParaRPr lang="en-US" sz="1700" dirty="0"/>
          </a:p>
        </p:txBody>
      </p:sp>
      <p:sp>
        <p:nvSpPr>
          <p:cNvPr id="32" name="txt-3-1"/>
          <p:cNvSpPr txBox="1"/>
          <p:nvPr/>
        </p:nvSpPr>
        <p:spPr>
          <a:xfrm>
            <a:off x="381000" y="730758"/>
            <a:ext cx="5077333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아는 것이 쌓여야,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새 지식이 연결됩니다.</a:t>
            </a:r>
            <a:endParaRPr lang="en-US" sz="3700" dirty="0"/>
          </a:p>
        </p:txBody>
      </p:sp>
      <p:sp>
        <p:nvSpPr>
          <p:cNvPr id="33" name="txt-3-2"/>
          <p:cNvSpPr txBox="1"/>
          <p:nvPr/>
        </p:nvSpPr>
        <p:spPr>
          <a:xfrm>
            <a:off x="863346" y="2540000"/>
            <a:ext cx="5355717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20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어휘와 간접 경험이 이해의 바탕을 넓힙니다</a:t>
            </a:r>
            <a:endParaRPr lang="en-US" sz="2000" dirty="0"/>
          </a:p>
        </p:txBody>
      </p:sp>
      <p:sp>
        <p:nvSpPr>
          <p:cNvPr id="34" name="txt-3-3"/>
          <p:cNvSpPr txBox="1"/>
          <p:nvPr/>
        </p:nvSpPr>
        <p:spPr>
          <a:xfrm>
            <a:off x="381000" y="3040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이야기에서는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삶과 선택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을, 설명하는 글에서는 세상의 원리를,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에세이에서는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사람의 생각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만납니다. 문맥 속에서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낱말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익히고,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생각을 따라 읽으며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경험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비교합니다.</a:t>
            </a:r>
            <a:endParaRPr lang="en-US" sz="1800" dirty="0"/>
          </a:p>
        </p:txBody>
      </p:sp>
      <p:sp>
        <p:nvSpPr>
          <p:cNvPr id="35" name="txt-3-4"/>
          <p:cNvSpPr txBox="1"/>
          <p:nvPr/>
        </p:nvSpPr>
        <p:spPr>
          <a:xfrm>
            <a:off x="863346" y="4417314"/>
            <a:ext cx="5977382" cy="424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4"/>
              </a:lnSpc>
              <a:buNone/>
            </a:pPr>
            <a:r>
              <a:rPr lang="ko-KR" altLang="en-US" sz="198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스키마는 경험과 지식이 조직된 ‘이해의 틀’입니다</a:t>
            </a:r>
            <a:endParaRPr lang="en-US" sz="1980" dirty="0"/>
          </a:p>
        </p:txBody>
      </p:sp>
      <p:sp>
        <p:nvSpPr>
          <p:cNvPr id="36" name="txt-3-5"/>
          <p:cNvSpPr txBox="1"/>
          <p:nvPr/>
        </p:nvSpPr>
        <p:spPr>
          <a:xfrm>
            <a:off x="381000" y="4932426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내용은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 알고 있는 개념과 경험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연결될 때 더 잘 이해할 수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있습니다.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관련 어휘와 배경지식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부족하면 글자를 읽어도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맥락과 의미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연결하기 어렵습니다.</a:t>
            </a:r>
            <a:endParaRPr lang="en-US" sz="1800" dirty="0"/>
          </a:p>
        </p:txBody>
      </p:sp>
      <p:sp>
        <p:nvSpPr>
          <p:cNvPr id="37" name="txt-3-6"/>
          <p:cNvSpPr txBox="1"/>
          <p:nvPr/>
        </p:nvSpPr>
        <p:spPr>
          <a:xfrm>
            <a:off x="381000" y="61135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읽기 전 필요한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배경을 짚고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읽으며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어휘를 익히고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새 내용으로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생각을 넓히거나 고치는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과정이 필요합니다.</a:t>
            </a:r>
            <a:endParaRPr lang="en-US" sz="1800" dirty="0"/>
          </a:p>
        </p:txBody>
      </p:sp>
      <p:sp>
        <p:nvSpPr>
          <p:cNvPr id="38" name="txt-3-7"/>
          <p:cNvSpPr txBox="1"/>
          <p:nvPr/>
        </p:nvSpPr>
        <p:spPr>
          <a:xfrm>
            <a:off x="863346" y="8180705"/>
            <a:ext cx="117132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어휘 · 간접 경험</a:t>
            </a:r>
            <a:endParaRPr lang="en-US" sz="1080" dirty="0"/>
          </a:p>
        </p:txBody>
      </p:sp>
      <p:sp>
        <p:nvSpPr>
          <p:cNvPr id="39" name="txt-3-8"/>
          <p:cNvSpPr txBox="1"/>
          <p:nvPr/>
        </p:nvSpPr>
        <p:spPr>
          <a:xfrm>
            <a:off x="3199765" y="8180705"/>
            <a:ext cx="1276223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배경지식 · 스키마</a:t>
            </a:r>
            <a:endParaRPr lang="en-US" sz="1080" dirty="0"/>
          </a:p>
        </p:txBody>
      </p:sp>
      <p:sp>
        <p:nvSpPr>
          <p:cNvPr id="40" name="txt-3-9"/>
          <p:cNvSpPr txBox="1"/>
          <p:nvPr/>
        </p:nvSpPr>
        <p:spPr>
          <a:xfrm>
            <a:off x="5536184" y="8180705"/>
            <a:ext cx="128968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 · 추론 · 연결</a:t>
            </a:r>
            <a:endParaRPr lang="en-US" sz="1080" dirty="0"/>
          </a:p>
        </p:txBody>
      </p:sp>
      <p:sp>
        <p:nvSpPr>
          <p:cNvPr id="41" name="txt-3-10"/>
          <p:cNvSpPr txBox="1"/>
          <p:nvPr/>
        </p:nvSpPr>
        <p:spPr>
          <a:xfrm>
            <a:off x="2513965" y="8141970"/>
            <a:ext cx="36195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>
                <a:solidFill>
                  <a:srgbClr val="D59B3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500" dirty="0"/>
          </a:p>
        </p:txBody>
      </p:sp>
      <p:sp>
        <p:nvSpPr>
          <p:cNvPr id="42" name="txt-3-11"/>
          <p:cNvSpPr txBox="1"/>
          <p:nvPr/>
        </p:nvSpPr>
        <p:spPr>
          <a:xfrm>
            <a:off x="4850384" y="8141970"/>
            <a:ext cx="36195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>
                <a:solidFill>
                  <a:srgbClr val="D59B3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500" dirty="0"/>
          </a:p>
        </p:txBody>
      </p:sp>
      <p:sp>
        <p:nvSpPr>
          <p:cNvPr id="43" name="txt-3-12"/>
          <p:cNvSpPr txBox="1"/>
          <p:nvPr/>
        </p:nvSpPr>
        <p:spPr>
          <a:xfrm>
            <a:off x="1554099" y="8881237"/>
            <a:ext cx="4449699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읽고 받아들이는 경험이 쌓여,</a:t>
            </a:r>
            <a:endParaRPr lang="en-US" sz="1800" dirty="0"/>
          </a:p>
          <a:p>
            <a:pPr algn="ctr" indent="0" marL="0">
              <a:lnSpc>
                <a:spcPts val="2520"/>
              </a:lnSpc>
              <a:buNone/>
            </a:pPr>
            <a:r>
              <a:rPr lang="ko-KR" altLang="en-US" sz="18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세상을 이해하는 생각의 바탕이 됩니다.</a:t>
            </a:r>
            <a:endParaRPr lang="en-US" sz="1800" dirty="0"/>
          </a:p>
        </p:txBody>
      </p:sp>
      <p:sp>
        <p:nvSpPr>
          <p:cNvPr id="44" name="txt-3-13"/>
          <p:cNvSpPr txBox="1"/>
          <p:nvPr/>
        </p:nvSpPr>
        <p:spPr>
          <a:xfrm>
            <a:off x="393573" y="9801606"/>
            <a:ext cx="3943985" cy="496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ko-KR" altLang="en-US" sz="98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배경지식의 영향은 지식의 정확성 · 글의 특성 등에 따라 달라집니다.</a:t>
            </a:r>
            <a:endParaRPr lang="en-US" sz="980" dirty="0"/>
          </a:p>
          <a:p>
            <a:pPr algn="l" indent="0" marL="0">
              <a:lnSpc>
                <a:spcPts val="1700"/>
              </a:lnSpc>
              <a:buNone/>
            </a:pPr>
            <a:r>
              <a:rPr lang="ko-KR" altLang="en-US" sz="98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Smith et al. (2021) · Hattan et al. (2024)</a:t>
            </a:r>
            <a:endParaRPr lang="en-US" sz="980" dirty="0"/>
          </a:p>
        </p:txBody>
      </p:sp>
      <p:sp>
        <p:nvSpPr>
          <p:cNvPr id="45" name="txt-3-14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/ 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75151" y="495300"/>
            <a:ext cx="3303905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6081014" y="2755900"/>
            <a:ext cx="1098042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343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542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542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595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634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449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410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410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86120" y="4508500"/>
            <a:ext cx="139293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4208" y="7086092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6476365" y="7277100"/>
            <a:ext cx="702691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7500" y="8877300"/>
            <a:ext cx="6925056" cy="927100"/>
          </a:xfrm>
          <a:prstGeom prst="roundRect">
            <a:avLst>
              <a:gd name="adj" fmla="val 10959"/>
            </a:avLst>
          </a:prstGeom>
          <a:solidFill>
            <a:srgbClr val="F0F5EF"/>
          </a:solidFill>
          <a:ln/>
        </p:spPr>
      </p:sp>
      <p:sp>
        <p:nvSpPr>
          <p:cNvPr id="17" name="Shape 15"/>
          <p:cNvSpPr/>
          <p:nvPr/>
        </p:nvSpPr>
        <p:spPr>
          <a:xfrm>
            <a:off x="495300" y="89662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8" name="Shape 16"/>
          <p:cNvSpPr/>
          <p:nvPr/>
        </p:nvSpPr>
        <p:spPr>
          <a:xfrm>
            <a:off x="495300" y="92329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9" name="Shape 17"/>
          <p:cNvSpPr/>
          <p:nvPr/>
        </p:nvSpPr>
        <p:spPr>
          <a:xfrm>
            <a:off x="495300" y="94996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0" name="Shape 18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22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23" name="txt-4-0"/>
          <p:cNvSpPr txBox="1"/>
          <p:nvPr/>
        </p:nvSpPr>
        <p:spPr>
          <a:xfrm>
            <a:off x="381000" y="296926"/>
            <a:ext cx="382828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단편적인 정보에서 깊이 있는 이해로</a:t>
            </a:r>
            <a:endParaRPr lang="en-US" sz="1700" dirty="0"/>
          </a:p>
        </p:txBody>
      </p:sp>
      <p:sp>
        <p:nvSpPr>
          <p:cNvPr id="24" name="txt-4-1"/>
          <p:cNvSpPr txBox="1"/>
          <p:nvPr/>
        </p:nvSpPr>
        <p:spPr>
          <a:xfrm>
            <a:off x="381000" y="768858"/>
            <a:ext cx="5289804" cy="794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1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‘본 적 있다’는 익숙함이</a:t>
            </a:r>
            <a:endParaRPr lang="en-US" sz="3700" dirty="0"/>
          </a:p>
        </p:txBody>
      </p:sp>
      <p:sp>
        <p:nvSpPr>
          <p:cNvPr id="25" name="txt-4-2"/>
          <p:cNvSpPr txBox="1"/>
          <p:nvPr/>
        </p:nvSpPr>
        <p:spPr>
          <a:xfrm>
            <a:off x="381000" y="1429512"/>
            <a:ext cx="5586730" cy="759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98"/>
              </a:lnSpc>
              <a:buNone/>
            </a:pPr>
            <a:r>
              <a:rPr lang="ko-KR" altLang="en-US" sz="3537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‘안다’는 이해는 아닙니다.</a:t>
            </a:r>
            <a:endParaRPr lang="en-US" sz="3537" dirty="0"/>
          </a:p>
        </p:txBody>
      </p:sp>
      <p:sp>
        <p:nvSpPr>
          <p:cNvPr id="26" name="txt-4-3"/>
          <p:cNvSpPr txBox="1"/>
          <p:nvPr/>
        </p:nvSpPr>
        <p:spPr>
          <a:xfrm>
            <a:off x="863346" y="2545207"/>
            <a:ext cx="5751830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단편적인 정보가 생각의 전부가 될까 걱정됩니다</a:t>
            </a:r>
            <a:endParaRPr lang="en-US" sz="1950" dirty="0"/>
          </a:p>
        </p:txBody>
      </p:sp>
      <p:sp>
        <p:nvSpPr>
          <p:cNvPr id="27" name="txt-4-4"/>
          <p:cNvSpPr txBox="1"/>
          <p:nvPr/>
        </p:nvSpPr>
        <p:spPr>
          <a:xfrm>
            <a:off x="381000" y="3040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SNS와 짧은 영상은 정보를 빠르게 접하게 합니다. 그러나 이런 접촉만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이어지면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원인과 맥락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관점과 반대 근거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따져 볼 시간은 부족해질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 있습니다.</a:t>
            </a:r>
            <a:endParaRPr lang="en-US" sz="1800" dirty="0"/>
          </a:p>
        </p:txBody>
      </p:sp>
      <p:sp>
        <p:nvSpPr>
          <p:cNvPr id="28" name="txt-4-5"/>
          <p:cNvSpPr txBox="1"/>
          <p:nvPr/>
        </p:nvSpPr>
        <p:spPr>
          <a:xfrm>
            <a:off x="863346" y="4292346"/>
            <a:ext cx="542747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20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‘안다는 착각’을 넘어서는 연습이 필요합니다</a:t>
            </a:r>
            <a:endParaRPr lang="en-US" sz="2000" dirty="0"/>
          </a:p>
        </p:txBody>
      </p:sp>
      <p:sp>
        <p:nvSpPr>
          <p:cNvPr id="29" name="txt-4-6"/>
          <p:cNvSpPr txBox="1"/>
          <p:nvPr/>
        </p:nvSpPr>
        <p:spPr>
          <a:xfrm>
            <a:off x="381000" y="47800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인터넷 검색 실험에서는 찾은 정보를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자신의 지식으로 혼동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하고, 아는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정도를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과대평가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하는 현상이 관찰됐습니다.</a:t>
            </a:r>
            <a:endParaRPr lang="en-US" sz="1800" dirty="0"/>
          </a:p>
        </p:txBody>
      </p:sp>
      <p:sp>
        <p:nvSpPr>
          <p:cNvPr id="30" name="txt-4-7"/>
          <p:cNvSpPr txBox="1"/>
          <p:nvPr/>
        </p:nvSpPr>
        <p:spPr>
          <a:xfrm>
            <a:off x="381000" y="55674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학생이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말로 설명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하고,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책에서 근거를 찾고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상황에 적용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 보는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활동이 필요합니다.</a:t>
            </a:r>
            <a:endParaRPr lang="en-US" sz="1800" dirty="0"/>
          </a:p>
        </p:txBody>
      </p:sp>
      <p:sp>
        <p:nvSpPr>
          <p:cNvPr id="31" name="txt-4-8"/>
          <p:cNvSpPr txBox="1"/>
          <p:nvPr/>
        </p:nvSpPr>
        <p:spPr>
          <a:xfrm>
            <a:off x="863346" y="7060057"/>
            <a:ext cx="6186678" cy="407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70"/>
              </a:lnSpc>
              <a:buNone/>
            </a:pPr>
            <a:r>
              <a:rPr lang="ko-KR" altLang="en-US" sz="19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디지털 교육의 중심에도 학생의 사고가 있어야 합니다</a:t>
            </a:r>
            <a:endParaRPr lang="en-US" sz="1900" dirty="0"/>
          </a:p>
        </p:txBody>
      </p:sp>
      <p:sp>
        <p:nvSpPr>
          <p:cNvPr id="32" name="txt-4-9"/>
          <p:cNvSpPr txBox="1"/>
          <p:nvPr/>
        </p:nvSpPr>
        <p:spPr>
          <a:xfrm>
            <a:off x="381000" y="7565136"/>
            <a:ext cx="7140956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빠르게 답을 제시해도, 그 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뜻과 근거를 판단하는 힘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학생 안에 있어야</a:t>
            </a:r>
            <a:endParaRPr lang="en-US" sz="1750" dirty="0"/>
          </a:p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합니다. 기술은 읽기와 표현을 돕고, 학생에게 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충분히 생각할 시간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주는</a:t>
            </a:r>
            <a:endParaRPr lang="en-US" sz="1750" dirty="0"/>
          </a:p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방향으로 써야 합니다.</a:t>
            </a:r>
            <a:endParaRPr lang="en-US" sz="1750" dirty="0"/>
          </a:p>
        </p:txBody>
      </p:sp>
      <p:sp>
        <p:nvSpPr>
          <p:cNvPr id="33" name="txt-4-10"/>
          <p:cNvSpPr txBox="1"/>
          <p:nvPr/>
        </p:nvSpPr>
        <p:spPr>
          <a:xfrm>
            <a:off x="545973" y="89659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000" dirty="0"/>
          </a:p>
        </p:txBody>
      </p:sp>
      <p:sp>
        <p:nvSpPr>
          <p:cNvPr id="34" name="txt-4-11"/>
          <p:cNvSpPr txBox="1"/>
          <p:nvPr/>
        </p:nvSpPr>
        <p:spPr>
          <a:xfrm>
            <a:off x="812673" y="8910447"/>
            <a:ext cx="2582672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ko-KR" altLang="en-US" sz="13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말로 설명할 수 있는가?</a:t>
            </a:r>
            <a:endParaRPr lang="en-US" sz="13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3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그렇게 생각한 근거는 무엇인가?</a:t>
            </a:r>
            <a:endParaRPr lang="en-US" sz="13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3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상황에도 적용할 수 있는가?</a:t>
            </a:r>
            <a:endParaRPr lang="en-US" sz="1300" dirty="0"/>
          </a:p>
        </p:txBody>
      </p:sp>
      <p:sp>
        <p:nvSpPr>
          <p:cNvPr id="35" name="txt-4-12"/>
          <p:cNvSpPr txBox="1"/>
          <p:nvPr/>
        </p:nvSpPr>
        <p:spPr>
          <a:xfrm>
            <a:off x="545973" y="92326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000" dirty="0"/>
          </a:p>
        </p:txBody>
      </p:sp>
      <p:sp>
        <p:nvSpPr>
          <p:cNvPr id="36" name="txt-4-13"/>
          <p:cNvSpPr txBox="1"/>
          <p:nvPr/>
        </p:nvSpPr>
        <p:spPr>
          <a:xfrm>
            <a:off x="545973" y="94993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000" dirty="0"/>
          </a:p>
        </p:txBody>
      </p:sp>
      <p:sp>
        <p:nvSpPr>
          <p:cNvPr id="37" name="txt-4-14"/>
          <p:cNvSpPr txBox="1"/>
          <p:nvPr/>
        </p:nvSpPr>
        <p:spPr>
          <a:xfrm>
            <a:off x="381000" y="9901301"/>
            <a:ext cx="4458208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ko-KR" altLang="en-US" sz="83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연구는 성인의 인터넷 검색 실험이며, 초등학생의 SNS 효과를 직접 검증한 결과는 아닙니다.</a:t>
            </a:r>
            <a:endParaRPr lang="en-US" sz="830" dirty="0"/>
          </a:p>
          <a:p>
            <a:pPr algn="l" indent="0" marL="0">
              <a:lnSpc>
                <a:spcPts val="1400"/>
              </a:lnSpc>
              <a:buNone/>
            </a:pPr>
            <a:r>
              <a:rPr lang="ko-KR" altLang="en-US" sz="83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Fisher et al. (2015) · Ward (2021)</a:t>
            </a:r>
            <a:endParaRPr lang="en-US" sz="830" dirty="0"/>
          </a:p>
        </p:txBody>
      </p:sp>
      <p:sp>
        <p:nvSpPr>
          <p:cNvPr id="38" name="txt-4-15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/ 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96082" y="495300"/>
            <a:ext cx="398297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400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5052695" y="2717800"/>
            <a:ext cx="2126361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10378" y="4635500"/>
            <a:ext cx="1868678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7500" y="6235700"/>
            <a:ext cx="6925056" cy="431800"/>
          </a:xfrm>
          <a:prstGeom prst="roundRect">
            <a:avLst>
              <a:gd name="adj" fmla="val 23529"/>
            </a:avLst>
          </a:prstGeom>
          <a:solidFill>
            <a:srgbClr val="F0F5EF"/>
          </a:solidFill>
          <a:ln/>
        </p:spPr>
      </p:sp>
      <p:sp>
        <p:nvSpPr>
          <p:cNvPr id="15" name="Shape 13"/>
          <p:cNvSpPr/>
          <p:nvPr/>
        </p:nvSpPr>
        <p:spPr>
          <a:xfrm>
            <a:off x="456184" y="6323584"/>
            <a:ext cx="256159" cy="244475"/>
          </a:xfrm>
          <a:custGeom>
            <a:avLst/>
            <a:gdLst/>
            <a:ahLst/>
            <a:cxnLst/>
            <a:rect l="l" t="t" r="r" b="b"/>
            <a:pathLst>
              <a:path w="256159" h="244475">
                <a:moveTo>
                  <a:pt x="128054" y="244475"/>
                </a:moveTo>
                <a:lnTo>
                  <a:pt x="128054" y="34925"/>
                </a:lnTo>
                <a:cubicBezTo>
                  <a:pt x="81496" y="0"/>
                  <a:pt x="34925" y="0"/>
                  <a:pt x="0" y="23279"/>
                </a:cubicBezTo>
                <a:lnTo>
                  <a:pt x="0" y="232829"/>
                </a:lnTo>
                <a:cubicBezTo>
                  <a:pt x="34925" y="209550"/>
                  <a:pt x="81496" y="209550"/>
                  <a:pt x="128054" y="244475"/>
                </a:cubicBezTo>
                <a:cubicBezTo>
                  <a:pt x="174625" y="209550"/>
                  <a:pt x="221196" y="209550"/>
                  <a:pt x="256121" y="232829"/>
                </a:cubicBezTo>
                <a:lnTo>
                  <a:pt x="256121" y="23279"/>
                </a:lnTo>
                <a:cubicBezTo>
                  <a:pt x="221196" y="0"/>
                  <a:pt x="174625" y="0"/>
                  <a:pt x="128054" y="34925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90800" y="632460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7500" y="6731000"/>
            <a:ext cx="6925056" cy="431800"/>
          </a:xfrm>
          <a:prstGeom prst="roundRect">
            <a:avLst>
              <a:gd name="adj" fmla="val 23529"/>
            </a:avLst>
          </a:prstGeom>
          <a:solidFill>
            <a:srgbClr val="F0F5EF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184" y="6830441"/>
            <a:ext cx="256159" cy="186309"/>
          </a:xfrm>
          <a:custGeom>
            <a:avLst/>
            <a:gdLst/>
            <a:ahLst/>
            <a:cxnLst/>
            <a:rect l="l" t="t" r="r" b="b"/>
            <a:pathLst>
              <a:path w="256159" h="186309">
                <a:moveTo>
                  <a:pt x="58204" y="186271"/>
                </a:moveTo>
                <a:lnTo>
                  <a:pt x="197904" y="186271"/>
                </a:lnTo>
                <a:cubicBezTo>
                  <a:pt x="230086" y="186271"/>
                  <a:pt x="256121" y="160236"/>
                  <a:pt x="256121" y="128054"/>
                </a:cubicBezTo>
                <a:lnTo>
                  <a:pt x="256121" y="58204"/>
                </a:lnTo>
                <a:cubicBezTo>
                  <a:pt x="256121" y="26035"/>
                  <a:pt x="230086" y="0"/>
                  <a:pt x="197904" y="0"/>
                </a:cubicBezTo>
                <a:lnTo>
                  <a:pt x="58204" y="0"/>
                </a:lnTo>
                <a:cubicBezTo>
                  <a:pt x="26035" y="0"/>
                  <a:pt x="0" y="26035"/>
                  <a:pt x="0" y="58204"/>
                </a:cubicBezTo>
                <a:lnTo>
                  <a:pt x="0" y="128054"/>
                </a:lnTo>
                <a:cubicBezTo>
                  <a:pt x="0" y="160236"/>
                  <a:pt x="26035" y="186271"/>
                  <a:pt x="58204" y="186271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1109" y="7016750"/>
            <a:ext cx="23241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1109" y="7016750"/>
            <a:ext cx="93091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6636" y="69142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2" name="Shape 20"/>
          <p:cNvSpPr/>
          <p:nvPr/>
        </p:nvSpPr>
        <p:spPr>
          <a:xfrm>
            <a:off x="574929" y="69142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3" name="Shape 21"/>
          <p:cNvSpPr/>
          <p:nvPr/>
        </p:nvSpPr>
        <p:spPr>
          <a:xfrm>
            <a:off x="633095" y="69142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4" name="Shape 22"/>
          <p:cNvSpPr/>
          <p:nvPr/>
        </p:nvSpPr>
        <p:spPr>
          <a:xfrm>
            <a:off x="2590800" y="681990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17500" y="7226300"/>
            <a:ext cx="6925056" cy="431800"/>
          </a:xfrm>
          <a:prstGeom prst="roundRect">
            <a:avLst>
              <a:gd name="adj" fmla="val 23529"/>
            </a:avLst>
          </a:prstGeom>
          <a:solidFill>
            <a:srgbClr val="F0F5EF"/>
          </a:solidFill>
          <a:ln/>
        </p:spPr>
      </p:sp>
      <p:sp>
        <p:nvSpPr>
          <p:cNvPr id="26" name="Shape 24"/>
          <p:cNvSpPr/>
          <p:nvPr/>
        </p:nvSpPr>
        <p:spPr>
          <a:xfrm>
            <a:off x="479425" y="7325741"/>
            <a:ext cx="232791" cy="232791"/>
          </a:xfrm>
          <a:custGeom>
            <a:avLst/>
            <a:gdLst/>
            <a:ahLst/>
            <a:cxnLst/>
            <a:rect l="l" t="t" r="r" b="b"/>
            <a:pathLst>
              <a:path w="232791" h="232791">
                <a:moveTo>
                  <a:pt x="0" y="232829"/>
                </a:moveTo>
                <a:lnTo>
                  <a:pt x="23279" y="151346"/>
                </a:lnTo>
                <a:lnTo>
                  <a:pt x="174625" y="0"/>
                </a:lnTo>
                <a:lnTo>
                  <a:pt x="232829" y="58204"/>
                </a:lnTo>
                <a:lnTo>
                  <a:pt x="81496" y="209550"/>
                </a:lnTo>
                <a:lnTo>
                  <a:pt x="0" y="232829"/>
                </a:ln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666" y="7477125"/>
            <a:ext cx="58293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125" y="7360666"/>
            <a:ext cx="58166" cy="58293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90800" y="731520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4208" y="7949692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31" name="Shape 29"/>
          <p:cNvSpPr/>
          <p:nvPr/>
        </p:nvSpPr>
        <p:spPr>
          <a:xfrm>
            <a:off x="5148961" y="8140700"/>
            <a:ext cx="2030095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7500" y="9842500"/>
            <a:ext cx="6925056" cy="495300"/>
          </a:xfrm>
          <a:prstGeom prst="roundRect">
            <a:avLst>
              <a:gd name="adj" fmla="val 20513"/>
            </a:avLst>
          </a:prstGeom>
          <a:solidFill>
            <a:srgbClr val="F0F5EF"/>
          </a:solidFill>
          <a:ln/>
        </p:spPr>
      </p:sp>
      <p:sp>
        <p:nvSpPr>
          <p:cNvPr id="33" name="Shape 31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35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36" name="txt-5-0"/>
          <p:cNvSpPr txBox="1"/>
          <p:nvPr/>
        </p:nvSpPr>
        <p:spPr>
          <a:xfrm>
            <a:off x="381000" y="296926"/>
            <a:ext cx="3081401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교실의 문제에서 출발한 부기</a:t>
            </a:r>
            <a:endParaRPr lang="en-US" sz="1700" dirty="0"/>
          </a:p>
        </p:txBody>
      </p:sp>
      <p:sp>
        <p:nvSpPr>
          <p:cNvPr id="37" name="txt-5-1"/>
          <p:cNvSpPr txBox="1"/>
          <p:nvPr/>
        </p:nvSpPr>
        <p:spPr>
          <a:xfrm>
            <a:off x="381000" y="730758"/>
            <a:ext cx="4450334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지금 학교 현장에는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독서가 절실합니다.</a:t>
            </a:r>
            <a:endParaRPr lang="en-US" sz="3700" dirty="0"/>
          </a:p>
        </p:txBody>
      </p:sp>
      <p:sp>
        <p:nvSpPr>
          <p:cNvPr id="38" name="txt-5-2"/>
          <p:cNvSpPr txBox="1"/>
          <p:nvPr/>
        </p:nvSpPr>
        <p:spPr>
          <a:xfrm>
            <a:off x="863346" y="2504059"/>
            <a:ext cx="4620768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고전의 지혜에서 시작하고자 합니다</a:t>
            </a:r>
            <a:endParaRPr lang="en-US" sz="2100" dirty="0"/>
          </a:p>
        </p:txBody>
      </p:sp>
      <p:sp>
        <p:nvSpPr>
          <p:cNvPr id="39" name="txt-5-3"/>
          <p:cNvSpPr txBox="1"/>
          <p:nvPr/>
        </p:nvSpPr>
        <p:spPr>
          <a:xfrm>
            <a:off x="381000" y="2990342"/>
            <a:ext cx="71409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사람과 세상을 이해하고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스스로 생각할 힘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기르기 위해,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고전의 지혜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빌리고자 했습니다.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우정과 책임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공정과 나눔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읽으며 ‘왜 그런 선택을 했을까’,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‘나라면 어떻게 했을까’를 함께 묻습니다.</a:t>
            </a:r>
            <a:endParaRPr lang="en-US" sz="1650" dirty="0"/>
          </a:p>
        </p:txBody>
      </p:sp>
      <p:sp>
        <p:nvSpPr>
          <p:cNvPr id="40" name="txt-5-4"/>
          <p:cNvSpPr txBox="1"/>
          <p:nvPr/>
        </p:nvSpPr>
        <p:spPr>
          <a:xfrm>
            <a:off x="863346" y="4421378"/>
            <a:ext cx="4904105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초등교사들이 뜻을 모아 만들었습니다</a:t>
            </a:r>
            <a:endParaRPr lang="en-US" sz="2100" dirty="0"/>
          </a:p>
        </p:txBody>
      </p:sp>
      <p:sp>
        <p:nvSpPr>
          <p:cNvPr id="41" name="txt-5-5"/>
          <p:cNvSpPr txBox="1"/>
          <p:nvPr/>
        </p:nvSpPr>
        <p:spPr>
          <a:xfrm>
            <a:off x="381000" y="4933188"/>
            <a:ext cx="71409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교실의 읽기 어려움을 풀고자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교사들이 기획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하고,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기업의 지원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더해 학교에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적용했습니다. 학교에서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시범 사용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통해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계속 개선하고 발전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시켜 나가고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있습니다.</a:t>
            </a:r>
            <a:endParaRPr lang="en-US" sz="1650" dirty="0"/>
          </a:p>
        </p:txBody>
      </p:sp>
      <p:sp>
        <p:nvSpPr>
          <p:cNvPr id="42" name="txt-5-6"/>
          <p:cNvSpPr txBox="1"/>
          <p:nvPr/>
        </p:nvSpPr>
        <p:spPr>
          <a:xfrm>
            <a:off x="2742565" y="6342634"/>
            <a:ext cx="307111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낱말 뜻 · 능동적 그림 읽기 · 다국어 지원</a:t>
            </a:r>
            <a:endParaRPr lang="en-US" sz="1250" dirty="0"/>
          </a:p>
        </p:txBody>
      </p:sp>
      <p:sp>
        <p:nvSpPr>
          <p:cNvPr id="43" name="txt-5-7"/>
          <p:cNvSpPr txBox="1"/>
          <p:nvPr/>
        </p:nvSpPr>
        <p:spPr>
          <a:xfrm>
            <a:off x="863346" y="6303010"/>
            <a:ext cx="1071245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읽기 지원</a:t>
            </a:r>
            <a:endParaRPr lang="en-US" sz="1600" dirty="0"/>
          </a:p>
        </p:txBody>
      </p:sp>
      <p:sp>
        <p:nvSpPr>
          <p:cNvPr id="44" name="txt-5-8"/>
          <p:cNvSpPr txBox="1"/>
          <p:nvPr/>
        </p:nvSpPr>
        <p:spPr>
          <a:xfrm>
            <a:off x="2742565" y="6837934"/>
            <a:ext cx="2655951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캐릭터와의 대화 · 다양한 독후활동</a:t>
            </a:r>
            <a:endParaRPr lang="en-US" sz="1250" dirty="0"/>
          </a:p>
        </p:txBody>
      </p:sp>
      <p:sp>
        <p:nvSpPr>
          <p:cNvPr id="45" name="txt-5-9"/>
          <p:cNvSpPr txBox="1"/>
          <p:nvPr/>
        </p:nvSpPr>
        <p:spPr>
          <a:xfrm>
            <a:off x="863346" y="6797929"/>
            <a:ext cx="1287272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생각과 표현</a:t>
            </a:r>
            <a:endParaRPr lang="en-US" sz="1600" dirty="0"/>
          </a:p>
        </p:txBody>
      </p:sp>
      <p:sp>
        <p:nvSpPr>
          <p:cNvPr id="46" name="txt-5-10"/>
          <p:cNvSpPr txBox="1"/>
          <p:nvPr/>
        </p:nvSpPr>
        <p:spPr>
          <a:xfrm>
            <a:off x="2742565" y="7333234"/>
            <a:ext cx="2910459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독서 기록 자산 · 수업 자료 · 학생 기록</a:t>
            </a:r>
            <a:endParaRPr lang="en-US" sz="1250" dirty="0"/>
          </a:p>
        </p:txBody>
      </p:sp>
      <p:sp>
        <p:nvSpPr>
          <p:cNvPr id="47" name="txt-5-11"/>
          <p:cNvSpPr txBox="1"/>
          <p:nvPr/>
        </p:nvSpPr>
        <p:spPr>
          <a:xfrm>
            <a:off x="863346" y="7293229"/>
            <a:ext cx="1287272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기록과 지도</a:t>
            </a:r>
            <a:endParaRPr lang="en-US" sz="1600" dirty="0"/>
          </a:p>
        </p:txBody>
      </p:sp>
      <p:sp>
        <p:nvSpPr>
          <p:cNvPr id="48" name="txt-5-12"/>
          <p:cNvSpPr txBox="1"/>
          <p:nvPr/>
        </p:nvSpPr>
        <p:spPr>
          <a:xfrm>
            <a:off x="863346" y="7920482"/>
            <a:ext cx="4726559" cy="43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5"/>
              </a:lnSpc>
              <a:buNone/>
            </a:pPr>
            <a:r>
              <a:rPr lang="ko-KR" altLang="en-US" sz="20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모두가 차별 없이 함께 읽을 수 있도록</a:t>
            </a:r>
            <a:endParaRPr lang="en-US" sz="2050" dirty="0"/>
          </a:p>
        </p:txBody>
      </p:sp>
      <p:sp>
        <p:nvSpPr>
          <p:cNvPr id="49" name="txt-5-13"/>
          <p:cNvSpPr txBox="1"/>
          <p:nvPr/>
        </p:nvSpPr>
        <p:spPr>
          <a:xfrm>
            <a:off x="381000" y="8435213"/>
            <a:ext cx="7140956" cy="61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어려운 어휘는 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도움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으로, 언어의 차이는 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다국어 번역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지원합니다. 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다문화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학생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포함한 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모두가 차별 없이 함께 읽는 가치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확산하고자 합니다.</a:t>
            </a:r>
            <a:endParaRPr lang="en-US" sz="1500" dirty="0"/>
          </a:p>
        </p:txBody>
      </p:sp>
      <p:sp>
        <p:nvSpPr>
          <p:cNvPr id="50" name="txt-5-14"/>
          <p:cNvSpPr txBox="1"/>
          <p:nvPr/>
        </p:nvSpPr>
        <p:spPr>
          <a:xfrm>
            <a:off x="381000" y="9057386"/>
            <a:ext cx="7045706" cy="61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학생에게는 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충분히 읽고 생각할 시간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을, 교사에게는 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수업 준비와 개별 지도</a:t>
            </a:r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위한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지원을 요청드립니다.</a:t>
            </a:r>
            <a:endParaRPr lang="en-US" sz="1500" dirty="0"/>
          </a:p>
        </p:txBody>
      </p:sp>
      <p:sp>
        <p:nvSpPr>
          <p:cNvPr id="51" name="txt-5-15"/>
          <p:cNvSpPr txBox="1"/>
          <p:nvPr/>
        </p:nvSpPr>
        <p:spPr>
          <a:xfrm>
            <a:off x="1251204" y="9831959"/>
            <a:ext cx="5056886" cy="523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92"/>
              </a:lnSpc>
              <a:buNone/>
            </a:pPr>
            <a:r>
              <a:rPr lang="ko-KR" altLang="en-US" sz="128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경남의 아이들이 스스로 이해하고 판단하는 사람으로 자라도록,</a:t>
            </a:r>
            <a:endParaRPr lang="en-US" sz="1280" dirty="0"/>
          </a:p>
          <a:p>
            <a:pPr algn="ctr" indent="0" marL="0">
              <a:lnSpc>
                <a:spcPts val="1792"/>
              </a:lnSpc>
              <a:buNone/>
            </a:pPr>
            <a:r>
              <a:rPr lang="ko-KR" altLang="en-US" sz="128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기본 독서교육을 함께 지켜 주십시오.</a:t>
            </a:r>
            <a:endParaRPr lang="en-US" sz="1280" dirty="0"/>
          </a:p>
        </p:txBody>
      </p:sp>
      <p:sp>
        <p:nvSpPr>
          <p:cNvPr id="52" name="txt-5-16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 / 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주식회사 엠에스이씨엠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부기 독서교육 브로슈어</dc:title>
  <dc:subject>PptxGenJS Presentation</dc:subject>
  <dc:creator>MSECM</dc:creator>
  <cp:lastModifiedBy>MSECM</cp:lastModifiedBy>
  <cp:revision>1</cp:revision>
  <dcterms:created xsi:type="dcterms:W3CDTF">2026-10-27T23:57:07Z</dcterms:created>
  <dcterms:modified xsi:type="dcterms:W3CDTF">2026-10-27T23:57:07Z</dcterms:modified>
</cp:coreProperties>
</file>