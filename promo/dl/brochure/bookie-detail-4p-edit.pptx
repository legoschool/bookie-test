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7" ns1:id="rId3"/>
    <ns0:sldId id="258" ns1:id="rId4"/>
    <ns0:sldId id="259" ns1:id="rId5"/>
    <ns0:sldId id="260" ns1:id="rId6"/>
  </ns0:sldIdLst>
  <ns0:notesMasterIdLst>
    <ns0:notesMasterId ns1:id="rId7"/>
  </ns0:notesMasterIdLst>
  <ns0:sldSz cx="7560005" cy="10692003"/>
  <ns0:notesSz cx="10692003" cy="7560005"/>
  <ns0:defaultTextStyle>
    <ns2:lvl1pPr marL="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5913" y="495300"/>
            <a:ext cx="584314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400" y="3136900"/>
            <a:ext cx="266700" cy="292100"/>
          </a:xfrm>
          <a:custGeom>
            <a:avLst/>
            <a:gdLst/>
            <a:ahLst/>
            <a:cxnLst/>
            <a:rect l="l" t="t" r="r" b="b"/>
            <a:pathLst>
              <a:path w="266700" h="292100">
                <a:moveTo>
                  <a:pt x="127000" y="292100"/>
                </a:moveTo>
                <a:lnTo>
                  <a:pt x="127000" y="139700"/>
                </a:lnTo>
                <a:cubicBezTo>
                  <a:pt x="63500" y="165100"/>
                  <a:pt x="0" y="139700"/>
                  <a:pt x="0" y="38100"/>
                </a:cubicBezTo>
                <a:cubicBezTo>
                  <a:pt x="101600" y="25400"/>
                  <a:pt x="127000" y="76200"/>
                  <a:pt x="127000" y="139700"/>
                </a:cubicBezTo>
                <a:cubicBezTo>
                  <a:pt x="127000" y="38100"/>
                  <a:pt x="203200" y="0"/>
                  <a:pt x="266700" y="12700"/>
                </a:cubicBezTo>
                <a:cubicBezTo>
                  <a:pt x="266700" y="101600"/>
                  <a:pt x="203200" y="152400"/>
                  <a:pt x="127000" y="1397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26162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30500" y="3149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45491"/>
                  <a:pt x="157709" y="0"/>
                  <a:pt x="101600" y="0"/>
                </a:cubicBezTo>
                <a:cubicBezTo>
                  <a:pt x="45491" y="0"/>
                  <a:pt x="0" y="45491"/>
                  <a:pt x="0" y="101600"/>
                </a:cubicBezTo>
                <a:cubicBezTo>
                  <a:pt x="0" y="157709"/>
                  <a:pt x="45491" y="203200"/>
                  <a:pt x="101600" y="203200"/>
                </a:cubicBezTo>
                <a:cubicBezTo>
                  <a:pt x="157709" y="203200"/>
                  <a:pt x="203200" y="157709"/>
                  <a:pt x="203200" y="101600"/>
                </a:cubicBezTo>
              </a:path>
            </a:pathLst>
          </a:custGeom>
          <a:ln w="20320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813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29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1300" y="3390900"/>
            <a:ext cx="1016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4000" y="3429000"/>
            <a:ext cx="762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2100" y="3251200"/>
            <a:ext cx="0" cy="1270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940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49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1100" y="3124200"/>
            <a:ext cx="279400" cy="292100"/>
          </a:xfrm>
          <a:custGeom>
            <a:avLst/>
            <a:gdLst/>
            <a:ahLst/>
            <a:cxnLst/>
            <a:rect l="l" t="t" r="r" b="b"/>
            <a:pathLst>
              <a:path w="279400" h="292100">
                <a:moveTo>
                  <a:pt x="139700" y="292100"/>
                </a:moveTo>
                <a:cubicBezTo>
                  <a:pt x="101600" y="241300"/>
                  <a:pt x="0" y="190500"/>
                  <a:pt x="0" y="101600"/>
                </a:cubicBezTo>
                <a:cubicBezTo>
                  <a:pt x="0" y="0"/>
                  <a:pt x="114300" y="0"/>
                  <a:pt x="139700" y="76200"/>
                </a:cubicBezTo>
                <a:cubicBezTo>
                  <a:pt x="165100" y="0"/>
                  <a:pt x="279400" y="0"/>
                  <a:pt x="279400" y="101600"/>
                </a:cubicBezTo>
                <a:cubicBezTo>
                  <a:pt x="279400" y="190500"/>
                  <a:pt x="177800" y="241300"/>
                  <a:pt x="139700" y="2921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317500" y="4508500"/>
            <a:ext cx="6925056" cy="1701800"/>
          </a:xfrm>
          <a:prstGeom prst="roundRect">
            <a:avLst>
              <a:gd name="adj" fmla="val 5970"/>
            </a:avLst>
          </a:prstGeom>
          <a:solidFill>
            <a:srgbClr val="F6F5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763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9464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8" name="Shape 16"/>
          <p:cNvSpPr/>
          <p:nvPr/>
        </p:nvSpPr>
        <p:spPr>
          <a:xfrm>
            <a:off x="50165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443484" y="7784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637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2189734" y="77956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4659" y="7981950"/>
            <a:ext cx="2324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4659" y="7981950"/>
            <a:ext cx="9309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50186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6" name="Shape 24"/>
          <p:cNvSpPr/>
          <p:nvPr/>
        </p:nvSpPr>
        <p:spPr>
          <a:xfrm>
            <a:off x="2308479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7" name="Shape 25"/>
          <p:cNvSpPr/>
          <p:nvPr/>
        </p:nvSpPr>
        <p:spPr>
          <a:xfrm>
            <a:off x="2366645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59225" y="7795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82466" y="7947025"/>
            <a:ext cx="58293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98925" y="7830566"/>
            <a:ext cx="58166" cy="58293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562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705475" y="7947025"/>
            <a:ext cx="32639" cy="93091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4" name="Shape 32"/>
          <p:cNvSpPr/>
          <p:nvPr/>
        </p:nvSpPr>
        <p:spPr>
          <a:xfrm>
            <a:off x="5775325" y="7888859"/>
            <a:ext cx="32639" cy="151384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5" name="Shape 33"/>
          <p:cNvSpPr/>
          <p:nvPr/>
        </p:nvSpPr>
        <p:spPr>
          <a:xfrm>
            <a:off x="5845175" y="7830566"/>
            <a:ext cx="32639" cy="209550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6" name="Shape 34"/>
          <p:cNvSpPr/>
          <p:nvPr/>
        </p:nvSpPr>
        <p:spPr>
          <a:xfrm>
            <a:off x="5915025" y="7772400"/>
            <a:ext cx="32639" cy="267716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7" name="Shape 35"/>
          <p:cNvSpPr/>
          <p:nvPr/>
        </p:nvSpPr>
        <p:spPr>
          <a:xfrm>
            <a:off x="317500" y="8636000"/>
            <a:ext cx="6925056" cy="812800"/>
          </a:xfrm>
          <a:prstGeom prst="roundRect">
            <a:avLst>
              <a:gd name="adj" fmla="val 12500"/>
            </a:avLst>
          </a:prstGeom>
          <a:solidFill>
            <a:srgbClr val="F6F5F0"/>
          </a:solidFill>
          <a:ln/>
        </p:spPr>
      </p:sp>
      <p:sp>
        <p:nvSpPr>
          <p:cNvPr id="38" name="Shape 36"/>
          <p:cNvSpPr/>
          <p:nvPr/>
        </p:nvSpPr>
        <p:spPr>
          <a:xfrm>
            <a:off x="317500" y="9829800"/>
            <a:ext cx="6925056" cy="596900"/>
          </a:xfrm>
          <a:prstGeom prst="roundRect">
            <a:avLst>
              <a:gd name="adj" fmla="val 17021"/>
            </a:avLst>
          </a:prstGeom>
          <a:solidFill>
            <a:srgbClr val="F0F5EF"/>
          </a:solidFill>
          <a:ln/>
        </p:spPr>
      </p:sp>
      <p:pic>
        <p:nvPicPr>
          <p:cNvPr id="3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2300" y="6362700"/>
            <a:ext cx="1409700" cy="968248"/>
          </a:xfrm>
          <a:prstGeom prst="rect">
            <a:avLst/>
          </a:prstGeom>
        </p:spPr>
      </p:pic>
      <p:sp>
        <p:nvSpPr>
          <p:cNvPr id="40" name="txt-1-0"/>
          <p:cNvSpPr txBox="1"/>
          <p:nvPr/>
        </p:nvSpPr>
        <p:spPr>
          <a:xfrm>
            <a:off x="381000" y="296926"/>
            <a:ext cx="1035177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AI 시대,</a:t>
            </a:r>
            <a:endParaRPr lang="en-US" sz="1700" dirty="0"/>
          </a:p>
        </p:txBody>
      </p:sp>
      <p:sp>
        <p:nvSpPr>
          <p:cNvPr id="41" name="txt-1-1"/>
          <p:cNvSpPr txBox="1"/>
          <p:nvPr/>
        </p:nvSpPr>
        <p:spPr>
          <a:xfrm>
            <a:off x="355473" y="694182"/>
            <a:ext cx="5665724" cy="1030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ko-KR" altLang="en-US" sz="4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독서는 모든 학습의</a:t>
            </a:r>
            <a:endParaRPr lang="en-US" sz="4800" dirty="0"/>
          </a:p>
        </p:txBody>
      </p:sp>
      <p:sp>
        <p:nvSpPr>
          <p:cNvPr id="42" name="txt-1-2"/>
          <p:cNvSpPr txBox="1"/>
          <p:nvPr/>
        </p:nvSpPr>
        <p:spPr>
          <a:xfrm>
            <a:off x="355473" y="1406271"/>
            <a:ext cx="3908044" cy="1116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</a:t>
            </a:r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입니다.</a:t>
            </a:r>
            <a:endParaRPr lang="en-US" sz="5200" dirty="0"/>
          </a:p>
        </p:txBody>
      </p:sp>
      <p:sp>
        <p:nvSpPr>
          <p:cNvPr id="43" name="txt-1-3"/>
          <p:cNvSpPr txBox="1"/>
          <p:nvPr/>
        </p:nvSpPr>
        <p:spPr>
          <a:xfrm>
            <a:off x="381000" y="2336419"/>
            <a:ext cx="5091049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답을 내놓아도,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읽고 이해하고 판단하는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 합니다.</a:t>
            </a:r>
            <a:endParaRPr lang="en-US" sz="1600" dirty="0"/>
          </a:p>
        </p:txBody>
      </p:sp>
      <p:sp>
        <p:nvSpPr>
          <p:cNvPr id="44" name="txt-1-4"/>
          <p:cNvSpPr txBox="1"/>
          <p:nvPr/>
        </p:nvSpPr>
        <p:spPr>
          <a:xfrm>
            <a:off x="787146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학습의 기본</a:t>
            </a:r>
            <a:endParaRPr lang="en-US" sz="1700" dirty="0"/>
          </a:p>
        </p:txBody>
      </p:sp>
      <p:sp>
        <p:nvSpPr>
          <p:cNvPr id="45" name="txt-1-5"/>
          <p:cNvSpPr txBox="1"/>
          <p:nvPr/>
        </p:nvSpPr>
        <p:spPr>
          <a:xfrm>
            <a:off x="3085465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사고의 기본</a:t>
            </a:r>
            <a:endParaRPr lang="en-US" sz="1700" dirty="0"/>
          </a:p>
        </p:txBody>
      </p:sp>
      <p:sp>
        <p:nvSpPr>
          <p:cNvPr id="46" name="txt-1-6"/>
          <p:cNvSpPr txBox="1"/>
          <p:nvPr/>
        </p:nvSpPr>
        <p:spPr>
          <a:xfrm>
            <a:off x="5383784" y="3116072"/>
            <a:ext cx="1128776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삶의 기본</a:t>
            </a:r>
            <a:endParaRPr lang="en-US" sz="1700" dirty="0"/>
          </a:p>
        </p:txBody>
      </p:sp>
      <p:sp>
        <p:nvSpPr>
          <p:cNvPr id="47" name="txt-1-7"/>
          <p:cNvSpPr txBox="1"/>
          <p:nvPr/>
        </p:nvSpPr>
        <p:spPr>
          <a:xfrm>
            <a:off x="398653" y="3540252"/>
            <a:ext cx="2162683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낱말과 문장의 뜻을 이해하고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교과의 학습</a:t>
            </a:r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이어 가는 힘</a:t>
            </a:r>
            <a:endParaRPr lang="en-US" sz="1080" dirty="0"/>
          </a:p>
        </p:txBody>
      </p:sp>
      <p:sp>
        <p:nvSpPr>
          <p:cNvPr id="48" name="txt-1-8"/>
          <p:cNvSpPr txBox="1"/>
          <p:nvPr/>
        </p:nvSpPr>
        <p:spPr>
          <a:xfrm>
            <a:off x="3178937" y="3540252"/>
            <a:ext cx="1503045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찾고 질문하며</a:t>
            </a:r>
            <a:endParaRPr lang="en-US" sz="1080" dirty="0"/>
          </a:p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생각을 세우는 힘</a:t>
            </a:r>
            <a:endParaRPr lang="en-US" sz="1080" dirty="0"/>
          </a:p>
        </p:txBody>
      </p:sp>
      <p:sp>
        <p:nvSpPr>
          <p:cNvPr id="49" name="txt-1-9"/>
          <p:cNvSpPr txBox="1"/>
          <p:nvPr/>
        </p:nvSpPr>
        <p:spPr>
          <a:xfrm>
            <a:off x="5241290" y="3540252"/>
            <a:ext cx="1668907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 속의 다른 삶을 만나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타인을 이해하는 힘</a:t>
            </a:r>
            <a:endParaRPr lang="en-US" sz="1080" dirty="0"/>
          </a:p>
        </p:txBody>
      </p:sp>
      <p:sp>
        <p:nvSpPr>
          <p:cNvPr id="50" name="txt-1-10"/>
          <p:cNvSpPr txBox="1"/>
          <p:nvPr/>
        </p:nvSpPr>
        <p:spPr>
          <a:xfrm>
            <a:off x="1478280" y="4168521"/>
            <a:ext cx="460184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읽고 근거를 찾는 연습이 AI의 답을 판단할 바탕이 됩니다.*</a:t>
            </a:r>
            <a:endParaRPr lang="en-US" sz="1000" dirty="0"/>
          </a:p>
        </p:txBody>
      </p:sp>
      <p:sp>
        <p:nvSpPr>
          <p:cNvPr id="51" name="txt-1-11"/>
          <p:cNvSpPr txBox="1"/>
          <p:nvPr/>
        </p:nvSpPr>
        <p:spPr>
          <a:xfrm>
            <a:off x="482346" y="4628134"/>
            <a:ext cx="5168646" cy="57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ko-KR" altLang="en-US" sz="2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기본이 쌓일 시간이 필요합니다</a:t>
            </a:r>
            <a:endParaRPr lang="en-US" sz="2700" dirty="0"/>
          </a:p>
        </p:txBody>
      </p:sp>
      <p:sp>
        <p:nvSpPr>
          <p:cNvPr id="52" name="txt-1-12"/>
          <p:cNvSpPr txBox="1"/>
          <p:nvPr/>
        </p:nvSpPr>
        <p:spPr>
          <a:xfrm>
            <a:off x="495300" y="5127625"/>
            <a:ext cx="7026656" cy="540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전자도서관과 책이 있어도 낯선 어휘에서 막히면 이해와 재미가 끊깁니다.</a:t>
            </a:r>
            <a:endParaRPr lang="en-US" sz="121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읽는 중의 도움과 교사의 질문을 연결해 한 권 읽는 경험을 돕습니다.</a:t>
            </a:r>
            <a:endParaRPr lang="en-US" sz="1210" dirty="0"/>
          </a:p>
        </p:txBody>
      </p:sp>
      <p:sp>
        <p:nvSpPr>
          <p:cNvPr id="53" name="txt-1-13"/>
          <p:cNvSpPr txBox="1"/>
          <p:nvPr/>
        </p:nvSpPr>
        <p:spPr>
          <a:xfrm>
            <a:off x="2679319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4" name="txt-1-14"/>
          <p:cNvSpPr txBox="1"/>
          <p:nvPr/>
        </p:nvSpPr>
        <p:spPr>
          <a:xfrm>
            <a:off x="4749038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5" name="txt-1-15"/>
          <p:cNvSpPr txBox="1"/>
          <p:nvPr/>
        </p:nvSpPr>
        <p:spPr>
          <a:xfrm>
            <a:off x="1261364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모르는 낱말</a:t>
            </a:r>
            <a:endParaRPr lang="en-US" sz="1100" dirty="0"/>
          </a:p>
        </p:txBody>
      </p:sp>
      <p:sp>
        <p:nvSpPr>
          <p:cNvPr id="56" name="txt-1-16"/>
          <p:cNvSpPr txBox="1"/>
          <p:nvPr/>
        </p:nvSpPr>
        <p:spPr>
          <a:xfrm>
            <a:off x="3331083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이해의 중단</a:t>
            </a:r>
            <a:endParaRPr lang="en-US" sz="1100" dirty="0"/>
          </a:p>
        </p:txBody>
      </p:sp>
      <p:sp>
        <p:nvSpPr>
          <p:cNvPr id="57" name="txt-1-17"/>
          <p:cNvSpPr txBox="1"/>
          <p:nvPr/>
        </p:nvSpPr>
        <p:spPr>
          <a:xfrm>
            <a:off x="5400802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읽기의 포기</a:t>
            </a:r>
            <a:endParaRPr lang="en-US" sz="1100" dirty="0"/>
          </a:p>
        </p:txBody>
      </p:sp>
      <p:sp>
        <p:nvSpPr>
          <p:cNvPr id="58" name="txt-1-18"/>
          <p:cNvSpPr txBox="1"/>
          <p:nvPr/>
        </p:nvSpPr>
        <p:spPr>
          <a:xfrm>
            <a:off x="381000" y="6415151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59" name="txt-1-19"/>
          <p:cNvSpPr txBox="1"/>
          <p:nvPr/>
        </p:nvSpPr>
        <p:spPr>
          <a:xfrm>
            <a:off x="381000" y="6811899"/>
            <a:ext cx="4670044" cy="49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부기는 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 대신 질문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건넵니다.</a:t>
            </a:r>
            <a:endParaRPr lang="en-US" sz="2300" dirty="0"/>
          </a:p>
        </p:txBody>
      </p:sp>
      <p:sp>
        <p:nvSpPr>
          <p:cNvPr id="60" name="txt-1-20"/>
          <p:cNvSpPr txBox="1"/>
          <p:nvPr/>
        </p:nvSpPr>
        <p:spPr>
          <a:xfrm>
            <a:off x="381000" y="7313422"/>
            <a:ext cx="4235577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온라인과 인쇄 활동지로 같은 책과 질문을 함께 읽습니다.</a:t>
            </a:r>
            <a:endParaRPr lang="en-US" sz="1050" dirty="0"/>
          </a:p>
        </p:txBody>
      </p:sp>
      <p:sp>
        <p:nvSpPr>
          <p:cNvPr id="61" name="txt-1-21"/>
          <p:cNvSpPr txBox="1"/>
          <p:nvPr/>
        </p:nvSpPr>
        <p:spPr>
          <a:xfrm>
            <a:off x="825246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</a:t>
            </a:r>
            <a:endParaRPr lang="en-US" sz="1600" dirty="0"/>
          </a:p>
        </p:txBody>
      </p:sp>
      <p:sp>
        <p:nvSpPr>
          <p:cNvPr id="62" name="txt-1-22"/>
          <p:cNvSpPr txBox="1"/>
          <p:nvPr/>
        </p:nvSpPr>
        <p:spPr>
          <a:xfrm>
            <a:off x="2571242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묻기</a:t>
            </a:r>
            <a:endParaRPr lang="en-US" sz="1600" dirty="0"/>
          </a:p>
        </p:txBody>
      </p:sp>
      <p:sp>
        <p:nvSpPr>
          <p:cNvPr id="63" name="txt-1-23"/>
          <p:cNvSpPr txBox="1"/>
          <p:nvPr/>
        </p:nvSpPr>
        <p:spPr>
          <a:xfrm>
            <a:off x="4317238" y="7737856"/>
            <a:ext cx="1016127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표현하기</a:t>
            </a:r>
            <a:endParaRPr lang="en-US" sz="1600" dirty="0"/>
          </a:p>
        </p:txBody>
      </p:sp>
      <p:sp>
        <p:nvSpPr>
          <p:cNvPr id="64" name="txt-1-24"/>
          <p:cNvSpPr txBox="1"/>
          <p:nvPr/>
        </p:nvSpPr>
        <p:spPr>
          <a:xfrm>
            <a:off x="5951220" y="7737856"/>
            <a:ext cx="811911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모으기</a:t>
            </a:r>
            <a:endParaRPr lang="en-US" sz="1600" dirty="0"/>
          </a:p>
        </p:txBody>
      </p:sp>
      <p:sp>
        <p:nvSpPr>
          <p:cNvPr id="65" name="txt-1-25"/>
          <p:cNvSpPr txBox="1"/>
          <p:nvPr/>
        </p:nvSpPr>
        <p:spPr>
          <a:xfrm>
            <a:off x="616077" y="8082280"/>
            <a:ext cx="108013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능동적 그림 읽기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· 다국어 지원</a:t>
            </a:r>
            <a:endParaRPr lang="en-US" sz="850" dirty="0"/>
          </a:p>
        </p:txBody>
      </p:sp>
      <p:sp>
        <p:nvSpPr>
          <p:cNvPr id="66" name="txt-1-26"/>
          <p:cNvSpPr txBox="1"/>
          <p:nvPr/>
        </p:nvSpPr>
        <p:spPr>
          <a:xfrm>
            <a:off x="2228342" y="8082280"/>
            <a:ext cx="1345946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생각한 까닭을 묻는 질문</a:t>
            </a:r>
            <a:endParaRPr lang="en-US" sz="850" dirty="0"/>
          </a:p>
        </p:txBody>
      </p:sp>
      <p:sp>
        <p:nvSpPr>
          <p:cNvPr id="67" name="txt-1-27"/>
          <p:cNvSpPr txBox="1"/>
          <p:nvPr/>
        </p:nvSpPr>
        <p:spPr>
          <a:xfrm>
            <a:off x="3796030" y="8082280"/>
            <a:ext cx="170116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글, 그림, 편지 쓰기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화면과 인쇄 활동지로 참여</a:t>
            </a:r>
            <a:endParaRPr lang="en-US" sz="850" dirty="0"/>
          </a:p>
        </p:txBody>
      </p:sp>
      <p:sp>
        <p:nvSpPr>
          <p:cNvPr id="68" name="txt-1-28"/>
          <p:cNvSpPr txBox="1"/>
          <p:nvPr/>
        </p:nvSpPr>
        <p:spPr>
          <a:xfrm>
            <a:off x="5553202" y="8082280"/>
            <a:ext cx="1679702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느끼고 달라졌는지 기록</a:t>
            </a:r>
            <a:endParaRPr lang="en-US" sz="850" dirty="0"/>
          </a:p>
        </p:txBody>
      </p:sp>
      <p:sp>
        <p:nvSpPr>
          <p:cNvPr id="69" name="txt-1-29"/>
          <p:cNvSpPr txBox="1"/>
          <p:nvPr/>
        </p:nvSpPr>
        <p:spPr>
          <a:xfrm>
            <a:off x="756666" y="8758047"/>
            <a:ext cx="1141476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72학급</a:t>
            </a:r>
            <a:endParaRPr lang="en-US" sz="2400" dirty="0"/>
          </a:p>
        </p:txBody>
      </p:sp>
      <p:sp>
        <p:nvSpPr>
          <p:cNvPr id="70" name="txt-1-30"/>
          <p:cNvSpPr txBox="1"/>
          <p:nvPr/>
        </p:nvSpPr>
        <p:spPr>
          <a:xfrm>
            <a:off x="2399538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1,196명</a:t>
            </a:r>
            <a:endParaRPr lang="en-US" sz="2400" dirty="0"/>
          </a:p>
        </p:txBody>
      </p:sp>
      <p:sp>
        <p:nvSpPr>
          <p:cNvPr id="71" name="txt-1-31"/>
          <p:cNvSpPr txBox="1"/>
          <p:nvPr/>
        </p:nvSpPr>
        <p:spPr>
          <a:xfrm>
            <a:off x="4029202" y="8758047"/>
            <a:ext cx="1484503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26,924권</a:t>
            </a:r>
            <a:endParaRPr lang="en-US" sz="2400" dirty="0"/>
          </a:p>
        </p:txBody>
      </p:sp>
      <p:sp>
        <p:nvSpPr>
          <p:cNvPr id="72" name="txt-1-32"/>
          <p:cNvSpPr txBox="1"/>
          <p:nvPr/>
        </p:nvSpPr>
        <p:spPr>
          <a:xfrm>
            <a:off x="5827903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1,816건</a:t>
            </a:r>
            <a:endParaRPr lang="en-US" sz="2400" dirty="0"/>
          </a:p>
        </p:txBody>
      </p:sp>
      <p:sp>
        <p:nvSpPr>
          <p:cNvPr id="73" name="txt-1-33"/>
          <p:cNvSpPr txBox="1"/>
          <p:nvPr/>
        </p:nvSpPr>
        <p:spPr>
          <a:xfrm>
            <a:off x="945896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학급</a:t>
            </a:r>
            <a:endParaRPr lang="en-US" sz="1050" dirty="0"/>
          </a:p>
        </p:txBody>
      </p:sp>
      <p:sp>
        <p:nvSpPr>
          <p:cNvPr id="74" name="txt-1-34"/>
          <p:cNvSpPr txBox="1"/>
          <p:nvPr/>
        </p:nvSpPr>
        <p:spPr>
          <a:xfrm>
            <a:off x="2522474" y="9116314"/>
            <a:ext cx="1027811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사용 학생</a:t>
            </a:r>
            <a:endParaRPr lang="en-US" sz="1050" dirty="0"/>
          </a:p>
        </p:txBody>
      </p:sp>
      <p:sp>
        <p:nvSpPr>
          <p:cNvPr id="75" name="txt-1-35"/>
          <p:cNvSpPr txBox="1"/>
          <p:nvPr/>
        </p:nvSpPr>
        <p:spPr>
          <a:xfrm>
            <a:off x="4374261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완독 기록</a:t>
            </a:r>
            <a:endParaRPr lang="en-US" sz="1050" dirty="0"/>
          </a:p>
        </p:txBody>
      </p:sp>
      <p:sp>
        <p:nvSpPr>
          <p:cNvPr id="76" name="txt-1-36"/>
          <p:cNvSpPr txBox="1"/>
          <p:nvPr/>
        </p:nvSpPr>
        <p:spPr>
          <a:xfrm>
            <a:off x="5965952" y="9116314"/>
            <a:ext cx="994918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독후활동 제출</a:t>
            </a:r>
            <a:endParaRPr lang="en-US" sz="1050" dirty="0"/>
          </a:p>
        </p:txBody>
      </p:sp>
      <p:sp>
        <p:nvSpPr>
          <p:cNvPr id="77" name="txt-1-37"/>
          <p:cNvSpPr txBox="1"/>
          <p:nvPr/>
        </p:nvSpPr>
        <p:spPr>
          <a:xfrm>
            <a:off x="2012823" y="9514586"/>
            <a:ext cx="353212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9. 20.~10. 21. 선도교사단 온오프라인 운영 종합</a:t>
            </a:r>
            <a:endParaRPr lang="en-US" sz="1000" dirty="0"/>
          </a:p>
        </p:txBody>
      </p:sp>
      <p:sp>
        <p:nvSpPr>
          <p:cNvPr id="78" name="txt-1-38"/>
          <p:cNvSpPr txBox="1"/>
          <p:nvPr/>
        </p:nvSpPr>
        <p:spPr>
          <a:xfrm>
            <a:off x="1502410" y="9843897"/>
            <a:ext cx="4554855" cy="57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모든 학생이 읽고 생각하는 기본을 갖추도록,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 독서교육의 지속적인 운영을 지원해 주십시오.</a:t>
            </a:r>
            <a:endParaRPr lang="en-US" sz="1400" dirty="0"/>
          </a:p>
        </p:txBody>
      </p:sp>
      <p:sp>
        <p:nvSpPr>
          <p:cNvPr id="79" name="txt-1-39"/>
          <p:cNvSpPr txBox="1"/>
          <p:nvPr/>
        </p:nvSpPr>
        <p:spPr>
          <a:xfrm>
            <a:off x="304800" y="10510393"/>
            <a:ext cx="6350000" cy="13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5"/>
              </a:lnSpc>
              <a:buNone/>
            </a:pPr>
            <a:r>
              <a:rPr lang="ko-KR" altLang="en-US" sz="65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Kreijkes 외(2026), Computers &amp; Education 243, 105514.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3266059" y="2755900"/>
            <a:ext cx="391299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5697" y="4635500"/>
            <a:ext cx="71335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63621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4106037" y="6553200"/>
            <a:ext cx="307301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9232900"/>
            <a:ext cx="6925056" cy="889000"/>
          </a:xfrm>
          <a:prstGeom prst="roundRect">
            <a:avLst>
              <a:gd name="adj" fmla="val 1142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1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0" name="txt-2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현장 초등교사가 드리는 제안</a:t>
            </a:r>
            <a:endParaRPr lang="en-US" sz="1700" dirty="0"/>
          </a:p>
        </p:txBody>
      </p:sp>
      <p:sp>
        <p:nvSpPr>
          <p:cNvPr id="21" name="txt-2-1"/>
          <p:cNvSpPr txBox="1"/>
          <p:nvPr/>
        </p:nvSpPr>
        <p:spPr>
          <a:xfrm>
            <a:off x="381000" y="730758"/>
            <a:ext cx="4901565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스스로 생각할 기회를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잃을까 두렵습니다.</a:t>
            </a:r>
            <a:endParaRPr lang="en-US" sz="3700" dirty="0"/>
          </a:p>
        </p:txBody>
      </p:sp>
      <p:sp>
        <p:nvSpPr>
          <p:cNvPr id="22" name="txt-2-2"/>
          <p:cNvSpPr txBox="1"/>
          <p:nvPr/>
        </p:nvSpPr>
        <p:spPr>
          <a:xfrm>
            <a:off x="863346" y="2545207"/>
            <a:ext cx="2655316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교실에서 마주한 걱정</a:t>
            </a:r>
            <a:endParaRPr lang="en-US" sz="1950" dirty="0"/>
          </a:p>
        </p:txBody>
      </p:sp>
      <p:sp>
        <p:nvSpPr>
          <p:cNvPr id="23" name="txt-2-3"/>
          <p:cNvSpPr txBox="1"/>
          <p:nvPr/>
        </p:nvSpPr>
        <p:spPr>
          <a:xfrm>
            <a:off x="381000" y="3027680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요약과 답안을 대신 만드는 동안 학생은 무엇을 직접 읽고 생각할까요.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글을 따라 읽고, 근거를 찾고, 자기 말로 정리하는 시간을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교실에서 지키려는 고민으로 부기를 만들었습니다.</a:t>
            </a:r>
            <a:endParaRPr lang="en-US" sz="1800" dirty="0"/>
          </a:p>
        </p:txBody>
      </p:sp>
      <p:sp>
        <p:nvSpPr>
          <p:cNvPr id="24" name="txt-2-4"/>
          <p:cNvSpPr txBox="1"/>
          <p:nvPr/>
        </p:nvSpPr>
        <p:spPr>
          <a:xfrm>
            <a:off x="863346" y="4424426"/>
            <a:ext cx="6174994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정보가 많아도, 깊은 이해는 저절로 생기지 않습니다</a:t>
            </a:r>
            <a:endParaRPr lang="en-US" sz="1950" dirty="0"/>
          </a:p>
        </p:txBody>
      </p:sp>
      <p:sp>
        <p:nvSpPr>
          <p:cNvPr id="25" name="txt-2-5"/>
          <p:cNvSpPr txBox="1"/>
          <p:nvPr/>
        </p:nvSpPr>
        <p:spPr>
          <a:xfrm>
            <a:off x="381000" y="4945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생각할 일을 바깥 도구에 맡기는 현상을 인지 외주화라고 부릅니다.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 답을 이해하고 검토하려면 학생 안에 낱말과 배경지식이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쌓여 있어야 합니다. 독서수업은 그 바탕을 마련하는 시간입니다.</a:t>
            </a:r>
            <a:endParaRPr lang="en-US" sz="1800" dirty="0"/>
          </a:p>
        </p:txBody>
      </p:sp>
      <p:sp>
        <p:nvSpPr>
          <p:cNvPr id="26" name="txt-2-6"/>
          <p:cNvSpPr txBox="1"/>
          <p:nvPr/>
        </p:nvSpPr>
        <p:spPr>
          <a:xfrm>
            <a:off x="863346" y="6341999"/>
            <a:ext cx="3579368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학교가 먼저 고민해야 할 질문</a:t>
            </a:r>
            <a:endParaRPr lang="en-US" sz="1950" dirty="0"/>
          </a:p>
        </p:txBody>
      </p:sp>
      <p:sp>
        <p:nvSpPr>
          <p:cNvPr id="27" name="txt-2-7"/>
          <p:cNvSpPr txBox="1"/>
          <p:nvPr/>
        </p:nvSpPr>
        <p:spPr>
          <a:xfrm>
            <a:off x="381000" y="6837045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알고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경험을 쌓고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생각하는 사람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자라야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할까요. 디지털 도구를 도입하는 일에도 이 질문이 먼저 놓여야 합니다.</a:t>
            </a:r>
            <a:endParaRPr lang="en-US" sz="1800" dirty="0"/>
          </a:p>
        </p:txBody>
      </p:sp>
      <p:sp>
        <p:nvSpPr>
          <p:cNvPr id="28" name="txt-2-8"/>
          <p:cNvSpPr txBox="1"/>
          <p:nvPr/>
        </p:nvSpPr>
        <p:spPr>
          <a:xfrm>
            <a:off x="381000" y="7637145"/>
            <a:ext cx="6979285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읽고 이해하며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들어 말하는 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꾸준히 길러 주어야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이 절실함에서 부기가 시작됐습니다.</a:t>
            </a:r>
            <a:endParaRPr lang="en-US" sz="1800" dirty="0"/>
          </a:p>
        </p:txBody>
      </p:sp>
      <p:sp>
        <p:nvSpPr>
          <p:cNvPr id="29" name="txt-2-9"/>
          <p:cNvSpPr txBox="1"/>
          <p:nvPr/>
        </p:nvSpPr>
        <p:spPr>
          <a:xfrm>
            <a:off x="963295" y="9322562"/>
            <a:ext cx="5632323" cy="715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학생이 직접 읽고 묻고 정리한 생각은</a:t>
            </a:r>
            <a:endParaRPr lang="en-US" sz="1750" dirty="0"/>
          </a:p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다음 글을 이해하고 판단할 바탕이 됩니다.</a:t>
            </a:r>
            <a:endParaRPr lang="en-US" sz="1750" dirty="0"/>
          </a:p>
        </p:txBody>
      </p:sp>
      <p:sp>
        <p:nvSpPr>
          <p:cNvPr id="30" name="txt-2-10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/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87548" y="495300"/>
            <a:ext cx="419150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720842" y="2755900"/>
            <a:ext cx="145821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86119" y="4635500"/>
            <a:ext cx="89293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7988300"/>
            <a:ext cx="6925056" cy="622300"/>
          </a:xfrm>
          <a:prstGeom prst="roundRect">
            <a:avLst>
              <a:gd name="adj" fmla="val 16327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94284" y="8165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66009" y="8165084"/>
            <a:ext cx="186309" cy="186309"/>
          </a:xfrm>
          <a:custGeom>
            <a:avLst/>
            <a:gdLst/>
            <a:ahLst/>
            <a:cxnLst/>
            <a:rect l="l" t="t" r="r" b="b"/>
            <a:pathLst>
              <a:path w="186309" h="186309">
                <a:moveTo>
                  <a:pt x="186271" y="93129"/>
                </a:moveTo>
                <a:cubicBezTo>
                  <a:pt x="186271" y="41694"/>
                  <a:pt x="144564" y="0"/>
                  <a:pt x="93129" y="0"/>
                </a:cubicBezTo>
                <a:cubicBezTo>
                  <a:pt x="41694" y="0"/>
                  <a:pt x="0" y="41694"/>
                  <a:pt x="0" y="93129"/>
                </a:cubicBezTo>
                <a:cubicBezTo>
                  <a:pt x="0" y="144564"/>
                  <a:pt x="41694" y="186271"/>
                  <a:pt x="93129" y="186271"/>
                </a:cubicBezTo>
                <a:cubicBezTo>
                  <a:pt x="144564" y="186271"/>
                  <a:pt x="186271" y="144564"/>
                  <a:pt x="186271" y="93129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2491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05709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2491" y="8386191"/>
            <a:ext cx="93218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4175" y="8421116"/>
            <a:ext cx="6985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59100" y="8258175"/>
            <a:ext cx="0" cy="116459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4175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9100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91125" y="8176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4366" y="83280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30825" y="82115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7500" y="8826500"/>
            <a:ext cx="6925056" cy="825500"/>
          </a:xfrm>
          <a:prstGeom prst="roundRect">
            <a:avLst>
              <a:gd name="adj" fmla="val 12308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0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1" name="txt-3-0"/>
          <p:cNvSpPr txBox="1"/>
          <p:nvPr/>
        </p:nvSpPr>
        <p:spPr>
          <a:xfrm>
            <a:off x="381000" y="296926"/>
            <a:ext cx="2851912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만드는 이해의 바탕</a:t>
            </a:r>
            <a:endParaRPr lang="en-US" sz="1700" dirty="0"/>
          </a:p>
        </p:txBody>
      </p:sp>
      <p:sp>
        <p:nvSpPr>
          <p:cNvPr id="32" name="txt-3-1"/>
          <p:cNvSpPr txBox="1"/>
          <p:nvPr/>
        </p:nvSpPr>
        <p:spPr>
          <a:xfrm>
            <a:off x="381000" y="730758"/>
            <a:ext cx="5077333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아는 것이 쌓여야,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새 지식이 연결됩니다.</a:t>
            </a:r>
            <a:endParaRPr lang="en-US" sz="3700" dirty="0"/>
          </a:p>
        </p:txBody>
      </p:sp>
      <p:sp>
        <p:nvSpPr>
          <p:cNvPr id="33" name="txt-3-2"/>
          <p:cNvSpPr txBox="1"/>
          <p:nvPr/>
        </p:nvSpPr>
        <p:spPr>
          <a:xfrm>
            <a:off x="863346" y="2540000"/>
            <a:ext cx="5355717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어휘와 간접 경험이 이해의 바탕을 넓힙니다</a:t>
            </a:r>
            <a:endParaRPr lang="en-US" sz="2000" dirty="0"/>
          </a:p>
        </p:txBody>
      </p:sp>
      <p:sp>
        <p:nvSpPr>
          <p:cNvPr id="34" name="txt-3-3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이야기에서는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삶과 선택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을, 설명하는 글에서는 세상의 원리를,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에세이에서는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사람의 생각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만납니다. 문맥 속에서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익히고,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생각을 따라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비교합니다.</a:t>
            </a:r>
            <a:endParaRPr lang="en-US" sz="1800" dirty="0"/>
          </a:p>
        </p:txBody>
      </p:sp>
      <p:sp>
        <p:nvSpPr>
          <p:cNvPr id="35" name="txt-3-4"/>
          <p:cNvSpPr txBox="1"/>
          <p:nvPr/>
        </p:nvSpPr>
        <p:spPr>
          <a:xfrm>
            <a:off x="863346" y="4417314"/>
            <a:ext cx="5977382" cy="4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4"/>
              </a:lnSpc>
              <a:buNone/>
            </a:pPr>
            <a:r>
              <a:rPr lang="ko-KR" altLang="en-US" sz="19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스키마는 경험과 지식이 조직된 ‘이해의 틀’입니다</a:t>
            </a:r>
            <a:endParaRPr lang="en-US" sz="1980" dirty="0"/>
          </a:p>
        </p:txBody>
      </p:sp>
      <p:sp>
        <p:nvSpPr>
          <p:cNvPr id="36" name="txt-3-5"/>
          <p:cNvSpPr txBox="1"/>
          <p:nvPr/>
        </p:nvSpPr>
        <p:spPr>
          <a:xfrm>
            <a:off x="381000" y="4932426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내용은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알고 있는 개념과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연결될 때 더 잘 이해할 수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있습니다.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관련 어휘와 배경지식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부족하면 글자를 읽어도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맥락과 의미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연결하기 어렵습니다.</a:t>
            </a:r>
            <a:endParaRPr lang="en-US" sz="1800" dirty="0"/>
          </a:p>
        </p:txBody>
      </p:sp>
      <p:sp>
        <p:nvSpPr>
          <p:cNvPr id="37" name="txt-3-6"/>
          <p:cNvSpPr txBox="1"/>
          <p:nvPr/>
        </p:nvSpPr>
        <p:spPr>
          <a:xfrm>
            <a:off x="381000" y="61135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읽기 전 필요한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배경을 짚고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어휘를 익히고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새 내용으로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생각을 넓히거나 고치는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과정이 필요합니다.</a:t>
            </a:r>
            <a:endParaRPr lang="en-US" sz="1800" dirty="0"/>
          </a:p>
        </p:txBody>
      </p:sp>
      <p:sp>
        <p:nvSpPr>
          <p:cNvPr id="38" name="txt-3-7"/>
          <p:cNvSpPr txBox="1"/>
          <p:nvPr/>
        </p:nvSpPr>
        <p:spPr>
          <a:xfrm>
            <a:off x="863346" y="8180705"/>
            <a:ext cx="117132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 · 간접 경험</a:t>
            </a:r>
            <a:endParaRPr lang="en-US" sz="1080" dirty="0"/>
          </a:p>
        </p:txBody>
      </p:sp>
      <p:sp>
        <p:nvSpPr>
          <p:cNvPr id="39" name="txt-3-8"/>
          <p:cNvSpPr txBox="1"/>
          <p:nvPr/>
        </p:nvSpPr>
        <p:spPr>
          <a:xfrm>
            <a:off x="3199765" y="8180705"/>
            <a:ext cx="12762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 · 스키마</a:t>
            </a:r>
            <a:endParaRPr lang="en-US" sz="1080" dirty="0"/>
          </a:p>
        </p:txBody>
      </p:sp>
      <p:sp>
        <p:nvSpPr>
          <p:cNvPr id="40" name="txt-3-9"/>
          <p:cNvSpPr txBox="1"/>
          <p:nvPr/>
        </p:nvSpPr>
        <p:spPr>
          <a:xfrm>
            <a:off x="5536184" y="8180705"/>
            <a:ext cx="128968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 · 추론 · 연결</a:t>
            </a:r>
            <a:endParaRPr lang="en-US" sz="1080" dirty="0"/>
          </a:p>
        </p:txBody>
      </p:sp>
      <p:sp>
        <p:nvSpPr>
          <p:cNvPr id="41" name="txt-3-10"/>
          <p:cNvSpPr txBox="1"/>
          <p:nvPr/>
        </p:nvSpPr>
        <p:spPr>
          <a:xfrm>
            <a:off x="2513965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txt-3-11"/>
          <p:cNvSpPr txBox="1"/>
          <p:nvPr/>
        </p:nvSpPr>
        <p:spPr>
          <a:xfrm>
            <a:off x="4850384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xt-3-12"/>
          <p:cNvSpPr txBox="1"/>
          <p:nvPr/>
        </p:nvSpPr>
        <p:spPr>
          <a:xfrm>
            <a:off x="1554099" y="8881237"/>
            <a:ext cx="4449699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읽고 받아들이는 경험이 쌓여,</a:t>
            </a:r>
            <a:endParaRPr lang="en-US" sz="1800" dirty="0"/>
          </a:p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세상을 이해하는 생각의 바탕이 됩니다.</a:t>
            </a:r>
            <a:endParaRPr lang="en-US" sz="1800" dirty="0"/>
          </a:p>
        </p:txBody>
      </p:sp>
      <p:sp>
        <p:nvSpPr>
          <p:cNvPr id="44" name="txt-3-13"/>
          <p:cNvSpPr txBox="1"/>
          <p:nvPr/>
        </p:nvSpPr>
        <p:spPr>
          <a:xfrm>
            <a:off x="393573" y="9801606"/>
            <a:ext cx="3943985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배경지식의 영향은 지식의 정확성 · 글의 특성 등에 따라 달라집니다.</a:t>
            </a:r>
            <a:endParaRPr lang="en-US" sz="980" dirty="0"/>
          </a:p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Smith et al. (2021) · Hattan et al. (2024)</a:t>
            </a:r>
            <a:endParaRPr lang="en-US" sz="980" dirty="0"/>
          </a:p>
        </p:txBody>
      </p:sp>
      <p:sp>
        <p:nvSpPr>
          <p:cNvPr id="45" name="txt-3-14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5151" y="495300"/>
            <a:ext cx="330390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6081014" y="2755900"/>
            <a:ext cx="109804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343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595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634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449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410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410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86120" y="4508500"/>
            <a:ext cx="139293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70860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76365" y="7277100"/>
            <a:ext cx="70269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8877300"/>
            <a:ext cx="6925056" cy="927100"/>
          </a:xfrm>
          <a:prstGeom prst="roundRect">
            <a:avLst>
              <a:gd name="adj" fmla="val 1095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495300" y="896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300" y="92329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495300" y="9499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22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3" name="txt-4-0"/>
          <p:cNvSpPr txBox="1"/>
          <p:nvPr/>
        </p:nvSpPr>
        <p:spPr>
          <a:xfrm>
            <a:off x="381000" y="296926"/>
            <a:ext cx="382828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정보에서 깊이 있는 이해로</a:t>
            </a:r>
            <a:endParaRPr lang="en-US" sz="1700" dirty="0"/>
          </a:p>
        </p:txBody>
      </p:sp>
      <p:sp>
        <p:nvSpPr>
          <p:cNvPr id="24" name="txt-4-1"/>
          <p:cNvSpPr txBox="1"/>
          <p:nvPr/>
        </p:nvSpPr>
        <p:spPr>
          <a:xfrm>
            <a:off x="381000" y="768858"/>
            <a:ext cx="5289804" cy="794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1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‘본 적 있다’는 익숙함이</a:t>
            </a:r>
            <a:endParaRPr lang="en-US" sz="3700" dirty="0"/>
          </a:p>
        </p:txBody>
      </p:sp>
      <p:sp>
        <p:nvSpPr>
          <p:cNvPr id="25" name="txt-4-2"/>
          <p:cNvSpPr txBox="1"/>
          <p:nvPr/>
        </p:nvSpPr>
        <p:spPr>
          <a:xfrm>
            <a:off x="381000" y="1429512"/>
            <a:ext cx="5586730" cy="759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8"/>
              </a:lnSpc>
              <a:buNone/>
            </a:pPr>
            <a:r>
              <a:rPr lang="ko-KR" altLang="en-US" sz="3537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‘안다’는 이해는 아닙니다.</a:t>
            </a:r>
            <a:endParaRPr lang="en-US" sz="3537" dirty="0"/>
          </a:p>
        </p:txBody>
      </p:sp>
      <p:sp>
        <p:nvSpPr>
          <p:cNvPr id="26" name="txt-4-3"/>
          <p:cNvSpPr txBox="1"/>
          <p:nvPr/>
        </p:nvSpPr>
        <p:spPr>
          <a:xfrm>
            <a:off x="863346" y="2545207"/>
            <a:ext cx="5751830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정보가 생각의 전부가 될까 걱정됩니다</a:t>
            </a:r>
            <a:endParaRPr lang="en-US" sz="1950" dirty="0"/>
          </a:p>
        </p:txBody>
      </p:sp>
      <p:sp>
        <p:nvSpPr>
          <p:cNvPr id="27" name="txt-4-4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만든 답을 읽었다고 학습까지 끝나는 것은 아닙니다.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중등학생 읽기 실험에서는 LLM만 쓴 조건보다 직접 필기한 조건이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3일 뒤 이해 평가에서 더 높은 점수를 받았습니다.</a:t>
            </a:r>
            <a:endParaRPr lang="en-US" sz="1800" dirty="0"/>
          </a:p>
        </p:txBody>
      </p:sp>
      <p:sp>
        <p:nvSpPr>
          <p:cNvPr id="28" name="txt-4-5"/>
          <p:cNvSpPr txBox="1"/>
          <p:nvPr/>
        </p:nvSpPr>
        <p:spPr>
          <a:xfrm>
            <a:off x="863346" y="4292346"/>
            <a:ext cx="54274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‘안다는 착각’을 넘어서는 연습이 필요합니다</a:t>
            </a:r>
            <a:endParaRPr lang="en-US" sz="2000" dirty="0"/>
          </a:p>
        </p:txBody>
      </p:sp>
      <p:sp>
        <p:nvSpPr>
          <p:cNvPr id="29" name="txt-4-6"/>
          <p:cNvSpPr txBox="1"/>
          <p:nvPr/>
        </p:nvSpPr>
        <p:spPr>
          <a:xfrm>
            <a:off x="381000" y="47800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12점 만점의 이해 점수는 LLM 조건 4.00점, 필기 조건 4.89점이었습니다.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학생이 직접 읽고 정리하는 과정을 남기는 데 주목했습니다.</a:t>
            </a:r>
            <a:endParaRPr lang="en-US" sz="1800" dirty="0"/>
          </a:p>
        </p:txBody>
      </p:sp>
      <p:sp>
        <p:nvSpPr>
          <p:cNvPr id="30" name="txt-4-7"/>
          <p:cNvSpPr txBox="1"/>
          <p:nvPr/>
        </p:nvSpPr>
        <p:spPr>
          <a:xfrm>
            <a:off x="381000" y="55674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말로 설명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책에서 근거를 찾고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 적용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 보는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활동이 필요합니다.</a:t>
            </a:r>
            <a:endParaRPr lang="en-US" sz="1800" dirty="0"/>
          </a:p>
        </p:txBody>
      </p:sp>
      <p:sp>
        <p:nvSpPr>
          <p:cNvPr id="31" name="txt-4-8"/>
          <p:cNvSpPr txBox="1"/>
          <p:nvPr/>
        </p:nvSpPr>
        <p:spPr>
          <a:xfrm>
            <a:off x="863346" y="7060057"/>
            <a:ext cx="6186678" cy="407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디지털 교육의 중심에도 학생의 사고가 있어야 합니다</a:t>
            </a:r>
            <a:endParaRPr lang="en-US" sz="1900" dirty="0"/>
          </a:p>
        </p:txBody>
      </p:sp>
      <p:sp>
        <p:nvSpPr>
          <p:cNvPr id="32" name="txt-4-9"/>
          <p:cNvSpPr txBox="1"/>
          <p:nvPr/>
        </p:nvSpPr>
        <p:spPr>
          <a:xfrm>
            <a:off x="381000" y="7565136"/>
            <a:ext cx="7140956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빠르게 답을 제시해도, 그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뜻과 근거를 판단하는 힘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기술은 읽기와 표현을 돕고, 학생에게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생각할 시간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주는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방향으로 써야 합니다.</a:t>
            </a:r>
            <a:endParaRPr lang="en-US" sz="1750" dirty="0"/>
          </a:p>
        </p:txBody>
      </p:sp>
      <p:sp>
        <p:nvSpPr>
          <p:cNvPr id="33" name="txt-4-10"/>
          <p:cNvSpPr txBox="1"/>
          <p:nvPr/>
        </p:nvSpPr>
        <p:spPr>
          <a:xfrm>
            <a:off x="545973" y="89659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4" name="txt-4-11"/>
          <p:cNvSpPr txBox="1"/>
          <p:nvPr/>
        </p:nvSpPr>
        <p:spPr>
          <a:xfrm>
            <a:off x="812673" y="8910447"/>
            <a:ext cx="2582672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 설명할 수 있는가?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그렇게 생각한 근거는 무엇인가?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상황에도 적용할 수 있는가?</a:t>
            </a:r>
            <a:endParaRPr lang="en-US" sz="1300" dirty="0"/>
          </a:p>
        </p:txBody>
      </p:sp>
      <p:sp>
        <p:nvSpPr>
          <p:cNvPr id="35" name="txt-4-12"/>
          <p:cNvSpPr txBox="1"/>
          <p:nvPr/>
        </p:nvSpPr>
        <p:spPr>
          <a:xfrm>
            <a:off x="545973" y="92326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xt-4-13"/>
          <p:cNvSpPr txBox="1"/>
          <p:nvPr/>
        </p:nvSpPr>
        <p:spPr>
          <a:xfrm>
            <a:off x="545973" y="94993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7" name="txt-4-14"/>
          <p:cNvSpPr txBox="1"/>
          <p:nvPr/>
        </p:nvSpPr>
        <p:spPr>
          <a:xfrm>
            <a:off x="381000" y="9901301"/>
            <a:ext cx="63500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Kreijkes 외(2026), Computers &amp; Education 243, 105514.</a:t>
            </a:r>
            <a:endParaRPr lang="en-US" sz="830" dirty="0"/>
          </a:p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830" dirty="0"/>
          </a:p>
        </p:txBody>
      </p:sp>
      <p:sp>
        <p:nvSpPr>
          <p:cNvPr id="38" name="txt-4-15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400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052695" y="2717800"/>
            <a:ext cx="212636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10378" y="4635500"/>
            <a:ext cx="186867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62357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56184" y="63235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90800" y="63246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500" y="67310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184" y="68304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1109" y="7016750"/>
            <a:ext cx="2324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109" y="7016750"/>
            <a:ext cx="9309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636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2" name="Shape 20"/>
          <p:cNvSpPr/>
          <p:nvPr/>
        </p:nvSpPr>
        <p:spPr>
          <a:xfrm>
            <a:off x="574929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3" name="Shape 21"/>
          <p:cNvSpPr/>
          <p:nvPr/>
        </p:nvSpPr>
        <p:spPr>
          <a:xfrm>
            <a:off x="633095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4" name="Shape 22"/>
          <p:cNvSpPr/>
          <p:nvPr/>
        </p:nvSpPr>
        <p:spPr>
          <a:xfrm>
            <a:off x="2590800" y="68199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7500" y="72263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79425" y="73257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666" y="74771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125" y="73606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90800" y="73152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4208" y="79496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1" name="Shape 29"/>
          <p:cNvSpPr/>
          <p:nvPr/>
        </p:nvSpPr>
        <p:spPr>
          <a:xfrm>
            <a:off x="5148961" y="8140700"/>
            <a:ext cx="203009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500" y="9842500"/>
            <a:ext cx="6925056" cy="495300"/>
          </a:xfrm>
          <a:prstGeom prst="roundRect">
            <a:avLst>
              <a:gd name="adj" fmla="val 20513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5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6" name="txt-5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교실의 문제에서 출발한 부기</a:t>
            </a:r>
            <a:endParaRPr lang="en-US" sz="1700" dirty="0"/>
          </a:p>
        </p:txBody>
      </p:sp>
      <p:sp>
        <p:nvSpPr>
          <p:cNvPr id="37" name="txt-5-1"/>
          <p:cNvSpPr txBox="1"/>
          <p:nvPr/>
        </p:nvSpPr>
        <p:spPr>
          <a:xfrm>
            <a:off x="381000" y="730758"/>
            <a:ext cx="4450334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지금 학교 현장에는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절실합니다.</a:t>
            </a:r>
            <a:endParaRPr lang="en-US" sz="3700" dirty="0"/>
          </a:p>
        </p:txBody>
      </p:sp>
      <p:sp>
        <p:nvSpPr>
          <p:cNvPr id="38" name="txt-5-2"/>
          <p:cNvSpPr txBox="1"/>
          <p:nvPr/>
        </p:nvSpPr>
        <p:spPr>
          <a:xfrm>
            <a:off x="863346" y="2504059"/>
            <a:ext cx="4620768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고전의 지혜에서 시작하고자 합니다</a:t>
            </a:r>
            <a:endParaRPr lang="en-US" sz="2100" dirty="0"/>
          </a:p>
        </p:txBody>
      </p:sp>
      <p:sp>
        <p:nvSpPr>
          <p:cNvPr id="39" name="txt-5-3"/>
          <p:cNvSpPr txBox="1"/>
          <p:nvPr/>
        </p:nvSpPr>
        <p:spPr>
          <a:xfrm>
            <a:off x="381000" y="2990342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사람과 세상을 이해하고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생각할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기르기 위해,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고전의 지혜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빌리고자 했습니다.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우정과 책임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공정과 나눔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읽으며 ‘왜 그런 선택을 했을까’,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‘나라면 어떻게 했을까’를 함께 묻습니다.</a:t>
            </a:r>
            <a:endParaRPr lang="en-US" sz="1650" dirty="0"/>
          </a:p>
        </p:txBody>
      </p:sp>
      <p:sp>
        <p:nvSpPr>
          <p:cNvPr id="40" name="txt-5-4"/>
          <p:cNvSpPr txBox="1"/>
          <p:nvPr/>
        </p:nvSpPr>
        <p:spPr>
          <a:xfrm>
            <a:off x="863346" y="4421378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41" name="txt-5-5"/>
          <p:cNvSpPr txBox="1"/>
          <p:nvPr/>
        </p:nvSpPr>
        <p:spPr>
          <a:xfrm>
            <a:off x="381000" y="4933188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책을 제공해도 모르는 낱말에서 멈추면 읽기의 재미를 느끼기 어렵습니다.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읽던 자리의 뜻풀이와 교사의 질문을 연결해 이해를 돕고,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권을 읽은 경험이 다음 책으로 이어지도록 구성했습니다.</a:t>
            </a:r>
            <a:endParaRPr lang="en-US" sz="1650" dirty="0"/>
          </a:p>
        </p:txBody>
      </p:sp>
      <p:sp>
        <p:nvSpPr>
          <p:cNvPr id="42" name="txt-5-6"/>
          <p:cNvSpPr txBox="1"/>
          <p:nvPr/>
        </p:nvSpPr>
        <p:spPr>
          <a:xfrm>
            <a:off x="2742565" y="6342634"/>
            <a:ext cx="307111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뜻 · 능동적 그림 읽기 · 다국어 지원</a:t>
            </a:r>
            <a:endParaRPr lang="en-US" sz="1250" dirty="0"/>
          </a:p>
        </p:txBody>
      </p:sp>
      <p:sp>
        <p:nvSpPr>
          <p:cNvPr id="43" name="txt-5-7"/>
          <p:cNvSpPr txBox="1"/>
          <p:nvPr/>
        </p:nvSpPr>
        <p:spPr>
          <a:xfrm>
            <a:off x="863346" y="6303010"/>
            <a:ext cx="1071245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 지원</a:t>
            </a:r>
            <a:endParaRPr lang="en-US" sz="1600" dirty="0"/>
          </a:p>
        </p:txBody>
      </p:sp>
      <p:sp>
        <p:nvSpPr>
          <p:cNvPr id="44" name="txt-5-8"/>
          <p:cNvSpPr txBox="1"/>
          <p:nvPr/>
        </p:nvSpPr>
        <p:spPr>
          <a:xfrm>
            <a:off x="2742565" y="6837934"/>
            <a:ext cx="2655951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 · 다양한 독후활동</a:t>
            </a:r>
            <a:endParaRPr lang="en-US" sz="1250" dirty="0"/>
          </a:p>
        </p:txBody>
      </p:sp>
      <p:sp>
        <p:nvSpPr>
          <p:cNvPr id="45" name="txt-5-9"/>
          <p:cNvSpPr txBox="1"/>
          <p:nvPr/>
        </p:nvSpPr>
        <p:spPr>
          <a:xfrm>
            <a:off x="863346" y="67979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생각과 표현</a:t>
            </a:r>
            <a:endParaRPr lang="en-US" sz="1600" dirty="0"/>
          </a:p>
        </p:txBody>
      </p:sp>
      <p:sp>
        <p:nvSpPr>
          <p:cNvPr id="46" name="txt-5-10"/>
          <p:cNvSpPr txBox="1"/>
          <p:nvPr/>
        </p:nvSpPr>
        <p:spPr>
          <a:xfrm>
            <a:off x="2742565" y="7333234"/>
            <a:ext cx="2910459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 · 수업 자료 · 학생 기록</a:t>
            </a:r>
            <a:endParaRPr lang="en-US" sz="1250" dirty="0"/>
          </a:p>
        </p:txBody>
      </p:sp>
      <p:sp>
        <p:nvSpPr>
          <p:cNvPr id="47" name="txt-5-11"/>
          <p:cNvSpPr txBox="1"/>
          <p:nvPr/>
        </p:nvSpPr>
        <p:spPr>
          <a:xfrm>
            <a:off x="863346" y="72932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기록과 지도</a:t>
            </a:r>
            <a:endParaRPr lang="en-US" sz="1600" dirty="0"/>
          </a:p>
        </p:txBody>
      </p:sp>
      <p:sp>
        <p:nvSpPr>
          <p:cNvPr id="48" name="txt-5-12"/>
          <p:cNvSpPr txBox="1"/>
          <p:nvPr/>
        </p:nvSpPr>
        <p:spPr>
          <a:xfrm>
            <a:off x="863346" y="7920482"/>
            <a:ext cx="4726559" cy="43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5"/>
              </a:lnSpc>
              <a:buNone/>
            </a:pPr>
            <a:r>
              <a:rPr lang="ko-KR" altLang="en-US" sz="20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온라인과 오프라인에서 같은 수업을</a:t>
            </a:r>
            <a:endParaRPr lang="en-US" sz="2050" dirty="0"/>
          </a:p>
        </p:txBody>
      </p:sp>
      <p:sp>
        <p:nvSpPr>
          <p:cNvPr id="49" name="txt-5-13"/>
          <p:cNvSpPr txBox="1"/>
          <p:nvPr/>
        </p:nvSpPr>
        <p:spPr>
          <a:xfrm>
            <a:off x="381000" y="8435213"/>
            <a:ext cx="714095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온라인에서는 화면에 답하고 포트폴리오에 기록합니다. 오프라인에서는 같은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활동지를 인쇄해 손글씨, 그림, 역할극으로 읽은 내용을 표현합니다.</a:t>
            </a:r>
            <a:endParaRPr lang="en-US" sz="1500" dirty="0"/>
          </a:p>
        </p:txBody>
      </p:sp>
      <p:sp>
        <p:nvSpPr>
          <p:cNvPr id="50" name="txt-5-14"/>
          <p:cNvSpPr txBox="1"/>
          <p:nvPr/>
        </p:nvSpPr>
        <p:spPr>
          <a:xfrm>
            <a:off x="381000" y="9057386"/>
            <a:ext cx="704570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교사는 우리 반의 고민에 맞는 책과 질문을 고르고, 학생의 답을 보며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질문과 피드백을 정합니다. 읽기와 학급 생활을 함께 잇는 수업입니다.</a:t>
            </a:r>
            <a:endParaRPr lang="en-US" sz="1500" dirty="0"/>
          </a:p>
        </p:txBody>
      </p:sp>
      <p:sp>
        <p:nvSpPr>
          <p:cNvPr id="51" name="txt-5-15"/>
          <p:cNvSpPr txBox="1"/>
          <p:nvPr/>
        </p:nvSpPr>
        <p:spPr>
          <a:xfrm>
            <a:off x="1251204" y="9831959"/>
            <a:ext cx="5056886" cy="52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아이들이 스스로 이해하고 판단하는 사람으로 자라도록,</a:t>
            </a:r>
            <a:endParaRPr lang="en-US" sz="1280" dirty="0"/>
          </a:p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 독서교육을 함께 지켜 주십시오.</a:t>
            </a:r>
            <a:endParaRPr lang="en-US" sz="1280" dirty="0"/>
          </a:p>
        </p:txBody>
      </p:sp>
      <p:sp>
        <p:nvSpPr>
          <p:cNvPr id="52" name="txt-5-16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2026-10-28T11:54:38Z</dcterms:created>
  <dcterms:modified xsi:type="dcterms:W3CDTF">2026-10-28T11:54:38Z</dcterms:modified>
</cp:coreProperties>
</file>