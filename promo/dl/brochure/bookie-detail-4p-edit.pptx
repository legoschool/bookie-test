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60005" cy="10692003"/>
  <p:notesSz cx="10692003" cy="75600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현장 초등교사가 드리는 제안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 현장에서 아이들이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책을 충분히 읽지 않는 현실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마주했습니다.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사람의 생각을 차분히 따라 읽고,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생각을 만들어 볼 기회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마저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잃은 채 자랄까 두렵습니다.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문장의 뜻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헤아리고,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앞뒤 내용을 연결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오래 생각하는 시간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은 따로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필요합니다. 짧은 영상과 빠른 답에 익숙해지는 동안, 학생 안에 무엇이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남고 있는지 묻고 싶습니다.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으로 자라야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할까요. 디지털 도구를 도입하는 일에도 이 질문이 먼저 놓여야 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스스로 읽고 이해하며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근거를 들어 말하는 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꾸준히 길러 주어야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합니다. 이 절실함에서 부기가 시작됐습니다.</a:t>
            </a:r>
            <a:endParaRPr lang="en-US" sz="1800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스마트폰 속 세상에 빠져 있는 아이들이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세상을 깊이있게 이해하는 아이로 자라고 있을까요?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 / 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아는 것이 쌓여야,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새 지식이 연결됩니다.</a:t>
            </a:r>
            <a:endParaRPr lang="en-US" sz="3700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새로운 내용은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이미 알고 있는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에 연결될 때 더 잘 이해할 수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있습니다.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관련 어휘와 배경지식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 부족하면 글자를 읽어도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맥락과 의미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연결하기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어휘 ·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배경지식 ·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이해 · 추론 · 연결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읽고 받아들이는 경험이 쌓여,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배경지식의 영향은 지식의 정확성 · 글의 특성 등에 따라 달라집니다.</a:t>
            </a:r>
            <a:endParaRPr lang="en-US" sz="980" dirty="0"/>
          </a:p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출처: Smith et al. (2021) ·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 /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SNS와 짧은 영상은 정보를 빠르게 접하게 합니다. 그러나 이런 접촉만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이어지면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원인과 맥락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관점과 반대 근거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를 따져 볼 시간은 부족해질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수 있습니다.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인터넷 검색 실험에서는 찾은 정보를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자신의 지식으로 혼동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하고, 아는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정도를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과대평가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하는 현상이 관찰됐습니다.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 말로 설명할 수 있는가?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그렇게 생각한 근거는 무엇인가?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4458208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연구는 성인의 인터넷 검색 실험이며, 초등학생의 SNS 효과를 직접 검증한 결과는 아닙니다.</a:t>
            </a:r>
            <a:endParaRPr lang="en-US" sz="830" dirty="0"/>
          </a:p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출처: Fisher et al. (2015) · Ward (2021)</a:t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3 /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62357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56184" y="63235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90800" y="63246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500" y="67310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184" y="68304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109" y="7016750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109" y="7016750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636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574929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33095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90800" y="68199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72263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79425" y="73257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666" y="74771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125" y="73606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90800" y="73152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4208" y="79496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48961" y="8140700"/>
            <a:ext cx="203009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842500"/>
            <a:ext cx="6925056" cy="495300"/>
          </a:xfrm>
          <a:prstGeom prst="roundRect">
            <a:avLst>
              <a:gd name="adj" fmla="val 20513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5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6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37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38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고전의 지혜에서 시작하고자 합니다</a:t>
            </a:r>
            <a:endParaRPr lang="en-US" sz="2100" dirty="0"/>
          </a:p>
        </p:txBody>
      </p:sp>
      <p:sp>
        <p:nvSpPr>
          <p:cNvPr id="39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40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1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교실의 읽기 어려움을 풀고자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교사들이 기획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하고,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기업의 지원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더해 학교에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적용했습니다. 학교에서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시범 사용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통해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계속 개선하고 발전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시켜 나가고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있습니다.</a:t>
            </a:r>
            <a:endParaRPr lang="en-US" sz="1650" dirty="0"/>
          </a:p>
        </p:txBody>
      </p:sp>
      <p:sp>
        <p:nvSpPr>
          <p:cNvPr id="42" name="txt-5-6"/>
          <p:cNvSpPr txBox="1"/>
          <p:nvPr/>
        </p:nvSpPr>
        <p:spPr>
          <a:xfrm>
            <a:off x="2742565" y="6342634"/>
            <a:ext cx="307111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 뜻 · 능동적 그림 읽기 · 다국어 지원</a:t>
            </a:r>
            <a:endParaRPr lang="en-US" sz="1250" dirty="0"/>
          </a:p>
        </p:txBody>
      </p:sp>
      <p:sp>
        <p:nvSpPr>
          <p:cNvPr id="43" name="txt-5-7"/>
          <p:cNvSpPr txBox="1"/>
          <p:nvPr/>
        </p:nvSpPr>
        <p:spPr>
          <a:xfrm>
            <a:off x="863346" y="6303010"/>
            <a:ext cx="1071245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읽기 지원</a:t>
            </a:r>
            <a:endParaRPr lang="en-US" sz="1600" dirty="0"/>
          </a:p>
        </p:txBody>
      </p:sp>
      <p:sp>
        <p:nvSpPr>
          <p:cNvPr id="44" name="txt-5-8"/>
          <p:cNvSpPr txBox="1"/>
          <p:nvPr/>
        </p:nvSpPr>
        <p:spPr>
          <a:xfrm>
            <a:off x="2742565" y="6837934"/>
            <a:ext cx="2655951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캐릭터와의 대화 · 다양한 독후활동</a:t>
            </a:r>
            <a:endParaRPr lang="en-US" sz="1250" dirty="0"/>
          </a:p>
        </p:txBody>
      </p:sp>
      <p:sp>
        <p:nvSpPr>
          <p:cNvPr id="45" name="txt-5-9"/>
          <p:cNvSpPr txBox="1"/>
          <p:nvPr/>
        </p:nvSpPr>
        <p:spPr>
          <a:xfrm>
            <a:off x="863346" y="67979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생각과 표현</a:t>
            </a:r>
            <a:endParaRPr lang="en-US" sz="1600" dirty="0"/>
          </a:p>
        </p:txBody>
      </p:sp>
      <p:sp>
        <p:nvSpPr>
          <p:cNvPr id="46" name="txt-5-10"/>
          <p:cNvSpPr txBox="1"/>
          <p:nvPr/>
        </p:nvSpPr>
        <p:spPr>
          <a:xfrm>
            <a:off x="2742565" y="7333234"/>
            <a:ext cx="2910459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독서 기록 자산 · 수업 자료 · 학생 기록</a:t>
            </a:r>
            <a:endParaRPr lang="en-US" sz="1250" dirty="0"/>
          </a:p>
        </p:txBody>
      </p:sp>
      <p:sp>
        <p:nvSpPr>
          <p:cNvPr id="47" name="txt-5-11"/>
          <p:cNvSpPr txBox="1"/>
          <p:nvPr/>
        </p:nvSpPr>
        <p:spPr>
          <a:xfrm>
            <a:off x="863346" y="72932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기록과 지도</a:t>
            </a:r>
            <a:endParaRPr lang="en-US" sz="1600" dirty="0"/>
          </a:p>
        </p:txBody>
      </p:sp>
      <p:sp>
        <p:nvSpPr>
          <p:cNvPr id="48" name="txt-5-12"/>
          <p:cNvSpPr txBox="1"/>
          <p:nvPr/>
        </p:nvSpPr>
        <p:spPr>
          <a:xfrm>
            <a:off x="863346" y="7920482"/>
            <a:ext cx="4726559" cy="43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5"/>
              </a:lnSpc>
              <a:buNone/>
            </a:pPr>
            <a:r>
              <a:rPr lang="ko-KR" altLang="en-US" sz="20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모두가 차별 없이 함께 읽을 수 있도록</a:t>
            </a:r>
            <a:endParaRPr lang="en-US" sz="2050" dirty="0"/>
          </a:p>
        </p:txBody>
      </p:sp>
      <p:sp>
        <p:nvSpPr>
          <p:cNvPr id="49" name="txt-5-13"/>
          <p:cNvSpPr txBox="1"/>
          <p:nvPr/>
        </p:nvSpPr>
        <p:spPr>
          <a:xfrm>
            <a:off x="381000" y="8435213"/>
            <a:ext cx="714095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어려운 어휘는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디지털 도움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으로, 언어의 차이는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다국어 번역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으로 지원합니다.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다문화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포함한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모두가 차별 없이 함께 읽는 가치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를 확산하고자 합니다.</a:t>
            </a:r>
            <a:endParaRPr lang="en-US" sz="1500" dirty="0"/>
          </a:p>
        </p:txBody>
      </p:sp>
      <p:sp>
        <p:nvSpPr>
          <p:cNvPr id="50" name="txt-5-14"/>
          <p:cNvSpPr txBox="1"/>
          <p:nvPr/>
        </p:nvSpPr>
        <p:spPr>
          <a:xfrm>
            <a:off x="381000" y="9057386"/>
            <a:ext cx="704570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학생에게는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충분히 읽고 생각할 시간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을, 교사에게는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수업 준비와 개별 지도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를 위한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지원을 요청드립니다.</a:t>
            </a:r>
            <a:endParaRPr lang="en-US" sz="1500" dirty="0"/>
          </a:p>
        </p:txBody>
      </p:sp>
      <p:sp>
        <p:nvSpPr>
          <p:cNvPr id="51" name="txt-5-15"/>
          <p:cNvSpPr txBox="1"/>
          <p:nvPr/>
        </p:nvSpPr>
        <p:spPr>
          <a:xfrm>
            <a:off x="1251204" y="9831959"/>
            <a:ext cx="5056886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경남의 아이들이 스스로 이해하고 판단하는 사람으로 자라도록,</a:t>
            </a:r>
            <a:endParaRPr lang="en-US" sz="1280" dirty="0"/>
          </a:p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기본 독서교육을 함께 지켜 주십시오.</a:t>
            </a:r>
            <a:endParaRPr lang="en-US" sz="1280" dirty="0"/>
          </a:p>
        </p:txBody>
      </p:sp>
      <p:sp>
        <p:nvSpPr>
          <p:cNvPr id="52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4 /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2026-10-27T23:57:07Z</dcterms:created>
  <dcterms:modified xsi:type="dcterms:W3CDTF">2026-10-27T23:57:07Z</dcterms:modified>
</cp:coreProperties>
</file>