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7560005" cy="10692003"/>
  <p:notesSz cx="10692003" cy="75600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4953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369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149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3909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290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2512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242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08500"/>
            <a:ext cx="6925056" cy="1701800"/>
          </a:xfrm>
          <a:prstGeom prst="roundRect">
            <a:avLst>
              <a:gd name="adj" fmla="val 5970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84" y="7784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637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189734" y="77956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4659" y="7981950"/>
            <a:ext cx="2324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4659" y="7981950"/>
            <a:ext cx="9309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50186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6" name="Shape 24"/>
          <p:cNvSpPr/>
          <p:nvPr/>
        </p:nvSpPr>
        <p:spPr>
          <a:xfrm>
            <a:off x="2308479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6645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59225" y="7795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82466" y="7947025"/>
            <a:ext cx="58293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98925" y="7830566"/>
            <a:ext cx="58166" cy="58293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562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705475" y="7947025"/>
            <a:ext cx="32639" cy="93091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4" name="Shape 32"/>
          <p:cNvSpPr/>
          <p:nvPr/>
        </p:nvSpPr>
        <p:spPr>
          <a:xfrm>
            <a:off x="5775325" y="7888859"/>
            <a:ext cx="32639" cy="151384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5" name="Shape 33"/>
          <p:cNvSpPr/>
          <p:nvPr/>
        </p:nvSpPr>
        <p:spPr>
          <a:xfrm>
            <a:off x="5845175" y="7830566"/>
            <a:ext cx="32639" cy="209550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6" name="Shape 34"/>
          <p:cNvSpPr/>
          <p:nvPr/>
        </p:nvSpPr>
        <p:spPr>
          <a:xfrm>
            <a:off x="5915025" y="7772400"/>
            <a:ext cx="32639" cy="267716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7" name="Shape 35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pic>
        <p:nvPicPr>
          <p:cNvPr id="3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300" y="6362700"/>
            <a:ext cx="1409700" cy="968248"/>
          </a:xfrm>
          <a:prstGeom prst="rect">
            <a:avLst/>
          </a:prstGeom>
        </p:spPr>
      </p:pic>
      <p:sp>
        <p:nvSpPr>
          <p:cNvPr id="40" name="txt-1-0"/>
          <p:cNvSpPr txBox="1"/>
          <p:nvPr/>
        </p:nvSpPr>
        <p:spPr>
          <a:xfrm>
            <a:off x="381000" y="2969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41" name="txt-1-1"/>
          <p:cNvSpPr txBox="1"/>
          <p:nvPr/>
        </p:nvSpPr>
        <p:spPr>
          <a:xfrm>
            <a:off x="355473" y="6941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42" name="txt-1-2"/>
          <p:cNvSpPr txBox="1"/>
          <p:nvPr/>
        </p:nvSpPr>
        <p:spPr>
          <a:xfrm>
            <a:off x="355473" y="14062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43" name="txt-1-3"/>
          <p:cNvSpPr txBox="1"/>
          <p:nvPr/>
        </p:nvSpPr>
        <p:spPr>
          <a:xfrm>
            <a:off x="381000" y="23364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44" name="txt-1-4"/>
          <p:cNvSpPr txBox="1"/>
          <p:nvPr/>
        </p:nvSpPr>
        <p:spPr>
          <a:xfrm>
            <a:off x="787146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45" name="txt-1-5"/>
          <p:cNvSpPr txBox="1"/>
          <p:nvPr/>
        </p:nvSpPr>
        <p:spPr>
          <a:xfrm>
            <a:off x="3085465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46" name="txt-1-6"/>
          <p:cNvSpPr txBox="1"/>
          <p:nvPr/>
        </p:nvSpPr>
        <p:spPr>
          <a:xfrm>
            <a:off x="5383784" y="31160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47" name="txt-1-7"/>
          <p:cNvSpPr txBox="1"/>
          <p:nvPr/>
        </p:nvSpPr>
        <p:spPr>
          <a:xfrm>
            <a:off x="398653" y="35402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48" name="txt-1-8"/>
          <p:cNvSpPr txBox="1"/>
          <p:nvPr/>
        </p:nvSpPr>
        <p:spPr>
          <a:xfrm>
            <a:off x="3178937" y="35402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49" name="txt-1-9"/>
          <p:cNvSpPr txBox="1"/>
          <p:nvPr/>
        </p:nvSpPr>
        <p:spPr>
          <a:xfrm>
            <a:off x="5241290" y="35402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50" name="txt-1-10"/>
          <p:cNvSpPr txBox="1"/>
          <p:nvPr/>
        </p:nvSpPr>
        <p:spPr>
          <a:xfrm>
            <a:off x="1478280" y="41685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이야기 이해 과정에서는 전전두엽을 포함한 여러 뇌 영역이 함께 활동합니다.*</a:t>
            </a:r>
            <a:endParaRPr lang="en-US" sz="1000" dirty="0"/>
          </a:p>
        </p:txBody>
      </p:sp>
      <p:sp>
        <p:nvSpPr>
          <p:cNvPr id="51" name="txt-1-11"/>
          <p:cNvSpPr txBox="1"/>
          <p:nvPr/>
        </p:nvSpPr>
        <p:spPr>
          <a:xfrm>
            <a:off x="482346" y="46281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52" name="txt-1-12"/>
          <p:cNvSpPr txBox="1"/>
          <p:nvPr/>
        </p:nvSpPr>
        <p:spPr>
          <a:xfrm>
            <a:off x="495300" y="51276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학교에서 마주한 현실은, 아이들이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책을 충분히 읽지 않는다는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것이었습니다.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· 언어의 장벽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읽기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수준 차이,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지도와 수업 준비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부담이 있습니다.</a:t>
            </a:r>
            <a:endParaRPr lang="en-US" sz="1210" dirty="0"/>
          </a:p>
        </p:txBody>
      </p:sp>
      <p:sp>
        <p:nvSpPr>
          <p:cNvPr id="53" name="txt-1-13"/>
          <p:cNvSpPr txBox="1"/>
          <p:nvPr/>
        </p:nvSpPr>
        <p:spPr>
          <a:xfrm>
            <a:off x="2679319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txt-1-14"/>
          <p:cNvSpPr txBox="1"/>
          <p:nvPr/>
        </p:nvSpPr>
        <p:spPr>
          <a:xfrm>
            <a:off x="4749038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5" name="txt-1-15"/>
          <p:cNvSpPr txBox="1"/>
          <p:nvPr/>
        </p:nvSpPr>
        <p:spPr>
          <a:xfrm>
            <a:off x="1261364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56" name="txt-1-16"/>
          <p:cNvSpPr txBox="1"/>
          <p:nvPr/>
        </p:nvSpPr>
        <p:spPr>
          <a:xfrm>
            <a:off x="3331083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57" name="txt-1-17"/>
          <p:cNvSpPr txBox="1"/>
          <p:nvPr/>
        </p:nvSpPr>
        <p:spPr>
          <a:xfrm>
            <a:off x="5400802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58" name="txt-1-18"/>
          <p:cNvSpPr txBox="1"/>
          <p:nvPr/>
        </p:nvSpPr>
        <p:spPr>
          <a:xfrm>
            <a:off x="381000" y="64151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59" name="txt-1-19"/>
          <p:cNvSpPr txBox="1"/>
          <p:nvPr/>
        </p:nvSpPr>
        <p:spPr>
          <a:xfrm>
            <a:off x="381000" y="68118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60" name="txt-1-20"/>
          <p:cNvSpPr txBox="1"/>
          <p:nvPr/>
        </p:nvSpPr>
        <p:spPr>
          <a:xfrm>
            <a:off x="381000" y="7313422"/>
            <a:ext cx="4235577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학교에서 시범 사용을 통해 </a:t>
            </a:r>
            <a:pPr algn="l" indent="0" marL="0">
              <a:lnSpc>
                <a:spcPts val="1365"/>
              </a:lnSpc>
              <a:buNone/>
            </a:pPr>
            <a:r>
              <a:rPr lang="ko-KR" altLang="en-US" sz="10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계속 개선하고 발전</a:t>
            </a:r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시켜 나가고 있습니다.</a:t>
            </a:r>
            <a:endParaRPr lang="en-US" sz="1050" dirty="0"/>
          </a:p>
        </p:txBody>
      </p:sp>
      <p:sp>
        <p:nvSpPr>
          <p:cNvPr id="61" name="txt-1-21"/>
          <p:cNvSpPr txBox="1"/>
          <p:nvPr/>
        </p:nvSpPr>
        <p:spPr>
          <a:xfrm>
            <a:off x="825246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</a:t>
            </a:r>
            <a:endParaRPr lang="en-US" sz="1600" dirty="0"/>
          </a:p>
        </p:txBody>
      </p:sp>
      <p:sp>
        <p:nvSpPr>
          <p:cNvPr id="62" name="txt-1-22"/>
          <p:cNvSpPr txBox="1"/>
          <p:nvPr/>
        </p:nvSpPr>
        <p:spPr>
          <a:xfrm>
            <a:off x="2571242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묻기</a:t>
            </a:r>
            <a:endParaRPr lang="en-US" sz="1600" dirty="0"/>
          </a:p>
        </p:txBody>
      </p:sp>
      <p:sp>
        <p:nvSpPr>
          <p:cNvPr id="63" name="txt-1-23"/>
          <p:cNvSpPr txBox="1"/>
          <p:nvPr/>
        </p:nvSpPr>
        <p:spPr>
          <a:xfrm>
            <a:off x="4317238" y="7737856"/>
            <a:ext cx="1016127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표현하기</a:t>
            </a:r>
            <a:endParaRPr lang="en-US" sz="1600" dirty="0"/>
          </a:p>
        </p:txBody>
      </p:sp>
      <p:sp>
        <p:nvSpPr>
          <p:cNvPr id="64" name="txt-1-24"/>
          <p:cNvSpPr txBox="1"/>
          <p:nvPr/>
        </p:nvSpPr>
        <p:spPr>
          <a:xfrm>
            <a:off x="5951220" y="7737856"/>
            <a:ext cx="811911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모으기</a:t>
            </a:r>
            <a:endParaRPr lang="en-US" sz="1600" dirty="0"/>
          </a:p>
        </p:txBody>
      </p:sp>
      <p:sp>
        <p:nvSpPr>
          <p:cNvPr id="65" name="txt-1-25"/>
          <p:cNvSpPr txBox="1"/>
          <p:nvPr/>
        </p:nvSpPr>
        <p:spPr>
          <a:xfrm>
            <a:off x="616077" y="8082280"/>
            <a:ext cx="108013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능동적 그림 읽기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· 다국어 지원</a:t>
            </a:r>
            <a:endParaRPr lang="en-US" sz="850" dirty="0"/>
          </a:p>
        </p:txBody>
      </p:sp>
      <p:sp>
        <p:nvSpPr>
          <p:cNvPr id="66" name="txt-1-26"/>
          <p:cNvSpPr txBox="1"/>
          <p:nvPr/>
        </p:nvSpPr>
        <p:spPr>
          <a:xfrm>
            <a:off x="2228342" y="8082280"/>
            <a:ext cx="1345946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생각한 까닭을 묻는 질문</a:t>
            </a:r>
            <a:endParaRPr lang="en-US" sz="850" dirty="0"/>
          </a:p>
        </p:txBody>
      </p:sp>
      <p:sp>
        <p:nvSpPr>
          <p:cNvPr id="67" name="txt-1-27"/>
          <p:cNvSpPr txBox="1"/>
          <p:nvPr/>
        </p:nvSpPr>
        <p:spPr>
          <a:xfrm>
            <a:off x="3796030" y="8082280"/>
            <a:ext cx="170116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독후활동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 · 그림 · 편지로 내 생각 표현</a:t>
            </a:r>
            <a:endParaRPr lang="en-US" sz="850" dirty="0"/>
          </a:p>
        </p:txBody>
      </p:sp>
      <p:sp>
        <p:nvSpPr>
          <p:cNvPr id="68" name="txt-1-28"/>
          <p:cNvSpPr txBox="1"/>
          <p:nvPr/>
        </p:nvSpPr>
        <p:spPr>
          <a:xfrm>
            <a:off x="5553202" y="8082280"/>
            <a:ext cx="1679702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느끼고 달라졌는지 기록</a:t>
            </a:r>
            <a:endParaRPr lang="en-US" sz="850" dirty="0"/>
          </a:p>
        </p:txBody>
      </p:sp>
      <p:sp>
        <p:nvSpPr>
          <p:cNvPr id="69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70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71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26,924건</a:t>
            </a:r>
            <a:endParaRPr lang="en-US" sz="2400" dirty="0"/>
          </a:p>
        </p:txBody>
      </p:sp>
      <p:sp>
        <p:nvSpPr>
          <p:cNvPr id="72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73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74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75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76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77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9월 20일부터 10월 21일까지 한 달 시범 사용 결과</a:t>
            </a:r>
            <a:endParaRPr lang="en-US" sz="1000" dirty="0"/>
          </a:p>
        </p:txBody>
      </p:sp>
      <p:sp>
        <p:nvSpPr>
          <p:cNvPr id="78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79" name="txt-1-39"/>
          <p:cNvSpPr txBox="1"/>
          <p:nvPr/>
        </p:nvSpPr>
        <p:spPr>
          <a:xfrm>
            <a:off x="304800" y="10510393"/>
            <a:ext cx="2592451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출처: Yarkoni et al. (2008). NeuroImage, 41(4), 1408-1425.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현장 초등교사가 드리는 제안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현장에서 아이들이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책을 충분히 읽지 않는 현실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마주했습니다.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사람의 생각을 차분히 따라 읽고,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생각을 만들어 볼 기회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마저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잃은 채 자랄까 두렵습니다.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문장의 뜻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헤아리고,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앞뒤 내용을 연결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오래 생각하는 시간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따로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필요합니다. 짧은 영상과 빠른 답에 익숙해지는 동안, 학생 안에 무엇이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남고 있는지 묻고 싶습니다.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자라야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할까요. 디지털 도구를 도입하는 일에도 이 질문이 먼저 놓여야 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읽고 이해하며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들어 말하는 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꾸준히 길러 주어야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이 절실함에서 부기가 시작됐습니다.</a:t>
            </a:r>
            <a:endParaRPr lang="en-US" sz="1800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스마트폰 속 세상에 빠져 있는 아이들이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세상을 깊이있게 이해하는 아이로 자라고 있을까요?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아는 것이 쌓여야,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새 지식이 연결됩니다.</a:t>
            </a:r>
            <a:endParaRPr lang="en-US" sz="3700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내용은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알고 있는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연결될 때 더 잘 이해할 수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있습니다.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관련 어휘와 배경지식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부족하면 글자를 읽어도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맥락과 의미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 ·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 ·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 · 추론 · 연결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읽고 받아들이는 경험이 쌓여,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배경지식의 영향은 지식의 정확성 · 글의 특성 등에 따라 달라집니다.</a:t>
            </a:r>
            <a:endParaRPr lang="en-US" sz="980" dirty="0"/>
          </a:p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Smith et al. (2021) ·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SNS와 짧은 영상은 정보를 빠르게 접하게 합니다. 그러나 이런 접촉만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이어지면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원인과 맥락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관점과 반대 근거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따져 볼 시간은 부족해질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 있습니다.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인터넷 검색 실험에서는 찾은 정보를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지식으로 혼동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아는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정도를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과대평가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 현상이 관찰됐습니다.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설명할 수 있는가?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그렇게 생각한 근거는 무엇인가?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4458208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연구는 성인의 인터넷 검색 실험이며, 초등학생의 SNS 효과를 직접 검증한 결과는 아닙니다.</a:t>
            </a:r>
            <a:endParaRPr lang="en-US" sz="830" dirty="0"/>
          </a:p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Fisher et al. (2015) · Ward (2021)</a:t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62357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56184" y="63235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90800" y="63246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500" y="67310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184" y="68304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109" y="7016750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109" y="7016750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636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574929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33095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90800" y="68199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72263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79425" y="73257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666" y="74771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125" y="73606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90800" y="73152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4208" y="79496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48961" y="8140700"/>
            <a:ext cx="203009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842500"/>
            <a:ext cx="6925056" cy="495300"/>
          </a:xfrm>
          <a:prstGeom prst="roundRect">
            <a:avLst>
              <a:gd name="adj" fmla="val 20513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5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6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37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38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고전의 지혜에서 시작하고자 합니다</a:t>
            </a:r>
            <a:endParaRPr lang="en-US" sz="2100" dirty="0"/>
          </a:p>
        </p:txBody>
      </p:sp>
      <p:sp>
        <p:nvSpPr>
          <p:cNvPr id="39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40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1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교실의 읽기 어려움을 풀고자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교사들이 기획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기업의 지원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더해 학교에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적용했습니다. 학교에서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사용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통해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계속 개선하고 발전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시켜 나가고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있습니다.</a:t>
            </a:r>
            <a:endParaRPr lang="en-US" sz="1650" dirty="0"/>
          </a:p>
        </p:txBody>
      </p:sp>
      <p:sp>
        <p:nvSpPr>
          <p:cNvPr id="42" name="txt-5-6"/>
          <p:cNvSpPr txBox="1"/>
          <p:nvPr/>
        </p:nvSpPr>
        <p:spPr>
          <a:xfrm>
            <a:off x="2742565" y="6342634"/>
            <a:ext cx="307111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뜻 · 능동적 그림 읽기 · 다국어 지원</a:t>
            </a:r>
            <a:endParaRPr lang="en-US" sz="1250" dirty="0"/>
          </a:p>
        </p:txBody>
      </p:sp>
      <p:sp>
        <p:nvSpPr>
          <p:cNvPr id="43" name="txt-5-7"/>
          <p:cNvSpPr txBox="1"/>
          <p:nvPr/>
        </p:nvSpPr>
        <p:spPr>
          <a:xfrm>
            <a:off x="863346" y="6303010"/>
            <a:ext cx="1071245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 지원</a:t>
            </a:r>
            <a:endParaRPr lang="en-US" sz="1600" dirty="0"/>
          </a:p>
        </p:txBody>
      </p:sp>
      <p:sp>
        <p:nvSpPr>
          <p:cNvPr id="44" name="txt-5-8"/>
          <p:cNvSpPr txBox="1"/>
          <p:nvPr/>
        </p:nvSpPr>
        <p:spPr>
          <a:xfrm>
            <a:off x="2742565" y="6837934"/>
            <a:ext cx="2655951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 · 다양한 독후활동</a:t>
            </a:r>
            <a:endParaRPr lang="en-US" sz="1250" dirty="0"/>
          </a:p>
        </p:txBody>
      </p:sp>
      <p:sp>
        <p:nvSpPr>
          <p:cNvPr id="45" name="txt-5-9"/>
          <p:cNvSpPr txBox="1"/>
          <p:nvPr/>
        </p:nvSpPr>
        <p:spPr>
          <a:xfrm>
            <a:off x="863346" y="67979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생각과 표현</a:t>
            </a:r>
            <a:endParaRPr lang="en-US" sz="1600" dirty="0"/>
          </a:p>
        </p:txBody>
      </p:sp>
      <p:sp>
        <p:nvSpPr>
          <p:cNvPr id="46" name="txt-5-10"/>
          <p:cNvSpPr txBox="1"/>
          <p:nvPr/>
        </p:nvSpPr>
        <p:spPr>
          <a:xfrm>
            <a:off x="2742565" y="7333234"/>
            <a:ext cx="2910459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 · 수업 자료 · 학생 기록</a:t>
            </a:r>
            <a:endParaRPr lang="en-US" sz="1250" dirty="0"/>
          </a:p>
        </p:txBody>
      </p:sp>
      <p:sp>
        <p:nvSpPr>
          <p:cNvPr id="47" name="txt-5-11"/>
          <p:cNvSpPr txBox="1"/>
          <p:nvPr/>
        </p:nvSpPr>
        <p:spPr>
          <a:xfrm>
            <a:off x="863346" y="72932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기록과 지도</a:t>
            </a:r>
            <a:endParaRPr lang="en-US" sz="1600" dirty="0"/>
          </a:p>
        </p:txBody>
      </p:sp>
      <p:sp>
        <p:nvSpPr>
          <p:cNvPr id="48" name="txt-5-12"/>
          <p:cNvSpPr txBox="1"/>
          <p:nvPr/>
        </p:nvSpPr>
        <p:spPr>
          <a:xfrm>
            <a:off x="863346" y="7920482"/>
            <a:ext cx="4726559" cy="43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5"/>
              </a:lnSpc>
              <a:buNone/>
            </a:pPr>
            <a:r>
              <a:rPr lang="ko-KR" altLang="en-US" sz="20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모두가 차별 없이 함께 읽을 수 있도록</a:t>
            </a:r>
            <a:endParaRPr lang="en-US" sz="2050" dirty="0"/>
          </a:p>
        </p:txBody>
      </p:sp>
      <p:sp>
        <p:nvSpPr>
          <p:cNvPr id="49" name="txt-5-13"/>
          <p:cNvSpPr txBox="1"/>
          <p:nvPr/>
        </p:nvSpPr>
        <p:spPr>
          <a:xfrm>
            <a:off x="381000" y="8435213"/>
            <a:ext cx="714095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어려운 어휘는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도움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으로, 언어의 차이는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다국어 번역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지원합니다.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다문화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포함한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모두가 차별 없이 함께 읽는 가치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확산하고자 합니다.</a:t>
            </a:r>
            <a:endParaRPr lang="en-US" sz="1500" dirty="0"/>
          </a:p>
        </p:txBody>
      </p:sp>
      <p:sp>
        <p:nvSpPr>
          <p:cNvPr id="50" name="txt-5-14"/>
          <p:cNvSpPr txBox="1"/>
          <p:nvPr/>
        </p:nvSpPr>
        <p:spPr>
          <a:xfrm>
            <a:off x="381000" y="9057386"/>
            <a:ext cx="704570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학생에게는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읽고 생각할 시간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을, 교사에게는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준비와 개별 지도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위한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지원을 요청드립니다.</a:t>
            </a:r>
            <a:endParaRPr lang="en-US" sz="1500" dirty="0"/>
          </a:p>
        </p:txBody>
      </p:sp>
      <p:sp>
        <p:nvSpPr>
          <p:cNvPr id="51" name="txt-5-15"/>
          <p:cNvSpPr txBox="1"/>
          <p:nvPr/>
        </p:nvSpPr>
        <p:spPr>
          <a:xfrm>
            <a:off x="1251204" y="9831959"/>
            <a:ext cx="5056886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아이들이 스스로 이해하고 판단하는 사람으로 자라도록,</a:t>
            </a:r>
            <a:endParaRPr lang="en-US" sz="1280" dirty="0"/>
          </a:p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 독서교육을 함께 지켜 주십시오.</a:t>
            </a:r>
            <a:endParaRPr lang="en-US" sz="1280" dirty="0"/>
          </a:p>
        </p:txBody>
      </p:sp>
      <p:sp>
        <p:nvSpPr>
          <p:cNvPr id="52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2026-10-27T23:57:07Z</dcterms:created>
  <dcterms:modified xsi:type="dcterms:W3CDTF">2026-10-27T23:57:07Z</dcterms:modified>
</cp:coreProperties>
</file>