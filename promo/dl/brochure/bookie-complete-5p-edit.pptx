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7560005" cy="10692003"/>
  <p:notesSz cx="10692003" cy="756000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5913" y="495300"/>
            <a:ext cx="5843143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6400" y="3136900"/>
            <a:ext cx="266700" cy="292100"/>
          </a:xfrm>
          <a:custGeom>
            <a:avLst/>
            <a:gdLst/>
            <a:ahLst/>
            <a:cxnLst/>
            <a:rect l="l" t="t" r="r" b="b"/>
            <a:pathLst>
              <a:path w="266700" h="292100">
                <a:moveTo>
                  <a:pt x="127000" y="292100"/>
                </a:moveTo>
                <a:lnTo>
                  <a:pt x="127000" y="139700"/>
                </a:lnTo>
                <a:cubicBezTo>
                  <a:pt x="63500" y="165100"/>
                  <a:pt x="0" y="139700"/>
                  <a:pt x="0" y="38100"/>
                </a:cubicBezTo>
                <a:cubicBezTo>
                  <a:pt x="101600" y="25400"/>
                  <a:pt x="127000" y="76200"/>
                  <a:pt x="127000" y="139700"/>
                </a:cubicBezTo>
                <a:cubicBezTo>
                  <a:pt x="127000" y="38100"/>
                  <a:pt x="203200" y="0"/>
                  <a:pt x="266700" y="12700"/>
                </a:cubicBezTo>
                <a:cubicBezTo>
                  <a:pt x="266700" y="101600"/>
                  <a:pt x="203200" y="152400"/>
                  <a:pt x="127000" y="13970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4" name="Shape 2"/>
          <p:cNvSpPr/>
          <p:nvPr/>
        </p:nvSpPr>
        <p:spPr>
          <a:xfrm>
            <a:off x="2616200" y="3124200"/>
            <a:ext cx="0" cy="901700"/>
          </a:xfrm>
          <a:prstGeom prst="line">
            <a:avLst/>
          </a:prstGeom>
          <a:noFill/>
          <a:ln w="6350">
            <a:solidFill>
              <a:srgbClr val="D59B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30500" y="31496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203200" y="101600"/>
                </a:moveTo>
                <a:cubicBezTo>
                  <a:pt x="203200" y="45491"/>
                  <a:pt x="157709" y="0"/>
                  <a:pt x="101600" y="0"/>
                </a:cubicBezTo>
                <a:cubicBezTo>
                  <a:pt x="45491" y="0"/>
                  <a:pt x="0" y="45491"/>
                  <a:pt x="0" y="101600"/>
                </a:cubicBezTo>
                <a:cubicBezTo>
                  <a:pt x="0" y="157709"/>
                  <a:pt x="45491" y="203200"/>
                  <a:pt x="101600" y="203200"/>
                </a:cubicBezTo>
                <a:cubicBezTo>
                  <a:pt x="157709" y="203200"/>
                  <a:pt x="203200" y="157709"/>
                  <a:pt x="203200" y="101600"/>
                </a:cubicBezTo>
              </a:path>
            </a:pathLst>
          </a:custGeom>
          <a:ln w="20320">
            <a:solidFill>
              <a:srgbClr val="D59B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81300" y="3340100"/>
            <a:ext cx="0" cy="50800"/>
          </a:xfrm>
          <a:prstGeom prst="line">
            <a:avLst/>
          </a:prstGeom>
          <a:noFill/>
          <a:ln w="20320">
            <a:solidFill>
              <a:srgbClr val="D59B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82900" y="3340100"/>
            <a:ext cx="0" cy="50800"/>
          </a:xfrm>
          <a:prstGeom prst="line">
            <a:avLst/>
          </a:prstGeom>
          <a:noFill/>
          <a:ln w="20320">
            <a:solidFill>
              <a:srgbClr val="D59B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81300" y="3390900"/>
            <a:ext cx="101600" cy="0"/>
          </a:xfrm>
          <a:prstGeom prst="line">
            <a:avLst/>
          </a:prstGeom>
          <a:noFill/>
          <a:ln w="20320">
            <a:solidFill>
              <a:srgbClr val="D59B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94000" y="3429000"/>
            <a:ext cx="76200" cy="0"/>
          </a:xfrm>
          <a:prstGeom prst="line">
            <a:avLst/>
          </a:prstGeom>
          <a:noFill/>
          <a:ln w="20320">
            <a:solidFill>
              <a:srgbClr val="D59B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2100" y="3251200"/>
            <a:ext cx="0" cy="127000"/>
          </a:xfrm>
          <a:prstGeom prst="line">
            <a:avLst/>
          </a:prstGeom>
          <a:noFill/>
          <a:ln w="20320">
            <a:solidFill>
              <a:srgbClr val="D59B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94000" y="3213100"/>
            <a:ext cx="38100" cy="38100"/>
          </a:xfrm>
          <a:prstGeom prst="line">
            <a:avLst/>
          </a:prstGeom>
          <a:noFill/>
          <a:ln w="20320">
            <a:solidFill>
              <a:srgbClr val="D59B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32100" y="3213100"/>
            <a:ext cx="38100" cy="38100"/>
          </a:xfrm>
          <a:prstGeom prst="line">
            <a:avLst/>
          </a:prstGeom>
          <a:noFill/>
          <a:ln w="20320">
            <a:solidFill>
              <a:srgbClr val="D59B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14900" y="3124200"/>
            <a:ext cx="0" cy="901700"/>
          </a:xfrm>
          <a:prstGeom prst="line">
            <a:avLst/>
          </a:prstGeom>
          <a:noFill/>
          <a:ln w="6350">
            <a:solidFill>
              <a:srgbClr val="D59B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91100" y="3124200"/>
            <a:ext cx="279400" cy="292100"/>
          </a:xfrm>
          <a:custGeom>
            <a:avLst/>
            <a:gdLst/>
            <a:ahLst/>
            <a:cxnLst/>
            <a:rect l="l" t="t" r="r" b="b"/>
            <a:pathLst>
              <a:path w="279400" h="292100">
                <a:moveTo>
                  <a:pt x="139700" y="292100"/>
                </a:moveTo>
                <a:cubicBezTo>
                  <a:pt x="101600" y="241300"/>
                  <a:pt x="0" y="190500"/>
                  <a:pt x="0" y="101600"/>
                </a:cubicBezTo>
                <a:cubicBezTo>
                  <a:pt x="0" y="0"/>
                  <a:pt x="114300" y="0"/>
                  <a:pt x="139700" y="76200"/>
                </a:cubicBezTo>
                <a:cubicBezTo>
                  <a:pt x="165100" y="0"/>
                  <a:pt x="279400" y="0"/>
                  <a:pt x="279400" y="101600"/>
                </a:cubicBezTo>
                <a:cubicBezTo>
                  <a:pt x="279400" y="190500"/>
                  <a:pt x="177800" y="241300"/>
                  <a:pt x="139700" y="29210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15" name="Shape 13"/>
          <p:cNvSpPr/>
          <p:nvPr/>
        </p:nvSpPr>
        <p:spPr>
          <a:xfrm>
            <a:off x="317500" y="4508500"/>
            <a:ext cx="6925056" cy="1701800"/>
          </a:xfrm>
          <a:prstGeom prst="roundRect">
            <a:avLst>
              <a:gd name="adj" fmla="val 5970"/>
            </a:avLst>
          </a:prstGeom>
          <a:solidFill>
            <a:srgbClr val="F6F5F0"/>
          </a:solidFill>
          <a:ln/>
        </p:spPr>
      </p:sp>
      <p:sp>
        <p:nvSpPr>
          <p:cNvPr id="16" name="Shape 14"/>
          <p:cNvSpPr/>
          <p:nvPr/>
        </p:nvSpPr>
        <p:spPr>
          <a:xfrm>
            <a:off x="876300" y="5867400"/>
            <a:ext cx="1676400" cy="266700"/>
          </a:xfrm>
          <a:prstGeom prst="roundRect">
            <a:avLst>
              <a:gd name="adj" fmla="val 47619"/>
            </a:avLst>
          </a:prstGeom>
          <a:solidFill>
            <a:srgbClr val="EBE7D9"/>
          </a:solidFill>
          <a:ln/>
        </p:spPr>
      </p:sp>
      <p:sp>
        <p:nvSpPr>
          <p:cNvPr id="17" name="Shape 15"/>
          <p:cNvSpPr/>
          <p:nvPr/>
        </p:nvSpPr>
        <p:spPr>
          <a:xfrm>
            <a:off x="2946400" y="5867400"/>
            <a:ext cx="1676400" cy="266700"/>
          </a:xfrm>
          <a:prstGeom prst="roundRect">
            <a:avLst>
              <a:gd name="adj" fmla="val 47619"/>
            </a:avLst>
          </a:prstGeom>
          <a:solidFill>
            <a:srgbClr val="EBE7D9"/>
          </a:solidFill>
          <a:ln/>
        </p:spPr>
      </p:sp>
      <p:sp>
        <p:nvSpPr>
          <p:cNvPr id="18" name="Shape 16"/>
          <p:cNvSpPr/>
          <p:nvPr/>
        </p:nvSpPr>
        <p:spPr>
          <a:xfrm>
            <a:off x="5016500" y="5867400"/>
            <a:ext cx="1676400" cy="266700"/>
          </a:xfrm>
          <a:prstGeom prst="roundRect">
            <a:avLst>
              <a:gd name="adj" fmla="val 47619"/>
            </a:avLst>
          </a:prstGeom>
          <a:solidFill>
            <a:srgbClr val="EBE7D9"/>
          </a:solidFill>
          <a:ln/>
        </p:spPr>
      </p:sp>
      <p:sp>
        <p:nvSpPr>
          <p:cNvPr id="19" name="Shape 17"/>
          <p:cNvSpPr/>
          <p:nvPr/>
        </p:nvSpPr>
        <p:spPr>
          <a:xfrm>
            <a:off x="317500" y="7645400"/>
            <a:ext cx="1676400" cy="825500"/>
          </a:xfrm>
          <a:prstGeom prst="roundRect">
            <a:avLst>
              <a:gd name="adj" fmla="val 9231"/>
            </a:avLst>
          </a:prstGeom>
          <a:solidFill>
            <a:srgbClr val="F0F5EF"/>
          </a:solidFill>
          <a:ln/>
        </p:spPr>
      </p:sp>
      <p:sp>
        <p:nvSpPr>
          <p:cNvPr id="20" name="Shape 18"/>
          <p:cNvSpPr/>
          <p:nvPr/>
        </p:nvSpPr>
        <p:spPr>
          <a:xfrm>
            <a:off x="443484" y="7784084"/>
            <a:ext cx="256159" cy="244475"/>
          </a:xfrm>
          <a:custGeom>
            <a:avLst/>
            <a:gdLst/>
            <a:ahLst/>
            <a:cxnLst/>
            <a:rect l="l" t="t" r="r" b="b"/>
            <a:pathLst>
              <a:path w="256159" h="244475">
                <a:moveTo>
                  <a:pt x="128054" y="244475"/>
                </a:moveTo>
                <a:lnTo>
                  <a:pt x="128054" y="34925"/>
                </a:lnTo>
                <a:cubicBezTo>
                  <a:pt x="81496" y="0"/>
                  <a:pt x="34925" y="0"/>
                  <a:pt x="0" y="23279"/>
                </a:cubicBezTo>
                <a:lnTo>
                  <a:pt x="0" y="232829"/>
                </a:lnTo>
                <a:cubicBezTo>
                  <a:pt x="34925" y="209550"/>
                  <a:pt x="81496" y="209550"/>
                  <a:pt x="128054" y="244475"/>
                </a:cubicBezTo>
                <a:cubicBezTo>
                  <a:pt x="174625" y="209550"/>
                  <a:pt x="221196" y="209550"/>
                  <a:pt x="256121" y="232829"/>
                </a:cubicBezTo>
                <a:lnTo>
                  <a:pt x="256121" y="23279"/>
                </a:lnTo>
                <a:cubicBezTo>
                  <a:pt x="221196" y="0"/>
                  <a:pt x="174625" y="0"/>
                  <a:pt x="128054" y="34925"/>
                </a:cubicBezTo>
              </a:path>
            </a:pathLst>
          </a:custGeom>
          <a:ln w="18669">
            <a:solidFill>
              <a:srgbClr val="15543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63750" y="7645400"/>
            <a:ext cx="1676400" cy="825500"/>
          </a:xfrm>
          <a:prstGeom prst="roundRect">
            <a:avLst>
              <a:gd name="adj" fmla="val 9231"/>
            </a:avLst>
          </a:prstGeom>
          <a:solidFill>
            <a:srgbClr val="F0F5EF"/>
          </a:solidFill>
          <a:ln/>
        </p:spPr>
      </p:sp>
      <p:sp>
        <p:nvSpPr>
          <p:cNvPr id="22" name="Shape 20"/>
          <p:cNvSpPr/>
          <p:nvPr/>
        </p:nvSpPr>
        <p:spPr>
          <a:xfrm>
            <a:off x="2189734" y="7795641"/>
            <a:ext cx="256159" cy="186309"/>
          </a:xfrm>
          <a:custGeom>
            <a:avLst/>
            <a:gdLst/>
            <a:ahLst/>
            <a:cxnLst/>
            <a:rect l="l" t="t" r="r" b="b"/>
            <a:pathLst>
              <a:path w="256159" h="186309">
                <a:moveTo>
                  <a:pt x="58204" y="186271"/>
                </a:moveTo>
                <a:lnTo>
                  <a:pt x="197904" y="186271"/>
                </a:lnTo>
                <a:cubicBezTo>
                  <a:pt x="230086" y="186271"/>
                  <a:pt x="256121" y="160236"/>
                  <a:pt x="256121" y="128054"/>
                </a:cubicBezTo>
                <a:lnTo>
                  <a:pt x="256121" y="58204"/>
                </a:lnTo>
                <a:cubicBezTo>
                  <a:pt x="256121" y="26035"/>
                  <a:pt x="230086" y="0"/>
                  <a:pt x="197904" y="0"/>
                </a:cubicBezTo>
                <a:lnTo>
                  <a:pt x="58204" y="0"/>
                </a:lnTo>
                <a:cubicBezTo>
                  <a:pt x="26035" y="0"/>
                  <a:pt x="0" y="26035"/>
                  <a:pt x="0" y="58204"/>
                </a:cubicBezTo>
                <a:lnTo>
                  <a:pt x="0" y="128054"/>
                </a:lnTo>
                <a:cubicBezTo>
                  <a:pt x="0" y="160236"/>
                  <a:pt x="26035" y="186271"/>
                  <a:pt x="58204" y="186271"/>
                </a:cubicBezTo>
              </a:path>
            </a:pathLst>
          </a:custGeom>
          <a:ln w="18669">
            <a:solidFill>
              <a:srgbClr val="15543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24659" y="7981950"/>
            <a:ext cx="23241" cy="58166"/>
          </a:xfrm>
          <a:prstGeom prst="line">
            <a:avLst/>
          </a:prstGeom>
          <a:noFill/>
          <a:ln w="18669">
            <a:solidFill>
              <a:srgbClr val="15543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24659" y="7981950"/>
            <a:ext cx="93091" cy="58166"/>
          </a:xfrm>
          <a:prstGeom prst="line">
            <a:avLst/>
          </a:prstGeom>
          <a:noFill/>
          <a:ln w="18669">
            <a:solidFill>
              <a:srgbClr val="15543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50186" y="7879461"/>
            <a:ext cx="18669" cy="18669"/>
          </a:xfrm>
          <a:custGeom>
            <a:avLst/>
            <a:gdLst/>
            <a:ahLst/>
            <a:cxnLst/>
            <a:rect l="l" t="t" r="r" b="b"/>
            <a:pathLst>
              <a:path w="18669" h="18669">
                <a:moveTo>
                  <a:pt x="18631" y="9309"/>
                </a:moveTo>
                <a:cubicBezTo>
                  <a:pt x="18631" y="4166"/>
                  <a:pt x="14453" y="0"/>
                  <a:pt x="9309" y="0"/>
                </a:cubicBezTo>
                <a:cubicBezTo>
                  <a:pt x="4166" y="0"/>
                  <a:pt x="0" y="4166"/>
                  <a:pt x="0" y="9309"/>
                </a:cubicBezTo>
                <a:cubicBezTo>
                  <a:pt x="0" y="14453"/>
                  <a:pt x="4166" y="18631"/>
                  <a:pt x="9309" y="18631"/>
                </a:cubicBezTo>
                <a:cubicBezTo>
                  <a:pt x="14453" y="18631"/>
                  <a:pt x="18631" y="14453"/>
                  <a:pt x="18631" y="9309"/>
                </a:cubicBezTo>
              </a:path>
            </a:pathLst>
          </a:custGeom>
          <a:solidFill>
            <a:srgbClr val="15543C"/>
          </a:solidFill>
          <a:ln/>
        </p:spPr>
      </p:sp>
      <p:sp>
        <p:nvSpPr>
          <p:cNvPr id="26" name="Shape 24"/>
          <p:cNvSpPr/>
          <p:nvPr/>
        </p:nvSpPr>
        <p:spPr>
          <a:xfrm>
            <a:off x="2308479" y="7879461"/>
            <a:ext cx="18669" cy="18669"/>
          </a:xfrm>
          <a:custGeom>
            <a:avLst/>
            <a:gdLst/>
            <a:ahLst/>
            <a:cxnLst/>
            <a:rect l="l" t="t" r="r" b="b"/>
            <a:pathLst>
              <a:path w="18669" h="18669">
                <a:moveTo>
                  <a:pt x="18631" y="9309"/>
                </a:moveTo>
                <a:cubicBezTo>
                  <a:pt x="18631" y="4166"/>
                  <a:pt x="14453" y="0"/>
                  <a:pt x="9309" y="0"/>
                </a:cubicBezTo>
                <a:cubicBezTo>
                  <a:pt x="4166" y="0"/>
                  <a:pt x="0" y="4166"/>
                  <a:pt x="0" y="9309"/>
                </a:cubicBezTo>
                <a:cubicBezTo>
                  <a:pt x="0" y="14453"/>
                  <a:pt x="4166" y="18631"/>
                  <a:pt x="9309" y="18631"/>
                </a:cubicBezTo>
                <a:cubicBezTo>
                  <a:pt x="14453" y="18631"/>
                  <a:pt x="18631" y="14453"/>
                  <a:pt x="18631" y="9309"/>
                </a:cubicBezTo>
              </a:path>
            </a:pathLst>
          </a:custGeom>
          <a:solidFill>
            <a:srgbClr val="15543C"/>
          </a:solidFill>
          <a:ln/>
        </p:spPr>
      </p:sp>
      <p:sp>
        <p:nvSpPr>
          <p:cNvPr id="27" name="Shape 25"/>
          <p:cNvSpPr/>
          <p:nvPr/>
        </p:nvSpPr>
        <p:spPr>
          <a:xfrm>
            <a:off x="2366645" y="7879461"/>
            <a:ext cx="18669" cy="18669"/>
          </a:xfrm>
          <a:custGeom>
            <a:avLst/>
            <a:gdLst/>
            <a:ahLst/>
            <a:cxnLst/>
            <a:rect l="l" t="t" r="r" b="b"/>
            <a:pathLst>
              <a:path w="18669" h="18669">
                <a:moveTo>
                  <a:pt x="18631" y="9309"/>
                </a:moveTo>
                <a:cubicBezTo>
                  <a:pt x="18631" y="4166"/>
                  <a:pt x="14453" y="0"/>
                  <a:pt x="9309" y="0"/>
                </a:cubicBezTo>
                <a:cubicBezTo>
                  <a:pt x="4166" y="0"/>
                  <a:pt x="0" y="4166"/>
                  <a:pt x="0" y="9309"/>
                </a:cubicBezTo>
                <a:cubicBezTo>
                  <a:pt x="0" y="14453"/>
                  <a:pt x="4166" y="18631"/>
                  <a:pt x="9309" y="18631"/>
                </a:cubicBezTo>
                <a:cubicBezTo>
                  <a:pt x="14453" y="18631"/>
                  <a:pt x="18631" y="14453"/>
                  <a:pt x="18631" y="9309"/>
                </a:cubicBezTo>
              </a:path>
            </a:pathLst>
          </a:custGeom>
          <a:solidFill>
            <a:srgbClr val="15543C"/>
          </a:solidFill>
          <a:ln/>
        </p:spPr>
      </p:sp>
      <p:sp>
        <p:nvSpPr>
          <p:cNvPr id="28" name="Shape 26"/>
          <p:cNvSpPr/>
          <p:nvPr/>
        </p:nvSpPr>
        <p:spPr>
          <a:xfrm>
            <a:off x="3810000" y="7645400"/>
            <a:ext cx="1676400" cy="825500"/>
          </a:xfrm>
          <a:prstGeom prst="roundRect">
            <a:avLst>
              <a:gd name="adj" fmla="val 9231"/>
            </a:avLst>
          </a:prstGeom>
          <a:solidFill>
            <a:srgbClr val="F0F5EF"/>
          </a:solidFill>
          <a:ln/>
        </p:spPr>
      </p:sp>
      <p:sp>
        <p:nvSpPr>
          <p:cNvPr id="29" name="Shape 27"/>
          <p:cNvSpPr/>
          <p:nvPr/>
        </p:nvSpPr>
        <p:spPr>
          <a:xfrm>
            <a:off x="3959225" y="7795641"/>
            <a:ext cx="232791" cy="232791"/>
          </a:xfrm>
          <a:custGeom>
            <a:avLst/>
            <a:gdLst/>
            <a:ahLst/>
            <a:cxnLst/>
            <a:rect l="l" t="t" r="r" b="b"/>
            <a:pathLst>
              <a:path w="232791" h="232791">
                <a:moveTo>
                  <a:pt x="0" y="232829"/>
                </a:moveTo>
                <a:lnTo>
                  <a:pt x="23279" y="151346"/>
                </a:lnTo>
                <a:lnTo>
                  <a:pt x="174625" y="0"/>
                </a:lnTo>
                <a:lnTo>
                  <a:pt x="232829" y="58204"/>
                </a:lnTo>
                <a:lnTo>
                  <a:pt x="81496" y="209550"/>
                </a:lnTo>
                <a:lnTo>
                  <a:pt x="0" y="232829"/>
                </a:lnTo>
              </a:path>
            </a:pathLst>
          </a:custGeom>
          <a:ln w="18669">
            <a:solidFill>
              <a:srgbClr val="15543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982466" y="7947025"/>
            <a:ext cx="58293" cy="58166"/>
          </a:xfrm>
          <a:prstGeom prst="line">
            <a:avLst/>
          </a:prstGeom>
          <a:noFill/>
          <a:ln w="18669">
            <a:solidFill>
              <a:srgbClr val="15543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98925" y="7830566"/>
            <a:ext cx="58166" cy="58293"/>
          </a:xfrm>
          <a:prstGeom prst="line">
            <a:avLst/>
          </a:prstGeom>
          <a:noFill/>
          <a:ln w="18669">
            <a:solidFill>
              <a:srgbClr val="15543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556250" y="7645400"/>
            <a:ext cx="1676400" cy="825500"/>
          </a:xfrm>
          <a:prstGeom prst="roundRect">
            <a:avLst>
              <a:gd name="adj" fmla="val 9231"/>
            </a:avLst>
          </a:prstGeom>
          <a:solidFill>
            <a:srgbClr val="F0F5EF"/>
          </a:solidFill>
          <a:ln/>
        </p:spPr>
      </p:sp>
      <p:sp>
        <p:nvSpPr>
          <p:cNvPr id="33" name="Shape 31"/>
          <p:cNvSpPr/>
          <p:nvPr/>
        </p:nvSpPr>
        <p:spPr>
          <a:xfrm>
            <a:off x="5705475" y="7947025"/>
            <a:ext cx="32639" cy="93091"/>
          </a:xfrm>
          <a:prstGeom prst="rect">
            <a:avLst/>
          </a:prstGeom>
          <a:solidFill>
            <a:srgbClr val="15543C"/>
          </a:solidFill>
          <a:ln/>
        </p:spPr>
      </p:sp>
      <p:sp>
        <p:nvSpPr>
          <p:cNvPr id="34" name="Shape 32"/>
          <p:cNvSpPr/>
          <p:nvPr/>
        </p:nvSpPr>
        <p:spPr>
          <a:xfrm>
            <a:off x="5775325" y="7888859"/>
            <a:ext cx="32639" cy="151384"/>
          </a:xfrm>
          <a:prstGeom prst="rect">
            <a:avLst/>
          </a:prstGeom>
          <a:solidFill>
            <a:srgbClr val="15543C"/>
          </a:solidFill>
          <a:ln/>
        </p:spPr>
      </p:sp>
      <p:sp>
        <p:nvSpPr>
          <p:cNvPr id="35" name="Shape 33"/>
          <p:cNvSpPr/>
          <p:nvPr/>
        </p:nvSpPr>
        <p:spPr>
          <a:xfrm>
            <a:off x="5845175" y="7830566"/>
            <a:ext cx="32639" cy="209550"/>
          </a:xfrm>
          <a:prstGeom prst="rect">
            <a:avLst/>
          </a:prstGeom>
          <a:solidFill>
            <a:srgbClr val="15543C"/>
          </a:solidFill>
          <a:ln/>
        </p:spPr>
      </p:sp>
      <p:sp>
        <p:nvSpPr>
          <p:cNvPr id="36" name="Shape 34"/>
          <p:cNvSpPr/>
          <p:nvPr/>
        </p:nvSpPr>
        <p:spPr>
          <a:xfrm>
            <a:off x="5915025" y="7772400"/>
            <a:ext cx="32639" cy="267716"/>
          </a:xfrm>
          <a:prstGeom prst="rect">
            <a:avLst/>
          </a:prstGeom>
          <a:solidFill>
            <a:srgbClr val="15543C"/>
          </a:solidFill>
          <a:ln/>
        </p:spPr>
      </p:sp>
      <p:sp>
        <p:nvSpPr>
          <p:cNvPr id="37" name="Shape 35"/>
          <p:cNvSpPr/>
          <p:nvPr/>
        </p:nvSpPr>
        <p:spPr>
          <a:xfrm>
            <a:off x="317500" y="8636000"/>
            <a:ext cx="6925056" cy="812800"/>
          </a:xfrm>
          <a:prstGeom prst="roundRect">
            <a:avLst>
              <a:gd name="adj" fmla="val 12500"/>
            </a:avLst>
          </a:prstGeom>
          <a:solidFill>
            <a:srgbClr val="F6F5F0"/>
          </a:solidFill>
          <a:ln/>
        </p:spPr>
      </p:sp>
      <p:sp>
        <p:nvSpPr>
          <p:cNvPr id="38" name="Shape 36"/>
          <p:cNvSpPr/>
          <p:nvPr/>
        </p:nvSpPr>
        <p:spPr>
          <a:xfrm>
            <a:off x="317500" y="9829800"/>
            <a:ext cx="6925056" cy="596900"/>
          </a:xfrm>
          <a:prstGeom prst="roundRect">
            <a:avLst>
              <a:gd name="adj" fmla="val 17021"/>
            </a:avLst>
          </a:prstGeom>
          <a:solidFill>
            <a:srgbClr val="F0F5EF"/>
          </a:solidFill>
          <a:ln/>
        </p:spPr>
      </p:sp>
      <p:pic>
        <p:nvPicPr>
          <p:cNvPr id="39" name="Image 0" descr="부기 책을 함께 읽는 두 아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2300" y="6362700"/>
            <a:ext cx="1409700" cy="968248"/>
          </a:xfrm>
          <a:prstGeom prst="rect">
            <a:avLst/>
          </a:prstGeom>
        </p:spPr>
      </p:pic>
      <p:sp>
        <p:nvSpPr>
          <p:cNvPr id="40" name="txt-1-0"/>
          <p:cNvSpPr txBox="1"/>
          <p:nvPr/>
        </p:nvSpPr>
        <p:spPr>
          <a:xfrm>
            <a:off x="381000" y="296926"/>
            <a:ext cx="1035177" cy="364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ko-KR" altLang="en-US" sz="17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AI 시대,</a:t>
            </a:r>
            <a:endParaRPr lang="en-US" sz="1700" dirty="0"/>
          </a:p>
        </p:txBody>
      </p:sp>
      <p:sp>
        <p:nvSpPr>
          <p:cNvPr id="41" name="txt-1-1"/>
          <p:cNvSpPr txBox="1"/>
          <p:nvPr/>
        </p:nvSpPr>
        <p:spPr>
          <a:xfrm>
            <a:off x="355473" y="694182"/>
            <a:ext cx="5665724" cy="1030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240"/>
              </a:lnSpc>
              <a:buNone/>
            </a:pPr>
            <a:r>
              <a:rPr lang="ko-KR" altLang="en-US" sz="48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독서는 모든 학습의</a:t>
            </a:r>
            <a:endParaRPr lang="en-US" sz="4800" dirty="0"/>
          </a:p>
        </p:txBody>
      </p:sp>
      <p:sp>
        <p:nvSpPr>
          <p:cNvPr id="42" name="txt-1-2"/>
          <p:cNvSpPr txBox="1"/>
          <p:nvPr/>
        </p:nvSpPr>
        <p:spPr>
          <a:xfrm>
            <a:off x="355473" y="1406271"/>
            <a:ext cx="3908044" cy="1116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60"/>
              </a:lnSpc>
              <a:buNone/>
            </a:pPr>
            <a:r>
              <a:rPr lang="ko-KR" altLang="en-US" sz="52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기본</a:t>
            </a:r>
            <a:pPr algn="l" indent="0" marL="0">
              <a:lnSpc>
                <a:spcPts val="6760"/>
              </a:lnSpc>
              <a:buNone/>
            </a:pPr>
            <a:r>
              <a:rPr lang="ko-KR" altLang="en-US" sz="52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입니다.</a:t>
            </a:r>
            <a:endParaRPr lang="en-US" sz="5200" dirty="0"/>
          </a:p>
        </p:txBody>
      </p:sp>
      <p:sp>
        <p:nvSpPr>
          <p:cNvPr id="43" name="txt-1-3"/>
          <p:cNvSpPr txBox="1"/>
          <p:nvPr/>
        </p:nvSpPr>
        <p:spPr>
          <a:xfrm>
            <a:off x="381000" y="2336419"/>
            <a:ext cx="5091049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ko-KR" altLang="en-US" sz="16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AI가 답을 내놓아도,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ko-KR" altLang="en-US" sz="16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읽고 이해하고 판단하는 힘</a:t>
            </a:r>
            <a:pPr algn="l" indent="0" marL="0">
              <a:lnSpc>
                <a:spcPts val="2400"/>
              </a:lnSpc>
              <a:buNone/>
            </a:pPr>
            <a:r>
              <a:rPr lang="ko-KR" altLang="en-US" sz="16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은 학생 안에 있어야 합니다.</a:t>
            </a:r>
            <a:endParaRPr lang="en-US" sz="1600" dirty="0"/>
          </a:p>
        </p:txBody>
      </p:sp>
      <p:sp>
        <p:nvSpPr>
          <p:cNvPr id="44" name="txt-1-4"/>
          <p:cNvSpPr txBox="1"/>
          <p:nvPr/>
        </p:nvSpPr>
        <p:spPr>
          <a:xfrm>
            <a:off x="787146" y="3116072"/>
            <a:ext cx="1358138" cy="364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ko-KR" altLang="en-US" sz="17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학습의 기본</a:t>
            </a:r>
            <a:endParaRPr lang="en-US" sz="1700" dirty="0"/>
          </a:p>
        </p:txBody>
      </p:sp>
      <p:sp>
        <p:nvSpPr>
          <p:cNvPr id="45" name="txt-1-5"/>
          <p:cNvSpPr txBox="1"/>
          <p:nvPr/>
        </p:nvSpPr>
        <p:spPr>
          <a:xfrm>
            <a:off x="3085465" y="3116072"/>
            <a:ext cx="1358138" cy="364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ko-KR" altLang="en-US" sz="17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사고의 기본</a:t>
            </a:r>
            <a:endParaRPr lang="en-US" sz="1700" dirty="0"/>
          </a:p>
        </p:txBody>
      </p:sp>
      <p:sp>
        <p:nvSpPr>
          <p:cNvPr id="46" name="txt-1-6"/>
          <p:cNvSpPr txBox="1"/>
          <p:nvPr/>
        </p:nvSpPr>
        <p:spPr>
          <a:xfrm>
            <a:off x="5383784" y="3116072"/>
            <a:ext cx="1128776" cy="364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ko-KR" altLang="en-US" sz="17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삶의 기본</a:t>
            </a:r>
            <a:endParaRPr lang="en-US" sz="1700" dirty="0"/>
          </a:p>
        </p:txBody>
      </p:sp>
      <p:sp>
        <p:nvSpPr>
          <p:cNvPr id="47" name="txt-1-7"/>
          <p:cNvSpPr txBox="1"/>
          <p:nvPr/>
        </p:nvSpPr>
        <p:spPr>
          <a:xfrm>
            <a:off x="398653" y="3540252"/>
            <a:ext cx="2162683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ko-KR" altLang="en-US" sz="108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낱말과 문장의 뜻을 이해하고</a:t>
            </a:r>
            <a:endParaRPr lang="en-US" sz="1080" dirty="0"/>
          </a:p>
          <a:p>
            <a:pPr algn="ctr" indent="0" marL="0">
              <a:lnSpc>
                <a:spcPts val="1600"/>
              </a:lnSpc>
              <a:buNone/>
            </a:pPr>
            <a:r>
              <a:rPr lang="ko-KR" altLang="en-US" sz="108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모든 교과의 학습</a:t>
            </a:r>
            <a:pPr algn="ctr" indent="0" marL="0">
              <a:lnSpc>
                <a:spcPts val="1600"/>
              </a:lnSpc>
              <a:buNone/>
            </a:pPr>
            <a:r>
              <a:rPr lang="ko-KR" altLang="en-US" sz="108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을 이어 가는 힘</a:t>
            </a:r>
            <a:endParaRPr lang="en-US" sz="1080" dirty="0"/>
          </a:p>
        </p:txBody>
      </p:sp>
      <p:sp>
        <p:nvSpPr>
          <p:cNvPr id="48" name="txt-1-8"/>
          <p:cNvSpPr txBox="1"/>
          <p:nvPr/>
        </p:nvSpPr>
        <p:spPr>
          <a:xfrm>
            <a:off x="3178937" y="3540252"/>
            <a:ext cx="1503045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ko-KR" altLang="en-US" sz="108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근거를 찾고 질문하며</a:t>
            </a:r>
            <a:endParaRPr lang="en-US" sz="1080" dirty="0"/>
          </a:p>
          <a:p>
            <a:pPr algn="l" indent="0" marL="0">
              <a:lnSpc>
                <a:spcPts val="1600"/>
              </a:lnSpc>
              <a:buNone/>
            </a:pPr>
            <a:r>
              <a:rPr lang="ko-KR" altLang="en-US" sz="108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자기 생각을 세우는 힘</a:t>
            </a:r>
            <a:endParaRPr lang="en-US" sz="1080" dirty="0"/>
          </a:p>
        </p:txBody>
      </p:sp>
      <p:sp>
        <p:nvSpPr>
          <p:cNvPr id="49" name="txt-1-9"/>
          <p:cNvSpPr txBox="1"/>
          <p:nvPr/>
        </p:nvSpPr>
        <p:spPr>
          <a:xfrm>
            <a:off x="5241290" y="3540252"/>
            <a:ext cx="1668907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ko-KR" altLang="en-US" sz="108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책 속의 다른 삶을 만나</a:t>
            </a:r>
            <a:endParaRPr lang="en-US" sz="1080" dirty="0"/>
          </a:p>
          <a:p>
            <a:pPr algn="ctr" indent="0" marL="0">
              <a:lnSpc>
                <a:spcPts val="1600"/>
              </a:lnSpc>
              <a:buNone/>
            </a:pPr>
            <a:r>
              <a:rPr lang="ko-KR" altLang="en-US" sz="108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나와 타인을 이해하는 힘</a:t>
            </a:r>
            <a:endParaRPr lang="en-US" sz="1080" dirty="0"/>
          </a:p>
        </p:txBody>
      </p:sp>
      <p:sp>
        <p:nvSpPr>
          <p:cNvPr id="50" name="txt-1-10"/>
          <p:cNvSpPr txBox="1"/>
          <p:nvPr/>
        </p:nvSpPr>
        <p:spPr>
          <a:xfrm>
            <a:off x="1478280" y="4168521"/>
            <a:ext cx="4601845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ko-KR" altLang="en-US" sz="10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이야기 이해 과정에서는 전전두엽을 포함한 여러 뇌 영역이 함께 활동합니다.*</a:t>
            </a:r>
            <a:endParaRPr lang="en-US" sz="1000" dirty="0"/>
          </a:p>
        </p:txBody>
      </p:sp>
      <p:sp>
        <p:nvSpPr>
          <p:cNvPr id="51" name="txt-1-11"/>
          <p:cNvSpPr txBox="1"/>
          <p:nvPr/>
        </p:nvSpPr>
        <p:spPr>
          <a:xfrm>
            <a:off x="482346" y="4628134"/>
            <a:ext cx="5168646" cy="579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ko-KR" altLang="en-US" sz="27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기본이 쌓일 시간이 필요합니다</a:t>
            </a:r>
            <a:endParaRPr lang="en-US" sz="2700" dirty="0"/>
          </a:p>
        </p:txBody>
      </p:sp>
      <p:sp>
        <p:nvSpPr>
          <p:cNvPr id="52" name="txt-1-12"/>
          <p:cNvSpPr txBox="1"/>
          <p:nvPr/>
        </p:nvSpPr>
        <p:spPr>
          <a:xfrm>
            <a:off x="495300" y="5127625"/>
            <a:ext cx="7026656" cy="540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ko-KR" altLang="en-US" sz="121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학교에서 마주한 현실은, 아이들이 </a:t>
            </a:r>
            <a:pPr algn="l" indent="0" marL="0">
              <a:lnSpc>
                <a:spcPts val="1850"/>
              </a:lnSpc>
              <a:buNone/>
            </a:pPr>
            <a:r>
              <a:rPr lang="ko-KR" altLang="en-US" sz="121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책을 충분히 읽지 않는다는</a:t>
            </a:r>
            <a:pPr algn="l" indent="0" marL="0">
              <a:lnSpc>
                <a:spcPts val="1850"/>
              </a:lnSpc>
              <a:buNone/>
            </a:pPr>
            <a:r>
              <a:rPr lang="ko-KR" altLang="en-US" sz="121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 것이었습니다. </a:t>
            </a:r>
            <a:pPr algn="l" indent="0" marL="0">
              <a:lnSpc>
                <a:spcPts val="1850"/>
              </a:lnSpc>
              <a:buNone/>
            </a:pPr>
            <a:r>
              <a:rPr lang="ko-KR" altLang="en-US" sz="121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낱말 · 언어의 장벽</a:t>
            </a:r>
            <a:pPr algn="l" indent="0" marL="0">
              <a:lnSpc>
                <a:spcPts val="1850"/>
              </a:lnSpc>
              <a:buNone/>
            </a:pPr>
            <a:r>
              <a:rPr lang="ko-KR" altLang="en-US" sz="121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과 읽기</a:t>
            </a:r>
            <a:endParaRPr lang="en-US" sz="1210" dirty="0"/>
          </a:p>
          <a:p>
            <a:pPr algn="l" indent="0" marL="0">
              <a:lnSpc>
                <a:spcPts val="1850"/>
              </a:lnSpc>
              <a:buNone/>
            </a:pPr>
            <a:r>
              <a:rPr lang="ko-KR" altLang="en-US" sz="121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수준 차이, </a:t>
            </a:r>
            <a:pPr algn="l" indent="0" marL="0">
              <a:lnSpc>
                <a:spcPts val="1850"/>
              </a:lnSpc>
              <a:buNone/>
            </a:pPr>
            <a:r>
              <a:rPr lang="ko-KR" altLang="en-US" sz="121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개별 지도와 수업 준비</a:t>
            </a:r>
            <a:pPr algn="l" indent="0" marL="0">
              <a:lnSpc>
                <a:spcPts val="1850"/>
              </a:lnSpc>
              <a:buNone/>
            </a:pPr>
            <a:r>
              <a:rPr lang="ko-KR" altLang="en-US" sz="121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의 부담이 있습니다.</a:t>
            </a:r>
            <a:endParaRPr lang="en-US" sz="1210" dirty="0"/>
          </a:p>
        </p:txBody>
      </p:sp>
      <p:sp>
        <p:nvSpPr>
          <p:cNvPr id="53" name="txt-1-13"/>
          <p:cNvSpPr txBox="1"/>
          <p:nvPr/>
        </p:nvSpPr>
        <p:spPr>
          <a:xfrm>
            <a:off x="2679319" y="5862955"/>
            <a:ext cx="334010" cy="279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ko-KR" altLang="en-US" sz="1300" dirty="0">
                <a:solidFill>
                  <a:srgbClr val="D59B3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→</a:t>
            </a:r>
            <a:endParaRPr lang="en-US" sz="1300" dirty="0"/>
          </a:p>
        </p:txBody>
      </p:sp>
      <p:sp>
        <p:nvSpPr>
          <p:cNvPr id="54" name="txt-1-14"/>
          <p:cNvSpPr txBox="1"/>
          <p:nvPr/>
        </p:nvSpPr>
        <p:spPr>
          <a:xfrm>
            <a:off x="4749038" y="5862955"/>
            <a:ext cx="334010" cy="279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ko-KR" altLang="en-US" sz="1300" dirty="0">
                <a:solidFill>
                  <a:srgbClr val="D59B3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→</a:t>
            </a:r>
            <a:endParaRPr lang="en-US" sz="1300" dirty="0"/>
          </a:p>
        </p:txBody>
      </p:sp>
      <p:sp>
        <p:nvSpPr>
          <p:cNvPr id="55" name="txt-1-15"/>
          <p:cNvSpPr txBox="1"/>
          <p:nvPr/>
        </p:nvSpPr>
        <p:spPr>
          <a:xfrm>
            <a:off x="1261364" y="5897499"/>
            <a:ext cx="907161" cy="2360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ko-KR" altLang="en-US" sz="11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모르는 낱말</a:t>
            </a:r>
            <a:endParaRPr lang="en-US" sz="1100" dirty="0"/>
          </a:p>
        </p:txBody>
      </p:sp>
      <p:sp>
        <p:nvSpPr>
          <p:cNvPr id="56" name="txt-1-16"/>
          <p:cNvSpPr txBox="1"/>
          <p:nvPr/>
        </p:nvSpPr>
        <p:spPr>
          <a:xfrm>
            <a:off x="3331083" y="5897499"/>
            <a:ext cx="907161" cy="2360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ko-KR" altLang="en-US" sz="11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이해의 중단</a:t>
            </a:r>
            <a:endParaRPr lang="en-US" sz="1100" dirty="0"/>
          </a:p>
        </p:txBody>
      </p:sp>
      <p:sp>
        <p:nvSpPr>
          <p:cNvPr id="57" name="txt-1-17"/>
          <p:cNvSpPr txBox="1"/>
          <p:nvPr/>
        </p:nvSpPr>
        <p:spPr>
          <a:xfrm>
            <a:off x="5400802" y="5897499"/>
            <a:ext cx="907161" cy="2360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ko-KR" altLang="en-US" sz="11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읽기의 포기</a:t>
            </a:r>
            <a:endParaRPr lang="en-US" sz="1100" dirty="0"/>
          </a:p>
        </p:txBody>
      </p:sp>
      <p:sp>
        <p:nvSpPr>
          <p:cNvPr id="58" name="txt-1-18"/>
          <p:cNvSpPr txBox="1"/>
          <p:nvPr/>
        </p:nvSpPr>
        <p:spPr>
          <a:xfrm>
            <a:off x="381000" y="6415151"/>
            <a:ext cx="4904105" cy="450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ko-KR" altLang="en-US" sz="21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초등교사들이 뜻을 모아 만들었습니다</a:t>
            </a:r>
            <a:endParaRPr lang="en-US" sz="2100" dirty="0"/>
          </a:p>
        </p:txBody>
      </p:sp>
      <p:sp>
        <p:nvSpPr>
          <p:cNvPr id="59" name="txt-1-19"/>
          <p:cNvSpPr txBox="1"/>
          <p:nvPr/>
        </p:nvSpPr>
        <p:spPr>
          <a:xfrm>
            <a:off x="381000" y="6811899"/>
            <a:ext cx="4670044" cy="493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buNone/>
            </a:pPr>
            <a:r>
              <a:rPr lang="ko-KR" altLang="en-US" sz="23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부기는 </a:t>
            </a:r>
            <a:pPr algn="l" indent="0" marL="0">
              <a:lnSpc>
                <a:spcPts val="2990"/>
              </a:lnSpc>
              <a:buNone/>
            </a:pPr>
            <a:r>
              <a:rPr lang="ko-KR" altLang="en-US" sz="23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정답 대신 질문</a:t>
            </a:r>
            <a:pPr algn="l" indent="0" marL="0">
              <a:lnSpc>
                <a:spcPts val="2990"/>
              </a:lnSpc>
              <a:buNone/>
            </a:pPr>
            <a:r>
              <a:rPr lang="ko-KR" altLang="en-US" sz="23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을 건넵니다.</a:t>
            </a:r>
            <a:endParaRPr lang="en-US" sz="2300" dirty="0"/>
          </a:p>
        </p:txBody>
      </p:sp>
      <p:sp>
        <p:nvSpPr>
          <p:cNvPr id="60" name="txt-1-20"/>
          <p:cNvSpPr txBox="1"/>
          <p:nvPr/>
        </p:nvSpPr>
        <p:spPr>
          <a:xfrm>
            <a:off x="381000" y="7313422"/>
            <a:ext cx="4235577" cy="225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ko-KR" altLang="en-US" sz="10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학교에서 시범 사용을 통해 </a:t>
            </a:r>
            <a:pPr algn="l" indent="0" marL="0">
              <a:lnSpc>
                <a:spcPts val="1365"/>
              </a:lnSpc>
              <a:buNone/>
            </a:pPr>
            <a:r>
              <a:rPr lang="ko-KR" altLang="en-US" sz="105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계속 개선하고 발전</a:t>
            </a:r>
            <a:pPr algn="l" indent="0" marL="0">
              <a:lnSpc>
                <a:spcPts val="1365"/>
              </a:lnSpc>
              <a:buNone/>
            </a:pPr>
            <a:r>
              <a:rPr lang="ko-KR" altLang="en-US" sz="10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시켜 나가고 있습니다.</a:t>
            </a:r>
            <a:endParaRPr lang="en-US" sz="1050" dirty="0"/>
          </a:p>
        </p:txBody>
      </p:sp>
      <p:sp>
        <p:nvSpPr>
          <p:cNvPr id="61" name="txt-1-21"/>
          <p:cNvSpPr txBox="1"/>
          <p:nvPr/>
        </p:nvSpPr>
        <p:spPr>
          <a:xfrm>
            <a:off x="825246" y="7737856"/>
            <a:ext cx="584200" cy="34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ko-KR" altLang="en-US" sz="16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읽기</a:t>
            </a:r>
            <a:endParaRPr lang="en-US" sz="1600" dirty="0"/>
          </a:p>
        </p:txBody>
      </p:sp>
      <p:sp>
        <p:nvSpPr>
          <p:cNvPr id="62" name="txt-1-22"/>
          <p:cNvSpPr txBox="1"/>
          <p:nvPr/>
        </p:nvSpPr>
        <p:spPr>
          <a:xfrm>
            <a:off x="2571242" y="7737856"/>
            <a:ext cx="584200" cy="34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ko-KR" altLang="en-US" sz="16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묻기</a:t>
            </a:r>
            <a:endParaRPr lang="en-US" sz="1600" dirty="0"/>
          </a:p>
        </p:txBody>
      </p:sp>
      <p:sp>
        <p:nvSpPr>
          <p:cNvPr id="63" name="txt-1-23"/>
          <p:cNvSpPr txBox="1"/>
          <p:nvPr/>
        </p:nvSpPr>
        <p:spPr>
          <a:xfrm>
            <a:off x="4317238" y="7737856"/>
            <a:ext cx="1016127" cy="34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ko-KR" altLang="en-US" sz="16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표현하기</a:t>
            </a:r>
            <a:endParaRPr lang="en-US" sz="1600" dirty="0"/>
          </a:p>
        </p:txBody>
      </p:sp>
      <p:sp>
        <p:nvSpPr>
          <p:cNvPr id="64" name="txt-1-24"/>
          <p:cNvSpPr txBox="1"/>
          <p:nvPr/>
        </p:nvSpPr>
        <p:spPr>
          <a:xfrm>
            <a:off x="5951220" y="7737856"/>
            <a:ext cx="811911" cy="34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80"/>
              </a:lnSpc>
              <a:buNone/>
            </a:pPr>
            <a:r>
              <a:rPr lang="ko-KR" altLang="en-US" sz="16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모으기</a:t>
            </a:r>
            <a:endParaRPr lang="en-US" sz="1600" dirty="0"/>
          </a:p>
        </p:txBody>
      </p:sp>
      <p:sp>
        <p:nvSpPr>
          <p:cNvPr id="65" name="txt-1-25"/>
          <p:cNvSpPr txBox="1"/>
          <p:nvPr/>
        </p:nvSpPr>
        <p:spPr>
          <a:xfrm>
            <a:off x="616077" y="8082280"/>
            <a:ext cx="1080135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ko-KR" altLang="en-US" sz="8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능동적 그림 읽기</a:t>
            </a:r>
            <a:endParaRPr lang="en-US" sz="8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ko-KR" altLang="en-US" sz="8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낱말 · 다국어 지원</a:t>
            </a:r>
            <a:endParaRPr lang="en-US" sz="850" dirty="0"/>
          </a:p>
        </p:txBody>
      </p:sp>
      <p:sp>
        <p:nvSpPr>
          <p:cNvPr id="66" name="txt-1-26"/>
          <p:cNvSpPr txBox="1"/>
          <p:nvPr/>
        </p:nvSpPr>
        <p:spPr>
          <a:xfrm>
            <a:off x="2228342" y="8082280"/>
            <a:ext cx="1345946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ko-KR" altLang="en-US" sz="8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캐릭터와의 대화</a:t>
            </a:r>
            <a:endParaRPr lang="en-US" sz="8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ko-KR" altLang="en-US" sz="8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생각한 까닭을 묻는 질문</a:t>
            </a:r>
            <a:endParaRPr lang="en-US" sz="850" dirty="0"/>
          </a:p>
        </p:txBody>
      </p:sp>
      <p:sp>
        <p:nvSpPr>
          <p:cNvPr id="67" name="txt-1-27"/>
          <p:cNvSpPr txBox="1"/>
          <p:nvPr/>
        </p:nvSpPr>
        <p:spPr>
          <a:xfrm>
            <a:off x="3796030" y="8082280"/>
            <a:ext cx="1701165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ko-KR" altLang="en-US" sz="8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다양한 독후활동</a:t>
            </a:r>
            <a:endParaRPr lang="en-US" sz="8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ko-KR" altLang="en-US" sz="8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글 · 그림 · 편지로 내 생각 표현</a:t>
            </a:r>
            <a:endParaRPr lang="en-US" sz="850" dirty="0"/>
          </a:p>
        </p:txBody>
      </p:sp>
      <p:sp>
        <p:nvSpPr>
          <p:cNvPr id="68" name="txt-1-28"/>
          <p:cNvSpPr txBox="1"/>
          <p:nvPr/>
        </p:nvSpPr>
        <p:spPr>
          <a:xfrm>
            <a:off x="5553202" y="8082280"/>
            <a:ext cx="1679702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ko-KR" altLang="en-US" sz="8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독서 기록 자산</a:t>
            </a:r>
            <a:endParaRPr lang="en-US" sz="8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ko-KR" altLang="en-US" sz="8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무엇을 느끼고 달라졌는지 기록</a:t>
            </a:r>
            <a:endParaRPr lang="en-US" sz="850" dirty="0"/>
          </a:p>
        </p:txBody>
      </p:sp>
      <p:sp>
        <p:nvSpPr>
          <p:cNvPr id="69" name="txt-1-29"/>
          <p:cNvSpPr txBox="1"/>
          <p:nvPr/>
        </p:nvSpPr>
        <p:spPr>
          <a:xfrm>
            <a:off x="756666" y="8758047"/>
            <a:ext cx="1141476" cy="515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ko-KR" altLang="en-US" sz="2400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72학급</a:t>
            </a:r>
            <a:endParaRPr lang="en-US" sz="2400" dirty="0"/>
          </a:p>
        </p:txBody>
      </p:sp>
      <p:sp>
        <p:nvSpPr>
          <p:cNvPr id="70" name="txt-1-30"/>
          <p:cNvSpPr txBox="1"/>
          <p:nvPr/>
        </p:nvSpPr>
        <p:spPr>
          <a:xfrm>
            <a:off x="2399538" y="8758047"/>
            <a:ext cx="1298448" cy="515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ko-KR" altLang="en-US" sz="2400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1,196명</a:t>
            </a:r>
            <a:endParaRPr lang="en-US" sz="2400" dirty="0"/>
          </a:p>
        </p:txBody>
      </p:sp>
      <p:sp>
        <p:nvSpPr>
          <p:cNvPr id="71" name="txt-1-31"/>
          <p:cNvSpPr txBox="1"/>
          <p:nvPr/>
        </p:nvSpPr>
        <p:spPr>
          <a:xfrm>
            <a:off x="4029202" y="8758047"/>
            <a:ext cx="1484503" cy="515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ko-KR" altLang="en-US" sz="2400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26,924건</a:t>
            </a:r>
            <a:endParaRPr lang="en-US" sz="2400" dirty="0"/>
          </a:p>
        </p:txBody>
      </p:sp>
      <p:sp>
        <p:nvSpPr>
          <p:cNvPr id="72" name="txt-1-32"/>
          <p:cNvSpPr txBox="1"/>
          <p:nvPr/>
        </p:nvSpPr>
        <p:spPr>
          <a:xfrm>
            <a:off x="5827903" y="8758047"/>
            <a:ext cx="1298448" cy="515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ko-KR" altLang="en-US" sz="2400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1,816건</a:t>
            </a:r>
            <a:endParaRPr lang="en-US" sz="2400" dirty="0"/>
          </a:p>
        </p:txBody>
      </p:sp>
      <p:sp>
        <p:nvSpPr>
          <p:cNvPr id="73" name="txt-1-33"/>
          <p:cNvSpPr txBox="1"/>
          <p:nvPr/>
        </p:nvSpPr>
        <p:spPr>
          <a:xfrm>
            <a:off x="945896" y="9116314"/>
            <a:ext cx="725043" cy="225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ko-KR" altLang="en-US" sz="10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운영 학급</a:t>
            </a:r>
            <a:endParaRPr lang="en-US" sz="1050" dirty="0"/>
          </a:p>
        </p:txBody>
      </p:sp>
      <p:sp>
        <p:nvSpPr>
          <p:cNvPr id="74" name="txt-1-34"/>
          <p:cNvSpPr txBox="1"/>
          <p:nvPr/>
        </p:nvSpPr>
        <p:spPr>
          <a:xfrm>
            <a:off x="2522474" y="9116314"/>
            <a:ext cx="1027811" cy="225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ko-KR" altLang="en-US" sz="10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실제 사용 학생</a:t>
            </a:r>
            <a:endParaRPr lang="en-US" sz="1050" dirty="0"/>
          </a:p>
        </p:txBody>
      </p:sp>
      <p:sp>
        <p:nvSpPr>
          <p:cNvPr id="75" name="txt-1-35"/>
          <p:cNvSpPr txBox="1"/>
          <p:nvPr/>
        </p:nvSpPr>
        <p:spPr>
          <a:xfrm>
            <a:off x="4374261" y="9116314"/>
            <a:ext cx="725043" cy="225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ko-KR" altLang="en-US" sz="10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완독 기록</a:t>
            </a:r>
            <a:endParaRPr lang="en-US" sz="1050" dirty="0"/>
          </a:p>
        </p:txBody>
      </p:sp>
      <p:sp>
        <p:nvSpPr>
          <p:cNvPr id="76" name="txt-1-36"/>
          <p:cNvSpPr txBox="1"/>
          <p:nvPr/>
        </p:nvSpPr>
        <p:spPr>
          <a:xfrm>
            <a:off x="5965952" y="9116314"/>
            <a:ext cx="994918" cy="225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ko-KR" altLang="en-US" sz="10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독후활동 제출</a:t>
            </a:r>
            <a:endParaRPr lang="en-US" sz="1050" dirty="0"/>
          </a:p>
        </p:txBody>
      </p:sp>
      <p:sp>
        <p:nvSpPr>
          <p:cNvPr id="77" name="txt-1-37"/>
          <p:cNvSpPr txBox="1"/>
          <p:nvPr/>
        </p:nvSpPr>
        <p:spPr>
          <a:xfrm>
            <a:off x="2012823" y="9514586"/>
            <a:ext cx="3532124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ko-KR" altLang="en-US" sz="10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2026년 9월 20일부터 10월 21일까지 한 달 시범 사용 결과</a:t>
            </a:r>
            <a:endParaRPr lang="en-US" sz="1000" dirty="0"/>
          </a:p>
        </p:txBody>
      </p:sp>
      <p:sp>
        <p:nvSpPr>
          <p:cNvPr id="78" name="txt-1-38"/>
          <p:cNvSpPr txBox="1"/>
          <p:nvPr/>
        </p:nvSpPr>
        <p:spPr>
          <a:xfrm>
            <a:off x="1502410" y="9843897"/>
            <a:ext cx="4554855" cy="572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60"/>
              </a:lnSpc>
              <a:buNone/>
            </a:pPr>
            <a:r>
              <a:rPr lang="ko-KR" altLang="en-US" sz="14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경남의 모든 학생이 읽고 생각하는 기본을 갖추도록,</a:t>
            </a:r>
            <a:endParaRPr lang="en-US" sz="1400" dirty="0"/>
          </a:p>
          <a:p>
            <a:pPr algn="ctr" indent="0" marL="0">
              <a:lnSpc>
                <a:spcPts val="1960"/>
              </a:lnSpc>
              <a:buNone/>
            </a:pPr>
            <a:r>
              <a:rPr lang="ko-KR" altLang="en-US" sz="14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학교 독서교육의 지속적인 운영을 지원해 주십시오.</a:t>
            </a:r>
            <a:endParaRPr lang="en-US" sz="1400" dirty="0"/>
          </a:p>
        </p:txBody>
      </p:sp>
      <p:sp>
        <p:nvSpPr>
          <p:cNvPr id="79" name="txt-1-39"/>
          <p:cNvSpPr txBox="1"/>
          <p:nvPr/>
        </p:nvSpPr>
        <p:spPr>
          <a:xfrm>
            <a:off x="304800" y="10510393"/>
            <a:ext cx="2592451" cy="139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5"/>
              </a:lnSpc>
              <a:buNone/>
            </a:pPr>
            <a:r>
              <a:rPr lang="ko-KR" altLang="en-US" sz="650" dirty="0">
                <a:solidFill>
                  <a:srgbClr val="43516A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* 출처: Yarkoni et al. (2008). NeuroImage, 41(4), 1408-1425.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96082" y="495300"/>
            <a:ext cx="3982974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7416" y="2578100"/>
            <a:ext cx="277876" cy="304292"/>
          </a:xfrm>
          <a:custGeom>
            <a:avLst/>
            <a:gdLst/>
            <a:ahLst/>
            <a:cxnLst/>
            <a:rect l="l" t="t" r="r" b="b"/>
            <a:pathLst>
              <a:path w="277876" h="304292">
                <a:moveTo>
                  <a:pt x="132296" y="304267"/>
                </a:moveTo>
                <a:lnTo>
                  <a:pt x="132296" y="145517"/>
                </a:lnTo>
                <a:cubicBezTo>
                  <a:pt x="66142" y="171983"/>
                  <a:pt x="0" y="145517"/>
                  <a:pt x="0" y="39688"/>
                </a:cubicBezTo>
                <a:cubicBezTo>
                  <a:pt x="105829" y="26454"/>
                  <a:pt x="132296" y="79375"/>
                  <a:pt x="132296" y="145517"/>
                </a:cubicBezTo>
                <a:cubicBezTo>
                  <a:pt x="132296" y="39688"/>
                  <a:pt x="211671" y="0"/>
                  <a:pt x="277813" y="13233"/>
                </a:cubicBezTo>
                <a:cubicBezTo>
                  <a:pt x="277813" y="105829"/>
                  <a:pt x="211671" y="158750"/>
                  <a:pt x="132296" y="145517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4" name="Shape 2"/>
          <p:cNvSpPr/>
          <p:nvPr/>
        </p:nvSpPr>
        <p:spPr>
          <a:xfrm>
            <a:off x="3266059" y="2755900"/>
            <a:ext cx="3912997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3959" y="4470908"/>
            <a:ext cx="211709" cy="211709"/>
          </a:xfrm>
          <a:custGeom>
            <a:avLst/>
            <a:gdLst/>
            <a:ahLst/>
            <a:cxnLst/>
            <a:rect l="l" t="t" r="r" b="b"/>
            <a:pathLst>
              <a:path w="211709" h="211709">
                <a:moveTo>
                  <a:pt x="211671" y="105829"/>
                </a:moveTo>
                <a:cubicBezTo>
                  <a:pt x="211671" y="47384"/>
                  <a:pt x="164287" y="0"/>
                  <a:pt x="105829" y="0"/>
                </a:cubicBezTo>
                <a:cubicBezTo>
                  <a:pt x="47384" y="0"/>
                  <a:pt x="0" y="47384"/>
                  <a:pt x="0" y="105829"/>
                </a:cubicBezTo>
                <a:cubicBezTo>
                  <a:pt x="0" y="164287"/>
                  <a:pt x="47384" y="211671"/>
                  <a:pt x="105829" y="211671"/>
                </a:cubicBezTo>
                <a:cubicBezTo>
                  <a:pt x="164287" y="211671"/>
                  <a:pt x="211671" y="164287"/>
                  <a:pt x="211671" y="105829"/>
                </a:cubicBezTo>
              </a:path>
            </a:pathLst>
          </a:custGeom>
          <a:ln w="21209">
            <a:solidFill>
              <a:srgbClr val="D59B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6791" y="4669409"/>
            <a:ext cx="0" cy="52832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2709" y="4669409"/>
            <a:ext cx="0" cy="52832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6791" y="4722241"/>
            <a:ext cx="105918" cy="0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0126" y="4761992"/>
            <a:ext cx="79375" cy="0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9750" y="4576699"/>
            <a:ext cx="0" cy="13233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0126" y="4537075"/>
            <a:ext cx="39624" cy="3962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9750" y="4537075"/>
            <a:ext cx="39751" cy="3962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65697" y="4635500"/>
            <a:ext cx="713359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4208" y="6362192"/>
            <a:ext cx="291084" cy="304292"/>
          </a:xfrm>
          <a:custGeom>
            <a:avLst/>
            <a:gdLst/>
            <a:ahLst/>
            <a:cxnLst/>
            <a:rect l="l" t="t" r="r" b="b"/>
            <a:pathLst>
              <a:path w="291084" h="304292">
                <a:moveTo>
                  <a:pt x="145517" y="304267"/>
                </a:moveTo>
                <a:cubicBezTo>
                  <a:pt x="105829" y="251358"/>
                  <a:pt x="0" y="198438"/>
                  <a:pt x="0" y="105829"/>
                </a:cubicBezTo>
                <a:cubicBezTo>
                  <a:pt x="0" y="0"/>
                  <a:pt x="119063" y="0"/>
                  <a:pt x="145517" y="79375"/>
                </a:cubicBezTo>
                <a:cubicBezTo>
                  <a:pt x="171983" y="0"/>
                  <a:pt x="291046" y="0"/>
                  <a:pt x="291046" y="105829"/>
                </a:cubicBezTo>
                <a:cubicBezTo>
                  <a:pt x="291046" y="198438"/>
                  <a:pt x="185204" y="251358"/>
                  <a:pt x="145517" y="304267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15" name="Shape 13"/>
          <p:cNvSpPr/>
          <p:nvPr/>
        </p:nvSpPr>
        <p:spPr>
          <a:xfrm>
            <a:off x="4106037" y="6553200"/>
            <a:ext cx="3073019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7500" y="9232900"/>
            <a:ext cx="6925056" cy="889000"/>
          </a:xfrm>
          <a:prstGeom prst="roundRect">
            <a:avLst>
              <a:gd name="adj" fmla="val 11429"/>
            </a:avLst>
          </a:prstGeom>
          <a:solidFill>
            <a:srgbClr val="F0F5EF"/>
          </a:solidFill>
          <a:ln/>
        </p:spPr>
      </p:sp>
      <p:sp>
        <p:nvSpPr>
          <p:cNvPr id="17" name="Shape 15"/>
          <p:cNvSpPr/>
          <p:nvPr/>
        </p:nvSpPr>
        <p:spPr>
          <a:xfrm>
            <a:off x="381000" y="10414000"/>
            <a:ext cx="2755900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94200" y="10414000"/>
            <a:ext cx="2784856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pic>
        <p:nvPicPr>
          <p:cNvPr id="19" name="Image 0" descr="부기 책을 함께 읽는 두 아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0" y="1003300"/>
            <a:ext cx="1841500" cy="1264920"/>
          </a:xfrm>
          <a:prstGeom prst="rect">
            <a:avLst/>
          </a:prstGeom>
        </p:spPr>
      </p:pic>
      <p:sp>
        <p:nvSpPr>
          <p:cNvPr id="20" name="txt-2-0"/>
          <p:cNvSpPr txBox="1"/>
          <p:nvPr/>
        </p:nvSpPr>
        <p:spPr>
          <a:xfrm>
            <a:off x="381000" y="296926"/>
            <a:ext cx="3081401" cy="364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ko-KR" altLang="en-US" sz="17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현장 초등교사가 드리는 제안</a:t>
            </a:r>
            <a:endParaRPr lang="en-US" sz="1700" dirty="0"/>
          </a:p>
        </p:txBody>
      </p:sp>
      <p:sp>
        <p:nvSpPr>
          <p:cNvPr id="21" name="txt-2-1"/>
          <p:cNvSpPr txBox="1"/>
          <p:nvPr/>
        </p:nvSpPr>
        <p:spPr>
          <a:xfrm>
            <a:off x="381000" y="730758"/>
            <a:ext cx="4901565" cy="151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ko-KR" altLang="en-US" sz="37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스스로 생각할 기회를</a:t>
            </a:r>
            <a:endParaRPr lang="en-US" sz="3700" dirty="0"/>
          </a:p>
          <a:p>
            <a:pPr algn="l" indent="0" marL="0">
              <a:lnSpc>
                <a:spcPts val="5200"/>
              </a:lnSpc>
              <a:buNone/>
            </a:pPr>
            <a:r>
              <a:rPr lang="ko-KR" altLang="en-US" sz="37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잃을까 두렵습니다.</a:t>
            </a:r>
            <a:endParaRPr lang="en-US" sz="3700" dirty="0"/>
          </a:p>
        </p:txBody>
      </p:sp>
      <p:sp>
        <p:nvSpPr>
          <p:cNvPr id="22" name="txt-2-2"/>
          <p:cNvSpPr txBox="1"/>
          <p:nvPr/>
        </p:nvSpPr>
        <p:spPr>
          <a:xfrm>
            <a:off x="863346" y="2545207"/>
            <a:ext cx="2655316" cy="418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ko-KR" altLang="en-US" sz="195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교실에서 마주한 걱정</a:t>
            </a:r>
            <a:endParaRPr lang="en-US" sz="1950" dirty="0"/>
          </a:p>
        </p:txBody>
      </p:sp>
      <p:sp>
        <p:nvSpPr>
          <p:cNvPr id="23" name="txt-2-3"/>
          <p:cNvSpPr txBox="1"/>
          <p:nvPr/>
        </p:nvSpPr>
        <p:spPr>
          <a:xfrm>
            <a:off x="381000" y="3027680"/>
            <a:ext cx="7140956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학교 현장에서 아이들이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책을 충분히 읽지 않는 현실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을 마주했습니다.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다른 사람의 생각을 차분히 따라 읽고,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자기 생각을 만들어 볼 기회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마저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잃은 채 자랄까 두렵습니다.</a:t>
            </a:r>
            <a:endParaRPr lang="en-US" sz="1800" dirty="0"/>
          </a:p>
        </p:txBody>
      </p:sp>
      <p:sp>
        <p:nvSpPr>
          <p:cNvPr id="24" name="txt-2-4"/>
          <p:cNvSpPr txBox="1"/>
          <p:nvPr/>
        </p:nvSpPr>
        <p:spPr>
          <a:xfrm>
            <a:off x="863346" y="4424426"/>
            <a:ext cx="6174994" cy="418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ko-KR" altLang="en-US" sz="195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정보가 많아도, 깊은 이해는 저절로 생기지 않습니다</a:t>
            </a:r>
            <a:endParaRPr lang="en-US" sz="1950" dirty="0"/>
          </a:p>
        </p:txBody>
      </p:sp>
      <p:sp>
        <p:nvSpPr>
          <p:cNvPr id="25" name="txt-2-5"/>
          <p:cNvSpPr txBox="1"/>
          <p:nvPr/>
        </p:nvSpPr>
        <p:spPr>
          <a:xfrm>
            <a:off x="381000" y="4945253"/>
            <a:ext cx="7140956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문장의 뜻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을 헤아리고,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앞뒤 내용을 연결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하고,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오래 생각하는 시간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은 따로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필요합니다. 짧은 영상과 빠른 답에 익숙해지는 동안, 학생 안에 무엇이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남고 있는지 묻고 싶습니다.</a:t>
            </a:r>
            <a:endParaRPr lang="en-US" sz="1800" dirty="0"/>
          </a:p>
        </p:txBody>
      </p:sp>
      <p:sp>
        <p:nvSpPr>
          <p:cNvPr id="26" name="txt-2-6"/>
          <p:cNvSpPr txBox="1"/>
          <p:nvPr/>
        </p:nvSpPr>
        <p:spPr>
          <a:xfrm>
            <a:off x="863346" y="6341999"/>
            <a:ext cx="3579368" cy="418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ko-KR" altLang="en-US" sz="195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학교가 먼저 고민해야 할 질문</a:t>
            </a:r>
            <a:endParaRPr lang="en-US" sz="1950" dirty="0"/>
          </a:p>
        </p:txBody>
      </p:sp>
      <p:sp>
        <p:nvSpPr>
          <p:cNvPr id="27" name="txt-2-7"/>
          <p:cNvSpPr txBox="1"/>
          <p:nvPr/>
        </p:nvSpPr>
        <p:spPr>
          <a:xfrm>
            <a:off x="381000" y="6837045"/>
            <a:ext cx="7140956" cy="759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학생은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무엇을 알고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,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어떤 경험을 쌓고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,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어떻게 생각하는 사람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으로 자라야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할까요. 디지털 도구를 도입하는 일에도 이 질문이 먼저 놓여야 합니다.</a:t>
            </a:r>
            <a:endParaRPr lang="en-US" sz="1800" dirty="0"/>
          </a:p>
        </p:txBody>
      </p:sp>
      <p:sp>
        <p:nvSpPr>
          <p:cNvPr id="28" name="txt-2-8"/>
          <p:cNvSpPr txBox="1"/>
          <p:nvPr/>
        </p:nvSpPr>
        <p:spPr>
          <a:xfrm>
            <a:off x="381000" y="7637145"/>
            <a:ext cx="6979285" cy="759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스스로 읽고 이해하며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,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근거를 들어 말하는 힘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을 꾸준히 길러 주어야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합니다. 이 절실함에서 부기가 시작됐습니다.</a:t>
            </a:r>
            <a:endParaRPr lang="en-US" sz="1800" dirty="0"/>
          </a:p>
        </p:txBody>
      </p:sp>
      <p:sp>
        <p:nvSpPr>
          <p:cNvPr id="29" name="txt-2-9"/>
          <p:cNvSpPr txBox="1"/>
          <p:nvPr/>
        </p:nvSpPr>
        <p:spPr>
          <a:xfrm>
            <a:off x="963295" y="9322562"/>
            <a:ext cx="5632323" cy="715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ko-KR" altLang="en-US" sz="175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스마트폰 속 세상에 빠져 있는 아이들이</a:t>
            </a:r>
            <a:endParaRPr lang="en-US" sz="1750" dirty="0"/>
          </a:p>
          <a:p>
            <a:pPr algn="ctr" indent="0" marL="0">
              <a:lnSpc>
                <a:spcPts val="2450"/>
              </a:lnSpc>
              <a:buNone/>
            </a:pPr>
            <a:r>
              <a:rPr lang="ko-KR" altLang="en-US" sz="175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세상을 깊이있게 이해하는 아이로 자라고 있을까요?</a:t>
            </a:r>
            <a:endParaRPr lang="en-US" sz="1750" dirty="0"/>
          </a:p>
        </p:txBody>
      </p:sp>
      <p:sp>
        <p:nvSpPr>
          <p:cNvPr id="30" name="txt-2-10"/>
          <p:cNvSpPr txBox="1"/>
          <p:nvPr/>
        </p:nvSpPr>
        <p:spPr>
          <a:xfrm>
            <a:off x="3504565" y="10362692"/>
            <a:ext cx="424815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1 / 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87548" y="495300"/>
            <a:ext cx="4191508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7416" y="2578100"/>
            <a:ext cx="277876" cy="304292"/>
          </a:xfrm>
          <a:custGeom>
            <a:avLst/>
            <a:gdLst/>
            <a:ahLst/>
            <a:cxnLst/>
            <a:rect l="l" t="t" r="r" b="b"/>
            <a:pathLst>
              <a:path w="277876" h="304292">
                <a:moveTo>
                  <a:pt x="132296" y="304267"/>
                </a:moveTo>
                <a:lnTo>
                  <a:pt x="132296" y="145517"/>
                </a:lnTo>
                <a:cubicBezTo>
                  <a:pt x="66142" y="171983"/>
                  <a:pt x="0" y="145517"/>
                  <a:pt x="0" y="39688"/>
                </a:cubicBezTo>
                <a:cubicBezTo>
                  <a:pt x="105829" y="26454"/>
                  <a:pt x="132296" y="79375"/>
                  <a:pt x="132296" y="145517"/>
                </a:cubicBezTo>
                <a:cubicBezTo>
                  <a:pt x="132296" y="39688"/>
                  <a:pt x="211671" y="0"/>
                  <a:pt x="277813" y="13233"/>
                </a:cubicBezTo>
                <a:cubicBezTo>
                  <a:pt x="277813" y="105829"/>
                  <a:pt x="211671" y="158750"/>
                  <a:pt x="132296" y="145517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4" name="Shape 2"/>
          <p:cNvSpPr/>
          <p:nvPr/>
        </p:nvSpPr>
        <p:spPr>
          <a:xfrm>
            <a:off x="5720842" y="2755900"/>
            <a:ext cx="1458214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3959" y="4470908"/>
            <a:ext cx="211709" cy="211709"/>
          </a:xfrm>
          <a:custGeom>
            <a:avLst/>
            <a:gdLst/>
            <a:ahLst/>
            <a:cxnLst/>
            <a:rect l="l" t="t" r="r" b="b"/>
            <a:pathLst>
              <a:path w="211709" h="211709">
                <a:moveTo>
                  <a:pt x="211671" y="105829"/>
                </a:moveTo>
                <a:cubicBezTo>
                  <a:pt x="211671" y="47384"/>
                  <a:pt x="164287" y="0"/>
                  <a:pt x="105829" y="0"/>
                </a:cubicBezTo>
                <a:cubicBezTo>
                  <a:pt x="47384" y="0"/>
                  <a:pt x="0" y="47384"/>
                  <a:pt x="0" y="105829"/>
                </a:cubicBezTo>
                <a:cubicBezTo>
                  <a:pt x="0" y="164287"/>
                  <a:pt x="47384" y="211671"/>
                  <a:pt x="105829" y="211671"/>
                </a:cubicBezTo>
                <a:cubicBezTo>
                  <a:pt x="164287" y="211671"/>
                  <a:pt x="211671" y="164287"/>
                  <a:pt x="211671" y="105829"/>
                </a:cubicBezTo>
              </a:path>
            </a:pathLst>
          </a:custGeom>
          <a:ln w="21209">
            <a:solidFill>
              <a:srgbClr val="D59B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6791" y="4669409"/>
            <a:ext cx="0" cy="52832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2709" y="4669409"/>
            <a:ext cx="0" cy="52832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6791" y="4722241"/>
            <a:ext cx="105918" cy="0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0126" y="4761992"/>
            <a:ext cx="79375" cy="0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9750" y="4576699"/>
            <a:ext cx="0" cy="13233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0126" y="4537075"/>
            <a:ext cx="39624" cy="3962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9750" y="4537075"/>
            <a:ext cx="39751" cy="3962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86119" y="4635500"/>
            <a:ext cx="892937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7500" y="7988300"/>
            <a:ext cx="6925056" cy="622300"/>
          </a:xfrm>
          <a:prstGeom prst="roundRect">
            <a:avLst>
              <a:gd name="adj" fmla="val 16327"/>
            </a:avLst>
          </a:prstGeom>
          <a:solidFill>
            <a:srgbClr val="F0F5EF"/>
          </a:solidFill>
          <a:ln/>
        </p:spPr>
      </p:sp>
      <p:sp>
        <p:nvSpPr>
          <p:cNvPr id="15" name="Shape 13"/>
          <p:cNvSpPr/>
          <p:nvPr/>
        </p:nvSpPr>
        <p:spPr>
          <a:xfrm>
            <a:off x="494284" y="8165084"/>
            <a:ext cx="256159" cy="244475"/>
          </a:xfrm>
          <a:custGeom>
            <a:avLst/>
            <a:gdLst/>
            <a:ahLst/>
            <a:cxnLst/>
            <a:rect l="l" t="t" r="r" b="b"/>
            <a:pathLst>
              <a:path w="256159" h="244475">
                <a:moveTo>
                  <a:pt x="128054" y="244475"/>
                </a:moveTo>
                <a:lnTo>
                  <a:pt x="128054" y="34925"/>
                </a:lnTo>
                <a:cubicBezTo>
                  <a:pt x="81496" y="0"/>
                  <a:pt x="34925" y="0"/>
                  <a:pt x="0" y="23279"/>
                </a:cubicBezTo>
                <a:lnTo>
                  <a:pt x="0" y="232829"/>
                </a:lnTo>
                <a:cubicBezTo>
                  <a:pt x="34925" y="209550"/>
                  <a:pt x="81496" y="209550"/>
                  <a:pt x="128054" y="244475"/>
                </a:cubicBezTo>
                <a:cubicBezTo>
                  <a:pt x="174625" y="209550"/>
                  <a:pt x="221196" y="209550"/>
                  <a:pt x="256121" y="232829"/>
                </a:cubicBezTo>
                <a:lnTo>
                  <a:pt x="256121" y="23279"/>
                </a:lnTo>
                <a:cubicBezTo>
                  <a:pt x="221196" y="0"/>
                  <a:pt x="174625" y="0"/>
                  <a:pt x="128054" y="34925"/>
                </a:cubicBezTo>
              </a:path>
            </a:pathLst>
          </a:custGeom>
          <a:ln w="18669">
            <a:solidFill>
              <a:srgbClr val="D59B3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66009" y="8165084"/>
            <a:ext cx="186309" cy="186309"/>
          </a:xfrm>
          <a:custGeom>
            <a:avLst/>
            <a:gdLst/>
            <a:ahLst/>
            <a:cxnLst/>
            <a:rect l="l" t="t" r="r" b="b"/>
            <a:pathLst>
              <a:path w="186309" h="186309">
                <a:moveTo>
                  <a:pt x="186271" y="93129"/>
                </a:moveTo>
                <a:cubicBezTo>
                  <a:pt x="186271" y="41694"/>
                  <a:pt x="144564" y="0"/>
                  <a:pt x="93129" y="0"/>
                </a:cubicBezTo>
                <a:cubicBezTo>
                  <a:pt x="41694" y="0"/>
                  <a:pt x="0" y="41694"/>
                  <a:pt x="0" y="93129"/>
                </a:cubicBezTo>
                <a:cubicBezTo>
                  <a:pt x="0" y="144564"/>
                  <a:pt x="41694" y="186271"/>
                  <a:pt x="93129" y="186271"/>
                </a:cubicBezTo>
                <a:cubicBezTo>
                  <a:pt x="144564" y="186271"/>
                  <a:pt x="186271" y="144564"/>
                  <a:pt x="186271" y="93129"/>
                </a:cubicBezTo>
              </a:path>
            </a:pathLst>
          </a:custGeom>
          <a:ln w="18669">
            <a:solidFill>
              <a:srgbClr val="D59B3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12491" y="8339709"/>
            <a:ext cx="0" cy="46482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05709" y="8339709"/>
            <a:ext cx="0" cy="46482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12491" y="8386191"/>
            <a:ext cx="93218" cy="0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24175" y="8421116"/>
            <a:ext cx="69850" cy="0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59100" y="8258175"/>
            <a:ext cx="0" cy="116459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24175" y="8223250"/>
            <a:ext cx="34925" cy="34925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59100" y="8223250"/>
            <a:ext cx="34925" cy="34925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91125" y="8176641"/>
            <a:ext cx="232791" cy="232791"/>
          </a:xfrm>
          <a:custGeom>
            <a:avLst/>
            <a:gdLst/>
            <a:ahLst/>
            <a:cxnLst/>
            <a:rect l="l" t="t" r="r" b="b"/>
            <a:pathLst>
              <a:path w="232791" h="232791">
                <a:moveTo>
                  <a:pt x="0" y="232829"/>
                </a:moveTo>
                <a:lnTo>
                  <a:pt x="23279" y="151346"/>
                </a:lnTo>
                <a:lnTo>
                  <a:pt x="174625" y="0"/>
                </a:lnTo>
                <a:lnTo>
                  <a:pt x="232829" y="58204"/>
                </a:lnTo>
                <a:lnTo>
                  <a:pt x="81496" y="209550"/>
                </a:lnTo>
                <a:lnTo>
                  <a:pt x="0" y="232829"/>
                </a:lnTo>
              </a:path>
            </a:pathLst>
          </a:custGeom>
          <a:ln w="18669">
            <a:solidFill>
              <a:srgbClr val="D59B3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14366" y="8328025"/>
            <a:ext cx="58293" cy="58166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30825" y="8211566"/>
            <a:ext cx="58166" cy="58293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7500" y="8826500"/>
            <a:ext cx="6925056" cy="825500"/>
          </a:xfrm>
          <a:prstGeom prst="roundRect">
            <a:avLst>
              <a:gd name="adj" fmla="val 12308"/>
            </a:avLst>
          </a:prstGeom>
          <a:solidFill>
            <a:srgbClr val="F0F5EF"/>
          </a:solidFill>
          <a:ln/>
        </p:spPr>
      </p:sp>
      <p:sp>
        <p:nvSpPr>
          <p:cNvPr id="28" name="Shape 26"/>
          <p:cNvSpPr/>
          <p:nvPr/>
        </p:nvSpPr>
        <p:spPr>
          <a:xfrm>
            <a:off x="381000" y="10414000"/>
            <a:ext cx="2755900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94200" y="10414000"/>
            <a:ext cx="2784856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pic>
        <p:nvPicPr>
          <p:cNvPr id="30" name="Image 0" descr="부기 책을 함께 읽는 두 아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0" y="1003300"/>
            <a:ext cx="1841500" cy="1264920"/>
          </a:xfrm>
          <a:prstGeom prst="rect">
            <a:avLst/>
          </a:prstGeom>
        </p:spPr>
      </p:pic>
      <p:sp>
        <p:nvSpPr>
          <p:cNvPr id="31" name="txt-3-0"/>
          <p:cNvSpPr txBox="1"/>
          <p:nvPr/>
        </p:nvSpPr>
        <p:spPr>
          <a:xfrm>
            <a:off x="381000" y="296926"/>
            <a:ext cx="2851912" cy="364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ko-KR" altLang="en-US" sz="17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독서가 만드는 이해의 바탕</a:t>
            </a:r>
            <a:endParaRPr lang="en-US" sz="1700" dirty="0"/>
          </a:p>
        </p:txBody>
      </p:sp>
      <p:sp>
        <p:nvSpPr>
          <p:cNvPr id="32" name="txt-3-1"/>
          <p:cNvSpPr txBox="1"/>
          <p:nvPr/>
        </p:nvSpPr>
        <p:spPr>
          <a:xfrm>
            <a:off x="381000" y="730758"/>
            <a:ext cx="5077333" cy="151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ko-KR" altLang="en-US" sz="37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아는 것이 쌓여야,</a:t>
            </a:r>
            <a:endParaRPr lang="en-US" sz="3700" dirty="0"/>
          </a:p>
          <a:p>
            <a:pPr algn="l" indent="0" marL="0">
              <a:lnSpc>
                <a:spcPts val="5200"/>
              </a:lnSpc>
              <a:buNone/>
            </a:pPr>
            <a:r>
              <a:rPr lang="ko-KR" altLang="en-US" sz="37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새 지식이 연결됩니다.</a:t>
            </a:r>
            <a:endParaRPr lang="en-US" sz="3700" dirty="0"/>
          </a:p>
        </p:txBody>
      </p:sp>
      <p:sp>
        <p:nvSpPr>
          <p:cNvPr id="33" name="txt-3-2"/>
          <p:cNvSpPr txBox="1"/>
          <p:nvPr/>
        </p:nvSpPr>
        <p:spPr>
          <a:xfrm>
            <a:off x="863346" y="2540000"/>
            <a:ext cx="5355717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ko-KR" altLang="en-US" sz="20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어휘와 간접 경험이 이해의 바탕을 넓힙니다</a:t>
            </a:r>
            <a:endParaRPr lang="en-US" sz="2000" dirty="0"/>
          </a:p>
        </p:txBody>
      </p:sp>
      <p:sp>
        <p:nvSpPr>
          <p:cNvPr id="34" name="txt-3-3"/>
          <p:cNvSpPr txBox="1"/>
          <p:nvPr/>
        </p:nvSpPr>
        <p:spPr>
          <a:xfrm>
            <a:off x="381000" y="3040253"/>
            <a:ext cx="7140956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이야기에서는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다른 삶과 선택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을, 설명하는 글에서는 세상의 원리를,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에세이에서는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다른 사람의 생각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을 만납니다. 문맥 속에서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낱말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을 익히고,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다른 생각을 따라 읽으며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자기 경험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과 비교합니다.</a:t>
            </a:r>
            <a:endParaRPr lang="en-US" sz="1800" dirty="0"/>
          </a:p>
        </p:txBody>
      </p:sp>
      <p:sp>
        <p:nvSpPr>
          <p:cNvPr id="35" name="txt-3-4"/>
          <p:cNvSpPr txBox="1"/>
          <p:nvPr/>
        </p:nvSpPr>
        <p:spPr>
          <a:xfrm>
            <a:off x="863346" y="4417314"/>
            <a:ext cx="5977382" cy="424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74"/>
              </a:lnSpc>
              <a:buNone/>
            </a:pPr>
            <a:r>
              <a:rPr lang="ko-KR" altLang="en-US" sz="198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스키마는 경험과 지식이 조직된 ‘이해의 틀’입니다</a:t>
            </a:r>
            <a:endParaRPr lang="en-US" sz="1980" dirty="0"/>
          </a:p>
        </p:txBody>
      </p:sp>
      <p:sp>
        <p:nvSpPr>
          <p:cNvPr id="36" name="txt-3-5"/>
          <p:cNvSpPr txBox="1"/>
          <p:nvPr/>
        </p:nvSpPr>
        <p:spPr>
          <a:xfrm>
            <a:off x="381000" y="4932426"/>
            <a:ext cx="7140956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새로운 내용은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이미 알고 있는 개념과 경험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에 연결될 때 더 잘 이해할 수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있습니다.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관련 어휘와 배경지식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이 부족하면 글자를 읽어도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맥락과 의미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를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연결하기 어렵습니다.</a:t>
            </a:r>
            <a:endParaRPr lang="en-US" sz="1800" dirty="0"/>
          </a:p>
        </p:txBody>
      </p:sp>
      <p:sp>
        <p:nvSpPr>
          <p:cNvPr id="37" name="txt-3-6"/>
          <p:cNvSpPr txBox="1"/>
          <p:nvPr/>
        </p:nvSpPr>
        <p:spPr>
          <a:xfrm>
            <a:off x="381000" y="6113526"/>
            <a:ext cx="7140956" cy="759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그래서 읽기 전 필요한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배경을 짚고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, 읽으며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어휘를 익히고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, 새 내용으로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기존 생각을 넓히거나 고치는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 과정이 필요합니다.</a:t>
            </a:r>
            <a:endParaRPr lang="en-US" sz="1800" dirty="0"/>
          </a:p>
        </p:txBody>
      </p:sp>
      <p:sp>
        <p:nvSpPr>
          <p:cNvPr id="38" name="txt-3-7"/>
          <p:cNvSpPr txBox="1"/>
          <p:nvPr/>
        </p:nvSpPr>
        <p:spPr>
          <a:xfrm>
            <a:off x="863346" y="8180705"/>
            <a:ext cx="1171321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4"/>
              </a:lnSpc>
              <a:buNone/>
            </a:pPr>
            <a:r>
              <a:rPr lang="ko-KR" altLang="en-US" sz="1080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어휘 · 간접 경험</a:t>
            </a:r>
            <a:endParaRPr lang="en-US" sz="1080" dirty="0"/>
          </a:p>
        </p:txBody>
      </p:sp>
      <p:sp>
        <p:nvSpPr>
          <p:cNvPr id="39" name="txt-3-8"/>
          <p:cNvSpPr txBox="1"/>
          <p:nvPr/>
        </p:nvSpPr>
        <p:spPr>
          <a:xfrm>
            <a:off x="3199765" y="8180705"/>
            <a:ext cx="1276223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4"/>
              </a:lnSpc>
              <a:buNone/>
            </a:pPr>
            <a:r>
              <a:rPr lang="ko-KR" altLang="en-US" sz="1080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배경지식 · 스키마</a:t>
            </a:r>
            <a:endParaRPr lang="en-US" sz="1080" dirty="0"/>
          </a:p>
        </p:txBody>
      </p:sp>
      <p:sp>
        <p:nvSpPr>
          <p:cNvPr id="40" name="txt-3-9"/>
          <p:cNvSpPr txBox="1"/>
          <p:nvPr/>
        </p:nvSpPr>
        <p:spPr>
          <a:xfrm>
            <a:off x="5536184" y="8180705"/>
            <a:ext cx="1289685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4"/>
              </a:lnSpc>
              <a:buNone/>
            </a:pPr>
            <a:r>
              <a:rPr lang="ko-KR" altLang="en-US" sz="1080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이해 · 추론 · 연결</a:t>
            </a:r>
            <a:endParaRPr lang="en-US" sz="1080" dirty="0"/>
          </a:p>
        </p:txBody>
      </p:sp>
      <p:sp>
        <p:nvSpPr>
          <p:cNvPr id="41" name="txt-3-10"/>
          <p:cNvSpPr txBox="1"/>
          <p:nvPr/>
        </p:nvSpPr>
        <p:spPr>
          <a:xfrm>
            <a:off x="2513965" y="8141970"/>
            <a:ext cx="361950" cy="321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ko-KR" altLang="en-US" sz="1500" dirty="0">
                <a:solidFill>
                  <a:srgbClr val="D59B3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→</a:t>
            </a:r>
            <a:endParaRPr lang="en-US" sz="1500" dirty="0"/>
          </a:p>
        </p:txBody>
      </p:sp>
      <p:sp>
        <p:nvSpPr>
          <p:cNvPr id="42" name="txt-3-11"/>
          <p:cNvSpPr txBox="1"/>
          <p:nvPr/>
        </p:nvSpPr>
        <p:spPr>
          <a:xfrm>
            <a:off x="4850384" y="8141970"/>
            <a:ext cx="361950" cy="321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ko-KR" altLang="en-US" sz="1500" dirty="0">
                <a:solidFill>
                  <a:srgbClr val="D59B3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→</a:t>
            </a:r>
            <a:endParaRPr lang="en-US" sz="1500" dirty="0"/>
          </a:p>
        </p:txBody>
      </p:sp>
      <p:sp>
        <p:nvSpPr>
          <p:cNvPr id="43" name="txt-3-12"/>
          <p:cNvSpPr txBox="1"/>
          <p:nvPr/>
        </p:nvSpPr>
        <p:spPr>
          <a:xfrm>
            <a:off x="1554099" y="8881237"/>
            <a:ext cx="4449699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읽고 받아들이는 경험이 쌓여,</a:t>
            </a:r>
            <a:endParaRPr lang="en-US" sz="1800" dirty="0"/>
          </a:p>
          <a:p>
            <a:pPr algn="ctr" indent="0" marL="0">
              <a:lnSpc>
                <a:spcPts val="2520"/>
              </a:lnSpc>
              <a:buNone/>
            </a:pPr>
            <a:r>
              <a:rPr lang="ko-KR" altLang="en-US" sz="18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세상을 이해하는 생각의 바탕이 됩니다.</a:t>
            </a:r>
            <a:endParaRPr lang="en-US" sz="1800" dirty="0"/>
          </a:p>
        </p:txBody>
      </p:sp>
      <p:sp>
        <p:nvSpPr>
          <p:cNvPr id="44" name="txt-3-13"/>
          <p:cNvSpPr txBox="1"/>
          <p:nvPr/>
        </p:nvSpPr>
        <p:spPr>
          <a:xfrm>
            <a:off x="393573" y="9801606"/>
            <a:ext cx="3943985" cy="496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ko-KR" altLang="en-US" sz="980" dirty="0">
                <a:solidFill>
                  <a:srgbClr val="43516A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배경지식의 영향은 지식의 정확성 · 글의 특성 등에 따라 달라집니다.</a:t>
            </a:r>
            <a:endParaRPr lang="en-US" sz="980" dirty="0"/>
          </a:p>
          <a:p>
            <a:pPr algn="l" indent="0" marL="0">
              <a:lnSpc>
                <a:spcPts val="1700"/>
              </a:lnSpc>
              <a:buNone/>
            </a:pPr>
            <a:r>
              <a:rPr lang="ko-KR" altLang="en-US" sz="980" dirty="0">
                <a:solidFill>
                  <a:srgbClr val="43516A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출처: Smith et al. (2021) · Hattan et al. (2024)</a:t>
            </a:r>
            <a:endParaRPr lang="en-US" sz="980" dirty="0"/>
          </a:p>
        </p:txBody>
      </p:sp>
      <p:sp>
        <p:nvSpPr>
          <p:cNvPr id="45" name="txt-3-14"/>
          <p:cNvSpPr txBox="1"/>
          <p:nvPr/>
        </p:nvSpPr>
        <p:spPr>
          <a:xfrm>
            <a:off x="3504565" y="10362692"/>
            <a:ext cx="424815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2 / 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75151" y="495300"/>
            <a:ext cx="3303905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7416" y="2578100"/>
            <a:ext cx="277876" cy="304292"/>
          </a:xfrm>
          <a:custGeom>
            <a:avLst/>
            <a:gdLst/>
            <a:ahLst/>
            <a:cxnLst/>
            <a:rect l="l" t="t" r="r" b="b"/>
            <a:pathLst>
              <a:path w="277876" h="304292">
                <a:moveTo>
                  <a:pt x="132296" y="304267"/>
                </a:moveTo>
                <a:lnTo>
                  <a:pt x="132296" y="145517"/>
                </a:lnTo>
                <a:cubicBezTo>
                  <a:pt x="66142" y="171983"/>
                  <a:pt x="0" y="145517"/>
                  <a:pt x="0" y="39688"/>
                </a:cubicBezTo>
                <a:cubicBezTo>
                  <a:pt x="105829" y="26454"/>
                  <a:pt x="132296" y="79375"/>
                  <a:pt x="132296" y="145517"/>
                </a:cubicBezTo>
                <a:cubicBezTo>
                  <a:pt x="132296" y="39688"/>
                  <a:pt x="211671" y="0"/>
                  <a:pt x="277813" y="13233"/>
                </a:cubicBezTo>
                <a:cubicBezTo>
                  <a:pt x="277813" y="105829"/>
                  <a:pt x="211671" y="158750"/>
                  <a:pt x="132296" y="145517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4" name="Shape 2"/>
          <p:cNvSpPr/>
          <p:nvPr/>
        </p:nvSpPr>
        <p:spPr>
          <a:xfrm>
            <a:off x="6081014" y="2755900"/>
            <a:ext cx="1098042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3959" y="4343908"/>
            <a:ext cx="211709" cy="211709"/>
          </a:xfrm>
          <a:custGeom>
            <a:avLst/>
            <a:gdLst/>
            <a:ahLst/>
            <a:cxnLst/>
            <a:rect l="l" t="t" r="r" b="b"/>
            <a:pathLst>
              <a:path w="211709" h="211709">
                <a:moveTo>
                  <a:pt x="211671" y="105829"/>
                </a:moveTo>
                <a:cubicBezTo>
                  <a:pt x="211671" y="47384"/>
                  <a:pt x="164287" y="0"/>
                  <a:pt x="105829" y="0"/>
                </a:cubicBezTo>
                <a:cubicBezTo>
                  <a:pt x="47384" y="0"/>
                  <a:pt x="0" y="47384"/>
                  <a:pt x="0" y="105829"/>
                </a:cubicBezTo>
                <a:cubicBezTo>
                  <a:pt x="0" y="164287"/>
                  <a:pt x="47384" y="211671"/>
                  <a:pt x="105829" y="211671"/>
                </a:cubicBezTo>
                <a:cubicBezTo>
                  <a:pt x="164287" y="211671"/>
                  <a:pt x="211671" y="164287"/>
                  <a:pt x="211671" y="105829"/>
                </a:cubicBezTo>
              </a:path>
            </a:pathLst>
          </a:custGeom>
          <a:ln w="21209">
            <a:solidFill>
              <a:srgbClr val="D59B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6791" y="4542409"/>
            <a:ext cx="0" cy="52832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2709" y="4542409"/>
            <a:ext cx="0" cy="52832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6791" y="4595241"/>
            <a:ext cx="105918" cy="0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0126" y="4634992"/>
            <a:ext cx="79375" cy="0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9750" y="4449699"/>
            <a:ext cx="0" cy="13233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0126" y="4410075"/>
            <a:ext cx="39624" cy="3962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9750" y="4410075"/>
            <a:ext cx="39751" cy="3962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86120" y="4508500"/>
            <a:ext cx="1392936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4208" y="7086092"/>
            <a:ext cx="291084" cy="304292"/>
          </a:xfrm>
          <a:custGeom>
            <a:avLst/>
            <a:gdLst/>
            <a:ahLst/>
            <a:cxnLst/>
            <a:rect l="l" t="t" r="r" b="b"/>
            <a:pathLst>
              <a:path w="291084" h="304292">
                <a:moveTo>
                  <a:pt x="145517" y="304267"/>
                </a:moveTo>
                <a:cubicBezTo>
                  <a:pt x="105829" y="251358"/>
                  <a:pt x="0" y="198438"/>
                  <a:pt x="0" y="105829"/>
                </a:cubicBezTo>
                <a:cubicBezTo>
                  <a:pt x="0" y="0"/>
                  <a:pt x="119063" y="0"/>
                  <a:pt x="145517" y="79375"/>
                </a:cubicBezTo>
                <a:cubicBezTo>
                  <a:pt x="171983" y="0"/>
                  <a:pt x="291046" y="0"/>
                  <a:pt x="291046" y="105829"/>
                </a:cubicBezTo>
                <a:cubicBezTo>
                  <a:pt x="291046" y="198438"/>
                  <a:pt x="185204" y="251358"/>
                  <a:pt x="145517" y="304267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15" name="Shape 13"/>
          <p:cNvSpPr/>
          <p:nvPr/>
        </p:nvSpPr>
        <p:spPr>
          <a:xfrm>
            <a:off x="6476365" y="7277100"/>
            <a:ext cx="702691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7500" y="8877300"/>
            <a:ext cx="6925056" cy="927100"/>
          </a:xfrm>
          <a:prstGeom prst="roundRect">
            <a:avLst>
              <a:gd name="adj" fmla="val 10959"/>
            </a:avLst>
          </a:prstGeom>
          <a:solidFill>
            <a:srgbClr val="F0F5EF"/>
          </a:solidFill>
          <a:ln/>
        </p:spPr>
      </p:sp>
      <p:sp>
        <p:nvSpPr>
          <p:cNvPr id="17" name="Shape 15"/>
          <p:cNvSpPr/>
          <p:nvPr/>
        </p:nvSpPr>
        <p:spPr>
          <a:xfrm>
            <a:off x="495300" y="89662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77800" y="88900"/>
                </a:moveTo>
                <a:cubicBezTo>
                  <a:pt x="177800" y="39802"/>
                  <a:pt x="137998" y="0"/>
                  <a:pt x="88900" y="0"/>
                </a:cubicBezTo>
                <a:cubicBezTo>
                  <a:pt x="39802" y="0"/>
                  <a:pt x="0" y="39802"/>
                  <a:pt x="0" y="88900"/>
                </a:cubicBezTo>
                <a:cubicBezTo>
                  <a:pt x="0" y="137998"/>
                  <a:pt x="39802" y="177800"/>
                  <a:pt x="88900" y="177800"/>
                </a:cubicBezTo>
                <a:cubicBezTo>
                  <a:pt x="137998" y="177800"/>
                  <a:pt x="177800" y="137998"/>
                  <a:pt x="177800" y="8890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18" name="Shape 16"/>
          <p:cNvSpPr/>
          <p:nvPr/>
        </p:nvSpPr>
        <p:spPr>
          <a:xfrm>
            <a:off x="495300" y="92329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77800" y="88900"/>
                </a:moveTo>
                <a:cubicBezTo>
                  <a:pt x="177800" y="39802"/>
                  <a:pt x="137998" y="0"/>
                  <a:pt x="88900" y="0"/>
                </a:cubicBezTo>
                <a:cubicBezTo>
                  <a:pt x="39802" y="0"/>
                  <a:pt x="0" y="39802"/>
                  <a:pt x="0" y="88900"/>
                </a:cubicBezTo>
                <a:cubicBezTo>
                  <a:pt x="0" y="137998"/>
                  <a:pt x="39802" y="177800"/>
                  <a:pt x="88900" y="177800"/>
                </a:cubicBezTo>
                <a:cubicBezTo>
                  <a:pt x="137998" y="177800"/>
                  <a:pt x="177800" y="137998"/>
                  <a:pt x="177800" y="8890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19" name="Shape 17"/>
          <p:cNvSpPr/>
          <p:nvPr/>
        </p:nvSpPr>
        <p:spPr>
          <a:xfrm>
            <a:off x="495300" y="94996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77800" y="88900"/>
                </a:moveTo>
                <a:cubicBezTo>
                  <a:pt x="177800" y="39802"/>
                  <a:pt x="137998" y="0"/>
                  <a:pt x="88900" y="0"/>
                </a:cubicBezTo>
                <a:cubicBezTo>
                  <a:pt x="39802" y="0"/>
                  <a:pt x="0" y="39802"/>
                  <a:pt x="0" y="88900"/>
                </a:cubicBezTo>
                <a:cubicBezTo>
                  <a:pt x="0" y="137998"/>
                  <a:pt x="39802" y="177800"/>
                  <a:pt x="88900" y="177800"/>
                </a:cubicBezTo>
                <a:cubicBezTo>
                  <a:pt x="137998" y="177800"/>
                  <a:pt x="177800" y="137998"/>
                  <a:pt x="177800" y="8890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20" name="Shape 18"/>
          <p:cNvSpPr/>
          <p:nvPr/>
        </p:nvSpPr>
        <p:spPr>
          <a:xfrm>
            <a:off x="381000" y="10414000"/>
            <a:ext cx="2755900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94200" y="10414000"/>
            <a:ext cx="2784856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pic>
        <p:nvPicPr>
          <p:cNvPr id="22" name="Image 0" descr="부기 책을 함께 읽는 두 아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0" y="1003300"/>
            <a:ext cx="1841500" cy="1264920"/>
          </a:xfrm>
          <a:prstGeom prst="rect">
            <a:avLst/>
          </a:prstGeom>
        </p:spPr>
      </p:pic>
      <p:sp>
        <p:nvSpPr>
          <p:cNvPr id="23" name="txt-4-0"/>
          <p:cNvSpPr txBox="1"/>
          <p:nvPr/>
        </p:nvSpPr>
        <p:spPr>
          <a:xfrm>
            <a:off x="381000" y="296926"/>
            <a:ext cx="3828288" cy="364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ko-KR" altLang="en-US" sz="17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단편적인 정보에서 깊이 있는 이해로</a:t>
            </a:r>
            <a:endParaRPr lang="en-US" sz="1700" dirty="0"/>
          </a:p>
        </p:txBody>
      </p:sp>
      <p:sp>
        <p:nvSpPr>
          <p:cNvPr id="24" name="txt-4-1"/>
          <p:cNvSpPr txBox="1"/>
          <p:nvPr/>
        </p:nvSpPr>
        <p:spPr>
          <a:xfrm>
            <a:off x="381000" y="768858"/>
            <a:ext cx="5289804" cy="794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10"/>
              </a:lnSpc>
              <a:buNone/>
            </a:pPr>
            <a:r>
              <a:rPr lang="ko-KR" altLang="en-US" sz="37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‘본 적 있다’는 익숙함이</a:t>
            </a:r>
            <a:endParaRPr lang="en-US" sz="3700" dirty="0"/>
          </a:p>
        </p:txBody>
      </p:sp>
      <p:sp>
        <p:nvSpPr>
          <p:cNvPr id="25" name="txt-4-2"/>
          <p:cNvSpPr txBox="1"/>
          <p:nvPr/>
        </p:nvSpPr>
        <p:spPr>
          <a:xfrm>
            <a:off x="381000" y="1429512"/>
            <a:ext cx="5586730" cy="759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98"/>
              </a:lnSpc>
              <a:buNone/>
            </a:pPr>
            <a:r>
              <a:rPr lang="ko-KR" altLang="en-US" sz="3537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‘안다’는 이해는 아닙니다.</a:t>
            </a:r>
            <a:endParaRPr lang="en-US" sz="3537" dirty="0"/>
          </a:p>
        </p:txBody>
      </p:sp>
      <p:sp>
        <p:nvSpPr>
          <p:cNvPr id="26" name="txt-4-3"/>
          <p:cNvSpPr txBox="1"/>
          <p:nvPr/>
        </p:nvSpPr>
        <p:spPr>
          <a:xfrm>
            <a:off x="863346" y="2545207"/>
            <a:ext cx="5751830" cy="418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ko-KR" altLang="en-US" sz="195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단편적인 정보가 생각의 전부가 될까 걱정됩니다</a:t>
            </a:r>
            <a:endParaRPr lang="en-US" sz="1950" dirty="0"/>
          </a:p>
        </p:txBody>
      </p:sp>
      <p:sp>
        <p:nvSpPr>
          <p:cNvPr id="27" name="txt-4-4"/>
          <p:cNvSpPr txBox="1"/>
          <p:nvPr/>
        </p:nvSpPr>
        <p:spPr>
          <a:xfrm>
            <a:off x="381000" y="3040253"/>
            <a:ext cx="7140956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SNS와 짧은 영상은 정보를 빠르게 접하게 합니다. 그러나 이런 접촉만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이어지면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원인과 맥락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,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다른 관점과 반대 근거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를 따져 볼 시간은 부족해질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수 있습니다.</a:t>
            </a:r>
            <a:endParaRPr lang="en-US" sz="1800" dirty="0"/>
          </a:p>
        </p:txBody>
      </p:sp>
      <p:sp>
        <p:nvSpPr>
          <p:cNvPr id="28" name="txt-4-5"/>
          <p:cNvSpPr txBox="1"/>
          <p:nvPr/>
        </p:nvSpPr>
        <p:spPr>
          <a:xfrm>
            <a:off x="863346" y="4292346"/>
            <a:ext cx="542747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ko-KR" altLang="en-US" sz="20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‘안다는 착각’을 넘어서는 연습이 필요합니다</a:t>
            </a:r>
            <a:endParaRPr lang="en-US" sz="2000" dirty="0"/>
          </a:p>
        </p:txBody>
      </p:sp>
      <p:sp>
        <p:nvSpPr>
          <p:cNvPr id="29" name="txt-4-6"/>
          <p:cNvSpPr txBox="1"/>
          <p:nvPr/>
        </p:nvSpPr>
        <p:spPr>
          <a:xfrm>
            <a:off x="381000" y="4780026"/>
            <a:ext cx="7140956" cy="759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인터넷 검색 실험에서는 찾은 정보를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자신의 지식으로 혼동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하고, 아는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정도를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과대평가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하는 현상이 관찰됐습니다.</a:t>
            </a:r>
            <a:endParaRPr lang="en-US" sz="1800" dirty="0"/>
          </a:p>
        </p:txBody>
      </p:sp>
      <p:sp>
        <p:nvSpPr>
          <p:cNvPr id="30" name="txt-4-7"/>
          <p:cNvSpPr txBox="1"/>
          <p:nvPr/>
        </p:nvSpPr>
        <p:spPr>
          <a:xfrm>
            <a:off x="381000" y="5567426"/>
            <a:ext cx="7140956" cy="759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학생이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자기 말로 설명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하고,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책에서 근거를 찾고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,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다른 상황에 적용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해 보는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활동이 필요합니다.</a:t>
            </a:r>
            <a:endParaRPr lang="en-US" sz="1800" dirty="0"/>
          </a:p>
        </p:txBody>
      </p:sp>
      <p:sp>
        <p:nvSpPr>
          <p:cNvPr id="31" name="txt-4-8"/>
          <p:cNvSpPr txBox="1"/>
          <p:nvPr/>
        </p:nvSpPr>
        <p:spPr>
          <a:xfrm>
            <a:off x="863346" y="7060057"/>
            <a:ext cx="6186678" cy="407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0"/>
              </a:lnSpc>
              <a:buNone/>
            </a:pPr>
            <a:r>
              <a:rPr lang="ko-KR" altLang="en-US" sz="19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디지털 교육의 중심에도 학생의 사고가 있어야 합니다</a:t>
            </a:r>
            <a:endParaRPr lang="en-US" sz="1900" dirty="0"/>
          </a:p>
        </p:txBody>
      </p:sp>
      <p:sp>
        <p:nvSpPr>
          <p:cNvPr id="32" name="txt-4-9"/>
          <p:cNvSpPr txBox="1"/>
          <p:nvPr/>
        </p:nvSpPr>
        <p:spPr>
          <a:xfrm>
            <a:off x="381000" y="7565136"/>
            <a:ext cx="7140956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ko-KR" altLang="en-US" sz="17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AI가 빠르게 답을 제시해도, 그 </a:t>
            </a:r>
            <a:pPr algn="l" indent="0" marL="0">
              <a:lnSpc>
                <a:spcPts val="2500"/>
              </a:lnSpc>
              <a:buNone/>
            </a:pPr>
            <a:r>
              <a:rPr lang="ko-KR" altLang="en-US" sz="175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뜻과 근거를 판단하는 힘</a:t>
            </a:r>
            <a:pPr algn="l" indent="0" marL="0">
              <a:lnSpc>
                <a:spcPts val="2500"/>
              </a:lnSpc>
              <a:buNone/>
            </a:pPr>
            <a:r>
              <a:rPr lang="ko-KR" altLang="en-US" sz="17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은 학생 안에 있어야</a:t>
            </a:r>
            <a:endParaRPr lang="en-US" sz="1750" dirty="0"/>
          </a:p>
          <a:p>
            <a:pPr algn="l" indent="0" marL="0">
              <a:lnSpc>
                <a:spcPts val="2500"/>
              </a:lnSpc>
              <a:buNone/>
            </a:pPr>
            <a:r>
              <a:rPr lang="ko-KR" altLang="en-US" sz="17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합니다. 기술은 읽기와 표현을 돕고, 학생에게 </a:t>
            </a:r>
            <a:pPr algn="l" indent="0" marL="0">
              <a:lnSpc>
                <a:spcPts val="2500"/>
              </a:lnSpc>
              <a:buNone/>
            </a:pPr>
            <a:r>
              <a:rPr lang="ko-KR" altLang="en-US" sz="175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충분히 생각할 시간</a:t>
            </a:r>
            <a:pPr algn="l" indent="0" marL="0">
              <a:lnSpc>
                <a:spcPts val="2500"/>
              </a:lnSpc>
              <a:buNone/>
            </a:pPr>
            <a:r>
              <a:rPr lang="ko-KR" altLang="en-US" sz="17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을 주는</a:t>
            </a:r>
            <a:endParaRPr lang="en-US" sz="1750" dirty="0"/>
          </a:p>
          <a:p>
            <a:pPr algn="l" indent="0" marL="0">
              <a:lnSpc>
                <a:spcPts val="2500"/>
              </a:lnSpc>
              <a:buNone/>
            </a:pPr>
            <a:r>
              <a:rPr lang="ko-KR" altLang="en-US" sz="17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방향으로 써야 합니다.</a:t>
            </a:r>
            <a:endParaRPr lang="en-US" sz="1750" dirty="0"/>
          </a:p>
        </p:txBody>
      </p:sp>
      <p:sp>
        <p:nvSpPr>
          <p:cNvPr id="33" name="txt-4-10"/>
          <p:cNvSpPr txBox="1"/>
          <p:nvPr/>
        </p:nvSpPr>
        <p:spPr>
          <a:xfrm>
            <a:off x="545973" y="8965946"/>
            <a:ext cx="224155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?</a:t>
            </a:r>
            <a:endParaRPr lang="en-US" sz="1000" dirty="0"/>
          </a:p>
        </p:txBody>
      </p:sp>
      <p:sp>
        <p:nvSpPr>
          <p:cNvPr id="34" name="txt-4-11"/>
          <p:cNvSpPr txBox="1"/>
          <p:nvPr/>
        </p:nvSpPr>
        <p:spPr>
          <a:xfrm>
            <a:off x="812673" y="8910447"/>
            <a:ext cx="2582672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ko-KR" altLang="en-US" sz="130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내 말로 설명할 수 있는가?</a:t>
            </a:r>
            <a:endParaRPr lang="en-US" sz="1300" dirty="0"/>
          </a:p>
          <a:p>
            <a:pPr algn="l" indent="0" marL="0">
              <a:lnSpc>
                <a:spcPts val="2100"/>
              </a:lnSpc>
              <a:buNone/>
            </a:pPr>
            <a:r>
              <a:rPr lang="ko-KR" altLang="en-US" sz="130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그렇게 생각한 근거는 무엇인가?</a:t>
            </a:r>
            <a:endParaRPr lang="en-US" sz="1300" dirty="0"/>
          </a:p>
          <a:p>
            <a:pPr algn="l" indent="0" marL="0">
              <a:lnSpc>
                <a:spcPts val="2100"/>
              </a:lnSpc>
              <a:buNone/>
            </a:pPr>
            <a:r>
              <a:rPr lang="ko-KR" altLang="en-US" sz="130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다른 상황에도 적용할 수 있는가?</a:t>
            </a:r>
            <a:endParaRPr lang="en-US" sz="1300" dirty="0"/>
          </a:p>
        </p:txBody>
      </p:sp>
      <p:sp>
        <p:nvSpPr>
          <p:cNvPr id="35" name="txt-4-12"/>
          <p:cNvSpPr txBox="1"/>
          <p:nvPr/>
        </p:nvSpPr>
        <p:spPr>
          <a:xfrm>
            <a:off x="545973" y="9232646"/>
            <a:ext cx="224155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?</a:t>
            </a:r>
            <a:endParaRPr lang="en-US" sz="1000" dirty="0"/>
          </a:p>
        </p:txBody>
      </p:sp>
      <p:sp>
        <p:nvSpPr>
          <p:cNvPr id="36" name="txt-4-13"/>
          <p:cNvSpPr txBox="1"/>
          <p:nvPr/>
        </p:nvSpPr>
        <p:spPr>
          <a:xfrm>
            <a:off x="545973" y="9499346"/>
            <a:ext cx="224155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?</a:t>
            </a:r>
            <a:endParaRPr lang="en-US" sz="1000" dirty="0"/>
          </a:p>
        </p:txBody>
      </p:sp>
      <p:sp>
        <p:nvSpPr>
          <p:cNvPr id="37" name="txt-4-14"/>
          <p:cNvSpPr txBox="1"/>
          <p:nvPr/>
        </p:nvSpPr>
        <p:spPr>
          <a:xfrm>
            <a:off x="381000" y="9901301"/>
            <a:ext cx="4458208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ko-KR" altLang="en-US" sz="830" dirty="0">
                <a:solidFill>
                  <a:srgbClr val="43516A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연구는 성인의 인터넷 검색 실험이며, 초등학생의 SNS 효과를 직접 검증한 결과는 아닙니다.</a:t>
            </a:r>
            <a:endParaRPr lang="en-US" sz="830" dirty="0"/>
          </a:p>
          <a:p>
            <a:pPr algn="l" indent="0" marL="0">
              <a:lnSpc>
                <a:spcPts val="1400"/>
              </a:lnSpc>
              <a:buNone/>
            </a:pPr>
            <a:r>
              <a:rPr lang="ko-KR" altLang="en-US" sz="830" dirty="0">
                <a:solidFill>
                  <a:srgbClr val="43516A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출처: Fisher et al. (2015) · Ward (2021)</a:t>
            </a:r>
            <a:endParaRPr lang="en-US" sz="830" dirty="0"/>
          </a:p>
        </p:txBody>
      </p:sp>
      <p:sp>
        <p:nvSpPr>
          <p:cNvPr id="38" name="txt-4-15"/>
          <p:cNvSpPr txBox="1"/>
          <p:nvPr/>
        </p:nvSpPr>
        <p:spPr>
          <a:xfrm>
            <a:off x="3504565" y="10362692"/>
            <a:ext cx="424815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3 /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96082" y="495300"/>
            <a:ext cx="3982974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7416" y="2540000"/>
            <a:ext cx="277876" cy="304292"/>
          </a:xfrm>
          <a:custGeom>
            <a:avLst/>
            <a:gdLst/>
            <a:ahLst/>
            <a:cxnLst/>
            <a:rect l="l" t="t" r="r" b="b"/>
            <a:pathLst>
              <a:path w="277876" h="304292">
                <a:moveTo>
                  <a:pt x="132296" y="304267"/>
                </a:moveTo>
                <a:lnTo>
                  <a:pt x="132296" y="145517"/>
                </a:lnTo>
                <a:cubicBezTo>
                  <a:pt x="66142" y="171983"/>
                  <a:pt x="0" y="145517"/>
                  <a:pt x="0" y="39688"/>
                </a:cubicBezTo>
                <a:cubicBezTo>
                  <a:pt x="105829" y="26454"/>
                  <a:pt x="132296" y="79375"/>
                  <a:pt x="132296" y="145517"/>
                </a:cubicBezTo>
                <a:cubicBezTo>
                  <a:pt x="132296" y="39688"/>
                  <a:pt x="211671" y="0"/>
                  <a:pt x="277813" y="13233"/>
                </a:cubicBezTo>
                <a:cubicBezTo>
                  <a:pt x="277813" y="105829"/>
                  <a:pt x="211671" y="158750"/>
                  <a:pt x="132296" y="145517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4" name="Shape 2"/>
          <p:cNvSpPr/>
          <p:nvPr/>
        </p:nvSpPr>
        <p:spPr>
          <a:xfrm>
            <a:off x="5052695" y="2717800"/>
            <a:ext cx="2126361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3959" y="4470908"/>
            <a:ext cx="211709" cy="211709"/>
          </a:xfrm>
          <a:custGeom>
            <a:avLst/>
            <a:gdLst/>
            <a:ahLst/>
            <a:cxnLst/>
            <a:rect l="l" t="t" r="r" b="b"/>
            <a:pathLst>
              <a:path w="211709" h="211709">
                <a:moveTo>
                  <a:pt x="211671" y="105829"/>
                </a:moveTo>
                <a:cubicBezTo>
                  <a:pt x="211671" y="47384"/>
                  <a:pt x="164287" y="0"/>
                  <a:pt x="105829" y="0"/>
                </a:cubicBezTo>
                <a:cubicBezTo>
                  <a:pt x="47384" y="0"/>
                  <a:pt x="0" y="47384"/>
                  <a:pt x="0" y="105829"/>
                </a:cubicBezTo>
                <a:cubicBezTo>
                  <a:pt x="0" y="164287"/>
                  <a:pt x="47384" y="211671"/>
                  <a:pt x="105829" y="211671"/>
                </a:cubicBezTo>
                <a:cubicBezTo>
                  <a:pt x="164287" y="211671"/>
                  <a:pt x="211671" y="164287"/>
                  <a:pt x="211671" y="105829"/>
                </a:cubicBezTo>
              </a:path>
            </a:pathLst>
          </a:custGeom>
          <a:ln w="21209">
            <a:solidFill>
              <a:srgbClr val="D59B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6791" y="4669409"/>
            <a:ext cx="0" cy="52832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2709" y="4669409"/>
            <a:ext cx="0" cy="52832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6791" y="4722241"/>
            <a:ext cx="105918" cy="0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0126" y="4761992"/>
            <a:ext cx="79375" cy="0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9750" y="4576699"/>
            <a:ext cx="0" cy="13233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0126" y="4537075"/>
            <a:ext cx="39624" cy="3962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9750" y="4537075"/>
            <a:ext cx="39751" cy="3962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10378" y="4635500"/>
            <a:ext cx="1868678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7500" y="6235700"/>
            <a:ext cx="6925056" cy="431800"/>
          </a:xfrm>
          <a:prstGeom prst="roundRect">
            <a:avLst>
              <a:gd name="adj" fmla="val 23529"/>
            </a:avLst>
          </a:prstGeom>
          <a:solidFill>
            <a:srgbClr val="F0F5EF"/>
          </a:solidFill>
          <a:ln/>
        </p:spPr>
      </p:sp>
      <p:sp>
        <p:nvSpPr>
          <p:cNvPr id="15" name="Shape 13"/>
          <p:cNvSpPr/>
          <p:nvPr/>
        </p:nvSpPr>
        <p:spPr>
          <a:xfrm>
            <a:off x="456184" y="6323584"/>
            <a:ext cx="256159" cy="244475"/>
          </a:xfrm>
          <a:custGeom>
            <a:avLst/>
            <a:gdLst/>
            <a:ahLst/>
            <a:cxnLst/>
            <a:rect l="l" t="t" r="r" b="b"/>
            <a:pathLst>
              <a:path w="256159" h="244475">
                <a:moveTo>
                  <a:pt x="128054" y="244475"/>
                </a:moveTo>
                <a:lnTo>
                  <a:pt x="128054" y="34925"/>
                </a:lnTo>
                <a:cubicBezTo>
                  <a:pt x="81496" y="0"/>
                  <a:pt x="34925" y="0"/>
                  <a:pt x="0" y="23279"/>
                </a:cubicBezTo>
                <a:lnTo>
                  <a:pt x="0" y="232829"/>
                </a:lnTo>
                <a:cubicBezTo>
                  <a:pt x="34925" y="209550"/>
                  <a:pt x="81496" y="209550"/>
                  <a:pt x="128054" y="244475"/>
                </a:cubicBezTo>
                <a:cubicBezTo>
                  <a:pt x="174625" y="209550"/>
                  <a:pt x="221196" y="209550"/>
                  <a:pt x="256121" y="232829"/>
                </a:cubicBezTo>
                <a:lnTo>
                  <a:pt x="256121" y="23279"/>
                </a:lnTo>
                <a:cubicBezTo>
                  <a:pt x="221196" y="0"/>
                  <a:pt x="174625" y="0"/>
                  <a:pt x="128054" y="34925"/>
                </a:cubicBezTo>
              </a:path>
            </a:pathLst>
          </a:custGeom>
          <a:ln w="18669">
            <a:solidFill>
              <a:srgbClr val="D59B3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90800" y="6324600"/>
            <a:ext cx="0" cy="25400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7500" y="6731000"/>
            <a:ext cx="6925056" cy="431800"/>
          </a:xfrm>
          <a:prstGeom prst="roundRect">
            <a:avLst>
              <a:gd name="adj" fmla="val 23529"/>
            </a:avLst>
          </a:prstGeom>
          <a:solidFill>
            <a:srgbClr val="F0F5EF"/>
          </a:solidFill>
          <a:ln/>
        </p:spPr>
      </p:sp>
      <p:sp>
        <p:nvSpPr>
          <p:cNvPr id="18" name="Shape 16"/>
          <p:cNvSpPr/>
          <p:nvPr/>
        </p:nvSpPr>
        <p:spPr>
          <a:xfrm>
            <a:off x="456184" y="6830441"/>
            <a:ext cx="256159" cy="186309"/>
          </a:xfrm>
          <a:custGeom>
            <a:avLst/>
            <a:gdLst/>
            <a:ahLst/>
            <a:cxnLst/>
            <a:rect l="l" t="t" r="r" b="b"/>
            <a:pathLst>
              <a:path w="256159" h="186309">
                <a:moveTo>
                  <a:pt x="58204" y="186271"/>
                </a:moveTo>
                <a:lnTo>
                  <a:pt x="197904" y="186271"/>
                </a:lnTo>
                <a:cubicBezTo>
                  <a:pt x="230086" y="186271"/>
                  <a:pt x="256121" y="160236"/>
                  <a:pt x="256121" y="128054"/>
                </a:cubicBezTo>
                <a:lnTo>
                  <a:pt x="256121" y="58204"/>
                </a:lnTo>
                <a:cubicBezTo>
                  <a:pt x="256121" y="26035"/>
                  <a:pt x="230086" y="0"/>
                  <a:pt x="197904" y="0"/>
                </a:cubicBezTo>
                <a:lnTo>
                  <a:pt x="58204" y="0"/>
                </a:lnTo>
                <a:cubicBezTo>
                  <a:pt x="26035" y="0"/>
                  <a:pt x="0" y="26035"/>
                  <a:pt x="0" y="58204"/>
                </a:cubicBezTo>
                <a:lnTo>
                  <a:pt x="0" y="128054"/>
                </a:lnTo>
                <a:cubicBezTo>
                  <a:pt x="0" y="160236"/>
                  <a:pt x="26035" y="186271"/>
                  <a:pt x="58204" y="186271"/>
                </a:cubicBezTo>
              </a:path>
            </a:pathLst>
          </a:custGeom>
          <a:ln w="18669">
            <a:solidFill>
              <a:srgbClr val="D59B3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1109" y="7016750"/>
            <a:ext cx="23241" cy="58166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1109" y="7016750"/>
            <a:ext cx="93091" cy="58166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6636" y="6914261"/>
            <a:ext cx="18669" cy="18669"/>
          </a:xfrm>
          <a:custGeom>
            <a:avLst/>
            <a:gdLst/>
            <a:ahLst/>
            <a:cxnLst/>
            <a:rect l="l" t="t" r="r" b="b"/>
            <a:pathLst>
              <a:path w="18669" h="18669">
                <a:moveTo>
                  <a:pt x="18631" y="9309"/>
                </a:moveTo>
                <a:cubicBezTo>
                  <a:pt x="18631" y="4166"/>
                  <a:pt x="14453" y="0"/>
                  <a:pt x="9309" y="0"/>
                </a:cubicBezTo>
                <a:cubicBezTo>
                  <a:pt x="4166" y="0"/>
                  <a:pt x="0" y="4166"/>
                  <a:pt x="0" y="9309"/>
                </a:cubicBezTo>
                <a:cubicBezTo>
                  <a:pt x="0" y="14453"/>
                  <a:pt x="4166" y="18631"/>
                  <a:pt x="9309" y="18631"/>
                </a:cubicBezTo>
                <a:cubicBezTo>
                  <a:pt x="14453" y="18631"/>
                  <a:pt x="18631" y="14453"/>
                  <a:pt x="18631" y="9309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22" name="Shape 20"/>
          <p:cNvSpPr/>
          <p:nvPr/>
        </p:nvSpPr>
        <p:spPr>
          <a:xfrm>
            <a:off x="574929" y="6914261"/>
            <a:ext cx="18669" cy="18669"/>
          </a:xfrm>
          <a:custGeom>
            <a:avLst/>
            <a:gdLst/>
            <a:ahLst/>
            <a:cxnLst/>
            <a:rect l="l" t="t" r="r" b="b"/>
            <a:pathLst>
              <a:path w="18669" h="18669">
                <a:moveTo>
                  <a:pt x="18631" y="9309"/>
                </a:moveTo>
                <a:cubicBezTo>
                  <a:pt x="18631" y="4166"/>
                  <a:pt x="14453" y="0"/>
                  <a:pt x="9309" y="0"/>
                </a:cubicBezTo>
                <a:cubicBezTo>
                  <a:pt x="4166" y="0"/>
                  <a:pt x="0" y="4166"/>
                  <a:pt x="0" y="9309"/>
                </a:cubicBezTo>
                <a:cubicBezTo>
                  <a:pt x="0" y="14453"/>
                  <a:pt x="4166" y="18631"/>
                  <a:pt x="9309" y="18631"/>
                </a:cubicBezTo>
                <a:cubicBezTo>
                  <a:pt x="14453" y="18631"/>
                  <a:pt x="18631" y="14453"/>
                  <a:pt x="18631" y="9309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23" name="Shape 21"/>
          <p:cNvSpPr/>
          <p:nvPr/>
        </p:nvSpPr>
        <p:spPr>
          <a:xfrm>
            <a:off x="633095" y="6914261"/>
            <a:ext cx="18669" cy="18669"/>
          </a:xfrm>
          <a:custGeom>
            <a:avLst/>
            <a:gdLst/>
            <a:ahLst/>
            <a:cxnLst/>
            <a:rect l="l" t="t" r="r" b="b"/>
            <a:pathLst>
              <a:path w="18669" h="18669">
                <a:moveTo>
                  <a:pt x="18631" y="9309"/>
                </a:moveTo>
                <a:cubicBezTo>
                  <a:pt x="18631" y="4166"/>
                  <a:pt x="14453" y="0"/>
                  <a:pt x="9309" y="0"/>
                </a:cubicBezTo>
                <a:cubicBezTo>
                  <a:pt x="4166" y="0"/>
                  <a:pt x="0" y="4166"/>
                  <a:pt x="0" y="9309"/>
                </a:cubicBezTo>
                <a:cubicBezTo>
                  <a:pt x="0" y="14453"/>
                  <a:pt x="4166" y="18631"/>
                  <a:pt x="9309" y="18631"/>
                </a:cubicBezTo>
                <a:cubicBezTo>
                  <a:pt x="14453" y="18631"/>
                  <a:pt x="18631" y="14453"/>
                  <a:pt x="18631" y="9309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24" name="Shape 22"/>
          <p:cNvSpPr/>
          <p:nvPr/>
        </p:nvSpPr>
        <p:spPr>
          <a:xfrm>
            <a:off x="2590800" y="6819900"/>
            <a:ext cx="0" cy="25400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7500" y="7226300"/>
            <a:ext cx="6925056" cy="431800"/>
          </a:xfrm>
          <a:prstGeom prst="roundRect">
            <a:avLst>
              <a:gd name="adj" fmla="val 23529"/>
            </a:avLst>
          </a:prstGeom>
          <a:solidFill>
            <a:srgbClr val="F0F5EF"/>
          </a:solidFill>
          <a:ln/>
        </p:spPr>
      </p:sp>
      <p:sp>
        <p:nvSpPr>
          <p:cNvPr id="26" name="Shape 24"/>
          <p:cNvSpPr/>
          <p:nvPr/>
        </p:nvSpPr>
        <p:spPr>
          <a:xfrm>
            <a:off x="479425" y="7325741"/>
            <a:ext cx="232791" cy="232791"/>
          </a:xfrm>
          <a:custGeom>
            <a:avLst/>
            <a:gdLst/>
            <a:ahLst/>
            <a:cxnLst/>
            <a:rect l="l" t="t" r="r" b="b"/>
            <a:pathLst>
              <a:path w="232791" h="232791">
                <a:moveTo>
                  <a:pt x="0" y="232829"/>
                </a:moveTo>
                <a:lnTo>
                  <a:pt x="23279" y="151346"/>
                </a:lnTo>
                <a:lnTo>
                  <a:pt x="174625" y="0"/>
                </a:lnTo>
                <a:lnTo>
                  <a:pt x="232829" y="58204"/>
                </a:lnTo>
                <a:lnTo>
                  <a:pt x="81496" y="209550"/>
                </a:lnTo>
                <a:lnTo>
                  <a:pt x="0" y="232829"/>
                </a:lnTo>
              </a:path>
            </a:pathLst>
          </a:custGeom>
          <a:ln w="18669">
            <a:solidFill>
              <a:srgbClr val="D59B3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666" y="7477125"/>
            <a:ext cx="58293" cy="58166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9125" y="7360666"/>
            <a:ext cx="58166" cy="58293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90800" y="7315200"/>
            <a:ext cx="0" cy="25400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94208" y="7949692"/>
            <a:ext cx="291084" cy="304292"/>
          </a:xfrm>
          <a:custGeom>
            <a:avLst/>
            <a:gdLst/>
            <a:ahLst/>
            <a:cxnLst/>
            <a:rect l="l" t="t" r="r" b="b"/>
            <a:pathLst>
              <a:path w="291084" h="304292">
                <a:moveTo>
                  <a:pt x="145517" y="304267"/>
                </a:moveTo>
                <a:cubicBezTo>
                  <a:pt x="105829" y="251358"/>
                  <a:pt x="0" y="198438"/>
                  <a:pt x="0" y="105829"/>
                </a:cubicBezTo>
                <a:cubicBezTo>
                  <a:pt x="0" y="0"/>
                  <a:pt x="119063" y="0"/>
                  <a:pt x="145517" y="79375"/>
                </a:cubicBezTo>
                <a:cubicBezTo>
                  <a:pt x="171983" y="0"/>
                  <a:pt x="291046" y="0"/>
                  <a:pt x="291046" y="105829"/>
                </a:cubicBezTo>
                <a:cubicBezTo>
                  <a:pt x="291046" y="198438"/>
                  <a:pt x="185204" y="251358"/>
                  <a:pt x="145517" y="304267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31" name="Shape 29"/>
          <p:cNvSpPr/>
          <p:nvPr/>
        </p:nvSpPr>
        <p:spPr>
          <a:xfrm>
            <a:off x="5148961" y="8140700"/>
            <a:ext cx="2030095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17500" y="9842500"/>
            <a:ext cx="6925056" cy="495300"/>
          </a:xfrm>
          <a:prstGeom prst="roundRect">
            <a:avLst>
              <a:gd name="adj" fmla="val 20513"/>
            </a:avLst>
          </a:prstGeom>
          <a:solidFill>
            <a:srgbClr val="F0F5EF"/>
          </a:solidFill>
          <a:ln/>
        </p:spPr>
      </p:sp>
      <p:sp>
        <p:nvSpPr>
          <p:cNvPr id="33" name="Shape 31"/>
          <p:cNvSpPr/>
          <p:nvPr/>
        </p:nvSpPr>
        <p:spPr>
          <a:xfrm>
            <a:off x="381000" y="10414000"/>
            <a:ext cx="2755900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94200" y="10414000"/>
            <a:ext cx="2784856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pic>
        <p:nvPicPr>
          <p:cNvPr id="35" name="Image 0" descr="부기 책을 함께 읽는 두 아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0" y="1003300"/>
            <a:ext cx="1841500" cy="1264920"/>
          </a:xfrm>
          <a:prstGeom prst="rect">
            <a:avLst/>
          </a:prstGeom>
        </p:spPr>
      </p:pic>
      <p:sp>
        <p:nvSpPr>
          <p:cNvPr id="36" name="txt-5-0"/>
          <p:cNvSpPr txBox="1"/>
          <p:nvPr/>
        </p:nvSpPr>
        <p:spPr>
          <a:xfrm>
            <a:off x="381000" y="296926"/>
            <a:ext cx="3081401" cy="364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ko-KR" altLang="en-US" sz="17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교실의 문제에서 출발한 부기</a:t>
            </a:r>
            <a:endParaRPr lang="en-US" sz="1700" dirty="0"/>
          </a:p>
        </p:txBody>
      </p:sp>
      <p:sp>
        <p:nvSpPr>
          <p:cNvPr id="37" name="txt-5-1"/>
          <p:cNvSpPr txBox="1"/>
          <p:nvPr/>
        </p:nvSpPr>
        <p:spPr>
          <a:xfrm>
            <a:off x="381000" y="730758"/>
            <a:ext cx="4450334" cy="151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ko-KR" altLang="en-US" sz="37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지금 학교 현장에는</a:t>
            </a:r>
            <a:endParaRPr lang="en-US" sz="3700" dirty="0"/>
          </a:p>
          <a:p>
            <a:pPr algn="l" indent="0" marL="0">
              <a:lnSpc>
                <a:spcPts val="5200"/>
              </a:lnSpc>
              <a:buNone/>
            </a:pPr>
            <a:r>
              <a:rPr lang="ko-KR" altLang="en-US" sz="37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독서가 절실합니다.</a:t>
            </a:r>
            <a:endParaRPr lang="en-US" sz="3700" dirty="0"/>
          </a:p>
        </p:txBody>
      </p:sp>
      <p:sp>
        <p:nvSpPr>
          <p:cNvPr id="38" name="txt-5-2"/>
          <p:cNvSpPr txBox="1"/>
          <p:nvPr/>
        </p:nvSpPr>
        <p:spPr>
          <a:xfrm>
            <a:off x="863346" y="2504059"/>
            <a:ext cx="4620768" cy="450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ko-KR" altLang="en-US" sz="21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고전의 지혜에서 시작하고자 합니다</a:t>
            </a:r>
            <a:endParaRPr lang="en-US" sz="2100" dirty="0"/>
          </a:p>
        </p:txBody>
      </p:sp>
      <p:sp>
        <p:nvSpPr>
          <p:cNvPr id="39" name="txt-5-3"/>
          <p:cNvSpPr txBox="1"/>
          <p:nvPr/>
        </p:nvSpPr>
        <p:spPr>
          <a:xfrm>
            <a:off x="381000" y="2990342"/>
            <a:ext cx="71409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ko-KR" altLang="en-US" sz="16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사람과 세상을 이해하고 </a:t>
            </a:r>
            <a:pPr algn="l" indent="0" marL="0">
              <a:lnSpc>
                <a:spcPts val="2400"/>
              </a:lnSpc>
              <a:buNone/>
            </a:pPr>
            <a:r>
              <a:rPr lang="ko-KR" altLang="en-US" sz="165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스스로 생각할 힘</a:t>
            </a:r>
            <a:pPr algn="l" indent="0" marL="0">
              <a:lnSpc>
                <a:spcPts val="2400"/>
              </a:lnSpc>
              <a:buNone/>
            </a:pPr>
            <a:r>
              <a:rPr lang="ko-KR" altLang="en-US" sz="16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을 기르기 위해, </a:t>
            </a:r>
            <a:pPr algn="l" indent="0" marL="0">
              <a:lnSpc>
                <a:spcPts val="2400"/>
              </a:lnSpc>
              <a:buNone/>
            </a:pPr>
            <a:r>
              <a:rPr lang="ko-KR" altLang="en-US" sz="165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고전의 지혜</a:t>
            </a:r>
            <a:pPr algn="l" indent="0" marL="0">
              <a:lnSpc>
                <a:spcPts val="2400"/>
              </a:lnSpc>
              <a:buNone/>
            </a:pPr>
            <a:r>
              <a:rPr lang="ko-KR" altLang="en-US" sz="16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를</a:t>
            </a:r>
            <a:endParaRPr lang="en-US" sz="1650" dirty="0"/>
          </a:p>
          <a:p>
            <a:pPr algn="l" indent="0" marL="0">
              <a:lnSpc>
                <a:spcPts val="2400"/>
              </a:lnSpc>
              <a:buNone/>
            </a:pPr>
            <a:r>
              <a:rPr lang="ko-KR" altLang="en-US" sz="16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빌리고자 했습니다. </a:t>
            </a:r>
            <a:pPr algn="l" indent="0" marL="0">
              <a:lnSpc>
                <a:spcPts val="2400"/>
              </a:lnSpc>
              <a:buNone/>
            </a:pPr>
            <a:r>
              <a:rPr lang="ko-KR" altLang="en-US" sz="165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우정과 책임</a:t>
            </a:r>
            <a:pPr algn="l" indent="0" marL="0">
              <a:lnSpc>
                <a:spcPts val="2400"/>
              </a:lnSpc>
              <a:buNone/>
            </a:pPr>
            <a:r>
              <a:rPr lang="ko-KR" altLang="en-US" sz="16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, </a:t>
            </a:r>
            <a:pPr algn="l" indent="0" marL="0">
              <a:lnSpc>
                <a:spcPts val="2400"/>
              </a:lnSpc>
              <a:buNone/>
            </a:pPr>
            <a:r>
              <a:rPr lang="ko-KR" altLang="en-US" sz="165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공정과 나눔</a:t>
            </a:r>
            <a:pPr algn="l" indent="0" marL="0">
              <a:lnSpc>
                <a:spcPts val="2400"/>
              </a:lnSpc>
              <a:buNone/>
            </a:pPr>
            <a:r>
              <a:rPr lang="ko-KR" altLang="en-US" sz="16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을 읽으며 ‘왜 그런 선택을 했을까’,</a:t>
            </a:r>
            <a:endParaRPr lang="en-US" sz="1650" dirty="0"/>
          </a:p>
          <a:p>
            <a:pPr algn="l" indent="0" marL="0">
              <a:lnSpc>
                <a:spcPts val="2400"/>
              </a:lnSpc>
              <a:buNone/>
            </a:pPr>
            <a:r>
              <a:rPr lang="ko-KR" altLang="en-US" sz="16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‘나라면 어떻게 했을까’를 함께 묻습니다.</a:t>
            </a:r>
            <a:endParaRPr lang="en-US" sz="1650" dirty="0"/>
          </a:p>
        </p:txBody>
      </p:sp>
      <p:sp>
        <p:nvSpPr>
          <p:cNvPr id="40" name="txt-5-4"/>
          <p:cNvSpPr txBox="1"/>
          <p:nvPr/>
        </p:nvSpPr>
        <p:spPr>
          <a:xfrm>
            <a:off x="863346" y="4421378"/>
            <a:ext cx="4904105" cy="450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ko-KR" altLang="en-US" sz="21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초등교사들이 뜻을 모아 만들었습니다</a:t>
            </a:r>
            <a:endParaRPr lang="en-US" sz="2100" dirty="0"/>
          </a:p>
        </p:txBody>
      </p:sp>
      <p:sp>
        <p:nvSpPr>
          <p:cNvPr id="41" name="txt-5-5"/>
          <p:cNvSpPr txBox="1"/>
          <p:nvPr/>
        </p:nvSpPr>
        <p:spPr>
          <a:xfrm>
            <a:off x="381000" y="4933188"/>
            <a:ext cx="71409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ko-KR" altLang="en-US" sz="16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교실의 읽기 어려움을 풀고자 </a:t>
            </a:r>
            <a:pPr algn="l" indent="0" marL="0">
              <a:lnSpc>
                <a:spcPts val="2400"/>
              </a:lnSpc>
              <a:buNone/>
            </a:pPr>
            <a:r>
              <a:rPr lang="ko-KR" altLang="en-US" sz="165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교사들이 기획</a:t>
            </a:r>
            <a:pPr algn="l" indent="0" marL="0">
              <a:lnSpc>
                <a:spcPts val="2400"/>
              </a:lnSpc>
              <a:buNone/>
            </a:pPr>
            <a:r>
              <a:rPr lang="ko-KR" altLang="en-US" sz="16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하고, </a:t>
            </a:r>
            <a:pPr algn="l" indent="0" marL="0">
              <a:lnSpc>
                <a:spcPts val="2400"/>
              </a:lnSpc>
              <a:buNone/>
            </a:pPr>
            <a:r>
              <a:rPr lang="ko-KR" altLang="en-US" sz="165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기업의 지원</a:t>
            </a:r>
            <a:pPr algn="l" indent="0" marL="0">
              <a:lnSpc>
                <a:spcPts val="2400"/>
              </a:lnSpc>
              <a:buNone/>
            </a:pPr>
            <a:r>
              <a:rPr lang="ko-KR" altLang="en-US" sz="16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을 더해 학교에</a:t>
            </a:r>
            <a:endParaRPr lang="en-US" sz="1650" dirty="0"/>
          </a:p>
          <a:p>
            <a:pPr algn="l" indent="0" marL="0">
              <a:lnSpc>
                <a:spcPts val="2400"/>
              </a:lnSpc>
              <a:buNone/>
            </a:pPr>
            <a:r>
              <a:rPr lang="ko-KR" altLang="en-US" sz="16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적용했습니다. 학교에서 </a:t>
            </a:r>
            <a:pPr algn="l" indent="0" marL="0">
              <a:lnSpc>
                <a:spcPts val="2400"/>
              </a:lnSpc>
              <a:buNone/>
            </a:pPr>
            <a:r>
              <a:rPr lang="ko-KR" altLang="en-US" sz="165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시범 사용</a:t>
            </a:r>
            <a:pPr algn="l" indent="0" marL="0">
              <a:lnSpc>
                <a:spcPts val="2400"/>
              </a:lnSpc>
              <a:buNone/>
            </a:pPr>
            <a:r>
              <a:rPr lang="ko-KR" altLang="en-US" sz="16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을 통해 </a:t>
            </a:r>
            <a:pPr algn="l" indent="0" marL="0">
              <a:lnSpc>
                <a:spcPts val="2400"/>
              </a:lnSpc>
              <a:buNone/>
            </a:pPr>
            <a:r>
              <a:rPr lang="ko-KR" altLang="en-US" sz="165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계속 개선하고 발전</a:t>
            </a:r>
            <a:pPr algn="l" indent="0" marL="0">
              <a:lnSpc>
                <a:spcPts val="2400"/>
              </a:lnSpc>
              <a:buNone/>
            </a:pPr>
            <a:r>
              <a:rPr lang="ko-KR" altLang="en-US" sz="16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시켜 나가고</a:t>
            </a:r>
            <a:endParaRPr lang="en-US" sz="1650" dirty="0"/>
          </a:p>
          <a:p>
            <a:pPr algn="l" indent="0" marL="0">
              <a:lnSpc>
                <a:spcPts val="2400"/>
              </a:lnSpc>
              <a:buNone/>
            </a:pPr>
            <a:r>
              <a:rPr lang="ko-KR" altLang="en-US" sz="16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있습니다.</a:t>
            </a:r>
            <a:endParaRPr lang="en-US" sz="1650" dirty="0"/>
          </a:p>
        </p:txBody>
      </p:sp>
      <p:sp>
        <p:nvSpPr>
          <p:cNvPr id="42" name="txt-5-6"/>
          <p:cNvSpPr txBox="1"/>
          <p:nvPr/>
        </p:nvSpPr>
        <p:spPr>
          <a:xfrm>
            <a:off x="2742565" y="6342634"/>
            <a:ext cx="3071114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ko-KR" altLang="en-US" sz="12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낱말 뜻 · 능동적 그림 읽기 · 다국어 지원</a:t>
            </a:r>
            <a:endParaRPr lang="en-US" sz="1250" dirty="0"/>
          </a:p>
        </p:txBody>
      </p:sp>
      <p:sp>
        <p:nvSpPr>
          <p:cNvPr id="43" name="txt-5-7"/>
          <p:cNvSpPr txBox="1"/>
          <p:nvPr/>
        </p:nvSpPr>
        <p:spPr>
          <a:xfrm>
            <a:off x="863346" y="6303010"/>
            <a:ext cx="1071245" cy="34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ko-KR" altLang="en-US" sz="16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읽기 지원</a:t>
            </a:r>
            <a:endParaRPr lang="en-US" sz="1600" dirty="0"/>
          </a:p>
        </p:txBody>
      </p:sp>
      <p:sp>
        <p:nvSpPr>
          <p:cNvPr id="44" name="txt-5-8"/>
          <p:cNvSpPr txBox="1"/>
          <p:nvPr/>
        </p:nvSpPr>
        <p:spPr>
          <a:xfrm>
            <a:off x="2742565" y="6837934"/>
            <a:ext cx="2655951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ko-KR" altLang="en-US" sz="12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캐릭터와의 대화 · 다양한 독후활동</a:t>
            </a:r>
            <a:endParaRPr lang="en-US" sz="1250" dirty="0"/>
          </a:p>
        </p:txBody>
      </p:sp>
      <p:sp>
        <p:nvSpPr>
          <p:cNvPr id="45" name="txt-5-9"/>
          <p:cNvSpPr txBox="1"/>
          <p:nvPr/>
        </p:nvSpPr>
        <p:spPr>
          <a:xfrm>
            <a:off x="863346" y="6797929"/>
            <a:ext cx="1287272" cy="34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ko-KR" altLang="en-US" sz="16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생각과 표현</a:t>
            </a:r>
            <a:endParaRPr lang="en-US" sz="1600" dirty="0"/>
          </a:p>
        </p:txBody>
      </p:sp>
      <p:sp>
        <p:nvSpPr>
          <p:cNvPr id="46" name="txt-5-10"/>
          <p:cNvSpPr txBox="1"/>
          <p:nvPr/>
        </p:nvSpPr>
        <p:spPr>
          <a:xfrm>
            <a:off x="2742565" y="7333234"/>
            <a:ext cx="2910459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ko-KR" altLang="en-US" sz="125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독서 기록 자산 · 수업 자료 · 학생 기록</a:t>
            </a:r>
            <a:endParaRPr lang="en-US" sz="1250" dirty="0"/>
          </a:p>
        </p:txBody>
      </p:sp>
      <p:sp>
        <p:nvSpPr>
          <p:cNvPr id="47" name="txt-5-11"/>
          <p:cNvSpPr txBox="1"/>
          <p:nvPr/>
        </p:nvSpPr>
        <p:spPr>
          <a:xfrm>
            <a:off x="863346" y="7293229"/>
            <a:ext cx="1287272" cy="34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ko-KR" altLang="en-US" sz="16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기록과 지도</a:t>
            </a:r>
            <a:endParaRPr lang="en-US" sz="1600" dirty="0"/>
          </a:p>
        </p:txBody>
      </p:sp>
      <p:sp>
        <p:nvSpPr>
          <p:cNvPr id="48" name="txt-5-12"/>
          <p:cNvSpPr txBox="1"/>
          <p:nvPr/>
        </p:nvSpPr>
        <p:spPr>
          <a:xfrm>
            <a:off x="863346" y="7920482"/>
            <a:ext cx="4726559" cy="43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5"/>
              </a:lnSpc>
              <a:buNone/>
            </a:pPr>
            <a:r>
              <a:rPr lang="ko-KR" altLang="en-US" sz="205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모두가 차별 없이 함께 읽을 수 있도록</a:t>
            </a:r>
            <a:endParaRPr lang="en-US" sz="2050" dirty="0"/>
          </a:p>
        </p:txBody>
      </p:sp>
      <p:sp>
        <p:nvSpPr>
          <p:cNvPr id="49" name="txt-5-13"/>
          <p:cNvSpPr txBox="1"/>
          <p:nvPr/>
        </p:nvSpPr>
        <p:spPr>
          <a:xfrm>
            <a:off x="381000" y="8435213"/>
            <a:ext cx="7140956" cy="613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ko-KR" altLang="en-US" sz="15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어려운 어휘는 </a:t>
            </a:r>
            <a:pPr algn="l" indent="0" marL="0">
              <a:lnSpc>
                <a:spcPts val="2100"/>
              </a:lnSpc>
              <a:buNone/>
            </a:pPr>
            <a:r>
              <a:rPr lang="ko-KR" altLang="en-US" sz="15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디지털 도움</a:t>
            </a:r>
            <a:pPr algn="l" indent="0" marL="0">
              <a:lnSpc>
                <a:spcPts val="2100"/>
              </a:lnSpc>
              <a:buNone/>
            </a:pPr>
            <a:r>
              <a:rPr lang="ko-KR" altLang="en-US" sz="15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으로, 언어의 차이는 </a:t>
            </a:r>
            <a:pPr algn="l" indent="0" marL="0">
              <a:lnSpc>
                <a:spcPts val="2100"/>
              </a:lnSpc>
              <a:buNone/>
            </a:pPr>
            <a:r>
              <a:rPr lang="ko-KR" altLang="en-US" sz="15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다국어 번역</a:t>
            </a:r>
            <a:pPr algn="l" indent="0" marL="0">
              <a:lnSpc>
                <a:spcPts val="2100"/>
              </a:lnSpc>
              <a:buNone/>
            </a:pPr>
            <a:r>
              <a:rPr lang="ko-KR" altLang="en-US" sz="15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으로 지원합니다. </a:t>
            </a:r>
            <a:pPr algn="l" indent="0" marL="0">
              <a:lnSpc>
                <a:spcPts val="2100"/>
              </a:lnSpc>
              <a:buNone/>
            </a:pPr>
            <a:r>
              <a:rPr lang="ko-KR" altLang="en-US" sz="15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다문화</a:t>
            </a:r>
            <a:endParaRPr lang="en-US" sz="1500" dirty="0"/>
          </a:p>
          <a:p>
            <a:pPr algn="l" indent="0" marL="0">
              <a:lnSpc>
                <a:spcPts val="2100"/>
              </a:lnSpc>
              <a:buNone/>
            </a:pPr>
            <a:r>
              <a:rPr lang="ko-KR" altLang="en-US" sz="15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학생</a:t>
            </a:r>
            <a:pPr algn="l" indent="0" marL="0">
              <a:lnSpc>
                <a:spcPts val="2100"/>
              </a:lnSpc>
              <a:buNone/>
            </a:pPr>
            <a:r>
              <a:rPr lang="ko-KR" altLang="en-US" sz="15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을 포함한 </a:t>
            </a:r>
            <a:pPr algn="l" indent="0" marL="0">
              <a:lnSpc>
                <a:spcPts val="2100"/>
              </a:lnSpc>
              <a:buNone/>
            </a:pPr>
            <a:r>
              <a:rPr lang="ko-KR" altLang="en-US" sz="15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모두가 차별 없이 함께 읽는 가치</a:t>
            </a:r>
            <a:pPr algn="l" indent="0" marL="0">
              <a:lnSpc>
                <a:spcPts val="2100"/>
              </a:lnSpc>
              <a:buNone/>
            </a:pPr>
            <a:r>
              <a:rPr lang="ko-KR" altLang="en-US" sz="15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를 확산하고자 합니다.</a:t>
            </a:r>
            <a:endParaRPr lang="en-US" sz="1500" dirty="0"/>
          </a:p>
        </p:txBody>
      </p:sp>
      <p:sp>
        <p:nvSpPr>
          <p:cNvPr id="50" name="txt-5-14"/>
          <p:cNvSpPr txBox="1"/>
          <p:nvPr/>
        </p:nvSpPr>
        <p:spPr>
          <a:xfrm>
            <a:off x="381000" y="9057386"/>
            <a:ext cx="7045706" cy="613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ko-KR" altLang="en-US" sz="15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학생에게는 </a:t>
            </a:r>
            <a:pPr algn="l" indent="0" marL="0">
              <a:lnSpc>
                <a:spcPts val="2100"/>
              </a:lnSpc>
              <a:buNone/>
            </a:pPr>
            <a:r>
              <a:rPr lang="ko-KR" altLang="en-US" sz="15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충분히 읽고 생각할 시간</a:t>
            </a:r>
            <a:pPr algn="l" indent="0" marL="0">
              <a:lnSpc>
                <a:spcPts val="2100"/>
              </a:lnSpc>
              <a:buNone/>
            </a:pPr>
            <a:r>
              <a:rPr lang="ko-KR" altLang="en-US" sz="15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을, 교사에게는 </a:t>
            </a:r>
            <a:pPr algn="l" indent="0" marL="0">
              <a:lnSpc>
                <a:spcPts val="2100"/>
              </a:lnSpc>
              <a:buNone/>
            </a:pPr>
            <a:r>
              <a:rPr lang="ko-KR" altLang="en-US" sz="15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수업 준비와 개별 지도</a:t>
            </a:r>
            <a:pPr algn="l" indent="0" marL="0">
              <a:lnSpc>
                <a:spcPts val="2100"/>
              </a:lnSpc>
              <a:buNone/>
            </a:pPr>
            <a:r>
              <a:rPr lang="ko-KR" altLang="en-US" sz="15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를 위한</a:t>
            </a:r>
            <a:endParaRPr lang="en-US" sz="1500" dirty="0"/>
          </a:p>
          <a:p>
            <a:pPr algn="l" indent="0" marL="0">
              <a:lnSpc>
                <a:spcPts val="2100"/>
              </a:lnSpc>
              <a:buNone/>
            </a:pPr>
            <a:r>
              <a:rPr lang="ko-KR" altLang="en-US" sz="15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지원을 요청드립니다.</a:t>
            </a:r>
            <a:endParaRPr lang="en-US" sz="1500" dirty="0"/>
          </a:p>
        </p:txBody>
      </p:sp>
      <p:sp>
        <p:nvSpPr>
          <p:cNvPr id="51" name="txt-5-15"/>
          <p:cNvSpPr txBox="1"/>
          <p:nvPr/>
        </p:nvSpPr>
        <p:spPr>
          <a:xfrm>
            <a:off x="1251204" y="9831959"/>
            <a:ext cx="5056886" cy="523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92"/>
              </a:lnSpc>
              <a:buNone/>
            </a:pPr>
            <a:r>
              <a:rPr lang="ko-KR" altLang="en-US" sz="128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경남의 아이들이 스스로 이해하고 판단하는 사람으로 자라도록,</a:t>
            </a:r>
            <a:endParaRPr lang="en-US" sz="1280" dirty="0"/>
          </a:p>
          <a:p>
            <a:pPr algn="ctr" indent="0" marL="0">
              <a:lnSpc>
                <a:spcPts val="1792"/>
              </a:lnSpc>
              <a:buNone/>
            </a:pPr>
            <a:r>
              <a:rPr lang="ko-KR" altLang="en-US" sz="128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7"/>
                <a:cs typeface="Noto Serif KR Black" pitchFamily="34" charset="-120"/>
              </a:rPr>
              <a:t>기본 독서교육을 함께 지켜 주십시오.</a:t>
            </a:r>
            <a:endParaRPr lang="en-US" sz="1280" dirty="0"/>
          </a:p>
        </p:txBody>
      </p:sp>
      <p:sp>
        <p:nvSpPr>
          <p:cNvPr id="52" name="txt-5-16"/>
          <p:cNvSpPr txBox="1"/>
          <p:nvPr/>
        </p:nvSpPr>
        <p:spPr>
          <a:xfrm>
            <a:off x="3504565" y="10362692"/>
            <a:ext cx="424815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dirty="0">
                <a:solidFill>
                  <a:srgbClr val="101D42"/>
                </a:solidFill>
                <a:latin typeface="Noto Sans KR" pitchFamily="34" charset="0"/>
                <a:ea typeface="Noto Sans KR" pitchFamily="34" charset="-127"/>
                <a:cs typeface="Noto Sans KR" pitchFamily="34" charset="-120"/>
              </a:rPr>
              <a:t>4 / 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주식회사 엠에스이씨엠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부기 독서교육 브로슈어</dc:title>
  <dc:subject>PptxGenJS Presentation</dc:subject>
  <dc:creator>MSECM</dc:creator>
  <cp:lastModifiedBy>MSECM</cp:lastModifiedBy>
  <cp:revision>1</cp:revision>
  <dcterms:created xsi:type="dcterms:W3CDTF">2026-10-27T23:57:07Z</dcterms:created>
  <dcterms:modified xsi:type="dcterms:W3CDTF">2026-10-27T23:57:07Z</dcterms:modified>
</cp:coreProperties>
</file>