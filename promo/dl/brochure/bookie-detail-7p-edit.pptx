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560005" cy="10692003"/>
  <p:notesSz cx="10692003" cy="75600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4811" y="495300"/>
            <a:ext cx="221424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4615053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독서수업 프로그램 부기 기반 독서교육 위탁운영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요약과 답안을 대신 만드는 동안 학생은 무엇을 직접 읽고 생각할까요.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글을 따라 읽고, 근거를 찾고, 자기 말로 정리하는 시간을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어휘,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배경지식,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이해, 추론,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배경지식의 영향은 지식의 정확성,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출처: Smith et al. (2021),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만든 답을 읽었다고 학습까지 끝나는 것은 아닙니다.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중등학생 읽기 실험에서는 LLM만 쓴 조건보다 직접 필기한 조건이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12점 만점의 이해 점수는 LLM 조건 4.00점, 필기 조건 4.89점이었습니다.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직접 읽고 정리하는 과정을 남기는 데 주목했습니다.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Kreijkes 외(2026), Computers &amp; Education 243, 105514.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58" y="6253734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6681" y="6436868"/>
            <a:ext cx="351237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7056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2471" y="6818313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3600" y="68135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500" y="72517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471" y="7364413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396" y="7550722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396" y="7550722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92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1216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8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03600" y="73596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7978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4155" y="7916355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395" y="8067739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855" y="7951280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3600" y="79057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83439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5775" y="8450580"/>
            <a:ext cx="209550" cy="256540"/>
          </a:xfrm>
          <a:custGeom>
            <a:avLst/>
            <a:gdLst/>
            <a:ahLst/>
            <a:cxnLst/>
            <a:rect l="l" t="t" r="r" b="b"/>
            <a:pathLst>
              <a:path w="209550" h="256540">
                <a:moveTo>
                  <a:pt x="0" y="0"/>
                </a:moveTo>
                <a:lnTo>
                  <a:pt x="139700" y="0"/>
                </a:lnTo>
                <a:lnTo>
                  <a:pt x="209550" y="69850"/>
                </a:lnTo>
                <a:lnTo>
                  <a:pt x="209550" y="256540"/>
                </a:lnTo>
                <a:lnTo>
                  <a:pt x="0" y="256540"/>
                </a:lnTo>
                <a:lnTo>
                  <a:pt x="0" y="0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2765" y="855853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765" y="860679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765" y="8655050"/>
            <a:ext cx="7366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3600" y="84518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500" y="88900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96" y="89794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528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446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528" y="92307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863" y="92704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486" y="90851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863" y="90455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486" y="90455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3600" y="89979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500" y="94361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9456" y="971175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306" y="965358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156" y="959529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4" name="Shape 52"/>
          <p:cNvSpPr/>
          <p:nvPr/>
        </p:nvSpPr>
        <p:spPr>
          <a:xfrm>
            <a:off x="679006" y="953712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5" name="Shape 53"/>
          <p:cNvSpPr/>
          <p:nvPr/>
        </p:nvSpPr>
        <p:spPr>
          <a:xfrm>
            <a:off x="3403600" y="95440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57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58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59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60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61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62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제공해도 모르는 낱말에서 멈추면 읽기의 재미를 느끼기 어렵습니다.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읽던 자리의 뜻풀이와 교사의 질문을 연결해 이해를 돕고,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권을 읽은 경험이 다음 책으로 이어지도록 구성했습니다.</a:t>
            </a:r>
            <a:endParaRPr lang="en-US" sz="1650" dirty="0"/>
          </a:p>
        </p:txBody>
      </p:sp>
      <p:sp>
        <p:nvSpPr>
          <p:cNvPr id="63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 / 7</a:t>
            </a:r>
            <a:endParaRPr lang="en-US" sz="1000" dirty="0"/>
          </a:p>
        </p:txBody>
      </p:sp>
      <p:sp>
        <p:nvSpPr>
          <p:cNvPr id="64" name="txt-D4-s3"/>
          <p:cNvSpPr txBox="1"/>
          <p:nvPr/>
        </p:nvSpPr>
        <p:spPr>
          <a:xfrm>
            <a:off x="863346" y="6202553"/>
            <a:ext cx="2807462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서비스 특징 6가지</a:t>
            </a:r>
            <a:endParaRPr lang="en-US" sz="2100" dirty="0"/>
          </a:p>
        </p:txBody>
      </p:sp>
      <p:sp>
        <p:nvSpPr>
          <p:cNvPr id="65" name="txt-D4-r0a"/>
          <p:cNvSpPr txBox="1"/>
          <p:nvPr/>
        </p:nvSpPr>
        <p:spPr>
          <a:xfrm>
            <a:off x="863346" y="6816471"/>
            <a:ext cx="249859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500" dirty="0"/>
          </a:p>
        </p:txBody>
      </p:sp>
      <p:sp>
        <p:nvSpPr>
          <p:cNvPr id="66" name="txt-D4-r0b"/>
          <p:cNvSpPr txBox="1"/>
          <p:nvPr/>
        </p:nvSpPr>
        <p:spPr>
          <a:xfrm>
            <a:off x="3556000" y="6841236"/>
            <a:ext cx="317449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학년별 50권, 6년 300권을 반 전체가 끝까지 읽기</a:t>
            </a:r>
            <a:endParaRPr lang="en-US" sz="1200" dirty="0"/>
          </a:p>
        </p:txBody>
      </p:sp>
      <p:sp>
        <p:nvSpPr>
          <p:cNvPr id="67" name="txt-D4-r1a"/>
          <p:cNvSpPr txBox="1"/>
          <p:nvPr/>
        </p:nvSpPr>
        <p:spPr>
          <a:xfrm>
            <a:off x="863346" y="7362571"/>
            <a:ext cx="244068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500" dirty="0"/>
          </a:p>
        </p:txBody>
      </p:sp>
      <p:sp>
        <p:nvSpPr>
          <p:cNvPr id="68" name="txt-D4-r1b"/>
          <p:cNvSpPr txBox="1"/>
          <p:nvPr/>
        </p:nvSpPr>
        <p:spPr>
          <a:xfrm>
            <a:off x="3556000" y="7387336"/>
            <a:ext cx="28621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인물이 된 부기의 질문에 까닭을 들어 답하기</a:t>
            </a:r>
            <a:endParaRPr lang="en-US" sz="1200" dirty="0"/>
          </a:p>
        </p:txBody>
      </p:sp>
      <p:sp>
        <p:nvSpPr>
          <p:cNvPr id="69" name="txt-D4-r2a"/>
          <p:cNvSpPr txBox="1"/>
          <p:nvPr/>
        </p:nvSpPr>
        <p:spPr>
          <a:xfrm>
            <a:off x="863346" y="79086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500" dirty="0"/>
          </a:p>
        </p:txBody>
      </p:sp>
      <p:sp>
        <p:nvSpPr>
          <p:cNvPr id="70" name="txt-D4-r2b"/>
          <p:cNvSpPr txBox="1"/>
          <p:nvPr/>
        </p:nvSpPr>
        <p:spPr>
          <a:xfrm>
            <a:off x="3556000" y="7933436"/>
            <a:ext cx="295630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 카드 9가지, 수업 활동 20가지, 실물 자료</a:t>
            </a:r>
            <a:endParaRPr lang="en-US" sz="1200" dirty="0"/>
          </a:p>
        </p:txBody>
      </p:sp>
      <p:sp>
        <p:nvSpPr>
          <p:cNvPr id="71" name="txt-D4-r3a"/>
          <p:cNvSpPr txBox="1"/>
          <p:nvPr/>
        </p:nvSpPr>
        <p:spPr>
          <a:xfrm>
            <a:off x="863346" y="84547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500" dirty="0"/>
          </a:p>
        </p:txBody>
      </p:sp>
      <p:sp>
        <p:nvSpPr>
          <p:cNvPr id="72" name="txt-D4-r3b"/>
          <p:cNvSpPr txBox="1"/>
          <p:nvPr/>
        </p:nvSpPr>
        <p:spPr>
          <a:xfrm>
            <a:off x="3556000" y="8479536"/>
            <a:ext cx="25584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활동, 대화 기록이 다섯 칸에</a:t>
            </a:r>
            <a:endParaRPr lang="en-US" sz="1200" dirty="0"/>
          </a:p>
        </p:txBody>
      </p:sp>
      <p:sp>
        <p:nvSpPr>
          <p:cNvPr id="73" name="txt-D4-r4a"/>
          <p:cNvSpPr txBox="1"/>
          <p:nvPr/>
        </p:nvSpPr>
        <p:spPr>
          <a:xfrm>
            <a:off x="863346" y="90008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500" dirty="0"/>
          </a:p>
        </p:txBody>
      </p:sp>
      <p:sp>
        <p:nvSpPr>
          <p:cNvPr id="74" name="txt-D4-r4b"/>
          <p:cNvSpPr txBox="1"/>
          <p:nvPr/>
        </p:nvSpPr>
        <p:spPr>
          <a:xfrm>
            <a:off x="3556000" y="9025636"/>
            <a:ext cx="273888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 고민에 맞는 책과 질문, 차시 자료 4종</a:t>
            </a:r>
            <a:endParaRPr lang="en-US" sz="1200" dirty="0"/>
          </a:p>
        </p:txBody>
      </p:sp>
      <p:sp>
        <p:nvSpPr>
          <p:cNvPr id="75" name="txt-D4-r5a"/>
          <p:cNvSpPr txBox="1"/>
          <p:nvPr/>
        </p:nvSpPr>
        <p:spPr>
          <a:xfrm>
            <a:off x="863346" y="95469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500" dirty="0"/>
          </a:p>
        </p:txBody>
      </p:sp>
      <p:sp>
        <p:nvSpPr>
          <p:cNvPr id="76" name="txt-D4-r5b"/>
          <p:cNvSpPr txBox="1"/>
          <p:nvPr/>
        </p:nvSpPr>
        <p:spPr>
          <a:xfrm>
            <a:off x="3556000" y="9571736"/>
            <a:ext cx="29131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운영계획부터 연수, 성과 보고, 기술 지원까지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508" y="495300"/>
            <a:ext cx="299154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162" y="2572766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023552" y="2755900"/>
            <a:ext cx="4155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30480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488950" y="32067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7" name="Shape 5"/>
          <p:cNvSpPr/>
          <p:nvPr/>
        </p:nvSpPr>
        <p:spPr>
          <a:xfrm>
            <a:off x="3843528" y="30480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4014978" y="32067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44704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488950" y="46291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1" name="Shape 9"/>
          <p:cNvSpPr/>
          <p:nvPr/>
        </p:nvSpPr>
        <p:spPr>
          <a:xfrm>
            <a:off x="3843528" y="44704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4978" y="46291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500" y="59944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6146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60960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65532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670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66548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500" y="71120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7264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72136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246" y="782243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077" y="8020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96" y="8020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077" y="807377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6413" y="811352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037" y="792822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413" y="788860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037" y="788860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4570" y="7998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500" y="8229600"/>
            <a:ext cx="6925056" cy="1930400"/>
          </a:xfrm>
          <a:prstGeom prst="roundRect">
            <a:avLst>
              <a:gd name="adj" fmla="val 5263"/>
            </a:avLst>
          </a:prstGeom>
          <a:solidFill>
            <a:srgbClr val="F6F5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4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0" y="1092200"/>
            <a:ext cx="1257300" cy="864108"/>
          </a:xfrm>
          <a:prstGeom prst="rect">
            <a:avLst/>
          </a:prstGeom>
        </p:spPr>
      </p:pic>
      <p:sp>
        <p:nvSpPr>
          <p:cNvPr id="35" name="txt-D5-hd"/>
          <p:cNvSpPr txBox="1"/>
          <p:nvPr/>
        </p:nvSpPr>
        <p:spPr>
          <a:xfrm>
            <a:off x="381000" y="295529"/>
            <a:ext cx="38145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300권, 원작의 가치를 살린 재구성</a:t>
            </a:r>
            <a:endParaRPr lang="en-US" sz="1700" dirty="0"/>
          </a:p>
        </p:txBody>
      </p:sp>
      <p:sp>
        <p:nvSpPr>
          <p:cNvPr id="36" name="txt-D5-h1"/>
          <p:cNvSpPr txBox="1"/>
          <p:nvPr/>
        </p:nvSpPr>
        <p:spPr>
          <a:xfrm>
            <a:off x="381000" y="766064"/>
            <a:ext cx="37021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ko-KR" altLang="en-US" sz="3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작가가</a:t>
            </a:r>
            <a:endParaRPr lang="en-US" sz="3400" dirty="0"/>
          </a:p>
        </p:txBody>
      </p:sp>
      <p:sp>
        <p:nvSpPr>
          <p:cNvPr id="37" name="txt-D5-h2"/>
          <p:cNvSpPr txBox="1"/>
          <p:nvPr/>
        </p:nvSpPr>
        <p:spPr>
          <a:xfrm>
            <a:off x="381000" y="1375664"/>
            <a:ext cx="5643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ko-KR" altLang="en-US" sz="3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300권을 다시 썼습니다.</a:t>
            </a:r>
            <a:endParaRPr lang="en-US" sz="3400" dirty="0"/>
          </a:p>
        </p:txBody>
      </p:sp>
      <p:sp>
        <p:nvSpPr>
          <p:cNvPr id="38" name="txt-D5-s1"/>
          <p:cNvSpPr txBox="1"/>
          <p:nvPr/>
        </p:nvSpPr>
        <p:spPr>
          <a:xfrm>
            <a:off x="863346" y="2540254"/>
            <a:ext cx="2145030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도서의 차별성</a:t>
            </a:r>
            <a:endParaRPr lang="en-US" sz="1950" dirty="0"/>
          </a:p>
        </p:txBody>
      </p:sp>
      <p:sp>
        <p:nvSpPr>
          <p:cNvPr id="39" name="txt-D5-b0n"/>
          <p:cNvSpPr txBox="1"/>
          <p:nvPr/>
        </p:nvSpPr>
        <p:spPr>
          <a:xfrm>
            <a:off x="469900" y="32358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xt-D5-b0a"/>
          <p:cNvSpPr txBox="1"/>
          <p:nvPr/>
        </p:nvSpPr>
        <p:spPr>
          <a:xfrm>
            <a:off x="800100" y="3194685"/>
            <a:ext cx="26162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원작의 가치를 살린 명작 재구성</a:t>
            </a:r>
            <a:endParaRPr lang="en-US" sz="1450" dirty="0"/>
          </a:p>
        </p:txBody>
      </p:sp>
      <p:sp>
        <p:nvSpPr>
          <p:cNvPr id="41" name="txt-D5-b0b"/>
          <p:cNvSpPr txBox="1"/>
          <p:nvPr/>
        </p:nvSpPr>
        <p:spPr>
          <a:xfrm>
            <a:off x="520700" y="3554984"/>
            <a:ext cx="2839466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원작의 줄거리, 인물, 주제와 정서를 지키며 학생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눈높이에 맞게 다시 씀</a:t>
            </a:r>
            <a:endParaRPr lang="en-US" sz="1100" dirty="0"/>
          </a:p>
        </p:txBody>
      </p:sp>
      <p:sp>
        <p:nvSpPr>
          <p:cNvPr id="42" name="txt-D5-b0c"/>
          <p:cNvSpPr txBox="1"/>
          <p:nvPr/>
        </p:nvSpPr>
        <p:spPr>
          <a:xfrm>
            <a:off x="520700" y="4034536"/>
            <a:ext cx="31767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고전과 명작의 문학적 가치, 독서교육의 질 확보</a:t>
            </a:r>
            <a:endParaRPr lang="en-US" sz="900" dirty="0"/>
          </a:p>
        </p:txBody>
      </p:sp>
      <p:sp>
        <p:nvSpPr>
          <p:cNvPr id="43" name="txt-D5-b1n"/>
          <p:cNvSpPr txBox="1"/>
          <p:nvPr/>
        </p:nvSpPr>
        <p:spPr>
          <a:xfrm>
            <a:off x="3995928" y="32358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xt-D5-b1a"/>
          <p:cNvSpPr txBox="1"/>
          <p:nvPr/>
        </p:nvSpPr>
        <p:spPr>
          <a:xfrm>
            <a:off x="4326128" y="3194685"/>
            <a:ext cx="2433066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작가의 공동 개발</a:t>
            </a:r>
            <a:endParaRPr lang="en-US" sz="1450" dirty="0"/>
          </a:p>
        </p:txBody>
      </p:sp>
      <p:sp>
        <p:nvSpPr>
          <p:cNvPr id="45" name="txt-D5-b1b"/>
          <p:cNvSpPr txBox="1"/>
          <p:nvPr/>
        </p:nvSpPr>
        <p:spPr>
          <a:xfrm>
            <a:off x="4046728" y="3554984"/>
            <a:ext cx="2892679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교사의 교육과정 이해와 학생 지도 경험에 작가의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문학적 표현을 더함</a:t>
            </a:r>
            <a:endParaRPr lang="en-US" sz="1100" dirty="0"/>
          </a:p>
        </p:txBody>
      </p:sp>
      <p:sp>
        <p:nvSpPr>
          <p:cNvPr id="46" name="txt-D5-b1c"/>
          <p:cNvSpPr txBox="1"/>
          <p:nvPr/>
        </p:nvSpPr>
        <p:spPr>
          <a:xfrm>
            <a:off x="4046728" y="4034536"/>
            <a:ext cx="29851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적합성과 문학적 완성도를 함께 갖춤</a:t>
            </a:r>
            <a:endParaRPr lang="en-US" sz="900" dirty="0"/>
          </a:p>
        </p:txBody>
      </p:sp>
      <p:sp>
        <p:nvSpPr>
          <p:cNvPr id="47" name="txt-D5-b2n"/>
          <p:cNvSpPr txBox="1"/>
          <p:nvPr/>
        </p:nvSpPr>
        <p:spPr>
          <a:xfrm>
            <a:off x="469900" y="46582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xt-D5-b2a"/>
          <p:cNvSpPr txBox="1"/>
          <p:nvPr/>
        </p:nvSpPr>
        <p:spPr>
          <a:xfrm>
            <a:off x="800100" y="4617085"/>
            <a:ext cx="2649347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 50권, 6년 300권의 체계</a:t>
            </a:r>
            <a:endParaRPr lang="en-US" sz="1450" dirty="0"/>
          </a:p>
        </p:txBody>
      </p:sp>
      <p:sp>
        <p:nvSpPr>
          <p:cNvPr id="49" name="txt-D5-b2b"/>
          <p:cNvSpPr txBox="1"/>
          <p:nvPr/>
        </p:nvSpPr>
        <p:spPr>
          <a:xfrm>
            <a:off x="520700" y="4977384"/>
            <a:ext cx="2860294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학년이 오를수록 이야기의 길이와 주제의 깊이가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넓어지는 독서 순서</a:t>
            </a:r>
            <a:endParaRPr lang="en-US" sz="1100" dirty="0"/>
          </a:p>
        </p:txBody>
      </p:sp>
      <p:sp>
        <p:nvSpPr>
          <p:cNvPr id="50" name="txt-D5-b2c"/>
          <p:cNvSpPr txBox="1"/>
          <p:nvPr/>
        </p:nvSpPr>
        <p:spPr>
          <a:xfrm>
            <a:off x="520700" y="5456936"/>
            <a:ext cx="27012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초등 6년 동안 이어지는 독서교육 기반</a:t>
            </a:r>
            <a:endParaRPr lang="en-US" sz="900" dirty="0"/>
          </a:p>
        </p:txBody>
      </p:sp>
      <p:sp>
        <p:nvSpPr>
          <p:cNvPr id="51" name="txt-D5-b3n"/>
          <p:cNvSpPr txBox="1"/>
          <p:nvPr/>
        </p:nvSpPr>
        <p:spPr>
          <a:xfrm>
            <a:off x="3995928" y="46582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xt-D5-b3a"/>
          <p:cNvSpPr txBox="1"/>
          <p:nvPr/>
        </p:nvSpPr>
        <p:spPr>
          <a:xfrm>
            <a:off x="4326128" y="4617085"/>
            <a:ext cx="2203577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 눈높이에 맞춘 가독성</a:t>
            </a:r>
            <a:endParaRPr lang="en-US" sz="1450" dirty="0"/>
          </a:p>
        </p:txBody>
      </p:sp>
      <p:sp>
        <p:nvSpPr>
          <p:cNvPr id="53" name="txt-D5-b3b"/>
          <p:cNvSpPr txBox="1"/>
          <p:nvPr/>
        </p:nvSpPr>
        <p:spPr>
          <a:xfrm>
            <a:off x="4046728" y="4977384"/>
            <a:ext cx="2871724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문장 길이, 어휘 수준, 이야기 전개를 학년별 읽기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능력에 맞춤</a:t>
            </a:r>
            <a:endParaRPr lang="en-US" sz="1100" dirty="0"/>
          </a:p>
        </p:txBody>
      </p:sp>
      <p:sp>
        <p:nvSpPr>
          <p:cNvPr id="54" name="txt-D5-b3c"/>
          <p:cNvSpPr txBox="1"/>
          <p:nvPr/>
        </p:nvSpPr>
        <p:spPr>
          <a:xfrm>
            <a:off x="4046728" y="5456936"/>
            <a:ext cx="27739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부담을 덜고 독서 참여 기회를 넓힘</a:t>
            </a:r>
            <a:endParaRPr lang="en-US" sz="900" dirty="0"/>
          </a:p>
        </p:txBody>
      </p:sp>
      <p:sp>
        <p:nvSpPr>
          <p:cNvPr id="55" name="txt-D5-s0n"/>
          <p:cNvSpPr txBox="1"/>
          <p:nvPr/>
        </p:nvSpPr>
        <p:spPr>
          <a:xfrm>
            <a:off x="419100" y="6168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850" dirty="0"/>
          </a:p>
        </p:txBody>
      </p:sp>
      <p:sp>
        <p:nvSpPr>
          <p:cNvPr id="56" name="txt-D5-s0a"/>
          <p:cNvSpPr txBox="1"/>
          <p:nvPr/>
        </p:nvSpPr>
        <p:spPr>
          <a:xfrm>
            <a:off x="736600" y="6132322"/>
            <a:ext cx="2577846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흥미와 정서적 친밀도를 높인 이야기</a:t>
            </a:r>
            <a:endParaRPr lang="en-US" sz="1250" dirty="0"/>
          </a:p>
        </p:txBody>
      </p:sp>
      <p:sp>
        <p:nvSpPr>
          <p:cNvPr id="57" name="txt-D5-s0b"/>
          <p:cNvSpPr txBox="1"/>
          <p:nvPr/>
        </p:nvSpPr>
        <p:spPr>
          <a:xfrm>
            <a:off x="3568700" y="6075426"/>
            <a:ext cx="316064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인물의 감정과 갈등을 알기 쉽게 쓰고 몰입을 돕는 삽화를 넣음</a:t>
            </a:r>
            <a:endParaRPr lang="en-US" sz="950" dirty="0"/>
          </a:p>
        </p:txBody>
      </p:sp>
      <p:sp>
        <p:nvSpPr>
          <p:cNvPr id="58" name="txt-D5-s0c"/>
          <p:cNvSpPr txBox="1"/>
          <p:nvPr/>
        </p:nvSpPr>
        <p:spPr>
          <a:xfrm>
            <a:off x="3568700" y="6250813"/>
            <a:ext cx="138544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흥미, 공감, 인물 이해</a:t>
            </a:r>
            <a:endParaRPr lang="en-US" sz="950" dirty="0"/>
          </a:p>
        </p:txBody>
      </p:sp>
      <p:sp>
        <p:nvSpPr>
          <p:cNvPr id="59" name="txt-D5-s1n"/>
          <p:cNvSpPr txBox="1"/>
          <p:nvPr/>
        </p:nvSpPr>
        <p:spPr>
          <a:xfrm>
            <a:off x="419100" y="67274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850" dirty="0"/>
          </a:p>
        </p:txBody>
      </p:sp>
      <p:sp>
        <p:nvSpPr>
          <p:cNvPr id="60" name="txt-D5-s1a"/>
          <p:cNvSpPr txBox="1"/>
          <p:nvPr/>
        </p:nvSpPr>
        <p:spPr>
          <a:xfrm>
            <a:off x="736600" y="6691122"/>
            <a:ext cx="2302383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한 권을 끝까지 읽도록 돕는 구성</a:t>
            </a:r>
            <a:endParaRPr lang="en-US" sz="1250" dirty="0"/>
          </a:p>
        </p:txBody>
      </p:sp>
      <p:sp>
        <p:nvSpPr>
          <p:cNvPr id="61" name="txt-D5-s1b"/>
          <p:cNvSpPr txBox="1"/>
          <p:nvPr/>
        </p:nvSpPr>
        <p:spPr>
          <a:xfrm>
            <a:off x="3568700" y="6634226"/>
            <a:ext cx="268160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학년별 알맞은 분량에 낱말 뜻, 읽어주기 기능을 더함</a:t>
            </a:r>
            <a:endParaRPr lang="en-US" sz="950" dirty="0"/>
          </a:p>
        </p:txBody>
      </p:sp>
      <p:sp>
        <p:nvSpPr>
          <p:cNvPr id="62" name="txt-D5-s1c"/>
          <p:cNvSpPr txBox="1"/>
          <p:nvPr/>
        </p:nvSpPr>
        <p:spPr>
          <a:xfrm>
            <a:off x="3568700" y="6809486"/>
            <a:ext cx="190550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중도 포기를 줄이고 완독 경험을 쌓음</a:t>
            </a:r>
            <a:endParaRPr lang="en-US" sz="950" dirty="0"/>
          </a:p>
        </p:txBody>
      </p:sp>
      <p:sp>
        <p:nvSpPr>
          <p:cNvPr id="63" name="txt-D5-s2n"/>
          <p:cNvSpPr txBox="1"/>
          <p:nvPr/>
        </p:nvSpPr>
        <p:spPr>
          <a:xfrm>
            <a:off x="419100" y="72862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850" dirty="0"/>
          </a:p>
        </p:txBody>
      </p:sp>
      <p:sp>
        <p:nvSpPr>
          <p:cNvPr id="64" name="txt-D5-s2a"/>
          <p:cNvSpPr txBox="1"/>
          <p:nvPr/>
        </p:nvSpPr>
        <p:spPr>
          <a:xfrm>
            <a:off x="736600" y="7249922"/>
            <a:ext cx="2577846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읽기에서 사고와 표현 수업으로 연결</a:t>
            </a:r>
            <a:endParaRPr lang="en-US" sz="1250" dirty="0"/>
          </a:p>
        </p:txBody>
      </p:sp>
      <p:sp>
        <p:nvSpPr>
          <p:cNvPr id="65" name="txt-D5-s2b"/>
          <p:cNvSpPr txBox="1"/>
          <p:nvPr/>
        </p:nvSpPr>
        <p:spPr>
          <a:xfrm>
            <a:off x="3568700" y="7193026"/>
            <a:ext cx="300659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책별 질문, 인물과 대화, 독후활동, 수업 지도안을 함께 제공</a:t>
            </a:r>
            <a:endParaRPr lang="en-US" sz="950" dirty="0"/>
          </a:p>
        </p:txBody>
      </p:sp>
      <p:sp>
        <p:nvSpPr>
          <p:cNvPr id="66" name="txt-D5-s2c"/>
          <p:cNvSpPr txBox="1"/>
          <p:nvPr/>
        </p:nvSpPr>
        <p:spPr>
          <a:xfrm>
            <a:off x="3568700" y="7368286"/>
            <a:ext cx="161417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질문, 해석, 표현 중심 독서수업</a:t>
            </a:r>
            <a:endParaRPr lang="en-US" sz="950" dirty="0"/>
          </a:p>
        </p:txBody>
      </p:sp>
      <p:sp>
        <p:nvSpPr>
          <p:cNvPr id="67" name="txt-D5-s2"/>
          <p:cNvSpPr txBox="1"/>
          <p:nvPr/>
        </p:nvSpPr>
        <p:spPr>
          <a:xfrm>
            <a:off x="863346" y="7783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 대표 작품</a:t>
            </a:r>
            <a:endParaRPr lang="en-US" sz="1950" dirty="0"/>
          </a:p>
        </p:txBody>
      </p:sp>
      <p:sp>
        <p:nvSpPr>
          <p:cNvPr id="68" name="txt-D5-g0a"/>
          <p:cNvSpPr txBox="1"/>
          <p:nvPr/>
        </p:nvSpPr>
        <p:spPr>
          <a:xfrm>
            <a:off x="584200" y="83718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1학년</a:t>
            </a:r>
            <a:endParaRPr lang="en-US" sz="1100" dirty="0"/>
          </a:p>
        </p:txBody>
      </p:sp>
      <p:sp>
        <p:nvSpPr>
          <p:cNvPr id="69" name="txt-D5-g0b"/>
          <p:cNvSpPr txBox="1"/>
          <p:nvPr/>
        </p:nvSpPr>
        <p:spPr>
          <a:xfrm>
            <a:off x="1270000" y="8371840"/>
            <a:ext cx="3935095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토끼와 거북이, 여우와 신 포도, 해와 달이 된 오누이, 금도끼 은도끼</a:t>
            </a:r>
            <a:endParaRPr lang="en-US" sz="1100" dirty="0"/>
          </a:p>
        </p:txBody>
      </p:sp>
      <p:sp>
        <p:nvSpPr>
          <p:cNvPr id="70" name="txt-D5-g1a"/>
          <p:cNvSpPr txBox="1"/>
          <p:nvPr/>
        </p:nvSpPr>
        <p:spPr>
          <a:xfrm>
            <a:off x="584200" y="86639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2학년</a:t>
            </a:r>
            <a:endParaRPr lang="en-US" sz="1100" dirty="0"/>
          </a:p>
        </p:txBody>
      </p:sp>
      <p:sp>
        <p:nvSpPr>
          <p:cNvPr id="71" name="txt-D5-g1b"/>
          <p:cNvSpPr txBox="1"/>
          <p:nvPr/>
        </p:nvSpPr>
        <p:spPr>
          <a:xfrm>
            <a:off x="1270000" y="8663940"/>
            <a:ext cx="3011297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미운 오리 새끼, 브레멘 음악대, 콩쥐팥쥐, 별주부전</a:t>
            </a:r>
            <a:endParaRPr lang="en-US" sz="1100" dirty="0"/>
          </a:p>
        </p:txBody>
      </p:sp>
      <p:sp>
        <p:nvSpPr>
          <p:cNvPr id="72" name="txt-D5-g2a"/>
          <p:cNvSpPr txBox="1"/>
          <p:nvPr/>
        </p:nvSpPr>
        <p:spPr>
          <a:xfrm>
            <a:off x="584200" y="89560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3학년</a:t>
            </a:r>
            <a:endParaRPr lang="en-US" sz="1100" dirty="0"/>
          </a:p>
        </p:txBody>
      </p:sp>
      <p:sp>
        <p:nvSpPr>
          <p:cNvPr id="73" name="txt-D5-g2b"/>
          <p:cNvSpPr txBox="1"/>
          <p:nvPr/>
        </p:nvSpPr>
        <p:spPr>
          <a:xfrm>
            <a:off x="1270000" y="8956040"/>
            <a:ext cx="320852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행복한 왕자, 눈의 여왕, 플랜더스의 개, 은혜 갚은 까치</a:t>
            </a:r>
            <a:endParaRPr lang="en-US" sz="1100" dirty="0"/>
          </a:p>
        </p:txBody>
      </p:sp>
      <p:sp>
        <p:nvSpPr>
          <p:cNvPr id="74" name="txt-D5-g3a"/>
          <p:cNvSpPr txBox="1"/>
          <p:nvPr/>
        </p:nvSpPr>
        <p:spPr>
          <a:xfrm>
            <a:off x="584200" y="92481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4학년</a:t>
            </a:r>
            <a:endParaRPr lang="en-US" sz="1100" dirty="0"/>
          </a:p>
        </p:txBody>
      </p:sp>
      <p:sp>
        <p:nvSpPr>
          <p:cNvPr id="75" name="txt-D5-g3b"/>
          <p:cNvSpPr txBox="1"/>
          <p:nvPr/>
        </p:nvSpPr>
        <p:spPr>
          <a:xfrm>
            <a:off x="1270000" y="9248140"/>
            <a:ext cx="274662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어린 왕자, 오즈의 마법사, 작은 아씨들, 심청전</a:t>
            </a:r>
            <a:endParaRPr lang="en-US" sz="1100" dirty="0"/>
          </a:p>
        </p:txBody>
      </p:sp>
      <p:sp>
        <p:nvSpPr>
          <p:cNvPr id="76" name="txt-D5-g4a"/>
          <p:cNvSpPr txBox="1"/>
          <p:nvPr/>
        </p:nvSpPr>
        <p:spPr>
          <a:xfrm>
            <a:off x="584200" y="95402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5학년</a:t>
            </a:r>
            <a:endParaRPr lang="en-US" sz="1100" dirty="0"/>
          </a:p>
        </p:txBody>
      </p:sp>
      <p:sp>
        <p:nvSpPr>
          <p:cNvPr id="77" name="txt-D5-g4b"/>
          <p:cNvSpPr txBox="1"/>
          <p:nvPr/>
        </p:nvSpPr>
        <p:spPr>
          <a:xfrm>
            <a:off x="1270000" y="9540240"/>
            <a:ext cx="303872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빨간 머리 앤, 80일간의 세계일주, 홍길동전, 춘향전</a:t>
            </a:r>
            <a:endParaRPr lang="en-US" sz="1100" dirty="0"/>
          </a:p>
        </p:txBody>
      </p:sp>
      <p:sp>
        <p:nvSpPr>
          <p:cNvPr id="78" name="txt-D5-g5a"/>
          <p:cNvSpPr txBox="1"/>
          <p:nvPr/>
        </p:nvSpPr>
        <p:spPr>
          <a:xfrm>
            <a:off x="584200" y="98323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6학년</a:t>
            </a:r>
            <a:endParaRPr lang="en-US" sz="1100" dirty="0"/>
          </a:p>
        </p:txBody>
      </p:sp>
      <p:sp>
        <p:nvSpPr>
          <p:cNvPr id="79" name="txt-D5-g5b"/>
          <p:cNvSpPr txBox="1"/>
          <p:nvPr/>
        </p:nvSpPr>
        <p:spPr>
          <a:xfrm>
            <a:off x="1270000" y="9832340"/>
            <a:ext cx="3373247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레 미제라블, 큰 바위 얼굴, 삼국지, 하늘과 바람과 별과 시</a:t>
            </a:r>
            <a:endParaRPr lang="en-US" sz="1100" dirty="0"/>
          </a:p>
        </p:txBody>
      </p:sp>
      <p:sp>
        <p:nvSpPr>
          <p:cNvPr id="80" name="txt-D5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0552" y="495300"/>
            <a:ext cx="3778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590451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9780" y="2755900"/>
            <a:ext cx="309927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18161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3147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4813300" y="3606800"/>
            <a:ext cx="2429256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9" name="Shape 7"/>
          <p:cNvSpPr/>
          <p:nvPr/>
        </p:nvSpPr>
        <p:spPr>
          <a:xfrm>
            <a:off x="405213" y="4480719"/>
            <a:ext cx="281775" cy="204940"/>
          </a:xfrm>
          <a:custGeom>
            <a:avLst/>
            <a:gdLst/>
            <a:ahLst/>
            <a:cxnLst/>
            <a:rect l="l" t="t" r="r" b="b"/>
            <a:pathLst>
              <a:path w="281775" h="204940">
                <a:moveTo>
                  <a:pt x="64025" y="204898"/>
                </a:moveTo>
                <a:lnTo>
                  <a:pt x="217695" y="204898"/>
                </a:lnTo>
                <a:cubicBezTo>
                  <a:pt x="253094" y="204898"/>
                  <a:pt x="281733" y="176259"/>
                  <a:pt x="281733" y="140860"/>
                </a:cubicBezTo>
                <a:lnTo>
                  <a:pt x="281733" y="64025"/>
                </a:lnTo>
                <a:cubicBezTo>
                  <a:pt x="281733" y="28638"/>
                  <a:pt x="253094" y="0"/>
                  <a:pt x="217695" y="0"/>
                </a:cubicBezTo>
                <a:lnTo>
                  <a:pt x="64025" y="0"/>
                </a:lnTo>
                <a:cubicBezTo>
                  <a:pt x="28638" y="0"/>
                  <a:pt x="0" y="28638"/>
                  <a:pt x="0" y="64025"/>
                </a:cubicBezTo>
                <a:lnTo>
                  <a:pt x="0" y="140860"/>
                </a:lnTo>
                <a:cubicBezTo>
                  <a:pt x="0" y="176259"/>
                  <a:pt x="28638" y="204898"/>
                  <a:pt x="64025" y="20489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630" y="4685659"/>
            <a:ext cx="25565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630" y="4685659"/>
            <a:ext cx="102400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710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35832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9815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6723" y="4646168"/>
            <a:ext cx="317233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5486400"/>
            <a:ext cx="5334000" cy="584200"/>
          </a:xfrm>
          <a:prstGeom prst="roundRect">
            <a:avLst>
              <a:gd name="adj" fmla="val 17391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27700" y="5486400"/>
            <a:ext cx="1514856" cy="584200"/>
          </a:xfrm>
          <a:prstGeom prst="roundRect">
            <a:avLst>
              <a:gd name="adj" fmla="val 17391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8065" y="6404845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30" y="6571367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735" y="6443262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23896" y="65638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500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3" name="Shape 21"/>
          <p:cNvSpPr/>
          <p:nvPr/>
        </p:nvSpPr>
        <p:spPr>
          <a:xfrm>
            <a:off x="2116667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4" name="Shape 22"/>
          <p:cNvSpPr/>
          <p:nvPr/>
        </p:nvSpPr>
        <p:spPr>
          <a:xfrm>
            <a:off x="3915833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5" name="Shape 23"/>
          <p:cNvSpPr/>
          <p:nvPr/>
        </p:nvSpPr>
        <p:spPr>
          <a:xfrm>
            <a:off x="317500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6" name="Shape 24"/>
          <p:cNvSpPr/>
          <p:nvPr/>
        </p:nvSpPr>
        <p:spPr>
          <a:xfrm>
            <a:off x="2116667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915833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8" name="Shape 26"/>
          <p:cNvSpPr/>
          <p:nvPr/>
        </p:nvSpPr>
        <p:spPr>
          <a:xfrm>
            <a:off x="317500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9" name="Shape 27"/>
          <p:cNvSpPr/>
          <p:nvPr/>
        </p:nvSpPr>
        <p:spPr>
          <a:xfrm>
            <a:off x="2116667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30" name="Shape 28"/>
          <p:cNvSpPr/>
          <p:nvPr/>
        </p:nvSpPr>
        <p:spPr>
          <a:xfrm>
            <a:off x="3915833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7700" y="7073900"/>
            <a:ext cx="1514856" cy="901700"/>
          </a:xfrm>
          <a:prstGeom prst="roundRect">
            <a:avLst>
              <a:gd name="adj" fmla="val 11268"/>
            </a:avLst>
          </a:prstGeom>
          <a:solidFill>
            <a:srgbClr val="F0F5E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3225" y="81934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3" name="Shape 31"/>
          <p:cNvSpPr/>
          <p:nvPr/>
        </p:nvSpPr>
        <p:spPr>
          <a:xfrm>
            <a:off x="403225" y="841565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4" name="Shape 32"/>
          <p:cNvSpPr/>
          <p:nvPr/>
        </p:nvSpPr>
        <p:spPr>
          <a:xfrm>
            <a:off x="403225" y="86379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0847" y="9033383"/>
            <a:ext cx="230505" cy="282194"/>
          </a:xfrm>
          <a:custGeom>
            <a:avLst/>
            <a:gdLst/>
            <a:ahLst/>
            <a:cxnLst/>
            <a:rect l="l" t="t" r="r" b="b"/>
            <a:pathLst>
              <a:path w="230505" h="282194">
                <a:moveTo>
                  <a:pt x="0" y="0"/>
                </a:moveTo>
                <a:lnTo>
                  <a:pt x="153670" y="0"/>
                </a:lnTo>
                <a:lnTo>
                  <a:pt x="230505" y="76835"/>
                </a:lnTo>
                <a:lnTo>
                  <a:pt x="230505" y="282194"/>
                </a:lnTo>
                <a:lnTo>
                  <a:pt x="0" y="282194"/>
                </a:lnTo>
                <a:lnTo>
                  <a:pt x="0" y="0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537" y="9152128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537" y="9205214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537" y="9258300"/>
            <a:ext cx="81026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3896" y="92054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4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43" name="txt-D6-hd"/>
          <p:cNvSpPr txBox="1"/>
          <p:nvPr/>
        </p:nvSpPr>
        <p:spPr>
          <a:xfrm>
            <a:off x="381000" y="295529"/>
            <a:ext cx="300393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경험하는 부기 독서수업</a:t>
            </a:r>
            <a:endParaRPr lang="en-US" sz="1700" dirty="0"/>
          </a:p>
        </p:txBody>
      </p:sp>
      <p:sp>
        <p:nvSpPr>
          <p:cNvPr id="44" name="txt-D6-h1"/>
          <p:cNvSpPr txBox="1"/>
          <p:nvPr/>
        </p:nvSpPr>
        <p:spPr>
          <a:xfrm>
            <a:off x="381000" y="727710"/>
            <a:ext cx="414299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반 전체가 같은 책을</a:t>
            </a:r>
            <a:endParaRPr lang="en-US" sz="3700" dirty="0"/>
          </a:p>
        </p:txBody>
      </p:sp>
      <p:sp>
        <p:nvSpPr>
          <p:cNvPr id="45" name="txt-D6-h2"/>
          <p:cNvSpPr txBox="1"/>
          <p:nvPr/>
        </p:nvSpPr>
        <p:spPr>
          <a:xfrm>
            <a:off x="381000" y="1388110"/>
            <a:ext cx="4658487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끝까지 읽고 답합니다.</a:t>
            </a:r>
            <a:endParaRPr lang="en-US" sz="3700" dirty="0"/>
          </a:p>
        </p:txBody>
      </p:sp>
      <p:sp>
        <p:nvSpPr>
          <p:cNvPr id="46" name="txt-D6-s1"/>
          <p:cNvSpPr txBox="1"/>
          <p:nvPr/>
        </p:nvSpPr>
        <p:spPr>
          <a:xfrm>
            <a:off x="863346" y="2540254"/>
            <a:ext cx="3232912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950" dirty="0"/>
          </a:p>
        </p:txBody>
      </p:sp>
      <p:sp>
        <p:nvSpPr>
          <p:cNvPr id="47" name="txt-D6-1b"/>
          <p:cNvSpPr txBox="1"/>
          <p:nvPr/>
        </p:nvSpPr>
        <p:spPr>
          <a:xfrm>
            <a:off x="381000" y="2946781"/>
            <a:ext cx="6815328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현직 교사와 작가가 원작을 살려 학년 눈높이로 다시 쓴 명작을, 반 전체가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의 도움을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받아 끝까지 읽습니다.</a:t>
            </a:r>
            <a:endParaRPr lang="en-US" sz="1250" dirty="0"/>
          </a:p>
        </p:txBody>
      </p:sp>
      <p:sp>
        <p:nvSpPr>
          <p:cNvPr id="48" name="txt-D6-1c0a"/>
          <p:cNvSpPr txBox="1"/>
          <p:nvPr/>
        </p:nvSpPr>
        <p:spPr>
          <a:xfrm>
            <a:off x="3175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</a:t>
            </a:r>
            <a:endParaRPr lang="en-US" sz="1100" dirty="0"/>
          </a:p>
        </p:txBody>
      </p:sp>
      <p:sp>
        <p:nvSpPr>
          <p:cNvPr id="49" name="txt-D6-1c0b"/>
          <p:cNvSpPr txBox="1"/>
          <p:nvPr/>
        </p:nvSpPr>
        <p:spPr>
          <a:xfrm>
            <a:off x="3175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누르면 그 자리에서</a:t>
            </a:r>
            <a:endParaRPr lang="en-US" sz="920" dirty="0"/>
          </a:p>
        </p:txBody>
      </p:sp>
      <p:sp>
        <p:nvSpPr>
          <p:cNvPr id="50" name="txt-D6-1c1a"/>
          <p:cNvSpPr txBox="1"/>
          <p:nvPr/>
        </p:nvSpPr>
        <p:spPr>
          <a:xfrm>
            <a:off x="18161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endParaRPr lang="en-US" sz="1100" dirty="0"/>
          </a:p>
        </p:txBody>
      </p:sp>
      <p:sp>
        <p:nvSpPr>
          <p:cNvPr id="51" name="txt-D6-1c1b"/>
          <p:cNvSpPr txBox="1"/>
          <p:nvPr/>
        </p:nvSpPr>
        <p:spPr>
          <a:xfrm>
            <a:off x="18161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소리로 들으며 읽기</a:t>
            </a:r>
            <a:endParaRPr lang="en-US" sz="920" dirty="0"/>
          </a:p>
        </p:txBody>
      </p:sp>
      <p:sp>
        <p:nvSpPr>
          <p:cNvPr id="52" name="txt-D6-1c2a"/>
          <p:cNvSpPr txBox="1"/>
          <p:nvPr/>
        </p:nvSpPr>
        <p:spPr>
          <a:xfrm>
            <a:off x="33147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글자 크기</a:t>
            </a:r>
            <a:endParaRPr lang="en-US" sz="1100" dirty="0"/>
          </a:p>
        </p:txBody>
      </p:sp>
      <p:sp>
        <p:nvSpPr>
          <p:cNvPr id="53" name="txt-D6-1c2b"/>
          <p:cNvSpPr txBox="1"/>
          <p:nvPr/>
        </p:nvSpPr>
        <p:spPr>
          <a:xfrm>
            <a:off x="33147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편한 크기로</a:t>
            </a:r>
            <a:endParaRPr lang="en-US" sz="920" dirty="0"/>
          </a:p>
        </p:txBody>
      </p:sp>
      <p:sp>
        <p:nvSpPr>
          <p:cNvPr id="54" name="txt-D6-1c3a"/>
          <p:cNvSpPr txBox="1"/>
          <p:nvPr/>
        </p:nvSpPr>
        <p:spPr>
          <a:xfrm>
            <a:off x="4813300" y="3704590"/>
            <a:ext cx="2429256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1~4학년 200권, 4개 언어 나란히</a:t>
            </a:r>
            <a:endParaRPr lang="en-US" sz="1100" dirty="0"/>
          </a:p>
        </p:txBody>
      </p:sp>
      <p:sp>
        <p:nvSpPr>
          <p:cNvPr id="55" name="txt-D6-1c3b"/>
          <p:cNvSpPr txBox="1"/>
          <p:nvPr/>
        </p:nvSpPr>
        <p:spPr>
          <a:xfrm>
            <a:off x="4813300" y="3923538"/>
            <a:ext cx="24292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한국어   English   Tiếng Việt   Русский</a:t>
            </a:r>
            <a:endParaRPr lang="en-US" sz="920" dirty="0"/>
          </a:p>
        </p:txBody>
      </p:sp>
      <p:sp>
        <p:nvSpPr>
          <p:cNvPr id="56" name="txt-D6-s2"/>
          <p:cNvSpPr txBox="1"/>
          <p:nvPr/>
        </p:nvSpPr>
        <p:spPr>
          <a:xfrm>
            <a:off x="863346" y="4430522"/>
            <a:ext cx="3157728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950" dirty="0"/>
          </a:p>
        </p:txBody>
      </p:sp>
      <p:sp>
        <p:nvSpPr>
          <p:cNvPr id="57" name="txt-D6-2b"/>
          <p:cNvSpPr txBox="1"/>
          <p:nvPr/>
        </p:nvSpPr>
        <p:spPr>
          <a:xfrm>
            <a:off x="381000" y="4839081"/>
            <a:ext cx="6664833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다 읽으면 인물이 된 부기가 장면마다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미리 쓴 질문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묻고, 학생은 인물의 자리에서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까닭을 들어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답합니다. 답이 짧으면 한 번 더 묻습니다.</a:t>
            </a:r>
            <a:endParaRPr lang="en-US" sz="1250" dirty="0"/>
          </a:p>
        </p:txBody>
      </p:sp>
      <p:sp>
        <p:nvSpPr>
          <p:cNvPr id="58" name="txt-D6-2q1"/>
          <p:cNvSpPr txBox="1"/>
          <p:nvPr/>
        </p:nvSpPr>
        <p:spPr>
          <a:xfrm>
            <a:off x="508000" y="5599938"/>
            <a:ext cx="19768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「행복한 왕자」 인물이 된 부기의 질문</a:t>
            </a:r>
            <a:endParaRPr lang="en-US" sz="920" dirty="0"/>
          </a:p>
        </p:txBody>
      </p:sp>
      <p:sp>
        <p:nvSpPr>
          <p:cNvPr id="59" name="txt-D6-2q2"/>
          <p:cNvSpPr txBox="1"/>
          <p:nvPr/>
        </p:nvSpPr>
        <p:spPr>
          <a:xfrm>
            <a:off x="508000" y="5788025"/>
            <a:ext cx="3466973" cy="30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ko-KR" altLang="en-US" sz="13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“당신이라면 그렇게 했을까요? 왜 그런가요?”</a:t>
            </a:r>
            <a:endParaRPr lang="en-US" sz="1350" dirty="0"/>
          </a:p>
        </p:txBody>
      </p:sp>
      <p:sp>
        <p:nvSpPr>
          <p:cNvPr id="60" name="txt-D6-2p1"/>
          <p:cNvSpPr txBox="1"/>
          <p:nvPr/>
        </p:nvSpPr>
        <p:spPr>
          <a:xfrm>
            <a:off x="5727700" y="5559552"/>
            <a:ext cx="151485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특허 등록</a:t>
            </a:r>
            <a:endParaRPr lang="en-US" sz="1400" dirty="0"/>
          </a:p>
        </p:txBody>
      </p:sp>
      <p:sp>
        <p:nvSpPr>
          <p:cNvPr id="61" name="txt-D6-2p2"/>
          <p:cNvSpPr txBox="1"/>
          <p:nvPr/>
        </p:nvSpPr>
        <p:spPr>
          <a:xfrm>
            <a:off x="5727700" y="58285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캐릭터 대화</a:t>
            </a:r>
            <a:endParaRPr lang="en-US" sz="920" dirty="0"/>
          </a:p>
        </p:txBody>
      </p:sp>
      <p:sp>
        <p:nvSpPr>
          <p:cNvPr id="62" name="txt-D6-s3"/>
          <p:cNvSpPr txBox="1"/>
          <p:nvPr/>
        </p:nvSpPr>
        <p:spPr>
          <a:xfrm>
            <a:off x="863346" y="63482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950" dirty="0"/>
          </a:p>
        </p:txBody>
      </p:sp>
      <p:sp>
        <p:nvSpPr>
          <p:cNvPr id="63" name="txt-D6-3h"/>
          <p:cNvSpPr txBox="1"/>
          <p:nvPr/>
        </p:nvSpPr>
        <p:spPr>
          <a:xfrm>
            <a:off x="381000" y="6809740"/>
            <a:ext cx="486537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화면 활동 카드 9가지</a:t>
            </a:r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 교사가 고르면 우리 반 책에 맞춘 카드가 학생 화면에 뜹니다.</a:t>
            </a:r>
            <a:endParaRPr lang="en-US" sz="1100" dirty="0"/>
          </a:p>
        </p:txBody>
      </p:sp>
      <p:sp>
        <p:nvSpPr>
          <p:cNvPr id="64" name="txt-D6-3c0"/>
          <p:cNvSpPr txBox="1"/>
          <p:nvPr/>
        </p:nvSpPr>
        <p:spPr>
          <a:xfrm>
            <a:off x="317500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인물과 대화</a:t>
            </a:r>
            <a:endParaRPr lang="en-US" sz="980" dirty="0"/>
          </a:p>
        </p:txBody>
      </p:sp>
      <p:sp>
        <p:nvSpPr>
          <p:cNvPr id="65" name="txt-D6-3c1"/>
          <p:cNvSpPr txBox="1"/>
          <p:nvPr/>
        </p:nvSpPr>
        <p:spPr>
          <a:xfrm>
            <a:off x="2116709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함께 쓰는 교실</a:t>
            </a:r>
            <a:endParaRPr lang="en-US" sz="980" dirty="0"/>
          </a:p>
        </p:txBody>
      </p:sp>
      <p:sp>
        <p:nvSpPr>
          <p:cNvPr id="66" name="txt-D6-3c2"/>
          <p:cNvSpPr txBox="1"/>
          <p:nvPr/>
        </p:nvSpPr>
        <p:spPr>
          <a:xfrm>
            <a:off x="3915791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마음에 남은 장면</a:t>
            </a:r>
            <a:endParaRPr lang="en-US" sz="980" dirty="0"/>
          </a:p>
        </p:txBody>
      </p:sp>
      <p:sp>
        <p:nvSpPr>
          <p:cNvPr id="67" name="txt-D6-3c3"/>
          <p:cNvSpPr txBox="1"/>
          <p:nvPr/>
        </p:nvSpPr>
        <p:spPr>
          <a:xfrm>
            <a:off x="317500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별점과 까닭</a:t>
            </a:r>
            <a:endParaRPr lang="en-US" sz="980" dirty="0"/>
          </a:p>
        </p:txBody>
      </p:sp>
      <p:sp>
        <p:nvSpPr>
          <p:cNvPr id="68" name="txt-D6-3c4"/>
          <p:cNvSpPr txBox="1"/>
          <p:nvPr/>
        </p:nvSpPr>
        <p:spPr>
          <a:xfrm>
            <a:off x="2116709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기억에 남는 낱말 셋</a:t>
            </a:r>
            <a:endParaRPr lang="en-US" sz="980" dirty="0"/>
          </a:p>
        </p:txBody>
      </p:sp>
      <p:sp>
        <p:nvSpPr>
          <p:cNvPr id="69" name="txt-D6-3c5"/>
          <p:cNvSpPr txBox="1"/>
          <p:nvPr/>
        </p:nvSpPr>
        <p:spPr>
          <a:xfrm>
            <a:off x="3915791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인물에게 편지</a:t>
            </a:r>
            <a:endParaRPr lang="en-US" sz="980" dirty="0"/>
          </a:p>
        </p:txBody>
      </p:sp>
      <p:sp>
        <p:nvSpPr>
          <p:cNvPr id="70" name="txt-D6-3c6"/>
          <p:cNvSpPr txBox="1"/>
          <p:nvPr/>
        </p:nvSpPr>
        <p:spPr>
          <a:xfrm>
            <a:off x="317500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속마음 말풍선</a:t>
            </a:r>
            <a:endParaRPr lang="en-US" sz="980" dirty="0"/>
          </a:p>
        </p:txBody>
      </p:sp>
      <p:sp>
        <p:nvSpPr>
          <p:cNvPr id="71" name="txt-D6-3c7"/>
          <p:cNvSpPr txBox="1"/>
          <p:nvPr/>
        </p:nvSpPr>
        <p:spPr>
          <a:xfrm>
            <a:off x="2116709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그림으로 표현하기</a:t>
            </a:r>
            <a:endParaRPr lang="en-US" sz="980" dirty="0"/>
          </a:p>
        </p:txBody>
      </p:sp>
      <p:sp>
        <p:nvSpPr>
          <p:cNvPr id="72" name="txt-D6-3c8"/>
          <p:cNvSpPr txBox="1"/>
          <p:nvPr/>
        </p:nvSpPr>
        <p:spPr>
          <a:xfrm>
            <a:off x="3915791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 짐작, 읽은 후 확인</a:t>
            </a:r>
            <a:endParaRPr lang="en-US" sz="980" dirty="0"/>
          </a:p>
        </p:txBody>
      </p:sp>
      <p:sp>
        <p:nvSpPr>
          <p:cNvPr id="73" name="txt-D6-3n1"/>
          <p:cNvSpPr txBox="1"/>
          <p:nvPr/>
        </p:nvSpPr>
        <p:spPr>
          <a:xfrm>
            <a:off x="5727700" y="7180707"/>
            <a:ext cx="1514856" cy="49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ko-KR" altLang="en-US" sz="22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200" dirty="0"/>
          </a:p>
        </p:txBody>
      </p:sp>
      <p:sp>
        <p:nvSpPr>
          <p:cNvPr id="74" name="txt-D6-3n2"/>
          <p:cNvSpPr txBox="1"/>
          <p:nvPr/>
        </p:nvSpPr>
        <p:spPr>
          <a:xfrm>
            <a:off x="5727700" y="7565136"/>
            <a:ext cx="1514856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달 독후활동</a:t>
            </a:r>
            <a:endParaRPr lang="en-US" sz="950" dirty="0"/>
          </a:p>
        </p:txBody>
      </p:sp>
      <p:sp>
        <p:nvSpPr>
          <p:cNvPr id="75" name="txt-D6-3n3"/>
          <p:cNvSpPr txBox="1"/>
          <p:nvPr/>
        </p:nvSpPr>
        <p:spPr>
          <a:xfrm>
            <a:off x="5727700" y="7742682"/>
            <a:ext cx="1514856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선도교사단 72학급</a:t>
            </a:r>
            <a:endParaRPr lang="en-US" sz="850" dirty="0"/>
          </a:p>
        </p:txBody>
      </p:sp>
      <p:sp>
        <p:nvSpPr>
          <p:cNvPr id="76" name="txt-D6-3l0a"/>
          <p:cNvSpPr txBox="1"/>
          <p:nvPr/>
        </p:nvSpPr>
        <p:spPr>
          <a:xfrm>
            <a:off x="533400" y="8136763"/>
            <a:ext cx="103289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활동 20가지</a:t>
            </a:r>
            <a:endParaRPr lang="en-US" sz="1050" dirty="0"/>
          </a:p>
        </p:txBody>
      </p:sp>
      <p:sp>
        <p:nvSpPr>
          <p:cNvPr id="77" name="txt-D6-3l0b"/>
          <p:cNvSpPr txBox="1"/>
          <p:nvPr/>
        </p:nvSpPr>
        <p:spPr>
          <a:xfrm>
            <a:off x="2184400" y="8136763"/>
            <a:ext cx="394258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표지와 제목으로 상상하기, 인물 마음 지도 그리기, 역할극과 낭독극 등</a:t>
            </a:r>
            <a:endParaRPr lang="en-US" sz="1050" dirty="0"/>
          </a:p>
        </p:txBody>
      </p:sp>
      <p:sp>
        <p:nvSpPr>
          <p:cNvPr id="78" name="txt-D6-3l1a"/>
          <p:cNvSpPr txBox="1"/>
          <p:nvPr/>
        </p:nvSpPr>
        <p:spPr>
          <a:xfrm>
            <a:off x="533400" y="8359013"/>
            <a:ext cx="1392682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도장 4종과 한 줄 피드백</a:t>
            </a:r>
            <a:endParaRPr lang="en-US" sz="1050" dirty="0"/>
          </a:p>
        </p:txBody>
      </p:sp>
      <p:sp>
        <p:nvSpPr>
          <p:cNvPr id="79" name="txt-D6-3l1b"/>
          <p:cNvSpPr txBox="1"/>
          <p:nvPr/>
        </p:nvSpPr>
        <p:spPr>
          <a:xfrm>
            <a:off x="2184400" y="8359013"/>
            <a:ext cx="3474974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참 잘했어요, 멋진 생각이에요, 조금 더 자세히, 다시 읽어 봐요</a:t>
            </a:r>
            <a:endParaRPr lang="en-US" sz="1050" dirty="0"/>
          </a:p>
        </p:txBody>
      </p:sp>
      <p:sp>
        <p:nvSpPr>
          <p:cNvPr id="80" name="txt-D6-3l2a"/>
          <p:cNvSpPr txBox="1"/>
          <p:nvPr/>
        </p:nvSpPr>
        <p:spPr>
          <a:xfrm>
            <a:off x="533400" y="8581263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실물 자료</a:t>
            </a:r>
            <a:endParaRPr lang="en-US" sz="1050" dirty="0"/>
          </a:p>
        </p:txBody>
      </p:sp>
      <p:sp>
        <p:nvSpPr>
          <p:cNvPr id="81" name="txt-D6-3l2b"/>
          <p:cNvSpPr txBox="1"/>
          <p:nvPr/>
        </p:nvSpPr>
        <p:spPr>
          <a:xfrm>
            <a:off x="2184400" y="8581263"/>
            <a:ext cx="3849243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책 옷장 책갈피 32종, 스티커북 5권, 색칠 꾸미기형 종이인형 23권</a:t>
            </a:r>
            <a:endParaRPr lang="en-US" sz="1050" dirty="0"/>
          </a:p>
        </p:txBody>
      </p:sp>
      <p:sp>
        <p:nvSpPr>
          <p:cNvPr id="82" name="txt-D6-s4"/>
          <p:cNvSpPr txBox="1"/>
          <p:nvPr/>
        </p:nvSpPr>
        <p:spPr>
          <a:xfrm>
            <a:off x="863346" y="89898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950" dirty="0"/>
          </a:p>
        </p:txBody>
      </p:sp>
      <p:sp>
        <p:nvSpPr>
          <p:cNvPr id="83" name="txt-D6-4b"/>
          <p:cNvSpPr txBox="1"/>
          <p:nvPr/>
        </p:nvSpPr>
        <p:spPr>
          <a:xfrm>
            <a:off x="381000" y="9398381"/>
            <a:ext cx="6650101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마음에 남은 장면 같은 활동, 인물과 나눈 대화가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숙제 없이 다섯 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모입니다. 학생은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1~6학년 6년 기록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자기 성장 과정을 돌아봅니다.</a:t>
            </a:r>
            <a:endParaRPr lang="en-US" sz="1250" dirty="0"/>
          </a:p>
        </p:txBody>
      </p:sp>
      <p:sp>
        <p:nvSpPr>
          <p:cNvPr id="84" name="txt-D6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4687" y="495300"/>
            <a:ext cx="346436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0246" y="2579370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077" y="2777871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96" y="2777871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077" y="2830703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6413" y="2870454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6037" y="2685161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413" y="2645537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037" y="2645537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4570" y="2755900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500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9100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9564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01164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1628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983228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3692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5292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500" y="3962400"/>
            <a:ext cx="6925056" cy="1371600"/>
          </a:xfrm>
          <a:prstGeom prst="roundRect">
            <a:avLst>
              <a:gd name="adj" fmla="val 7407"/>
            </a:avLst>
          </a:prstGeom>
          <a:solidFill>
            <a:srgbClr val="F6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006" y="572268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494856" y="566451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4706" y="560622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556" y="554805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2784570" y="5712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500" y="6210300"/>
            <a:ext cx="6925056" cy="266700"/>
          </a:xfrm>
          <a:prstGeom prst="roundRect">
            <a:avLst>
              <a:gd name="adj" fmla="val 28571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17500" y="65278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70000" y="65913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0612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70000" y="71247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500" y="75946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70000" y="76581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500" y="81280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0F5EF"/>
          </a:solidFill>
          <a:ln/>
        </p:spPr>
      </p:sp>
      <p:sp>
        <p:nvSpPr>
          <p:cNvPr id="34" name="Shape 32"/>
          <p:cNvSpPr/>
          <p:nvPr/>
        </p:nvSpPr>
        <p:spPr>
          <a:xfrm>
            <a:off x="1270000" y="81915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500" y="86614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270000" y="87249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7500" y="9372600"/>
            <a:ext cx="6925056" cy="609600"/>
          </a:xfrm>
          <a:prstGeom prst="roundRect">
            <a:avLst>
              <a:gd name="adj" fmla="val 16667"/>
            </a:avLst>
          </a:prstGeom>
          <a:solidFill>
            <a:srgbClr val="F0F5EF"/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4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0" y="1041400"/>
            <a:ext cx="1739900" cy="1195070"/>
          </a:xfrm>
          <a:prstGeom prst="rect">
            <a:avLst/>
          </a:prstGeom>
        </p:spPr>
      </p:pic>
      <p:sp>
        <p:nvSpPr>
          <p:cNvPr id="41" name="txt-D7-hd"/>
          <p:cNvSpPr txBox="1"/>
          <p:nvPr/>
        </p:nvSpPr>
        <p:spPr>
          <a:xfrm>
            <a:off x="381000" y="295529"/>
            <a:ext cx="3327527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교사의 수업 설계와 학교 운영 지원</a:t>
            </a:r>
            <a:endParaRPr lang="en-US" sz="1700" dirty="0"/>
          </a:p>
        </p:txBody>
      </p:sp>
      <p:sp>
        <p:nvSpPr>
          <p:cNvPr id="42" name="txt-D7-h1"/>
          <p:cNvSpPr txBox="1"/>
          <p:nvPr/>
        </p:nvSpPr>
        <p:spPr>
          <a:xfrm>
            <a:off x="381000" y="727710"/>
            <a:ext cx="297167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학급 고민부터</a:t>
            </a:r>
            <a:endParaRPr lang="en-US" sz="3700" dirty="0"/>
          </a:p>
        </p:txBody>
      </p:sp>
      <p:sp>
        <p:nvSpPr>
          <p:cNvPr id="43" name="txt-D7-h2"/>
          <p:cNvSpPr txBox="1"/>
          <p:nvPr/>
        </p:nvSpPr>
        <p:spPr>
          <a:xfrm>
            <a:off x="381000" y="1388110"/>
            <a:ext cx="512546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 운영까지 돕습니다.</a:t>
            </a:r>
            <a:endParaRPr lang="en-US" sz="3700" dirty="0"/>
          </a:p>
        </p:txBody>
      </p:sp>
      <p:sp>
        <p:nvSpPr>
          <p:cNvPr id="44" name="txt-D7-s1"/>
          <p:cNvSpPr txBox="1"/>
          <p:nvPr/>
        </p:nvSpPr>
        <p:spPr>
          <a:xfrm>
            <a:off x="863346" y="2540254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950" dirty="0"/>
          </a:p>
        </p:txBody>
      </p:sp>
      <p:sp>
        <p:nvSpPr>
          <p:cNvPr id="45" name="txt-D7-f0n"/>
          <p:cNvSpPr txBox="1"/>
          <p:nvPr/>
        </p:nvSpPr>
        <p:spPr>
          <a:xfrm>
            <a:off x="381000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xt-D7-f0a"/>
          <p:cNvSpPr txBox="1"/>
          <p:nvPr/>
        </p:nvSpPr>
        <p:spPr>
          <a:xfrm>
            <a:off x="660400" y="3122041"/>
            <a:ext cx="61264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 고민</a:t>
            </a:r>
            <a:endParaRPr lang="en-US" sz="1100" dirty="0"/>
          </a:p>
        </p:txBody>
      </p:sp>
      <p:sp>
        <p:nvSpPr>
          <p:cNvPr id="47" name="txt-D7-f0b"/>
          <p:cNvSpPr txBox="1"/>
          <p:nvPr/>
        </p:nvSpPr>
        <p:spPr>
          <a:xfrm>
            <a:off x="444500" y="3355213"/>
            <a:ext cx="87998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교사가 우리 반의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고민을 적습니다</a:t>
            </a:r>
            <a:endParaRPr lang="en-US" sz="920" dirty="0"/>
          </a:p>
        </p:txBody>
      </p:sp>
      <p:sp>
        <p:nvSpPr>
          <p:cNvPr id="48" name="txt-D7-f0r"/>
          <p:cNvSpPr txBox="1"/>
          <p:nvPr/>
        </p:nvSpPr>
        <p:spPr>
          <a:xfrm>
            <a:off x="1915414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txt-D7-f1n"/>
          <p:cNvSpPr txBox="1"/>
          <p:nvPr/>
        </p:nvSpPr>
        <p:spPr>
          <a:xfrm>
            <a:off x="2163064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txt-D7-f1a"/>
          <p:cNvSpPr txBox="1"/>
          <p:nvPr/>
        </p:nvSpPr>
        <p:spPr>
          <a:xfrm>
            <a:off x="2442464" y="3122041"/>
            <a:ext cx="90982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질문과 책 제안</a:t>
            </a:r>
            <a:endParaRPr lang="en-US" sz="1100" dirty="0"/>
          </a:p>
        </p:txBody>
      </p:sp>
      <p:sp>
        <p:nvSpPr>
          <p:cNvPr id="51" name="txt-D7-f1b"/>
          <p:cNvSpPr txBox="1"/>
          <p:nvPr/>
        </p:nvSpPr>
        <p:spPr>
          <a:xfrm>
            <a:off x="2226564" y="3355213"/>
            <a:ext cx="1328928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질문과 300권 가운데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세 권을 제안합니다</a:t>
            </a:r>
            <a:endParaRPr lang="en-US" sz="920" dirty="0"/>
          </a:p>
        </p:txBody>
      </p:sp>
      <p:sp>
        <p:nvSpPr>
          <p:cNvPr id="52" name="txt-D7-f1r"/>
          <p:cNvSpPr txBox="1"/>
          <p:nvPr/>
        </p:nvSpPr>
        <p:spPr>
          <a:xfrm>
            <a:off x="3697478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xt-D7-f2n"/>
          <p:cNvSpPr txBox="1"/>
          <p:nvPr/>
        </p:nvSpPr>
        <p:spPr>
          <a:xfrm>
            <a:off x="3945128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54" name="txt-D7-f2a"/>
          <p:cNvSpPr txBox="1"/>
          <p:nvPr/>
        </p:nvSpPr>
        <p:spPr>
          <a:xfrm>
            <a:off x="4224528" y="3122041"/>
            <a:ext cx="86233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차시 자료 4종</a:t>
            </a:r>
            <a:endParaRPr lang="en-US" sz="1100" dirty="0"/>
          </a:p>
        </p:txBody>
      </p:sp>
      <p:sp>
        <p:nvSpPr>
          <p:cNvPr id="55" name="txt-D7-f2b"/>
          <p:cNvSpPr txBox="1"/>
          <p:nvPr/>
        </p:nvSpPr>
        <p:spPr>
          <a:xfrm>
            <a:off x="4008628" y="3355213"/>
            <a:ext cx="146672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차시 PPT, 활동지, 디지털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독서지도안, 교수학습 과정안</a:t>
            </a:r>
            <a:endParaRPr lang="en-US" sz="920" dirty="0"/>
          </a:p>
        </p:txBody>
      </p:sp>
      <p:sp>
        <p:nvSpPr>
          <p:cNvPr id="56" name="txt-D7-f2r"/>
          <p:cNvSpPr txBox="1"/>
          <p:nvPr/>
        </p:nvSpPr>
        <p:spPr>
          <a:xfrm>
            <a:off x="5479542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7" name="txt-D7-f3n"/>
          <p:cNvSpPr txBox="1"/>
          <p:nvPr/>
        </p:nvSpPr>
        <p:spPr>
          <a:xfrm>
            <a:off x="5727192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58" name="txt-D7-f3a"/>
          <p:cNvSpPr txBox="1"/>
          <p:nvPr/>
        </p:nvSpPr>
        <p:spPr>
          <a:xfrm>
            <a:off x="6006592" y="3122041"/>
            <a:ext cx="61264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다음 수업</a:t>
            </a:r>
            <a:endParaRPr lang="en-US" sz="1100" dirty="0"/>
          </a:p>
        </p:txBody>
      </p:sp>
      <p:sp>
        <p:nvSpPr>
          <p:cNvPr id="59" name="txt-D7-f3b"/>
          <p:cNvSpPr txBox="1"/>
          <p:nvPr/>
        </p:nvSpPr>
        <p:spPr>
          <a:xfrm>
            <a:off x="5790692" y="3355213"/>
            <a:ext cx="134988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반 평균 어휘력과 학생별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기록으로 다음 질문과 활동</a:t>
            </a:r>
            <a:endParaRPr lang="en-US" sz="920" dirty="0"/>
          </a:p>
        </p:txBody>
      </p:sp>
      <p:sp>
        <p:nvSpPr>
          <p:cNvPr id="60" name="txt-D7-o0"/>
          <p:cNvSpPr txBox="1"/>
          <p:nvPr/>
        </p:nvSpPr>
        <p:spPr>
          <a:xfrm>
            <a:off x="508000" y="4061079"/>
            <a:ext cx="2935732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온라인과 오프라인에서 같은 수업을</a:t>
            </a:r>
            <a:endParaRPr lang="en-US" sz="1450" dirty="0"/>
          </a:p>
        </p:txBody>
      </p:sp>
      <p:sp>
        <p:nvSpPr>
          <p:cNvPr id="61" name="txt-D7-o1"/>
          <p:cNvSpPr txBox="1"/>
          <p:nvPr/>
        </p:nvSpPr>
        <p:spPr>
          <a:xfrm>
            <a:off x="508000" y="4362958"/>
            <a:ext cx="4724654" cy="49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온라인에서는 화면에 답하고 포트폴리오에 기록합니다. 오프라인에서는 같은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활동지를 인쇄해 손글씨, 그림, 역할극으로 읽은 내용을 표현합니다.</a:t>
            </a:r>
            <a:endParaRPr lang="en-US" sz="1150" dirty="0"/>
          </a:p>
        </p:txBody>
      </p:sp>
      <p:sp>
        <p:nvSpPr>
          <p:cNvPr id="62" name="txt-D7-o2"/>
          <p:cNvSpPr txBox="1"/>
          <p:nvPr/>
        </p:nvSpPr>
        <p:spPr>
          <a:xfrm>
            <a:off x="508000" y="4832858"/>
            <a:ext cx="4591558" cy="49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교사는 우리 반의 고민에 맞는 책과 질문을 고르고, 학생의 답을 보며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다음 질문과 피드백을 정합니다. 읽기와 학급 생활을 함께 잇는 수업입니다.</a:t>
            </a:r>
            <a:endParaRPr lang="en-US" sz="1150" dirty="0"/>
          </a:p>
        </p:txBody>
      </p:sp>
      <p:sp>
        <p:nvSpPr>
          <p:cNvPr id="63" name="txt-D7-s2"/>
          <p:cNvSpPr txBox="1"/>
          <p:nvPr/>
        </p:nvSpPr>
        <p:spPr>
          <a:xfrm>
            <a:off x="863346" y="5497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950" dirty="0"/>
          </a:p>
        </p:txBody>
      </p:sp>
      <p:sp>
        <p:nvSpPr>
          <p:cNvPr id="64" name="txt-D7-2b"/>
          <p:cNvSpPr txBox="1"/>
          <p:nvPr/>
        </p:nvSpPr>
        <p:spPr>
          <a:xfrm>
            <a:off x="381000" y="5904484"/>
            <a:ext cx="5605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운영계획부터 연수, 참여 현황 점검, 성과 보고, 기술 지원까지 운영 기관이 맡습니다.</a:t>
            </a:r>
            <a:endParaRPr lang="en-US" sz="1150" dirty="0"/>
          </a:p>
        </p:txBody>
      </p:sp>
      <p:sp>
        <p:nvSpPr>
          <p:cNvPr id="65" name="txt-D7-th34"/>
          <p:cNvSpPr txBox="1"/>
          <p:nvPr/>
        </p:nvSpPr>
        <p:spPr>
          <a:xfrm>
            <a:off x="431800" y="6260973"/>
            <a:ext cx="29146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단계</a:t>
            </a:r>
            <a:endParaRPr lang="en-US" sz="1000" dirty="0"/>
          </a:p>
        </p:txBody>
      </p:sp>
      <p:sp>
        <p:nvSpPr>
          <p:cNvPr id="66" name="txt-D7-th123"/>
          <p:cNvSpPr txBox="1"/>
          <p:nvPr/>
        </p:nvSpPr>
        <p:spPr>
          <a:xfrm>
            <a:off x="1562100" y="6260973"/>
            <a:ext cx="80225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운영관리 항목</a:t>
            </a:r>
            <a:endParaRPr lang="en-US" sz="1000" dirty="0"/>
          </a:p>
        </p:txBody>
      </p:sp>
      <p:sp>
        <p:nvSpPr>
          <p:cNvPr id="67" name="txt-D7-th262"/>
          <p:cNvSpPr txBox="1"/>
          <p:nvPr/>
        </p:nvSpPr>
        <p:spPr>
          <a:xfrm>
            <a:off x="3327400" y="6260973"/>
            <a:ext cx="80225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구체적인 내용</a:t>
            </a:r>
            <a:endParaRPr lang="en-US" sz="1000" dirty="0"/>
          </a:p>
        </p:txBody>
      </p:sp>
      <p:sp>
        <p:nvSpPr>
          <p:cNvPr id="68" name="txt-D7-t0s"/>
          <p:cNvSpPr txBox="1"/>
          <p:nvPr/>
        </p:nvSpPr>
        <p:spPr>
          <a:xfrm>
            <a:off x="431800" y="6692646"/>
            <a:ext cx="29146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준비</a:t>
            </a:r>
            <a:endParaRPr lang="en-US" sz="1000" dirty="0"/>
          </a:p>
        </p:txBody>
      </p:sp>
      <p:sp>
        <p:nvSpPr>
          <p:cNvPr id="69" name="txt-D7-t0n"/>
          <p:cNvSpPr txBox="1"/>
          <p:nvPr/>
        </p:nvSpPr>
        <p:spPr>
          <a:xfrm>
            <a:off x="1320800" y="65656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xt-D7-t0a"/>
          <p:cNvSpPr txBox="1"/>
          <p:nvPr/>
        </p:nvSpPr>
        <p:spPr>
          <a:xfrm>
            <a:off x="1562100" y="6565646"/>
            <a:ext cx="119278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운영계획 수립</a:t>
            </a:r>
            <a:endParaRPr lang="en-US" sz="1000" dirty="0"/>
          </a:p>
        </p:txBody>
      </p:sp>
      <p:sp>
        <p:nvSpPr>
          <p:cNvPr id="71" name="txt-D7-t0b"/>
          <p:cNvSpPr txBox="1"/>
          <p:nvPr/>
        </p:nvSpPr>
        <p:spPr>
          <a:xfrm>
            <a:off x="3327400" y="6568821"/>
            <a:ext cx="319341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규모와 학년 구성에 맞춘 연간 운영계획과 권장 독서 일정</a:t>
            </a:r>
            <a:endParaRPr lang="en-US" sz="960" dirty="0"/>
          </a:p>
        </p:txBody>
      </p:sp>
      <p:sp>
        <p:nvSpPr>
          <p:cNvPr id="72" name="txt-D7-t1n"/>
          <p:cNvSpPr txBox="1"/>
          <p:nvPr/>
        </p:nvSpPr>
        <p:spPr>
          <a:xfrm>
            <a:off x="1320800" y="68323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xt-D7-t1a"/>
          <p:cNvSpPr txBox="1"/>
          <p:nvPr/>
        </p:nvSpPr>
        <p:spPr>
          <a:xfrm>
            <a:off x="1562100" y="68323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학교와 학급 개설 관리</a:t>
            </a:r>
            <a:endParaRPr lang="en-US" sz="1000" dirty="0"/>
          </a:p>
        </p:txBody>
      </p:sp>
      <p:sp>
        <p:nvSpPr>
          <p:cNvPr id="74" name="txt-D7-t1b"/>
          <p:cNvSpPr txBox="1"/>
          <p:nvPr/>
        </p:nvSpPr>
        <p:spPr>
          <a:xfrm>
            <a:off x="3327400" y="6835521"/>
            <a:ext cx="309422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등록, 학급 개설, 계정 생성 안내, 학급 코드와 이용 권한</a:t>
            </a:r>
            <a:endParaRPr lang="en-US" sz="960" dirty="0"/>
          </a:p>
        </p:txBody>
      </p:sp>
      <p:sp>
        <p:nvSpPr>
          <p:cNvPr id="75" name="txt-D7-t2s"/>
          <p:cNvSpPr txBox="1"/>
          <p:nvPr/>
        </p:nvSpPr>
        <p:spPr>
          <a:xfrm>
            <a:off x="431800" y="7226046"/>
            <a:ext cx="56159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운영</a:t>
            </a:r>
            <a:endParaRPr lang="en-US" sz="1000" dirty="0"/>
          </a:p>
        </p:txBody>
      </p:sp>
      <p:sp>
        <p:nvSpPr>
          <p:cNvPr id="76" name="txt-D7-t2n"/>
          <p:cNvSpPr txBox="1"/>
          <p:nvPr/>
        </p:nvSpPr>
        <p:spPr>
          <a:xfrm>
            <a:off x="1320800" y="70990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xt-D7-t2a"/>
          <p:cNvSpPr txBox="1"/>
          <p:nvPr/>
        </p:nvSpPr>
        <p:spPr>
          <a:xfrm>
            <a:off x="1562100" y="7099046"/>
            <a:ext cx="11018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수업 운영 지원</a:t>
            </a:r>
            <a:endParaRPr lang="en-US" sz="1000" dirty="0"/>
          </a:p>
        </p:txBody>
      </p:sp>
      <p:sp>
        <p:nvSpPr>
          <p:cNvPr id="78" name="txt-D7-t2b"/>
          <p:cNvSpPr txBox="1"/>
          <p:nvPr/>
        </p:nvSpPr>
        <p:spPr>
          <a:xfrm>
            <a:off x="3327400" y="7102221"/>
            <a:ext cx="309041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온책읽기, 국어 수업, 아침 독서활동 운영과 차시별 수업자료</a:t>
            </a:r>
            <a:endParaRPr lang="en-US" sz="960" dirty="0"/>
          </a:p>
        </p:txBody>
      </p:sp>
      <p:sp>
        <p:nvSpPr>
          <p:cNvPr id="79" name="txt-D7-t3n"/>
          <p:cNvSpPr txBox="1"/>
          <p:nvPr/>
        </p:nvSpPr>
        <p:spPr>
          <a:xfrm>
            <a:off x="1320800" y="73657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xt-D7-t3a"/>
          <p:cNvSpPr txBox="1"/>
          <p:nvPr/>
        </p:nvSpPr>
        <p:spPr>
          <a:xfrm>
            <a:off x="1562100" y="7365746"/>
            <a:ext cx="95211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온라인 연수</a:t>
            </a:r>
            <a:endParaRPr lang="en-US" sz="1000" dirty="0"/>
          </a:p>
        </p:txBody>
      </p:sp>
      <p:sp>
        <p:nvSpPr>
          <p:cNvPr id="81" name="txt-D7-t3b"/>
          <p:cNvSpPr txBox="1"/>
          <p:nvPr/>
        </p:nvSpPr>
        <p:spPr>
          <a:xfrm>
            <a:off x="3327400" y="7368921"/>
            <a:ext cx="314693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플랫폼 사용법, 수업 설계, 학생 활동 관리를 다루는 정기 연수</a:t>
            </a:r>
            <a:endParaRPr lang="en-US" sz="960" dirty="0"/>
          </a:p>
        </p:txBody>
      </p:sp>
      <p:sp>
        <p:nvSpPr>
          <p:cNvPr id="82" name="txt-D7-t4s"/>
          <p:cNvSpPr txBox="1"/>
          <p:nvPr/>
        </p:nvSpPr>
        <p:spPr>
          <a:xfrm>
            <a:off x="431800" y="7759446"/>
            <a:ext cx="56159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참여 점검</a:t>
            </a:r>
            <a:endParaRPr lang="en-US" sz="1000" dirty="0"/>
          </a:p>
        </p:txBody>
      </p:sp>
      <p:sp>
        <p:nvSpPr>
          <p:cNvPr id="83" name="txt-D7-t4n"/>
          <p:cNvSpPr txBox="1"/>
          <p:nvPr/>
        </p:nvSpPr>
        <p:spPr>
          <a:xfrm>
            <a:off x="1320800" y="76324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txt-D7-t4a"/>
          <p:cNvSpPr txBox="1"/>
          <p:nvPr/>
        </p:nvSpPr>
        <p:spPr>
          <a:xfrm>
            <a:off x="1562100" y="76324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이용 활성화 관리</a:t>
            </a:r>
            <a:endParaRPr lang="en-US" sz="1000" dirty="0"/>
          </a:p>
        </p:txBody>
      </p:sp>
      <p:sp>
        <p:nvSpPr>
          <p:cNvPr id="85" name="txt-D7-t4b"/>
          <p:cNvSpPr txBox="1"/>
          <p:nvPr/>
        </p:nvSpPr>
        <p:spPr>
          <a:xfrm>
            <a:off x="3327400" y="7635621"/>
            <a:ext cx="2996819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접속과 독서 참여 현황 점검, 미활성 학급 교사 안내</a:t>
            </a:r>
            <a:endParaRPr lang="en-US" sz="960" dirty="0"/>
          </a:p>
        </p:txBody>
      </p:sp>
      <p:sp>
        <p:nvSpPr>
          <p:cNvPr id="86" name="txt-D7-t5n"/>
          <p:cNvSpPr txBox="1"/>
          <p:nvPr/>
        </p:nvSpPr>
        <p:spPr>
          <a:xfrm>
            <a:off x="1320800" y="78991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87" name="txt-D7-t5a"/>
          <p:cNvSpPr txBox="1"/>
          <p:nvPr/>
        </p:nvSpPr>
        <p:spPr>
          <a:xfrm>
            <a:off x="1562100" y="7899146"/>
            <a:ext cx="146291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독서활동과 완독 현황 관리</a:t>
            </a:r>
            <a:endParaRPr lang="en-US" sz="1000" dirty="0"/>
          </a:p>
        </p:txBody>
      </p:sp>
      <p:sp>
        <p:nvSpPr>
          <p:cNvPr id="88" name="txt-D7-t5b"/>
          <p:cNvSpPr txBox="1"/>
          <p:nvPr/>
        </p:nvSpPr>
        <p:spPr>
          <a:xfrm>
            <a:off x="3327400" y="7902321"/>
            <a:ext cx="2772029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독서 진행, 완독 권수, 독후활동 참여 현황 집계</a:t>
            </a:r>
            <a:endParaRPr lang="en-US" sz="960" dirty="0"/>
          </a:p>
        </p:txBody>
      </p:sp>
      <p:sp>
        <p:nvSpPr>
          <p:cNvPr id="89" name="txt-D7-t6s"/>
          <p:cNvSpPr txBox="1"/>
          <p:nvPr/>
        </p:nvSpPr>
        <p:spPr>
          <a:xfrm>
            <a:off x="431800" y="8292846"/>
            <a:ext cx="68199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보고와 상담</a:t>
            </a:r>
            <a:endParaRPr lang="en-US" sz="1000" dirty="0"/>
          </a:p>
        </p:txBody>
      </p:sp>
      <p:sp>
        <p:nvSpPr>
          <p:cNvPr id="90" name="txt-D7-t6n"/>
          <p:cNvSpPr txBox="1"/>
          <p:nvPr/>
        </p:nvSpPr>
        <p:spPr>
          <a:xfrm>
            <a:off x="1320800" y="81658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91" name="txt-D7-t6a"/>
          <p:cNvSpPr txBox="1"/>
          <p:nvPr/>
        </p:nvSpPr>
        <p:spPr>
          <a:xfrm>
            <a:off x="1562100" y="81658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 성과 보고</a:t>
            </a:r>
            <a:endParaRPr lang="en-US" sz="1000" dirty="0"/>
          </a:p>
        </p:txBody>
      </p:sp>
      <p:sp>
        <p:nvSpPr>
          <p:cNvPr id="92" name="txt-D7-t6b"/>
          <p:cNvSpPr txBox="1"/>
          <p:nvPr/>
        </p:nvSpPr>
        <p:spPr>
          <a:xfrm>
            <a:off x="3327400" y="8169021"/>
            <a:ext cx="285940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월간 운영 현황, 학기별 독서활동 분석, 연간 결과보고서</a:t>
            </a:r>
            <a:endParaRPr lang="en-US" sz="960" dirty="0"/>
          </a:p>
        </p:txBody>
      </p:sp>
      <p:sp>
        <p:nvSpPr>
          <p:cNvPr id="93" name="txt-D7-t7n"/>
          <p:cNvSpPr txBox="1"/>
          <p:nvPr/>
        </p:nvSpPr>
        <p:spPr>
          <a:xfrm>
            <a:off x="1320800" y="84325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94" name="txt-D7-t7a"/>
          <p:cNvSpPr txBox="1"/>
          <p:nvPr/>
        </p:nvSpPr>
        <p:spPr>
          <a:xfrm>
            <a:off x="1562100" y="8432546"/>
            <a:ext cx="1342517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온라인 운영 상담</a:t>
            </a:r>
            <a:endParaRPr lang="en-US" sz="1000" dirty="0"/>
          </a:p>
        </p:txBody>
      </p:sp>
      <p:sp>
        <p:nvSpPr>
          <p:cNvPr id="95" name="txt-D7-t7b"/>
          <p:cNvSpPr txBox="1"/>
          <p:nvPr/>
        </p:nvSpPr>
        <p:spPr>
          <a:xfrm>
            <a:off x="3327400" y="8435721"/>
            <a:ext cx="268478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담당 교사 운영 점검, 수업 활용 상담, 개선 사항 안내</a:t>
            </a:r>
            <a:endParaRPr lang="en-US" sz="960" dirty="0"/>
          </a:p>
        </p:txBody>
      </p:sp>
      <p:sp>
        <p:nvSpPr>
          <p:cNvPr id="96" name="txt-D7-t8s"/>
          <p:cNvSpPr txBox="1"/>
          <p:nvPr/>
        </p:nvSpPr>
        <p:spPr>
          <a:xfrm>
            <a:off x="431800" y="8826246"/>
            <a:ext cx="68199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지원과 유지</a:t>
            </a:r>
            <a:endParaRPr lang="en-US" sz="1000" dirty="0"/>
          </a:p>
        </p:txBody>
      </p:sp>
      <p:sp>
        <p:nvSpPr>
          <p:cNvPr id="97" name="txt-D7-t8n"/>
          <p:cNvSpPr txBox="1"/>
          <p:nvPr/>
        </p:nvSpPr>
        <p:spPr>
          <a:xfrm>
            <a:off x="1320800" y="86992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98" name="txt-D7-t8a"/>
          <p:cNvSpPr txBox="1"/>
          <p:nvPr/>
        </p:nvSpPr>
        <p:spPr>
          <a:xfrm>
            <a:off x="1562100" y="8699246"/>
            <a:ext cx="107238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기술과 이용자 지원</a:t>
            </a:r>
            <a:endParaRPr lang="en-US" sz="1000" dirty="0"/>
          </a:p>
        </p:txBody>
      </p:sp>
      <p:sp>
        <p:nvSpPr>
          <p:cNvPr id="99" name="txt-D7-t8b"/>
          <p:cNvSpPr txBox="1"/>
          <p:nvPr/>
        </p:nvSpPr>
        <p:spPr>
          <a:xfrm>
            <a:off x="3327400" y="8702421"/>
            <a:ext cx="280657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로그인, 계정, 서비스 오류 문의 응대, 장애 접수와 처리</a:t>
            </a:r>
            <a:endParaRPr lang="en-US" sz="960" dirty="0"/>
          </a:p>
        </p:txBody>
      </p:sp>
      <p:sp>
        <p:nvSpPr>
          <p:cNvPr id="100" name="txt-D7-t9n"/>
          <p:cNvSpPr txBox="1"/>
          <p:nvPr/>
        </p:nvSpPr>
        <p:spPr>
          <a:xfrm>
            <a:off x="1320800" y="89659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01" name="txt-D7-t9a"/>
          <p:cNvSpPr txBox="1"/>
          <p:nvPr/>
        </p:nvSpPr>
        <p:spPr>
          <a:xfrm>
            <a:off x="1562100" y="8965946"/>
            <a:ext cx="143344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콘텐츠와 서비스 유지관리</a:t>
            </a:r>
            <a:endParaRPr lang="en-US" sz="1000" dirty="0"/>
          </a:p>
        </p:txBody>
      </p:sp>
      <p:sp>
        <p:nvSpPr>
          <p:cNvPr id="102" name="txt-D7-t9b"/>
          <p:cNvSpPr txBox="1"/>
          <p:nvPr/>
        </p:nvSpPr>
        <p:spPr>
          <a:xfrm>
            <a:off x="3327400" y="8969121"/>
            <a:ext cx="3349752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도서와 수업자료 오류 수정, 기능 유지보수, 보안과 개인정보 보호</a:t>
            </a:r>
            <a:endParaRPr lang="en-US" sz="960" dirty="0"/>
          </a:p>
        </p:txBody>
      </p:sp>
      <p:sp>
        <p:nvSpPr>
          <p:cNvPr id="103" name="txt-D7-end"/>
          <p:cNvSpPr txBox="1"/>
          <p:nvPr/>
        </p:nvSpPr>
        <p:spPr>
          <a:xfrm>
            <a:off x="317500" y="9439021"/>
            <a:ext cx="6925056" cy="564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ko-KR" altLang="en-US" sz="13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3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ko-KR" altLang="en-US" sz="13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 독서교육을 함께 지켜 주십시오.</a:t>
            </a:r>
            <a:endParaRPr lang="en-US" sz="1350" dirty="0"/>
          </a:p>
        </p:txBody>
      </p:sp>
      <p:sp>
        <p:nvSpPr>
          <p:cNvPr id="104" name="txt-D7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2026-10-28T22:40:25Z</dcterms:created>
  <dcterms:modified xsi:type="dcterms:W3CDTF">2026-10-28T22:40:25Z</dcterms:modified>
</cp:coreProperties>
</file>