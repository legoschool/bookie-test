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560005" cy="10692003"/>
  <p:notesSz cx="10692003" cy="7560005"/>
  <p:embeddedFontLst>
    <p:embeddedFont>
      <p:font typeface="BKSans" pitchFamily="2" charset="1"/>
      <p:regular r:id="rIdCopyeditFont1"/>
    </p:embeddedFont>
    <p:embeddedFont>
      <p:font typeface="BKSansBold" pitchFamily="2" charset="1"/>
      <p:regular r:id="rIdCopyeditFont2"/>
    </p:embeddedFont>
    <p:embeddedFont>
      <p:font typeface="BKSerifBlack" pitchFamily="2" charset="1"/>
      <p:regular r:id="rIdCopyeditFont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CopyeditFont1" Type="http://schemas.openxmlformats.org/officeDocument/2006/relationships/font" Target="fonts/copyedit-font1.fntdata"/><Relationship Id="rIdCopyeditFont2" Type="http://schemas.openxmlformats.org/officeDocument/2006/relationships/font" Target="fonts/copyedit-font2.fntdata"/><Relationship Id="rIdCopyeditFont3" Type="http://schemas.openxmlformats.org/officeDocument/2006/relationships/font" Target="fonts/copyedit-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5913" y="635000"/>
            <a:ext cx="584314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" y="3187700"/>
            <a:ext cx="266700" cy="292100"/>
          </a:xfrm>
          <a:custGeom>
            <a:avLst/>
            <a:gdLst/>
            <a:ahLst/>
            <a:cxnLst/>
            <a:rect l="l" t="t" r="r" b="b"/>
            <a:pathLst>
              <a:path w="266700" h="292100">
                <a:moveTo>
                  <a:pt x="127000" y="292100"/>
                </a:moveTo>
                <a:lnTo>
                  <a:pt x="127000" y="139700"/>
                </a:lnTo>
                <a:cubicBezTo>
                  <a:pt x="63500" y="165100"/>
                  <a:pt x="0" y="139700"/>
                  <a:pt x="0" y="38100"/>
                </a:cubicBezTo>
                <a:cubicBezTo>
                  <a:pt x="101600" y="25400"/>
                  <a:pt x="127000" y="76200"/>
                  <a:pt x="127000" y="139700"/>
                </a:cubicBezTo>
                <a:cubicBezTo>
                  <a:pt x="127000" y="38100"/>
                  <a:pt x="203200" y="0"/>
                  <a:pt x="266700" y="12700"/>
                </a:cubicBezTo>
                <a:cubicBezTo>
                  <a:pt x="266700" y="101600"/>
                  <a:pt x="203200" y="152400"/>
                  <a:pt x="127000" y="1397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2616200" y="31750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30500" y="320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101600"/>
                </a:moveTo>
                <a:cubicBezTo>
                  <a:pt x="203200" y="45491"/>
                  <a:pt x="157709" y="0"/>
                  <a:pt x="101600" y="0"/>
                </a:cubicBezTo>
                <a:cubicBezTo>
                  <a:pt x="45491" y="0"/>
                  <a:pt x="0" y="45491"/>
                  <a:pt x="0" y="101600"/>
                </a:cubicBezTo>
                <a:cubicBezTo>
                  <a:pt x="0" y="157709"/>
                  <a:pt x="45491" y="203200"/>
                  <a:pt x="101600" y="203200"/>
                </a:cubicBezTo>
                <a:cubicBezTo>
                  <a:pt x="157709" y="203200"/>
                  <a:pt x="203200" y="157709"/>
                  <a:pt x="203200" y="101600"/>
                </a:cubicBezTo>
              </a:path>
            </a:pathLst>
          </a:custGeom>
          <a:ln w="20320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1300" y="33909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2900" y="33909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1300" y="3441700"/>
            <a:ext cx="1016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4000" y="3479800"/>
            <a:ext cx="762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2100" y="3302000"/>
            <a:ext cx="0" cy="1270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4000" y="32639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2100" y="32639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4900" y="31750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1100" y="3175000"/>
            <a:ext cx="279400" cy="292100"/>
          </a:xfrm>
          <a:custGeom>
            <a:avLst/>
            <a:gdLst/>
            <a:ahLst/>
            <a:cxnLst/>
            <a:rect l="l" t="t" r="r" b="b"/>
            <a:pathLst>
              <a:path w="279400" h="292100">
                <a:moveTo>
                  <a:pt x="139700" y="292100"/>
                </a:moveTo>
                <a:cubicBezTo>
                  <a:pt x="101600" y="241300"/>
                  <a:pt x="0" y="190500"/>
                  <a:pt x="0" y="101600"/>
                </a:cubicBezTo>
                <a:cubicBezTo>
                  <a:pt x="0" y="0"/>
                  <a:pt x="114300" y="0"/>
                  <a:pt x="139700" y="76200"/>
                </a:cubicBezTo>
                <a:cubicBezTo>
                  <a:pt x="165100" y="0"/>
                  <a:pt x="279400" y="0"/>
                  <a:pt x="279400" y="101600"/>
                </a:cubicBezTo>
                <a:cubicBezTo>
                  <a:pt x="279400" y="190500"/>
                  <a:pt x="177800" y="241300"/>
                  <a:pt x="139700" y="2921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7500" y="4546600"/>
            <a:ext cx="6925056" cy="1638300"/>
          </a:xfrm>
          <a:prstGeom prst="roundRect">
            <a:avLst>
              <a:gd name="adj" fmla="val 6202"/>
            </a:avLst>
          </a:prstGeom>
          <a:solidFill>
            <a:srgbClr val="F6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76300" y="58420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7" name="Shape 15"/>
          <p:cNvSpPr/>
          <p:nvPr/>
        </p:nvSpPr>
        <p:spPr>
          <a:xfrm>
            <a:off x="2946400" y="58420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6500" y="58420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17500" y="8636000"/>
            <a:ext cx="6925056" cy="812800"/>
          </a:xfrm>
          <a:prstGeom prst="roundRect">
            <a:avLst>
              <a:gd name="adj" fmla="val 12500"/>
            </a:avLst>
          </a:prstGeom>
          <a:solidFill>
            <a:srgbClr val="F6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317500" y="9829800"/>
            <a:ext cx="6925056" cy="596900"/>
          </a:xfrm>
          <a:prstGeom prst="roundRect">
            <a:avLst>
              <a:gd name="adj" fmla="val 17021"/>
            </a:avLst>
          </a:prstGeom>
          <a:solidFill>
            <a:srgbClr val="F0F5EF"/>
          </a:solidFill>
          <a:ln/>
        </p:spPr>
      </p:sp>
      <p:sp>
        <p:nvSpPr>
          <p:cNvPr id="21" name="Shape 19"/>
          <p:cNvSpPr/>
          <p:nvPr/>
        </p:nvSpPr>
        <p:spPr>
          <a:xfrm>
            <a:off x="317500" y="72517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252" y="72517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5004" y="72517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4" name="Shape 22"/>
          <p:cNvSpPr/>
          <p:nvPr/>
        </p:nvSpPr>
        <p:spPr>
          <a:xfrm>
            <a:off x="317500" y="78740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5" name="Shape 23"/>
          <p:cNvSpPr/>
          <p:nvPr/>
        </p:nvSpPr>
        <p:spPr>
          <a:xfrm>
            <a:off x="2651252" y="78740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4985004" y="78740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pic>
        <p:nvPicPr>
          <p:cNvPr id="27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0" y="6286500"/>
            <a:ext cx="1270000" cy="872363"/>
          </a:xfrm>
          <a:prstGeom prst="rect">
            <a:avLst/>
          </a:prstGeom>
        </p:spPr>
      </p:pic>
      <p:sp>
        <p:nvSpPr>
          <p:cNvPr id="28" name="txt-1-0"/>
          <p:cNvSpPr txBox="1"/>
          <p:nvPr/>
        </p:nvSpPr>
        <p:spPr>
          <a:xfrm>
            <a:off x="381000" y="436626"/>
            <a:ext cx="1035177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AI 시대,</a:t>
            </a:r>
            <a:endParaRPr lang="en-US" sz="1700" dirty="0"/>
          </a:p>
        </p:txBody>
      </p:sp>
      <p:sp>
        <p:nvSpPr>
          <p:cNvPr id="29" name="txt-1-1"/>
          <p:cNvSpPr txBox="1"/>
          <p:nvPr/>
        </p:nvSpPr>
        <p:spPr>
          <a:xfrm>
            <a:off x="355473" y="808482"/>
            <a:ext cx="5665724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6240"/>
              </a:lnSpc>
              <a:buNone/>
            </a:pPr>
            <a:r>
              <a:rPr lang="ko-KR" altLang="en-US" sz="48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독서는 모든 학습의</a:t>
            </a:r>
            <a:endParaRPr lang="en-US" sz="4800" dirty="0"/>
          </a:p>
        </p:txBody>
      </p:sp>
      <p:sp>
        <p:nvSpPr>
          <p:cNvPr id="30" name="txt-1-2"/>
          <p:cNvSpPr txBox="1"/>
          <p:nvPr/>
        </p:nvSpPr>
        <p:spPr>
          <a:xfrm>
            <a:off x="355473" y="1507871"/>
            <a:ext cx="3908044" cy="111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6760"/>
              </a:lnSpc>
              <a:buNone/>
            </a:pPr>
            <a:r>
              <a:rPr lang="ko-KR" altLang="en-US" sz="52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기본</a:t>
            </a:r>
            <a:pPr algn="l" indent="0" marL="0">
              <a:lnSpc>
                <a:spcPts val="6760"/>
              </a:lnSpc>
              <a:buNone/>
            </a:pPr>
            <a:r>
              <a:rPr lang="ko-KR" altLang="en-US" sz="52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입니다.</a:t>
            </a:r>
            <a:endParaRPr lang="en-US" sz="5200" dirty="0"/>
          </a:p>
        </p:txBody>
      </p:sp>
      <p:sp>
        <p:nvSpPr>
          <p:cNvPr id="31" name="txt-1-3"/>
          <p:cNvSpPr txBox="1"/>
          <p:nvPr/>
        </p:nvSpPr>
        <p:spPr>
          <a:xfrm>
            <a:off x="381000" y="2412619"/>
            <a:ext cx="509104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AI가 답을 내놓아도,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읽고 이해하고 판단하는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은 학생 안에 있어야 합니다.</a:t>
            </a:r>
            <a:endParaRPr lang="en-US" sz="1600" dirty="0"/>
          </a:p>
        </p:txBody>
      </p:sp>
      <p:sp>
        <p:nvSpPr>
          <p:cNvPr id="32" name="txt-1-4"/>
          <p:cNvSpPr txBox="1"/>
          <p:nvPr/>
        </p:nvSpPr>
        <p:spPr>
          <a:xfrm>
            <a:off x="787146" y="31668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학습의 기본</a:t>
            </a:r>
            <a:endParaRPr lang="en-US" sz="1700" dirty="0"/>
          </a:p>
        </p:txBody>
      </p:sp>
      <p:sp>
        <p:nvSpPr>
          <p:cNvPr id="33" name="txt-1-5"/>
          <p:cNvSpPr txBox="1"/>
          <p:nvPr/>
        </p:nvSpPr>
        <p:spPr>
          <a:xfrm>
            <a:off x="3085465" y="31668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사고의 기본</a:t>
            </a:r>
            <a:endParaRPr lang="en-US" sz="1700" dirty="0"/>
          </a:p>
        </p:txBody>
      </p:sp>
      <p:sp>
        <p:nvSpPr>
          <p:cNvPr id="34" name="txt-1-6"/>
          <p:cNvSpPr txBox="1"/>
          <p:nvPr/>
        </p:nvSpPr>
        <p:spPr>
          <a:xfrm>
            <a:off x="5383784" y="3166872"/>
            <a:ext cx="1128776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삶의 기본</a:t>
            </a:r>
            <a:endParaRPr lang="en-US" sz="1700" dirty="0"/>
          </a:p>
        </p:txBody>
      </p:sp>
      <p:sp>
        <p:nvSpPr>
          <p:cNvPr id="35" name="txt-1-7"/>
          <p:cNvSpPr txBox="1"/>
          <p:nvPr/>
        </p:nvSpPr>
        <p:spPr>
          <a:xfrm>
            <a:off x="398653" y="3591052"/>
            <a:ext cx="2162683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낱말과 문장의 뜻을 이해하고</a:t>
            </a:r>
            <a:r>
              <a:rPr lang="ko-KR" altLang="en-US" sz="108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모든 교과의 내용</a:t>
            </a:r>
            <a:r>
              <a:rPr lang="ko-KR" altLang="en-US" sz="10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이해하는 바탕</a:t>
            </a:r>
            <a:endParaRPr lang="en-US" sz="1080" dirty="0"/>
          </a:p>
        </p:txBody>
      </p:sp>
      <p:sp>
        <p:nvSpPr>
          <p:cNvPr id="36" name="txt-1-8"/>
          <p:cNvSpPr txBox="1"/>
          <p:nvPr/>
        </p:nvSpPr>
        <p:spPr>
          <a:xfrm>
            <a:off x="3178937" y="3591052"/>
            <a:ext cx="1503045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근거를 찾고 질문하며</a:t>
            </a:r>
            <a:endParaRPr lang="en-US" sz="108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자기 생각을 세우는 힘</a:t>
            </a:r>
            <a:endParaRPr lang="en-US" sz="1080" dirty="0"/>
          </a:p>
        </p:txBody>
      </p:sp>
      <p:sp>
        <p:nvSpPr>
          <p:cNvPr id="37" name="txt-1-9"/>
          <p:cNvSpPr txBox="1"/>
          <p:nvPr/>
        </p:nvSpPr>
        <p:spPr>
          <a:xfrm>
            <a:off x="5241290" y="3591052"/>
            <a:ext cx="1668907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 속의 다른 삶을 만나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나와 타인을 이해하는 힘</a:t>
            </a:r>
            <a:endParaRPr lang="en-US" sz="1080" dirty="0"/>
          </a:p>
        </p:txBody>
      </p:sp>
      <p:sp>
        <p:nvSpPr>
          <p:cNvPr id="38" name="txt-1-10"/>
          <p:cNvSpPr txBox="1"/>
          <p:nvPr/>
        </p:nvSpPr>
        <p:spPr>
          <a:xfrm>
            <a:off x="1478280" y="4206621"/>
            <a:ext cx="46018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직접 읽고 근거를 찾는 연습이 AI의 답을 판단할 바탕이 됩니다.*</a:t>
            </a:r>
            <a:endParaRPr lang="en-US" sz="1000" dirty="0"/>
          </a:p>
        </p:txBody>
      </p:sp>
      <p:sp>
        <p:nvSpPr>
          <p:cNvPr id="39" name="txt-1-11"/>
          <p:cNvSpPr txBox="1"/>
          <p:nvPr/>
        </p:nvSpPr>
        <p:spPr>
          <a:xfrm>
            <a:off x="482346" y="4666234"/>
            <a:ext cx="5168646" cy="579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836"/>
              </a:lnSpc>
              <a:buNone/>
            </a:pPr>
            <a:r>
              <a:rPr lang="ko-KR" altLang="en-US" sz="2182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직접 읽고 뜻을 이해할 시간이 필요합니다.</a:t>
            </a:r>
            <a:endParaRPr lang="en-US" sz="2182" dirty="0"/>
          </a:p>
        </p:txBody>
      </p:sp>
      <p:sp>
        <p:nvSpPr>
          <p:cNvPr id="40" name="txt-1-12"/>
          <p:cNvSpPr txBox="1"/>
          <p:nvPr/>
        </p:nvSpPr>
        <p:spPr>
          <a:xfrm>
            <a:off x="495300" y="5165725"/>
            <a:ext cx="7026656" cy="540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전자도서관과 책이 있어도 낯선 어휘에서 막히면 이해와 재미가 끊깁니다.</a:t>
            </a:r>
            <a:r>
              <a:rPr lang="ko-KR" altLang="en-US" sz="121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읽다가 모르는 낱말의 뜻을 확인하고 교사의 질문에 답하며 한 권을 끝까지 읽습니다.</a:t>
            </a:r>
            <a:endParaRPr lang="en-US" sz="1210" dirty="0"/>
          </a:p>
        </p:txBody>
      </p:sp>
      <p:sp>
        <p:nvSpPr>
          <p:cNvPr id="41" name="txt-1-13"/>
          <p:cNvSpPr txBox="1"/>
          <p:nvPr/>
        </p:nvSpPr>
        <p:spPr>
          <a:xfrm>
            <a:off x="2679319" y="58375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 b="0">
                <a:solidFill>
                  <a:srgbClr val="D59B3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txt-1-14"/>
          <p:cNvSpPr txBox="1"/>
          <p:nvPr/>
        </p:nvSpPr>
        <p:spPr>
          <a:xfrm>
            <a:off x="4749038" y="58375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 b="0">
                <a:solidFill>
                  <a:srgbClr val="D59B3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txt-1-15"/>
          <p:cNvSpPr txBox="1"/>
          <p:nvPr/>
        </p:nvSpPr>
        <p:spPr>
          <a:xfrm>
            <a:off x="1261364" y="58720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모르는 낱말</a:t>
            </a:r>
            <a:endParaRPr lang="en-US" sz="1100" dirty="0"/>
          </a:p>
        </p:txBody>
      </p:sp>
      <p:sp>
        <p:nvSpPr>
          <p:cNvPr id="44" name="txt-1-16"/>
          <p:cNvSpPr txBox="1"/>
          <p:nvPr/>
        </p:nvSpPr>
        <p:spPr>
          <a:xfrm>
            <a:off x="3331083" y="58720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이해가 어려움</a:t>
            </a:r>
            <a:endParaRPr lang="en-US" sz="1100" dirty="0"/>
          </a:p>
        </p:txBody>
      </p:sp>
      <p:sp>
        <p:nvSpPr>
          <p:cNvPr id="45" name="txt-1-17"/>
          <p:cNvSpPr txBox="1"/>
          <p:nvPr/>
        </p:nvSpPr>
        <p:spPr>
          <a:xfrm>
            <a:off x="5400802" y="58720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책을 덮음</a:t>
            </a:r>
            <a:endParaRPr lang="en-US" sz="1100" dirty="0"/>
          </a:p>
        </p:txBody>
      </p:sp>
      <p:sp>
        <p:nvSpPr>
          <p:cNvPr id="46" name="txt-1-18"/>
          <p:cNvSpPr txBox="1"/>
          <p:nvPr/>
        </p:nvSpPr>
        <p:spPr>
          <a:xfrm>
            <a:off x="381000" y="6351651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47" name="txt-1-19"/>
          <p:cNvSpPr txBox="1"/>
          <p:nvPr/>
        </p:nvSpPr>
        <p:spPr>
          <a:xfrm>
            <a:off x="381000" y="6748399"/>
            <a:ext cx="4670044" cy="493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52"/>
              </a:lnSpc>
              <a:buNone/>
            </a:pPr>
            <a:r>
              <a:rPr lang="ko-KR" altLang="en-US" sz="1502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부기는 </a:t>
            </a:r>
            <a:pPr algn="l" indent="0" marL="0">
              <a:lnSpc>
                <a:spcPts val="1952"/>
              </a:lnSpc>
              <a:buNone/>
            </a:pPr>
            <a:r>
              <a:rPr lang="ko-KR" altLang="en-US" sz="1502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학생이 답하면 그렇게 생각한 까닭</a:t>
            </a:r>
            <a:pPr algn="l" indent="0" marL="0">
              <a:lnSpc>
                <a:spcPts val="1952"/>
              </a:lnSpc>
              <a:buNone/>
            </a:pPr>
            <a:r>
              <a:rPr lang="ko-KR" altLang="en-US" sz="1502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다시 묻습니다.</a:t>
            </a:r>
            <a:endParaRPr lang="en-US" sz="1502" dirty="0"/>
          </a:p>
        </p:txBody>
      </p:sp>
      <p:sp>
        <p:nvSpPr>
          <p:cNvPr id="48" name="txt-1-29"/>
          <p:cNvSpPr txBox="1"/>
          <p:nvPr/>
        </p:nvSpPr>
        <p:spPr>
          <a:xfrm>
            <a:off x="756666" y="8758047"/>
            <a:ext cx="11414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 b="0">
                <a:solidFill>
                  <a:srgbClr val="15543C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72학급</a:t>
            </a:r>
            <a:endParaRPr lang="en-US" sz="2400" dirty="0"/>
          </a:p>
        </p:txBody>
      </p:sp>
      <p:sp>
        <p:nvSpPr>
          <p:cNvPr id="49" name="txt-1-30"/>
          <p:cNvSpPr txBox="1"/>
          <p:nvPr/>
        </p:nvSpPr>
        <p:spPr>
          <a:xfrm>
            <a:off x="2399538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 b="0">
                <a:solidFill>
                  <a:srgbClr val="15543C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1,196명</a:t>
            </a:r>
            <a:endParaRPr lang="en-US" sz="2400" dirty="0"/>
          </a:p>
        </p:txBody>
      </p:sp>
      <p:sp>
        <p:nvSpPr>
          <p:cNvPr id="50" name="txt-1-31"/>
          <p:cNvSpPr txBox="1"/>
          <p:nvPr/>
        </p:nvSpPr>
        <p:spPr>
          <a:xfrm>
            <a:off x="4029202" y="8758047"/>
            <a:ext cx="1484503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 b="0">
                <a:solidFill>
                  <a:srgbClr val="15543C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26,924권</a:t>
            </a:r>
            <a:endParaRPr lang="en-US" sz="2400" dirty="0"/>
          </a:p>
        </p:txBody>
      </p:sp>
      <p:sp>
        <p:nvSpPr>
          <p:cNvPr id="51" name="txt-1-32"/>
          <p:cNvSpPr txBox="1"/>
          <p:nvPr/>
        </p:nvSpPr>
        <p:spPr>
          <a:xfrm>
            <a:off x="5827903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 b="0">
                <a:solidFill>
                  <a:srgbClr val="15543C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1,816건</a:t>
            </a:r>
            <a:endParaRPr lang="en-US" sz="2400" dirty="0"/>
          </a:p>
        </p:txBody>
      </p:sp>
      <p:sp>
        <p:nvSpPr>
          <p:cNvPr id="52" name="txt-1-33"/>
          <p:cNvSpPr txBox="1"/>
          <p:nvPr/>
        </p:nvSpPr>
        <p:spPr>
          <a:xfrm>
            <a:off x="945896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운영 학급</a:t>
            </a:r>
            <a:endParaRPr lang="en-US" sz="1050" dirty="0"/>
          </a:p>
        </p:txBody>
      </p:sp>
      <p:sp>
        <p:nvSpPr>
          <p:cNvPr id="53" name="txt-1-34"/>
          <p:cNvSpPr txBox="1"/>
          <p:nvPr/>
        </p:nvSpPr>
        <p:spPr>
          <a:xfrm>
            <a:off x="2522474" y="9116314"/>
            <a:ext cx="1027811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실제 사용 학생</a:t>
            </a:r>
            <a:endParaRPr lang="en-US" sz="1050" dirty="0"/>
          </a:p>
        </p:txBody>
      </p:sp>
      <p:sp>
        <p:nvSpPr>
          <p:cNvPr id="54" name="txt-1-35"/>
          <p:cNvSpPr txBox="1"/>
          <p:nvPr/>
        </p:nvSpPr>
        <p:spPr>
          <a:xfrm>
            <a:off x="4374261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완독 기록</a:t>
            </a:r>
            <a:endParaRPr lang="en-US" sz="1050" dirty="0"/>
          </a:p>
        </p:txBody>
      </p:sp>
      <p:sp>
        <p:nvSpPr>
          <p:cNvPr id="55" name="txt-1-36"/>
          <p:cNvSpPr txBox="1"/>
          <p:nvPr/>
        </p:nvSpPr>
        <p:spPr>
          <a:xfrm>
            <a:off x="5965952" y="9116314"/>
            <a:ext cx="994918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독후활동 제출</a:t>
            </a:r>
            <a:endParaRPr lang="en-US" sz="1050" dirty="0"/>
          </a:p>
        </p:txBody>
      </p:sp>
      <p:sp>
        <p:nvSpPr>
          <p:cNvPr id="56" name="txt-1-37"/>
          <p:cNvSpPr txBox="1"/>
          <p:nvPr/>
        </p:nvSpPr>
        <p:spPr>
          <a:xfrm>
            <a:off x="2012823" y="9514586"/>
            <a:ext cx="353212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2026. 9. 20.~10. 21. 선도교사단 온오프라인 운영 종합</a:t>
            </a:r>
            <a:endParaRPr lang="en-US" sz="1000" dirty="0"/>
          </a:p>
        </p:txBody>
      </p:sp>
      <p:sp>
        <p:nvSpPr>
          <p:cNvPr id="57" name="txt-1-38"/>
          <p:cNvSpPr txBox="1"/>
          <p:nvPr/>
        </p:nvSpPr>
        <p:spPr>
          <a:xfrm>
            <a:off x="1502410" y="9843897"/>
            <a:ext cx="4554855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경남의 모든 학생이 읽고 생각하는 기본을 갖추도록,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학교 독서교육의 지속적인 운영을 지원해 주십시오.</a:t>
            </a:r>
            <a:endParaRPr lang="en-US" sz="1400" dirty="0"/>
          </a:p>
        </p:txBody>
      </p:sp>
      <p:sp>
        <p:nvSpPr>
          <p:cNvPr id="58" name="txt-1-39"/>
          <p:cNvSpPr txBox="1"/>
          <p:nvPr/>
        </p:nvSpPr>
        <p:spPr>
          <a:xfrm>
            <a:off x="304800" y="10510393"/>
            <a:ext cx="635000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845"/>
              </a:lnSpc>
              <a:buNone/>
            </a:pPr>
            <a:r>
              <a:rPr lang="ko-KR" altLang="en-US" sz="65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* Kreijkes 외(2026), Computers &amp; Education 243, 105514.</a:t>
            </a:r>
            <a:endParaRPr lang="en-US" sz="650" dirty="0"/>
          </a:p>
        </p:txBody>
      </p:sp>
      <p:sp>
        <p:nvSpPr>
          <p:cNvPr id="59" name="txt-S-title"/>
          <p:cNvSpPr txBox="1"/>
          <p:nvPr/>
        </p:nvSpPr>
        <p:spPr>
          <a:xfrm>
            <a:off x="381000" y="186690"/>
            <a:ext cx="3004185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독서수업 프로그램 부기 기반 독서교육 위탁운영</a:t>
            </a:r>
            <a:endParaRPr lang="en-US" sz="1100" dirty="0"/>
          </a:p>
        </p:txBody>
      </p:sp>
      <p:sp>
        <p:nvSpPr>
          <p:cNvPr id="60" name="txt-S-g0a"/>
          <p:cNvSpPr txBox="1"/>
          <p:nvPr/>
        </p:nvSpPr>
        <p:spPr>
          <a:xfrm>
            <a:off x="317500" y="73308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명작 300권을 함께 끝까지 읽기</a:t>
            </a:r>
            <a:endParaRPr lang="en-US" sz="1250" dirty="0"/>
          </a:p>
        </p:txBody>
      </p:sp>
      <p:sp>
        <p:nvSpPr>
          <p:cNvPr id="61" name="txt-S-g0b"/>
          <p:cNvSpPr txBox="1"/>
          <p:nvPr/>
        </p:nvSpPr>
        <p:spPr>
          <a:xfrm>
            <a:off x="317500" y="75684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교실용으로 다시 만든 학년별 50권</a:t>
            </a:r>
            <a:endParaRPr lang="en-US" sz="920" dirty="0"/>
          </a:p>
        </p:txBody>
      </p:sp>
      <p:sp>
        <p:nvSpPr>
          <p:cNvPr id="62" name="txt-S-g1a"/>
          <p:cNvSpPr txBox="1"/>
          <p:nvPr/>
        </p:nvSpPr>
        <p:spPr>
          <a:xfrm>
            <a:off x="2651252" y="73308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깊이 있게 읽기(캐릭터 대화)</a:t>
            </a:r>
            <a:endParaRPr lang="en-US" sz="1250" dirty="0"/>
          </a:p>
        </p:txBody>
      </p:sp>
      <p:sp>
        <p:nvSpPr>
          <p:cNvPr id="63" name="txt-S-g1b"/>
          <p:cNvSpPr txBox="1"/>
          <p:nvPr/>
        </p:nvSpPr>
        <p:spPr>
          <a:xfrm>
            <a:off x="2651252" y="75684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인물의 자리에서 까닭을 들어 답하기</a:t>
            </a:r>
            <a:endParaRPr lang="en-US" sz="920" dirty="0"/>
          </a:p>
        </p:txBody>
      </p:sp>
      <p:sp>
        <p:nvSpPr>
          <p:cNvPr id="64" name="txt-S-g2a"/>
          <p:cNvSpPr txBox="1"/>
          <p:nvPr/>
        </p:nvSpPr>
        <p:spPr>
          <a:xfrm>
            <a:off x="4985004" y="73308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읽고 표현하는 독후활동</a:t>
            </a:r>
            <a:endParaRPr lang="en-US" sz="1250" dirty="0"/>
          </a:p>
        </p:txBody>
      </p:sp>
      <p:sp>
        <p:nvSpPr>
          <p:cNvPr id="65" name="txt-S-g2b"/>
          <p:cNvSpPr txBox="1"/>
          <p:nvPr/>
        </p:nvSpPr>
        <p:spPr>
          <a:xfrm>
            <a:off x="4985004" y="75684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읽기 단계별 활동 카드 9가지</a:t>
            </a:r>
            <a:endParaRPr lang="en-US" sz="920" dirty="0"/>
          </a:p>
        </p:txBody>
      </p:sp>
      <p:sp>
        <p:nvSpPr>
          <p:cNvPr id="66" name="txt-S-g3a"/>
          <p:cNvSpPr txBox="1"/>
          <p:nvPr/>
        </p:nvSpPr>
        <p:spPr>
          <a:xfrm>
            <a:off x="317500" y="79531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독서 포트폴리오</a:t>
            </a:r>
            <a:endParaRPr lang="en-US" sz="1250" dirty="0"/>
          </a:p>
        </p:txBody>
      </p:sp>
      <p:sp>
        <p:nvSpPr>
          <p:cNvPr id="67" name="txt-S-g3b"/>
          <p:cNvSpPr txBox="1"/>
          <p:nvPr/>
        </p:nvSpPr>
        <p:spPr>
          <a:xfrm>
            <a:off x="317500" y="81907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숙제 없이 모이는 6년 독서 기록</a:t>
            </a:r>
            <a:endParaRPr lang="en-US" sz="920" dirty="0"/>
          </a:p>
        </p:txBody>
      </p:sp>
      <p:sp>
        <p:nvSpPr>
          <p:cNvPr id="68" name="txt-S-g4a"/>
          <p:cNvSpPr txBox="1"/>
          <p:nvPr/>
        </p:nvSpPr>
        <p:spPr>
          <a:xfrm>
            <a:off x="2651252" y="79531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교사 맞춤형 지원</a:t>
            </a:r>
            <a:endParaRPr lang="en-US" sz="1250" dirty="0"/>
          </a:p>
        </p:txBody>
      </p:sp>
      <p:sp>
        <p:nvSpPr>
          <p:cNvPr id="69" name="txt-S-g4b"/>
          <p:cNvSpPr txBox="1"/>
          <p:nvPr/>
        </p:nvSpPr>
        <p:spPr>
          <a:xfrm>
            <a:off x="2651252" y="81907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수업 만들기 두 길: 책 고르기, 고민 적기</a:t>
            </a:r>
            <a:endParaRPr lang="en-US" sz="920" dirty="0"/>
          </a:p>
        </p:txBody>
      </p:sp>
      <p:sp>
        <p:nvSpPr>
          <p:cNvPr id="70" name="txt-S-g5a"/>
          <p:cNvSpPr txBox="1"/>
          <p:nvPr/>
        </p:nvSpPr>
        <p:spPr>
          <a:xfrm>
            <a:off x="4985004" y="79531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성과 및 운영관리</a:t>
            </a:r>
            <a:endParaRPr lang="en-US" sz="1250" dirty="0"/>
          </a:p>
        </p:txBody>
      </p:sp>
      <p:sp>
        <p:nvSpPr>
          <p:cNvPr id="71" name="txt-S-g5b"/>
          <p:cNvSpPr txBox="1"/>
          <p:nvPr/>
        </p:nvSpPr>
        <p:spPr>
          <a:xfrm>
            <a:off x="4985004" y="81907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연수부터 성과 보고까지 10개 항목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4811" y="495300"/>
            <a:ext cx="221424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3266059" y="2755900"/>
            <a:ext cx="391299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5697" y="4635500"/>
            <a:ext cx="71335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63621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106037" y="6553200"/>
            <a:ext cx="307301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9232900"/>
            <a:ext cx="6925056" cy="889000"/>
          </a:xfrm>
          <a:prstGeom prst="roundRect">
            <a:avLst>
              <a:gd name="adj" fmla="val 1142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1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0" name="txt-2-0"/>
          <p:cNvSpPr txBox="1"/>
          <p:nvPr/>
        </p:nvSpPr>
        <p:spPr>
          <a:xfrm>
            <a:off x="381000" y="296926"/>
            <a:ext cx="4615053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독서수업 프로그램 부기 기반 독서교육 위탁운영</a:t>
            </a:r>
            <a:endParaRPr lang="en-US" sz="1700" dirty="0"/>
          </a:p>
        </p:txBody>
      </p:sp>
      <p:sp>
        <p:nvSpPr>
          <p:cNvPr id="21" name="txt-2-1"/>
          <p:cNvSpPr txBox="1"/>
          <p:nvPr/>
        </p:nvSpPr>
        <p:spPr>
          <a:xfrm>
            <a:off x="381000" y="730758"/>
            <a:ext cx="4901565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스스로 생각할 기회를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잃을까 두렵습니다.</a:t>
            </a:r>
            <a:endParaRPr lang="en-US" sz="3700" dirty="0"/>
          </a:p>
        </p:txBody>
      </p:sp>
      <p:sp>
        <p:nvSpPr>
          <p:cNvPr id="22" name="txt-2-2"/>
          <p:cNvSpPr txBox="1"/>
          <p:nvPr/>
        </p:nvSpPr>
        <p:spPr>
          <a:xfrm>
            <a:off x="863346" y="2545207"/>
            <a:ext cx="2655316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교실에서 마주한 걱정</a:t>
            </a:r>
            <a:endParaRPr lang="en-US" sz="1950" dirty="0"/>
          </a:p>
        </p:txBody>
      </p:sp>
      <p:sp>
        <p:nvSpPr>
          <p:cNvPr id="23" name="txt-2-3"/>
          <p:cNvSpPr txBox="1"/>
          <p:nvPr/>
        </p:nvSpPr>
        <p:spPr>
          <a:xfrm>
            <a:off x="381000" y="3027680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AI가 요약과 답안을 대신 만드는 동안 학생은 무엇을 직접 읽고 생각할까요.</a:t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글을 따라 읽고, 근거를 찾고, 자기 말로 정리하는 시간을</a:t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교실에서 지키려는 고민으로 부기를 만들었습니다.</a:t>
            </a:r>
            <a:endParaRPr lang="en-US" sz="1800" dirty="0"/>
          </a:p>
        </p:txBody>
      </p:sp>
      <p:sp>
        <p:nvSpPr>
          <p:cNvPr id="24" name="txt-2-4"/>
          <p:cNvSpPr txBox="1"/>
          <p:nvPr/>
        </p:nvSpPr>
        <p:spPr>
          <a:xfrm>
            <a:off x="863346" y="4424426"/>
            <a:ext cx="6174994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정보가 많아도, 깊은 이해는 저절로 생기지 않습니다</a:t>
            </a:r>
            <a:endParaRPr lang="en-US" sz="1950" dirty="0"/>
          </a:p>
        </p:txBody>
      </p:sp>
      <p:sp>
        <p:nvSpPr>
          <p:cNvPr id="25" name="txt-2-5"/>
          <p:cNvSpPr txBox="1"/>
          <p:nvPr/>
        </p:nvSpPr>
        <p:spPr>
          <a:xfrm>
            <a:off x="381000" y="4945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생각할 일을 바깥 도구에 맡기는 현상을 인지 외주화라고 부릅니다.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AI의 답을 이해하고 검토하려면 학생 안에 낱말과 배경지식이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쌓여 있어야 합니다. 독서수업은 그 바탕을 마련하는 시간입니다.</a:t>
            </a:r>
            <a:endParaRPr lang="en-US" sz="1800" dirty="0"/>
          </a:p>
        </p:txBody>
      </p:sp>
      <p:sp>
        <p:nvSpPr>
          <p:cNvPr id="26" name="txt-2-6"/>
          <p:cNvSpPr txBox="1"/>
          <p:nvPr/>
        </p:nvSpPr>
        <p:spPr>
          <a:xfrm>
            <a:off x="863346" y="6341999"/>
            <a:ext cx="3579368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학교가 먼저 고민해야 할 질문</a:t>
            </a:r>
            <a:endParaRPr lang="en-US" sz="1950" dirty="0"/>
          </a:p>
        </p:txBody>
      </p:sp>
      <p:sp>
        <p:nvSpPr>
          <p:cNvPr id="27" name="txt-2-7"/>
          <p:cNvSpPr txBox="1"/>
          <p:nvPr/>
        </p:nvSpPr>
        <p:spPr>
          <a:xfrm>
            <a:off x="381000" y="6837045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학생은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무엇을 알고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어떤 경험을 쌓고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어떻게 생각하는 사람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으로 자라야</a:t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할까요. 디지털 도구를 고를 때도 이 질문부터 검토합니다.</a:t>
            </a:r>
            <a:endParaRPr lang="en-US" sz="1800" dirty="0"/>
          </a:p>
        </p:txBody>
      </p:sp>
      <p:sp>
        <p:nvSpPr>
          <p:cNvPr id="28" name="txt-2-8"/>
          <p:cNvSpPr txBox="1"/>
          <p:nvPr/>
        </p:nvSpPr>
        <p:spPr>
          <a:xfrm>
            <a:off x="381000" y="7637145"/>
            <a:ext cx="6979285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22"/>
              </a:lnSpc>
              <a:buNone/>
            </a:pPr>
            <a:r>
              <a:rPr lang="ko-KR" altLang="en-US" sz="1746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스스로 읽고 이해하며</a:t>
            </a:r>
            <a:pPr algn="l" indent="0" marL="0">
              <a:lnSpc>
                <a:spcPts val="2522"/>
              </a:lnSpc>
              <a:buNone/>
            </a:pPr>
            <a:r>
              <a:rPr lang="ko-KR" altLang="en-US" sz="1746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, </a:t>
            </a:r>
            <a:pPr algn="l" indent="0" marL="0">
              <a:lnSpc>
                <a:spcPts val="2522"/>
              </a:lnSpc>
              <a:buNone/>
            </a:pPr>
            <a:r>
              <a:rPr lang="ko-KR" altLang="en-US" sz="1746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근거를 들어 말하는 힘</a:t>
            </a:r>
            <a:pPr algn="l" indent="0" marL="0">
              <a:lnSpc>
                <a:spcPts val="2522"/>
              </a:lnSpc>
              <a:buNone/>
            </a:pPr>
            <a:r>
              <a:rPr lang="ko-KR" altLang="en-US" sz="1746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꾸준히 길러 주어야</a:t>
            </a:r>
            <a:r>
              <a:rPr lang="ko-KR" altLang="en-US" sz="1746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합니다. 학생이 직접 읽고 자기 생각을 말하는 수업을 돕고자 부기를 만들었습니다.</a:t>
            </a:r>
            <a:endParaRPr lang="en-US" sz="1746" dirty="0"/>
          </a:p>
        </p:txBody>
      </p:sp>
      <p:sp>
        <p:nvSpPr>
          <p:cNvPr id="29" name="txt-2-9"/>
          <p:cNvSpPr txBox="1"/>
          <p:nvPr/>
        </p:nvSpPr>
        <p:spPr>
          <a:xfrm>
            <a:off x="963295" y="9322562"/>
            <a:ext cx="5632323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학생이 직접 읽고 묻고 정리한 생각은</a:t>
            </a:r>
            <a:endParaRPr lang="en-US" sz="17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다음 글을 이해하고 판단할 바탕이 됩니다.</a:t>
            </a:r>
            <a:endParaRPr lang="en-US" sz="1750" dirty="0"/>
          </a:p>
        </p:txBody>
      </p:sp>
      <p:sp>
        <p:nvSpPr>
          <p:cNvPr id="30" name="txt-2-10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7548" y="495300"/>
            <a:ext cx="419150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720842" y="2755900"/>
            <a:ext cx="145821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119" y="4635500"/>
            <a:ext cx="89293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7988300"/>
            <a:ext cx="6925056" cy="622300"/>
          </a:xfrm>
          <a:prstGeom prst="roundRect">
            <a:avLst>
              <a:gd name="adj" fmla="val 16327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4284" y="8165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6009" y="8165084"/>
            <a:ext cx="186309" cy="186309"/>
          </a:xfrm>
          <a:custGeom>
            <a:avLst/>
            <a:gdLst/>
            <a:ahLst/>
            <a:cxnLst/>
            <a:rect l="l" t="t" r="r" b="b"/>
            <a:pathLst>
              <a:path w="186309" h="186309">
                <a:moveTo>
                  <a:pt x="186271" y="93129"/>
                </a:moveTo>
                <a:cubicBezTo>
                  <a:pt x="186271" y="41694"/>
                  <a:pt x="144564" y="0"/>
                  <a:pt x="93129" y="0"/>
                </a:cubicBezTo>
                <a:cubicBezTo>
                  <a:pt x="41694" y="0"/>
                  <a:pt x="0" y="41694"/>
                  <a:pt x="0" y="93129"/>
                </a:cubicBezTo>
                <a:cubicBezTo>
                  <a:pt x="0" y="144564"/>
                  <a:pt x="41694" y="186271"/>
                  <a:pt x="93129" y="186271"/>
                </a:cubicBezTo>
                <a:cubicBezTo>
                  <a:pt x="144564" y="186271"/>
                  <a:pt x="186271" y="144564"/>
                  <a:pt x="186271" y="93129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2491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5709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2491" y="8386191"/>
            <a:ext cx="93218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4175" y="8421116"/>
            <a:ext cx="6985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9100" y="8258175"/>
            <a:ext cx="0" cy="116459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4175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59100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1125" y="8176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4366" y="83280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0825" y="82115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500" y="8826500"/>
            <a:ext cx="6925056" cy="825500"/>
          </a:xfrm>
          <a:prstGeom prst="roundRect">
            <a:avLst>
              <a:gd name="adj" fmla="val 12308"/>
            </a:avLst>
          </a:prstGeom>
          <a:solidFill>
            <a:srgbClr val="F0F5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0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1" name="txt-3-0"/>
          <p:cNvSpPr txBox="1"/>
          <p:nvPr/>
        </p:nvSpPr>
        <p:spPr>
          <a:xfrm>
            <a:off x="381000" y="296926"/>
            <a:ext cx="2851912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독서가 만드는 이해의 바탕</a:t>
            </a:r>
            <a:endParaRPr lang="en-US" sz="1700" dirty="0"/>
          </a:p>
        </p:txBody>
      </p:sp>
      <p:sp>
        <p:nvSpPr>
          <p:cNvPr id="32" name="txt-3-1"/>
          <p:cNvSpPr txBox="1"/>
          <p:nvPr/>
        </p:nvSpPr>
        <p:spPr>
          <a:xfrm>
            <a:off x="381000" y="730758"/>
            <a:ext cx="5077333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746"/>
              </a:lnSpc>
              <a:buNone/>
            </a:pPr>
            <a:r>
              <a:rPr lang="ko-KR" altLang="en-US" sz="3377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아는 것이 쌓여야,</a:t>
            </a:r>
            <a:r>
              <a:rPr lang="ko-KR" altLang="en-US" sz="3377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새로운 내용을 이해하기 쉽습니다.</a:t>
            </a:r>
            <a:endParaRPr lang="en-US" sz="3377" dirty="0"/>
          </a:p>
        </p:txBody>
      </p:sp>
      <p:sp>
        <p:nvSpPr>
          <p:cNvPr id="33" name="txt-3-2"/>
          <p:cNvSpPr txBox="1"/>
          <p:nvPr/>
        </p:nvSpPr>
        <p:spPr>
          <a:xfrm>
            <a:off x="863346" y="2540000"/>
            <a:ext cx="5355717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어휘와 간접 경험이 이해의 바탕을 넓힙니다</a:t>
            </a:r>
            <a:endParaRPr lang="en-US" sz="2000" dirty="0"/>
          </a:p>
        </p:txBody>
      </p:sp>
      <p:sp>
        <p:nvSpPr>
          <p:cNvPr id="34" name="txt-3-3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이야기에서는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다른 삶과 선택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을, 설명하는 글에서는 세상의 원리를,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에세이에서는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다른 사람의 생각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만납니다. 문맥 속에서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낱말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익히고,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다른 생각을 따라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자기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과 비교합니다.</a:t>
            </a:r>
            <a:endParaRPr lang="en-US" sz="1800" dirty="0"/>
          </a:p>
        </p:txBody>
      </p:sp>
      <p:sp>
        <p:nvSpPr>
          <p:cNvPr id="35" name="txt-3-4"/>
          <p:cNvSpPr txBox="1"/>
          <p:nvPr/>
        </p:nvSpPr>
        <p:spPr>
          <a:xfrm>
            <a:off x="863346" y="4417314"/>
            <a:ext cx="5977382" cy="424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74"/>
              </a:lnSpc>
              <a:buNone/>
            </a:pPr>
            <a:r>
              <a:rPr lang="ko-KR" altLang="en-US" sz="198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스키마는 경험과 지식이 조직된 ‘이해의 틀’입니다</a:t>
            </a:r>
            <a:endParaRPr lang="en-US" sz="1980" dirty="0"/>
          </a:p>
        </p:txBody>
      </p:sp>
      <p:sp>
        <p:nvSpPr>
          <p:cNvPr id="36" name="txt-3-5"/>
          <p:cNvSpPr txBox="1"/>
          <p:nvPr/>
        </p:nvSpPr>
        <p:spPr>
          <a:xfrm>
            <a:off x="381000" y="4932426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새로운 내용을 배울 때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이미 아는 개념과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떠올리면 이해하는 데 도움이 됩</a:t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니다. </a:t>
            </a: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관련 어휘와 배경지식</a:t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이 부족하면 글자를 읽어도 </a:t>
            </a: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앞뒤 내용과 뜻을 파악</a:t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/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하기 어렵습니다.</a:t>
            </a:r>
            <a:endParaRPr lang="en-US" sz="1800" dirty="0"/>
          </a:p>
        </p:txBody>
      </p:sp>
      <p:sp>
        <p:nvSpPr>
          <p:cNvPr id="37" name="txt-3-6"/>
          <p:cNvSpPr txBox="1"/>
          <p:nvPr/>
        </p:nvSpPr>
        <p:spPr>
          <a:xfrm>
            <a:off x="381000" y="61135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그래서 읽기 전 필요한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배경을 짚고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,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어휘를 익히고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, 새 내용으로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기존 생각을 넓히거나 고치는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과정이 필요합니다.</a:t>
            </a:r>
            <a:endParaRPr lang="en-US" sz="1800" dirty="0"/>
          </a:p>
        </p:txBody>
      </p:sp>
      <p:sp>
        <p:nvSpPr>
          <p:cNvPr id="38" name="txt-3-7"/>
          <p:cNvSpPr txBox="1"/>
          <p:nvPr/>
        </p:nvSpPr>
        <p:spPr>
          <a:xfrm>
            <a:off x="863346" y="8180705"/>
            <a:ext cx="117132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 b="0">
                <a:solidFill>
                  <a:srgbClr val="15543C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어휘, 간접 경험</a:t>
            </a:r>
            <a:endParaRPr lang="en-US" sz="1080" dirty="0"/>
          </a:p>
        </p:txBody>
      </p:sp>
      <p:sp>
        <p:nvSpPr>
          <p:cNvPr id="39" name="txt-3-8"/>
          <p:cNvSpPr txBox="1"/>
          <p:nvPr/>
        </p:nvSpPr>
        <p:spPr>
          <a:xfrm>
            <a:off x="3199765" y="8180705"/>
            <a:ext cx="127622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 b="0">
                <a:solidFill>
                  <a:srgbClr val="15543C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배경지식, 스키마</a:t>
            </a:r>
            <a:endParaRPr lang="en-US" sz="1080" dirty="0"/>
          </a:p>
        </p:txBody>
      </p:sp>
      <p:sp>
        <p:nvSpPr>
          <p:cNvPr id="40" name="txt-3-9"/>
          <p:cNvSpPr txBox="1"/>
          <p:nvPr/>
        </p:nvSpPr>
        <p:spPr>
          <a:xfrm>
            <a:off x="5536184" y="8180705"/>
            <a:ext cx="128968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 b="0">
                <a:solidFill>
                  <a:srgbClr val="15543C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이해, 추론, 비교</a:t>
            </a:r>
            <a:endParaRPr lang="en-US" sz="1080" dirty="0"/>
          </a:p>
        </p:txBody>
      </p:sp>
      <p:sp>
        <p:nvSpPr>
          <p:cNvPr id="41" name="txt-3-10"/>
          <p:cNvSpPr txBox="1"/>
          <p:nvPr/>
        </p:nvSpPr>
        <p:spPr>
          <a:xfrm>
            <a:off x="2513965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 b="0">
                <a:solidFill>
                  <a:srgbClr val="D59B3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xt-3-11"/>
          <p:cNvSpPr txBox="1"/>
          <p:nvPr/>
        </p:nvSpPr>
        <p:spPr>
          <a:xfrm>
            <a:off x="4850384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 b="0">
                <a:solidFill>
                  <a:srgbClr val="D59B3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xt-3-12"/>
          <p:cNvSpPr txBox="1"/>
          <p:nvPr/>
        </p:nvSpPr>
        <p:spPr>
          <a:xfrm>
            <a:off x="1554099" y="8881237"/>
            <a:ext cx="4449699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책에서 익힌 낱말과 새로 알게 된 내용은</a:t>
            </a:r>
            <a:r>
              <a:rPr lang="ko-KR" altLang="en-US" sz="18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세상을 이해하는 생각의 바탕이 됩니다.</a:t>
            </a:r>
            <a:endParaRPr lang="en-US" sz="1800" dirty="0"/>
          </a:p>
        </p:txBody>
      </p:sp>
      <p:sp>
        <p:nvSpPr>
          <p:cNvPr id="44" name="txt-3-13"/>
          <p:cNvSpPr txBox="1"/>
          <p:nvPr/>
        </p:nvSpPr>
        <p:spPr>
          <a:xfrm>
            <a:off x="393573" y="9801606"/>
            <a:ext cx="3943985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배경지식의 영향은 지식의 정확성, 글의 특성 등에 따라 달라집니다.</a:t>
            </a:r>
            <a:r>
              <a:rPr lang="ko-KR" altLang="en-US" sz="98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출처: Smith et al. (2021), Hattan et al. (2024)</a:t>
            </a:r>
            <a:endParaRPr lang="en-US" sz="980" dirty="0"/>
          </a:p>
        </p:txBody>
      </p:sp>
      <p:sp>
        <p:nvSpPr>
          <p:cNvPr id="45" name="txt-3-14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5151" y="495300"/>
            <a:ext cx="330390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6081014" y="2755900"/>
            <a:ext cx="1098042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343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595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634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449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410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410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6120" y="4508500"/>
            <a:ext cx="139293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70860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6365" y="7277100"/>
            <a:ext cx="70269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8877300"/>
            <a:ext cx="6925056" cy="927100"/>
          </a:xfrm>
          <a:prstGeom prst="roundRect">
            <a:avLst>
              <a:gd name="adj" fmla="val 1095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300" y="896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300" y="9232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300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22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3" name="txt-4-0"/>
          <p:cNvSpPr txBox="1"/>
          <p:nvPr/>
        </p:nvSpPr>
        <p:spPr>
          <a:xfrm>
            <a:off x="381000" y="296926"/>
            <a:ext cx="382828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단편적인 정보에서 깊이 있는 이해로</a:t>
            </a:r>
            <a:endParaRPr lang="en-US" sz="1700" dirty="0"/>
          </a:p>
        </p:txBody>
      </p:sp>
      <p:sp>
        <p:nvSpPr>
          <p:cNvPr id="24" name="txt-4-1"/>
          <p:cNvSpPr txBox="1"/>
          <p:nvPr/>
        </p:nvSpPr>
        <p:spPr>
          <a:xfrm>
            <a:off x="381000" y="768858"/>
            <a:ext cx="5289804" cy="794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810"/>
              </a:lnSpc>
              <a:buNone/>
            </a:pPr>
            <a:r>
              <a:rPr lang="ko-KR" altLang="en-US" sz="3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‘본 적 있다’는 익숙함이</a:t>
            </a:r>
            <a:endParaRPr lang="en-US" sz="3700" dirty="0"/>
          </a:p>
        </p:txBody>
      </p:sp>
      <p:sp>
        <p:nvSpPr>
          <p:cNvPr id="25" name="txt-4-2"/>
          <p:cNvSpPr txBox="1"/>
          <p:nvPr/>
        </p:nvSpPr>
        <p:spPr>
          <a:xfrm>
            <a:off x="381000" y="1429512"/>
            <a:ext cx="5586730" cy="759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598"/>
              </a:lnSpc>
              <a:buNone/>
            </a:pPr>
            <a:r>
              <a:rPr lang="ko-KR" altLang="en-US" sz="3537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‘안다’는 이해는 아닙니다.</a:t>
            </a:r>
            <a:endParaRPr lang="en-US" sz="3537" dirty="0"/>
          </a:p>
        </p:txBody>
      </p:sp>
      <p:sp>
        <p:nvSpPr>
          <p:cNvPr id="26" name="txt-4-3"/>
          <p:cNvSpPr txBox="1"/>
          <p:nvPr/>
        </p:nvSpPr>
        <p:spPr>
          <a:xfrm>
            <a:off x="863346" y="2545207"/>
            <a:ext cx="5751830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단편적인 정보가 생각의 전부가 될까 걱정됩니다</a:t>
            </a:r>
            <a:endParaRPr lang="en-US" sz="1950" dirty="0"/>
          </a:p>
        </p:txBody>
      </p:sp>
      <p:sp>
        <p:nvSpPr>
          <p:cNvPr id="27" name="txt-4-4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AI가 만든 답을 읽었다고 학습까지 끝나는 것은 아닙니다.</a:t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중등학생 읽기 실험에서는 LLM만 쓴 조건보다 직접 필기한 조건이</a:t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학습 3일 뒤 이해 평가에서 더 높은 점수를 받았습니다.</a:t>
            </a:r>
            <a:endParaRPr lang="en-US" sz="1800" dirty="0"/>
          </a:p>
        </p:txBody>
      </p:sp>
      <p:sp>
        <p:nvSpPr>
          <p:cNvPr id="28" name="txt-4-5"/>
          <p:cNvSpPr txBox="1"/>
          <p:nvPr/>
        </p:nvSpPr>
        <p:spPr>
          <a:xfrm>
            <a:off x="863346" y="4292346"/>
            <a:ext cx="54274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‘안다는 착각’을 넘어서는 연습이 필요합니다</a:t>
            </a:r>
            <a:endParaRPr lang="en-US" sz="2000" dirty="0"/>
          </a:p>
        </p:txBody>
      </p:sp>
      <p:sp>
        <p:nvSpPr>
          <p:cNvPr id="29" name="txt-4-6"/>
          <p:cNvSpPr txBox="1"/>
          <p:nvPr/>
        </p:nvSpPr>
        <p:spPr>
          <a:xfrm>
            <a:off x="381000" y="47800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12점 만점의 이해 점수는 LLM 조건 4.00점, 필기 조건 4.89점이었습니다.</a:t>
            </a: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학생이 직접 읽고 자기 말로 정리하는 활동을 수업에 넣었습니다.</a:t>
            </a:r>
            <a:endParaRPr lang="en-US" sz="1800" dirty="0"/>
          </a:p>
        </p:txBody>
      </p:sp>
      <p:sp>
        <p:nvSpPr>
          <p:cNvPr id="30" name="txt-4-7"/>
          <p:cNvSpPr txBox="1"/>
          <p:nvPr/>
        </p:nvSpPr>
        <p:spPr>
          <a:xfrm>
            <a:off x="381000" y="55674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학생이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자기 말로 설명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하고,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책에서 근거를 찾고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다른 상황에 적용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해 보는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활동이 필요합니다.</a:t>
            </a:r>
            <a:endParaRPr lang="en-US" sz="1800" dirty="0"/>
          </a:p>
        </p:txBody>
      </p:sp>
      <p:sp>
        <p:nvSpPr>
          <p:cNvPr id="31" name="txt-4-8"/>
          <p:cNvSpPr txBox="1"/>
          <p:nvPr/>
        </p:nvSpPr>
        <p:spPr>
          <a:xfrm>
            <a:off x="863346" y="7060057"/>
            <a:ext cx="6186678" cy="40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디지털 교육의 중심에도 학생의 사고가 있어야 합니다</a:t>
            </a:r>
            <a:endParaRPr lang="en-US" sz="1900" dirty="0"/>
          </a:p>
        </p:txBody>
      </p:sp>
      <p:sp>
        <p:nvSpPr>
          <p:cNvPr id="32" name="txt-4-9"/>
          <p:cNvSpPr txBox="1"/>
          <p:nvPr/>
        </p:nvSpPr>
        <p:spPr>
          <a:xfrm>
            <a:off x="381000" y="7565136"/>
            <a:ext cx="714095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AI가 빠르게 답을 제시해도, 그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뜻과 근거를 판단하는 힘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은 학생 안에 있어야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합니다. 기술은 읽기와 표현을 돕고, 학생에게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충분히 생각할 시간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주는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방향으로 써야 합니다.</a:t>
            </a:r>
            <a:endParaRPr lang="en-US" sz="1750" dirty="0"/>
          </a:p>
        </p:txBody>
      </p:sp>
      <p:sp>
        <p:nvSpPr>
          <p:cNvPr id="33" name="txt-4-10"/>
          <p:cNvSpPr txBox="1"/>
          <p:nvPr/>
        </p:nvSpPr>
        <p:spPr>
          <a:xfrm>
            <a:off x="545973" y="89659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?</a:t>
            </a:r>
            <a:endParaRPr lang="en-US" sz="1000" dirty="0"/>
          </a:p>
        </p:txBody>
      </p:sp>
      <p:sp>
        <p:nvSpPr>
          <p:cNvPr id="34" name="txt-4-11"/>
          <p:cNvSpPr txBox="1"/>
          <p:nvPr/>
        </p:nvSpPr>
        <p:spPr>
          <a:xfrm>
            <a:off x="812673" y="8910447"/>
            <a:ext cx="2582672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 말로 설명할 수 있는가?</a:t>
            </a:r>
            <a:r>
              <a:rPr lang="ko-KR" altLang="en-US" sz="13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 그렇게 생각한 근거는 무엇인가?</a:t>
            </a:r>
            <a:r>
              <a:rPr lang="ko-KR" altLang="en-US" sz="13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 다른 상황에도 적용할 수 있는가?</a:t>
            </a:r>
            <a:endParaRPr lang="en-US" sz="1300" dirty="0"/>
          </a:p>
        </p:txBody>
      </p:sp>
      <p:sp>
        <p:nvSpPr>
          <p:cNvPr id="35" name="txt-4-12"/>
          <p:cNvSpPr txBox="1"/>
          <p:nvPr/>
        </p:nvSpPr>
        <p:spPr>
          <a:xfrm>
            <a:off x="545973" y="92326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?</a:t>
            </a:r>
            <a:endParaRPr lang="en-US" sz="1000" dirty="0"/>
          </a:p>
        </p:txBody>
      </p:sp>
      <p:sp>
        <p:nvSpPr>
          <p:cNvPr id="36" name="txt-4-13"/>
          <p:cNvSpPr txBox="1"/>
          <p:nvPr/>
        </p:nvSpPr>
        <p:spPr>
          <a:xfrm>
            <a:off x="545973" y="94993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?</a:t>
            </a:r>
            <a:endParaRPr lang="en-US" sz="1000" dirty="0"/>
          </a:p>
        </p:txBody>
      </p:sp>
      <p:sp>
        <p:nvSpPr>
          <p:cNvPr id="37" name="txt-4-14"/>
          <p:cNvSpPr txBox="1"/>
          <p:nvPr/>
        </p:nvSpPr>
        <p:spPr>
          <a:xfrm>
            <a:off x="381000" y="9901301"/>
            <a:ext cx="63500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Kreijkes 외(2026), Computers &amp; Education 243, 105514.</a:t>
            </a:r>
            <a:endParaRPr lang="en-US" sz="830" dirty="0"/>
          </a:p>
        </p:txBody>
      </p:sp>
      <p:sp>
        <p:nvSpPr>
          <p:cNvPr id="38" name="txt-4-15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400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052695" y="2717800"/>
            <a:ext cx="212636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10378" y="4635500"/>
            <a:ext cx="186867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558" y="6253734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3666681" y="6436868"/>
            <a:ext cx="351237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500" y="67056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62471" y="6818313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3600" y="68135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500" y="72517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2471" y="7364413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7396" y="7550722"/>
            <a:ext cx="2324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396" y="7550722"/>
            <a:ext cx="9309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922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6" name="Shape 24"/>
          <p:cNvSpPr/>
          <p:nvPr/>
        </p:nvSpPr>
        <p:spPr>
          <a:xfrm>
            <a:off x="581216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82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8" name="Shape 26"/>
          <p:cNvSpPr/>
          <p:nvPr/>
        </p:nvSpPr>
        <p:spPr>
          <a:xfrm>
            <a:off x="3403600" y="73596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7500" y="77978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30" name="Shape 28"/>
          <p:cNvSpPr/>
          <p:nvPr/>
        </p:nvSpPr>
        <p:spPr>
          <a:xfrm>
            <a:off x="474155" y="7916355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7395" y="8067739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855" y="7951280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3600" y="79057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500" y="83439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5775" y="8450580"/>
            <a:ext cx="209550" cy="256540"/>
          </a:xfrm>
          <a:custGeom>
            <a:avLst/>
            <a:gdLst/>
            <a:ahLst/>
            <a:cxnLst/>
            <a:rect l="l" t="t" r="r" b="b"/>
            <a:pathLst>
              <a:path w="209550" h="256540">
                <a:moveTo>
                  <a:pt x="0" y="0"/>
                </a:moveTo>
                <a:lnTo>
                  <a:pt x="139700" y="0"/>
                </a:lnTo>
                <a:lnTo>
                  <a:pt x="209550" y="69850"/>
                </a:lnTo>
                <a:lnTo>
                  <a:pt x="209550" y="256540"/>
                </a:lnTo>
                <a:lnTo>
                  <a:pt x="0" y="256540"/>
                </a:lnTo>
                <a:lnTo>
                  <a:pt x="0" y="0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2765" y="8558530"/>
            <a:ext cx="11557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765" y="8606790"/>
            <a:ext cx="11557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765" y="8655050"/>
            <a:ext cx="7366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3600" y="84518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7500" y="88900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96" y="89794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7528" y="91779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3446" y="91779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7528" y="92307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0863" y="92704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0486" y="90851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0863" y="90455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0486" y="90455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03600" y="89979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7500" y="94361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51" name="Shape 49"/>
          <p:cNvSpPr/>
          <p:nvPr/>
        </p:nvSpPr>
        <p:spPr>
          <a:xfrm>
            <a:off x="469456" y="9711754"/>
            <a:ext cx="32639" cy="93091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2" name="Shape 50"/>
          <p:cNvSpPr/>
          <p:nvPr/>
        </p:nvSpPr>
        <p:spPr>
          <a:xfrm>
            <a:off x="539306" y="9653588"/>
            <a:ext cx="32639" cy="151384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3" name="Shape 51"/>
          <p:cNvSpPr/>
          <p:nvPr/>
        </p:nvSpPr>
        <p:spPr>
          <a:xfrm>
            <a:off x="609156" y="9595295"/>
            <a:ext cx="32639" cy="209550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4" name="Shape 52"/>
          <p:cNvSpPr/>
          <p:nvPr/>
        </p:nvSpPr>
        <p:spPr>
          <a:xfrm>
            <a:off x="679006" y="9537129"/>
            <a:ext cx="32639" cy="267716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5" name="Shape 53"/>
          <p:cNvSpPr/>
          <p:nvPr/>
        </p:nvSpPr>
        <p:spPr>
          <a:xfrm>
            <a:off x="3403600" y="95440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56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57" name="txt-5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교실의 문제에서 출발한 부기</a:t>
            </a:r>
            <a:endParaRPr lang="en-US" sz="1700" dirty="0"/>
          </a:p>
        </p:txBody>
      </p:sp>
      <p:sp>
        <p:nvSpPr>
          <p:cNvPr id="58" name="txt-5-1"/>
          <p:cNvSpPr txBox="1"/>
          <p:nvPr/>
        </p:nvSpPr>
        <p:spPr>
          <a:xfrm>
            <a:off x="381000" y="730758"/>
            <a:ext cx="4450334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지금 학교 현장에는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독서가 절실합니다.</a:t>
            </a:r>
            <a:endParaRPr lang="en-US" sz="3700" dirty="0"/>
          </a:p>
        </p:txBody>
      </p:sp>
      <p:sp>
        <p:nvSpPr>
          <p:cNvPr id="59" name="txt-5-2"/>
          <p:cNvSpPr txBox="1"/>
          <p:nvPr/>
        </p:nvSpPr>
        <p:spPr>
          <a:xfrm>
            <a:off x="863346" y="2504059"/>
            <a:ext cx="4620768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492"/>
              </a:lnSpc>
              <a:buNone/>
            </a:pPr>
            <a:r>
              <a:rPr lang="ko-KR" altLang="en-US" sz="1917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고전 속 인물의 선택을 두고 함께 묻습니다.</a:t>
            </a:r>
            <a:endParaRPr lang="en-US" sz="1917" dirty="0"/>
          </a:p>
        </p:txBody>
      </p:sp>
      <p:sp>
        <p:nvSpPr>
          <p:cNvPr id="60" name="txt-5-3"/>
          <p:cNvSpPr txBox="1"/>
          <p:nvPr/>
        </p:nvSpPr>
        <p:spPr>
          <a:xfrm>
            <a:off x="381000" y="2990342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사람과 세상을 이해하고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스스로 생각할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기르기 위해,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고전의 지혜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를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빌리고자 했습니다.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우정과 책임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공정과 나눔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읽으며 ‘왜 그런 선택을 했을까’,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‘나라면 어떻게 했을까’를 함께 묻습니다.</a:t>
            </a:r>
            <a:endParaRPr lang="en-US" sz="1650" dirty="0"/>
          </a:p>
        </p:txBody>
      </p:sp>
      <p:sp>
        <p:nvSpPr>
          <p:cNvPr id="61" name="txt-5-4"/>
          <p:cNvSpPr txBox="1"/>
          <p:nvPr/>
        </p:nvSpPr>
        <p:spPr>
          <a:xfrm>
            <a:off x="863346" y="4421378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62" name="txt-5-5"/>
          <p:cNvSpPr txBox="1"/>
          <p:nvPr/>
        </p:nvSpPr>
        <p:spPr>
          <a:xfrm>
            <a:off x="381000" y="4933188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책을 제공해도 모르는 낱말에서 멈추면 읽기의 재미를 느끼기 어렵습니다.</a:t>
            </a: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모르는 낱말의 뜻을 확인하고 교사의 질문에 답하며 내용을 이해합니다. </a:t>
            </a:r>
            <a:r>
              <a:rPr lang="ko-KR" altLang="en-US" sz="16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한 권을 끝까지 읽은 뒤 다음 책도 골라 읽도록 돕습니다.</a:t>
            </a:r>
            <a:endParaRPr lang="en-US" sz="1650" dirty="0"/>
          </a:p>
        </p:txBody>
      </p:sp>
      <p:sp>
        <p:nvSpPr>
          <p:cNvPr id="63" name="txt-5-16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4 / 8</a:t>
            </a:r>
            <a:endParaRPr lang="en-US" sz="1000" dirty="0"/>
          </a:p>
        </p:txBody>
      </p:sp>
      <p:sp>
        <p:nvSpPr>
          <p:cNvPr id="64" name="txt-D4-s3"/>
          <p:cNvSpPr txBox="1"/>
          <p:nvPr/>
        </p:nvSpPr>
        <p:spPr>
          <a:xfrm>
            <a:off x="863346" y="6202553"/>
            <a:ext cx="2807462" cy="46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부기 서비스 특징 6가지</a:t>
            </a:r>
            <a:endParaRPr lang="en-US" sz="2100" dirty="0"/>
          </a:p>
        </p:txBody>
      </p:sp>
      <p:sp>
        <p:nvSpPr>
          <p:cNvPr id="65" name="txt-D4-r0a"/>
          <p:cNvSpPr txBox="1"/>
          <p:nvPr/>
        </p:nvSpPr>
        <p:spPr>
          <a:xfrm>
            <a:off x="863346" y="6816471"/>
            <a:ext cx="249859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35"/>
              </a:lnSpc>
              <a:buNone/>
            </a:pPr>
            <a:r>
              <a:rPr lang="ko-KR" altLang="en-US" sz="1411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명작 300권을 함께 끝까지 읽기</a:t>
            </a:r>
            <a:endParaRPr lang="en-US" sz="1411" dirty="0"/>
          </a:p>
        </p:txBody>
      </p:sp>
      <p:sp>
        <p:nvSpPr>
          <p:cNvPr id="66" name="txt-D4-r0b"/>
          <p:cNvSpPr txBox="1"/>
          <p:nvPr/>
        </p:nvSpPr>
        <p:spPr>
          <a:xfrm>
            <a:off x="3556000" y="6841236"/>
            <a:ext cx="300659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교실용으로 다시 만든 명작을 반 전체가 끝까지</a:t>
            </a:r>
            <a:endParaRPr lang="en-US" sz="1200" dirty="0"/>
          </a:p>
        </p:txBody>
      </p:sp>
      <p:sp>
        <p:nvSpPr>
          <p:cNvPr id="67" name="txt-D4-r1a"/>
          <p:cNvSpPr txBox="1"/>
          <p:nvPr/>
        </p:nvSpPr>
        <p:spPr>
          <a:xfrm>
            <a:off x="863346" y="7362571"/>
            <a:ext cx="244068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깊이 있게 읽기(캐릭터 대화)</a:t>
            </a:r>
            <a:endParaRPr lang="en-US" sz="1500" dirty="0"/>
          </a:p>
        </p:txBody>
      </p:sp>
      <p:sp>
        <p:nvSpPr>
          <p:cNvPr id="68" name="txt-D4-r1b"/>
          <p:cNvSpPr txBox="1"/>
          <p:nvPr/>
        </p:nvSpPr>
        <p:spPr>
          <a:xfrm>
            <a:off x="3556000" y="7387336"/>
            <a:ext cx="286219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인물이 된 부기의 질문에 까닭을 들어 답하기</a:t>
            </a:r>
            <a:endParaRPr lang="en-US" sz="1200" dirty="0"/>
          </a:p>
        </p:txBody>
      </p:sp>
      <p:sp>
        <p:nvSpPr>
          <p:cNvPr id="69" name="txt-D4-r2a"/>
          <p:cNvSpPr txBox="1"/>
          <p:nvPr/>
        </p:nvSpPr>
        <p:spPr>
          <a:xfrm>
            <a:off x="863346" y="7908671"/>
            <a:ext cx="1424305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53"/>
              </a:lnSpc>
              <a:buNone/>
            </a:pPr>
            <a:r>
              <a:rPr lang="ko-KR" altLang="en-US" sz="1041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읽고 표현하는 독후활동</a:t>
            </a:r>
            <a:endParaRPr lang="en-US" sz="1041" dirty="0"/>
          </a:p>
        </p:txBody>
      </p:sp>
      <p:sp>
        <p:nvSpPr>
          <p:cNvPr id="70" name="txt-D4-r2b"/>
          <p:cNvSpPr txBox="1"/>
          <p:nvPr/>
        </p:nvSpPr>
        <p:spPr>
          <a:xfrm>
            <a:off x="3556000" y="7933436"/>
            <a:ext cx="305765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읽기 단계별 활동 카드 9가지, 수업 활동 20가지</a:t>
            </a:r>
            <a:endParaRPr lang="en-US" sz="1200" dirty="0"/>
          </a:p>
        </p:txBody>
      </p:sp>
      <p:sp>
        <p:nvSpPr>
          <p:cNvPr id="71" name="txt-D4-r3a"/>
          <p:cNvSpPr txBox="1"/>
          <p:nvPr/>
        </p:nvSpPr>
        <p:spPr>
          <a:xfrm>
            <a:off x="863346" y="8454771"/>
            <a:ext cx="1424305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독서 포트폴리오</a:t>
            </a:r>
            <a:endParaRPr lang="en-US" sz="1500" dirty="0"/>
          </a:p>
        </p:txBody>
      </p:sp>
      <p:sp>
        <p:nvSpPr>
          <p:cNvPr id="72" name="txt-D4-r3b"/>
          <p:cNvSpPr txBox="1"/>
          <p:nvPr/>
        </p:nvSpPr>
        <p:spPr>
          <a:xfrm>
            <a:off x="3556000" y="8479536"/>
            <a:ext cx="255841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밑줄, 메모, 활동, 대화 기록이 다섯 칸에</a:t>
            </a:r>
            <a:endParaRPr lang="en-US" sz="1200" dirty="0"/>
          </a:p>
        </p:txBody>
      </p:sp>
      <p:sp>
        <p:nvSpPr>
          <p:cNvPr id="73" name="txt-D4-r4a"/>
          <p:cNvSpPr txBox="1"/>
          <p:nvPr/>
        </p:nvSpPr>
        <p:spPr>
          <a:xfrm>
            <a:off x="863346" y="9000871"/>
            <a:ext cx="147243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교사 맞춤형 지원</a:t>
            </a:r>
            <a:endParaRPr lang="en-US" sz="1500" dirty="0"/>
          </a:p>
        </p:txBody>
      </p:sp>
      <p:sp>
        <p:nvSpPr>
          <p:cNvPr id="74" name="txt-D4-r4b"/>
          <p:cNvSpPr txBox="1"/>
          <p:nvPr/>
        </p:nvSpPr>
        <p:spPr>
          <a:xfrm>
            <a:off x="3556000" y="9025636"/>
            <a:ext cx="2616454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 골라 수업 만들기, 고민으로 수업 짜기</a:t>
            </a:r>
            <a:endParaRPr lang="en-US" sz="1200" dirty="0"/>
          </a:p>
        </p:txBody>
      </p:sp>
      <p:sp>
        <p:nvSpPr>
          <p:cNvPr id="75" name="txt-D4-r5a"/>
          <p:cNvSpPr txBox="1"/>
          <p:nvPr/>
        </p:nvSpPr>
        <p:spPr>
          <a:xfrm>
            <a:off x="863346" y="9546971"/>
            <a:ext cx="147243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성과 및 운영관리</a:t>
            </a:r>
            <a:endParaRPr lang="en-US" sz="1500" dirty="0"/>
          </a:p>
        </p:txBody>
      </p:sp>
      <p:sp>
        <p:nvSpPr>
          <p:cNvPr id="76" name="txt-D4-r5b"/>
          <p:cNvSpPr txBox="1"/>
          <p:nvPr/>
        </p:nvSpPr>
        <p:spPr>
          <a:xfrm>
            <a:off x="3556000" y="9571736"/>
            <a:ext cx="29131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운영계획부터 연수, 성과 보고, 기술 지원까지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3440" y="495300"/>
            <a:ext cx="353561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5213" y="2372519"/>
            <a:ext cx="281775" cy="268923"/>
          </a:xfrm>
          <a:custGeom>
            <a:avLst/>
            <a:gdLst/>
            <a:ahLst/>
            <a:cxnLst/>
            <a:rect l="l" t="t" r="r" b="b"/>
            <a:pathLst>
              <a:path w="281775" h="268923">
                <a:moveTo>
                  <a:pt x="140860" y="268923"/>
                </a:moveTo>
                <a:lnTo>
                  <a:pt x="140860" y="38418"/>
                </a:lnTo>
                <a:cubicBezTo>
                  <a:pt x="89645" y="0"/>
                  <a:pt x="38418" y="0"/>
                  <a:pt x="0" y="25607"/>
                </a:cubicBezTo>
                <a:lnTo>
                  <a:pt x="0" y="256112"/>
                </a:lnTo>
                <a:cubicBezTo>
                  <a:pt x="38418" y="230505"/>
                  <a:pt x="89645" y="230505"/>
                  <a:pt x="140860" y="268923"/>
                </a:cubicBezTo>
                <a:cubicBezTo>
                  <a:pt x="192088" y="230505"/>
                  <a:pt x="243315" y="230505"/>
                  <a:pt x="281733" y="256112"/>
                </a:cubicBezTo>
                <a:lnTo>
                  <a:pt x="281733" y="25607"/>
                </a:lnTo>
                <a:cubicBezTo>
                  <a:pt x="243315" y="0"/>
                  <a:pt x="192088" y="0"/>
                  <a:pt x="140860" y="3841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4484" y="2537968"/>
            <a:ext cx="3564572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7500" y="27051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27876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7" name="Shape 5"/>
          <p:cNvSpPr/>
          <p:nvPr/>
        </p:nvSpPr>
        <p:spPr>
          <a:xfrm>
            <a:off x="2064639" y="27051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8" name="Shape 6"/>
          <p:cNvSpPr/>
          <p:nvPr/>
        </p:nvSpPr>
        <p:spPr>
          <a:xfrm>
            <a:off x="2147189" y="27876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9" name="Shape 7"/>
          <p:cNvSpPr/>
          <p:nvPr/>
        </p:nvSpPr>
        <p:spPr>
          <a:xfrm>
            <a:off x="3811778" y="27051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0" name="Shape 8"/>
          <p:cNvSpPr/>
          <p:nvPr/>
        </p:nvSpPr>
        <p:spPr>
          <a:xfrm>
            <a:off x="3894328" y="27876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1" name="Shape 9"/>
          <p:cNvSpPr/>
          <p:nvPr/>
        </p:nvSpPr>
        <p:spPr>
          <a:xfrm>
            <a:off x="5558917" y="27051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2" name="Shape 10"/>
          <p:cNvSpPr/>
          <p:nvPr/>
        </p:nvSpPr>
        <p:spPr>
          <a:xfrm>
            <a:off x="5641467" y="27876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500" y="35179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6004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4639" y="35179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6" name="Shape 14"/>
          <p:cNvSpPr/>
          <p:nvPr/>
        </p:nvSpPr>
        <p:spPr>
          <a:xfrm>
            <a:off x="2147189" y="36004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1778" y="35179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18" name="Shape 16"/>
          <p:cNvSpPr/>
          <p:nvPr/>
        </p:nvSpPr>
        <p:spPr>
          <a:xfrm>
            <a:off x="3894328" y="36004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5558917" y="3517900"/>
            <a:ext cx="1683639" cy="749300"/>
          </a:xfrm>
          <a:prstGeom prst="roundRect">
            <a:avLst>
              <a:gd name="adj" fmla="val 10169"/>
            </a:avLst>
          </a:prstGeom>
          <a:solidFill>
            <a:srgbClr val="F0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5641467" y="360045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36959"/>
                  <a:pt x="128141" y="0"/>
                  <a:pt x="82550" y="0"/>
                </a:cubicBezTo>
                <a:cubicBezTo>
                  <a:pt x="36959" y="0"/>
                  <a:pt x="0" y="36959"/>
                  <a:pt x="0" y="82550"/>
                </a:cubicBezTo>
                <a:cubicBezTo>
                  <a:pt x="0" y="128141"/>
                  <a:pt x="36959" y="165100"/>
                  <a:pt x="82550" y="165100"/>
                </a:cubicBezTo>
                <a:cubicBezTo>
                  <a:pt x="128141" y="165100"/>
                  <a:pt x="165100" y="128141"/>
                  <a:pt x="165100" y="825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1" name="Shape 19"/>
          <p:cNvSpPr/>
          <p:nvPr/>
        </p:nvSpPr>
        <p:spPr>
          <a:xfrm>
            <a:off x="307340" y="4384040"/>
            <a:ext cx="2509520" cy="1576070"/>
          </a:xfrm>
          <a:prstGeom prst="rect">
            <a:avLst/>
          </a:prstGeom>
          <a:solidFill>
            <a:srgbClr val="D8D2C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08300" y="4394200"/>
            <a:ext cx="4334256" cy="1555750"/>
          </a:xfrm>
          <a:prstGeom prst="roundRect">
            <a:avLst>
              <a:gd name="adj" fmla="val 6531"/>
            </a:avLst>
          </a:prstGeom>
          <a:solidFill>
            <a:srgbClr val="F6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07162" y="6342634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4" name="Shape 22"/>
          <p:cNvSpPr/>
          <p:nvPr/>
        </p:nvSpPr>
        <p:spPr>
          <a:xfrm>
            <a:off x="3643440" y="6525768"/>
            <a:ext cx="353561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500" y="6692900"/>
            <a:ext cx="3411728" cy="774700"/>
          </a:xfrm>
          <a:prstGeom prst="roundRect">
            <a:avLst>
              <a:gd name="adj" fmla="val 13115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431800" y="6781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7" name="Shape 25"/>
          <p:cNvSpPr/>
          <p:nvPr/>
        </p:nvSpPr>
        <p:spPr>
          <a:xfrm>
            <a:off x="3830828" y="6692900"/>
            <a:ext cx="3411728" cy="774700"/>
          </a:xfrm>
          <a:prstGeom prst="roundRect">
            <a:avLst>
              <a:gd name="adj" fmla="val 13115"/>
            </a:avLst>
          </a:prstGeom>
          <a:solidFill>
            <a:srgbClr val="F0F5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945128" y="6781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9" name="Shape 27"/>
          <p:cNvSpPr/>
          <p:nvPr/>
        </p:nvSpPr>
        <p:spPr>
          <a:xfrm>
            <a:off x="317500" y="7531100"/>
            <a:ext cx="3411728" cy="774700"/>
          </a:xfrm>
          <a:prstGeom prst="roundRect">
            <a:avLst>
              <a:gd name="adj" fmla="val 13115"/>
            </a:avLst>
          </a:prstGeom>
          <a:solidFill>
            <a:srgbClr val="F0F5EF"/>
          </a:solidFill>
          <a:ln/>
        </p:spPr>
      </p:sp>
      <p:sp>
        <p:nvSpPr>
          <p:cNvPr id="30" name="Shape 28"/>
          <p:cNvSpPr/>
          <p:nvPr/>
        </p:nvSpPr>
        <p:spPr>
          <a:xfrm>
            <a:off x="431800" y="7620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1" name="Shape 29"/>
          <p:cNvSpPr/>
          <p:nvPr/>
        </p:nvSpPr>
        <p:spPr>
          <a:xfrm>
            <a:off x="3830828" y="7531100"/>
            <a:ext cx="3411728" cy="774700"/>
          </a:xfrm>
          <a:prstGeom prst="roundRect">
            <a:avLst>
              <a:gd name="adj" fmla="val 13115"/>
            </a:avLst>
          </a:prstGeom>
          <a:solidFill>
            <a:srgbClr val="F0F5EF"/>
          </a:solidFill>
          <a:ln/>
        </p:spPr>
      </p:sp>
      <p:sp>
        <p:nvSpPr>
          <p:cNvPr id="32" name="Shape 30"/>
          <p:cNvSpPr/>
          <p:nvPr/>
        </p:nvSpPr>
        <p:spPr>
          <a:xfrm>
            <a:off x="3945128" y="7620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3" name="Shape 31"/>
          <p:cNvSpPr/>
          <p:nvPr/>
        </p:nvSpPr>
        <p:spPr>
          <a:xfrm>
            <a:off x="317500" y="8369300"/>
            <a:ext cx="2266019" cy="457200"/>
          </a:xfrm>
          <a:prstGeom prst="roundRect">
            <a:avLst>
              <a:gd name="adj" fmla="val 16667"/>
            </a:avLst>
          </a:prstGeom>
          <a:solidFill>
            <a:srgbClr val="F6F5F0"/>
          </a:solidFill>
          <a:ln/>
        </p:spPr>
      </p:sp>
      <p:sp>
        <p:nvSpPr>
          <p:cNvPr id="34" name="Shape 32"/>
          <p:cNvSpPr/>
          <p:nvPr/>
        </p:nvSpPr>
        <p:spPr>
          <a:xfrm>
            <a:off x="393700" y="8451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34116"/>
                  <a:pt x="118284" y="0"/>
                  <a:pt x="76200" y="0"/>
                </a:cubicBezTo>
                <a:cubicBezTo>
                  <a:pt x="34116" y="0"/>
                  <a:pt x="0" y="34116"/>
                  <a:pt x="0" y="76200"/>
                </a:cubicBezTo>
                <a:cubicBezTo>
                  <a:pt x="0" y="118284"/>
                  <a:pt x="34116" y="152400"/>
                  <a:pt x="76200" y="152400"/>
                </a:cubicBezTo>
                <a:cubicBezTo>
                  <a:pt x="118284" y="152400"/>
                  <a:pt x="152400" y="118284"/>
                  <a:pt x="152400" y="762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5" name="Shape 33"/>
          <p:cNvSpPr/>
          <p:nvPr/>
        </p:nvSpPr>
        <p:spPr>
          <a:xfrm>
            <a:off x="2647019" y="8369300"/>
            <a:ext cx="2266019" cy="457200"/>
          </a:xfrm>
          <a:prstGeom prst="roundRect">
            <a:avLst>
              <a:gd name="adj" fmla="val 16667"/>
            </a:avLst>
          </a:prstGeom>
          <a:solidFill>
            <a:srgbClr val="F6F5F0"/>
          </a:solidFill>
          <a:ln/>
        </p:spPr>
      </p:sp>
      <p:sp>
        <p:nvSpPr>
          <p:cNvPr id="36" name="Shape 34"/>
          <p:cNvSpPr/>
          <p:nvPr/>
        </p:nvSpPr>
        <p:spPr>
          <a:xfrm>
            <a:off x="2723219" y="8451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34116"/>
                  <a:pt x="118284" y="0"/>
                  <a:pt x="76200" y="0"/>
                </a:cubicBezTo>
                <a:cubicBezTo>
                  <a:pt x="34116" y="0"/>
                  <a:pt x="0" y="34116"/>
                  <a:pt x="0" y="76200"/>
                </a:cubicBezTo>
                <a:cubicBezTo>
                  <a:pt x="0" y="118284"/>
                  <a:pt x="34116" y="152400"/>
                  <a:pt x="76200" y="152400"/>
                </a:cubicBezTo>
                <a:cubicBezTo>
                  <a:pt x="118284" y="152400"/>
                  <a:pt x="152400" y="118284"/>
                  <a:pt x="152400" y="762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7" name="Shape 35"/>
          <p:cNvSpPr/>
          <p:nvPr/>
        </p:nvSpPr>
        <p:spPr>
          <a:xfrm>
            <a:off x="4976537" y="8369300"/>
            <a:ext cx="2266019" cy="457200"/>
          </a:xfrm>
          <a:prstGeom prst="roundRect">
            <a:avLst>
              <a:gd name="adj" fmla="val 16667"/>
            </a:avLst>
          </a:prstGeom>
          <a:solidFill>
            <a:srgbClr val="F6F5F0"/>
          </a:solidFill>
          <a:ln/>
        </p:spPr>
      </p:sp>
      <p:sp>
        <p:nvSpPr>
          <p:cNvPr id="38" name="Shape 36"/>
          <p:cNvSpPr/>
          <p:nvPr/>
        </p:nvSpPr>
        <p:spPr>
          <a:xfrm>
            <a:off x="5052737" y="8451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34116"/>
                  <a:pt x="118284" y="0"/>
                  <a:pt x="76200" y="0"/>
                </a:cubicBezTo>
                <a:cubicBezTo>
                  <a:pt x="34116" y="0"/>
                  <a:pt x="0" y="34116"/>
                  <a:pt x="0" y="76200"/>
                </a:cubicBezTo>
                <a:cubicBezTo>
                  <a:pt x="0" y="118284"/>
                  <a:pt x="34116" y="152400"/>
                  <a:pt x="76200" y="152400"/>
                </a:cubicBezTo>
                <a:cubicBezTo>
                  <a:pt x="118284" y="152400"/>
                  <a:pt x="152400" y="118284"/>
                  <a:pt x="152400" y="762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9" name="Shape 37"/>
          <p:cNvSpPr/>
          <p:nvPr/>
        </p:nvSpPr>
        <p:spPr>
          <a:xfrm>
            <a:off x="317500" y="8915400"/>
            <a:ext cx="6925056" cy="1397000"/>
          </a:xfrm>
          <a:prstGeom prst="roundRect">
            <a:avLst>
              <a:gd name="adj" fmla="val 7273"/>
            </a:avLst>
          </a:prstGeom>
          <a:solidFill>
            <a:srgbClr val="F0F5EF"/>
          </a:solidFill>
          <a:ln/>
        </p:spPr>
      </p:sp>
      <p:sp>
        <p:nvSpPr>
          <p:cNvPr id="40" name="Shape 38"/>
          <p:cNvSpPr/>
          <p:nvPr/>
        </p:nvSpPr>
        <p:spPr>
          <a:xfrm>
            <a:off x="737638" y="9208935"/>
            <a:ext cx="201124" cy="201124"/>
          </a:xfrm>
          <a:custGeom>
            <a:avLst/>
            <a:gdLst/>
            <a:ahLst/>
            <a:cxnLst/>
            <a:rect l="l" t="t" r="r" b="b"/>
            <a:pathLst>
              <a:path w="201124" h="201124">
                <a:moveTo>
                  <a:pt x="201087" y="100538"/>
                </a:moveTo>
                <a:cubicBezTo>
                  <a:pt x="201087" y="45015"/>
                  <a:pt x="156073" y="0"/>
                  <a:pt x="100538" y="0"/>
                </a:cubicBezTo>
                <a:cubicBezTo>
                  <a:pt x="45015" y="0"/>
                  <a:pt x="0" y="45015"/>
                  <a:pt x="0" y="100538"/>
                </a:cubicBezTo>
                <a:cubicBezTo>
                  <a:pt x="0" y="156073"/>
                  <a:pt x="45015" y="201087"/>
                  <a:pt x="100538" y="201087"/>
                </a:cubicBezTo>
                <a:cubicBezTo>
                  <a:pt x="156073" y="201087"/>
                  <a:pt x="201087" y="156073"/>
                  <a:pt x="201087" y="100538"/>
                </a:cubicBezTo>
              </a:path>
            </a:pathLst>
          </a:custGeom>
          <a:ln w="20701">
            <a:solidFill>
              <a:srgbClr val="D59B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7829" y="9397511"/>
            <a:ext cx="0" cy="50190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8451" y="9397511"/>
            <a:ext cx="0" cy="50190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7829" y="9447701"/>
            <a:ext cx="100622" cy="0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0497" y="9485465"/>
            <a:ext cx="75406" cy="0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8140" y="9309437"/>
            <a:ext cx="0" cy="125717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0497" y="9271794"/>
            <a:ext cx="37643" cy="37643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8140" y="9271794"/>
            <a:ext cx="37763" cy="37643"/>
          </a:xfrm>
          <a:prstGeom prst="line">
            <a:avLst/>
          </a:prstGeom>
          <a:noFill/>
          <a:ln w="20701">
            <a:solidFill>
              <a:srgbClr val="D59B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2400" y="9067800"/>
            <a:ext cx="0" cy="10922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51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0" y="889000"/>
            <a:ext cx="1206500" cy="829310"/>
          </a:xfrm>
          <a:prstGeom prst="rect">
            <a:avLst/>
          </a:prstGeom>
        </p:spPr>
      </p:pic>
      <p:pic>
        <p:nvPicPr>
          <p:cNvPr id="52" name="Image 1" descr="부기 새 읽기 화면: 3학년 은혜 갚은 까치에서 과거를 누른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4394200"/>
            <a:ext cx="2489200" cy="1555750"/>
          </a:xfrm>
          <a:prstGeom prst="rect">
            <a:avLst/>
          </a:prstGeom>
        </p:spPr>
      </p:pic>
      <p:sp>
        <p:nvSpPr>
          <p:cNvPr id="53" name="txt-D5-hd"/>
          <p:cNvSpPr txBox="1"/>
          <p:nvPr/>
        </p:nvSpPr>
        <p:spPr>
          <a:xfrm>
            <a:off x="381000" y="295529"/>
            <a:ext cx="3254121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교실용으로 다시 만든 명작 300권</a:t>
            </a:r>
            <a:endParaRPr lang="en-US" sz="1700" dirty="0"/>
          </a:p>
        </p:txBody>
      </p:sp>
      <p:sp>
        <p:nvSpPr>
          <p:cNvPr id="54" name="txt-D5-h1"/>
          <p:cNvSpPr txBox="1"/>
          <p:nvPr/>
        </p:nvSpPr>
        <p:spPr>
          <a:xfrm>
            <a:off x="381000" y="721106"/>
            <a:ext cx="34874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ko-KR" altLang="en-US" sz="32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현직 교사와 작가가</a:t>
            </a:r>
            <a:endParaRPr lang="en-US" sz="3200" dirty="0"/>
          </a:p>
        </p:txBody>
      </p:sp>
      <p:sp>
        <p:nvSpPr>
          <p:cNvPr id="55" name="txt-D5-h2"/>
          <p:cNvSpPr txBox="1"/>
          <p:nvPr/>
        </p:nvSpPr>
        <p:spPr>
          <a:xfrm>
            <a:off x="381000" y="1279906"/>
            <a:ext cx="531456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ko-KR" altLang="en-US" sz="32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명작 300권을 다시 썼습니다.</a:t>
            </a:r>
            <a:endParaRPr lang="en-US" sz="3200" dirty="0"/>
          </a:p>
        </p:txBody>
      </p:sp>
      <p:sp>
        <p:nvSpPr>
          <p:cNvPr id="56" name="txt-D5-lead"/>
          <p:cNvSpPr txBox="1"/>
          <p:nvPr/>
        </p:nvSpPr>
        <p:spPr>
          <a:xfrm>
            <a:off x="381000" y="1952371"/>
            <a:ext cx="5073904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원작을 옮겨 둔 책이 아니라, 교실 수업을 위해 다시 만든 독서 콘텐츠입니다.</a:t>
            </a:r>
            <a:endParaRPr lang="en-US" sz="1250" dirty="0"/>
          </a:p>
        </p:txBody>
      </p:sp>
      <p:sp>
        <p:nvSpPr>
          <p:cNvPr id="57" name="txt-D5-s1"/>
          <p:cNvSpPr txBox="1"/>
          <p:nvPr/>
        </p:nvSpPr>
        <p:spPr>
          <a:xfrm>
            <a:off x="863346" y="2328545"/>
            <a:ext cx="2753614" cy="42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부기가 책 한 권에 담은 것</a:t>
            </a:r>
            <a:endParaRPr lang="en-US" sz="1900" dirty="0"/>
          </a:p>
        </p:txBody>
      </p:sp>
      <p:sp>
        <p:nvSpPr>
          <p:cNvPr id="58" name="txt-D5-i0n"/>
          <p:cNvSpPr txBox="1"/>
          <p:nvPr/>
        </p:nvSpPr>
        <p:spPr>
          <a:xfrm>
            <a:off x="355600" y="28070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xt-D5-i0a"/>
          <p:cNvSpPr txBox="1"/>
          <p:nvPr/>
        </p:nvSpPr>
        <p:spPr>
          <a:xfrm>
            <a:off x="628650" y="2783332"/>
            <a:ext cx="744474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다시 쓴 본문</a:t>
            </a:r>
            <a:endParaRPr lang="en-US" sz="1050" dirty="0"/>
          </a:p>
        </p:txBody>
      </p:sp>
      <p:sp>
        <p:nvSpPr>
          <p:cNvPr id="60" name="txt-D5-i0b"/>
          <p:cNvSpPr txBox="1"/>
          <p:nvPr/>
        </p:nvSpPr>
        <p:spPr>
          <a:xfrm>
            <a:off x="419100" y="2989453"/>
            <a:ext cx="1425194" cy="48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원작의 줄거리, 인물, 주제를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지키며 학년 읽기 능력에 맞춰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문장과 낱말을 고름</a:t>
            </a:r>
            <a:endParaRPr lang="en-US" sz="880" dirty="0"/>
          </a:p>
        </p:txBody>
      </p:sp>
      <p:sp>
        <p:nvSpPr>
          <p:cNvPr id="61" name="txt-D5-i1n"/>
          <p:cNvSpPr txBox="1"/>
          <p:nvPr/>
        </p:nvSpPr>
        <p:spPr>
          <a:xfrm>
            <a:off x="2102739" y="28070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xt-D5-i1a"/>
          <p:cNvSpPr txBox="1"/>
          <p:nvPr/>
        </p:nvSpPr>
        <p:spPr>
          <a:xfrm>
            <a:off x="2375789" y="2783332"/>
            <a:ext cx="58712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장면 삽화</a:t>
            </a:r>
            <a:endParaRPr lang="en-US" sz="1050" dirty="0"/>
          </a:p>
        </p:txBody>
      </p:sp>
      <p:sp>
        <p:nvSpPr>
          <p:cNvPr id="63" name="txt-D5-i1b"/>
          <p:cNvSpPr txBox="1"/>
          <p:nvPr/>
        </p:nvSpPr>
        <p:spPr>
          <a:xfrm>
            <a:off x="2166239" y="2989453"/>
            <a:ext cx="1378585" cy="48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1, 2학년 그림책은 장면마다,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3학년부터는 글과 삽화를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한 쪽에</a:t>
            </a:r>
            <a:endParaRPr lang="en-US" sz="880" dirty="0"/>
          </a:p>
        </p:txBody>
      </p:sp>
      <p:sp>
        <p:nvSpPr>
          <p:cNvPr id="64" name="txt-D5-i2n"/>
          <p:cNvSpPr txBox="1"/>
          <p:nvPr/>
        </p:nvSpPr>
        <p:spPr>
          <a:xfrm>
            <a:off x="3849878" y="28070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xt-D5-i2a"/>
          <p:cNvSpPr txBox="1"/>
          <p:nvPr/>
        </p:nvSpPr>
        <p:spPr>
          <a:xfrm>
            <a:off x="4122928" y="2783332"/>
            <a:ext cx="58712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낱말 풀이</a:t>
            </a:r>
            <a:endParaRPr lang="en-US" sz="1050" dirty="0"/>
          </a:p>
        </p:txBody>
      </p:sp>
      <p:sp>
        <p:nvSpPr>
          <p:cNvPr id="66" name="txt-D5-i2b"/>
          <p:cNvSpPr txBox="1"/>
          <p:nvPr/>
        </p:nvSpPr>
        <p:spPr>
          <a:xfrm>
            <a:off x="3913378" y="2989453"/>
            <a:ext cx="1562862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누르면 읽던 자리에서 뜻이 뜨고,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쪽마다 「이 쪽 낱말」로 모임</a:t>
            </a:r>
            <a:endParaRPr lang="en-US" sz="880" dirty="0"/>
          </a:p>
        </p:txBody>
      </p:sp>
      <p:sp>
        <p:nvSpPr>
          <p:cNvPr id="67" name="txt-D5-i3n"/>
          <p:cNvSpPr txBox="1"/>
          <p:nvPr/>
        </p:nvSpPr>
        <p:spPr>
          <a:xfrm>
            <a:off x="5597017" y="28070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4</a:t>
            </a:r>
            <a:endParaRPr lang="en-US" sz="800" dirty="0"/>
          </a:p>
        </p:txBody>
      </p:sp>
      <p:sp>
        <p:nvSpPr>
          <p:cNvPr id="68" name="txt-D5-i3a"/>
          <p:cNvSpPr txBox="1"/>
          <p:nvPr/>
        </p:nvSpPr>
        <p:spPr>
          <a:xfrm>
            <a:off x="5870067" y="2783332"/>
            <a:ext cx="556260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읽어주기</a:t>
            </a:r>
            <a:endParaRPr lang="en-US" sz="1050" dirty="0"/>
          </a:p>
        </p:txBody>
      </p:sp>
      <p:sp>
        <p:nvSpPr>
          <p:cNvPr id="69" name="txt-D5-i3b"/>
          <p:cNvSpPr txBox="1"/>
          <p:nvPr/>
        </p:nvSpPr>
        <p:spPr>
          <a:xfrm>
            <a:off x="5660517" y="2989453"/>
            <a:ext cx="1451102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소리 내어 읽어 주어 혼자 읽기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힘든 학생도 따라 읽음</a:t>
            </a:r>
            <a:endParaRPr lang="en-US" sz="880" dirty="0"/>
          </a:p>
        </p:txBody>
      </p:sp>
      <p:sp>
        <p:nvSpPr>
          <p:cNvPr id="70" name="txt-D5-i4n"/>
          <p:cNvSpPr txBox="1"/>
          <p:nvPr/>
        </p:nvSpPr>
        <p:spPr>
          <a:xfrm>
            <a:off x="355600" y="36198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5</a:t>
            </a:r>
            <a:endParaRPr lang="en-US" sz="800" dirty="0"/>
          </a:p>
        </p:txBody>
      </p:sp>
      <p:sp>
        <p:nvSpPr>
          <p:cNvPr id="71" name="txt-D5-i4a"/>
          <p:cNvSpPr txBox="1"/>
          <p:nvPr/>
        </p:nvSpPr>
        <p:spPr>
          <a:xfrm>
            <a:off x="628650" y="3596132"/>
            <a:ext cx="951865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4개 언어 나란히</a:t>
            </a:r>
            <a:endParaRPr lang="en-US" sz="1050" dirty="0"/>
          </a:p>
        </p:txBody>
      </p:sp>
      <p:sp>
        <p:nvSpPr>
          <p:cNvPr id="72" name="txt-D5-i4b"/>
          <p:cNvSpPr txBox="1"/>
          <p:nvPr/>
        </p:nvSpPr>
        <p:spPr>
          <a:xfrm>
            <a:off x="419100" y="3802253"/>
            <a:ext cx="1528318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1~4학년 200권을 한국어, 영어,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베트남어, 러시아어로</a:t>
            </a:r>
            <a:endParaRPr lang="en-US" sz="880" dirty="0"/>
          </a:p>
        </p:txBody>
      </p:sp>
      <p:sp>
        <p:nvSpPr>
          <p:cNvPr id="73" name="txt-D5-i5n"/>
          <p:cNvSpPr txBox="1"/>
          <p:nvPr/>
        </p:nvSpPr>
        <p:spPr>
          <a:xfrm>
            <a:off x="2102739" y="36198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6</a:t>
            </a:r>
            <a:endParaRPr lang="en-US" sz="800" dirty="0"/>
          </a:p>
        </p:txBody>
      </p:sp>
      <p:sp>
        <p:nvSpPr>
          <p:cNvPr id="74" name="txt-D5-i5a"/>
          <p:cNvSpPr txBox="1"/>
          <p:nvPr/>
        </p:nvSpPr>
        <p:spPr>
          <a:xfrm>
            <a:off x="2375789" y="3596132"/>
            <a:ext cx="870839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인물 대화 질문</a:t>
            </a:r>
            <a:endParaRPr lang="en-US" sz="1050" dirty="0"/>
          </a:p>
        </p:txBody>
      </p:sp>
      <p:sp>
        <p:nvSpPr>
          <p:cNvPr id="75" name="txt-D5-i5b"/>
          <p:cNvSpPr txBox="1"/>
          <p:nvPr/>
        </p:nvSpPr>
        <p:spPr>
          <a:xfrm>
            <a:off x="2166239" y="3802253"/>
            <a:ext cx="1293495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책마다 장면과 인물에 맞춰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미리 쓴 질문</a:t>
            </a:r>
            <a:endParaRPr lang="en-US" sz="880" dirty="0"/>
          </a:p>
        </p:txBody>
      </p:sp>
      <p:sp>
        <p:nvSpPr>
          <p:cNvPr id="76" name="txt-D5-i6n"/>
          <p:cNvSpPr txBox="1"/>
          <p:nvPr/>
        </p:nvSpPr>
        <p:spPr>
          <a:xfrm>
            <a:off x="3849878" y="36198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7</a:t>
            </a:r>
            <a:endParaRPr lang="en-US" sz="800" dirty="0"/>
          </a:p>
        </p:txBody>
      </p:sp>
      <p:sp>
        <p:nvSpPr>
          <p:cNvPr id="77" name="txt-D5-i6a"/>
          <p:cNvSpPr txBox="1"/>
          <p:nvPr/>
        </p:nvSpPr>
        <p:spPr>
          <a:xfrm>
            <a:off x="4122928" y="3596132"/>
            <a:ext cx="58712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독후 퀴즈</a:t>
            </a:r>
            <a:endParaRPr lang="en-US" sz="1050" dirty="0"/>
          </a:p>
        </p:txBody>
      </p:sp>
      <p:sp>
        <p:nvSpPr>
          <p:cNvPr id="78" name="txt-D5-i6b"/>
          <p:cNvSpPr txBox="1"/>
          <p:nvPr/>
        </p:nvSpPr>
        <p:spPr>
          <a:xfrm>
            <a:off x="3913378" y="3802253"/>
            <a:ext cx="1161669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책마다 내용을 확인하는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짧은 퀴즈</a:t>
            </a:r>
            <a:endParaRPr lang="en-US" sz="880" dirty="0"/>
          </a:p>
        </p:txBody>
      </p:sp>
      <p:sp>
        <p:nvSpPr>
          <p:cNvPr id="79" name="txt-D5-i7n"/>
          <p:cNvSpPr txBox="1"/>
          <p:nvPr/>
        </p:nvSpPr>
        <p:spPr>
          <a:xfrm>
            <a:off x="5597017" y="3619881"/>
            <a:ext cx="25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040"/>
              </a:lnSpc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8</a:t>
            </a:r>
            <a:endParaRPr lang="en-US" sz="800" dirty="0"/>
          </a:p>
        </p:txBody>
      </p:sp>
      <p:sp>
        <p:nvSpPr>
          <p:cNvPr id="80" name="txt-D5-i7a"/>
          <p:cNvSpPr txBox="1"/>
          <p:nvPr/>
        </p:nvSpPr>
        <p:spPr>
          <a:xfrm>
            <a:off x="5870067" y="3596132"/>
            <a:ext cx="83985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차시 수업자료</a:t>
            </a:r>
            <a:endParaRPr lang="en-US" sz="1050" dirty="0"/>
          </a:p>
        </p:txBody>
      </p:sp>
      <p:sp>
        <p:nvSpPr>
          <p:cNvPr id="81" name="txt-D5-i7b"/>
          <p:cNvSpPr txBox="1"/>
          <p:nvPr/>
        </p:nvSpPr>
        <p:spPr>
          <a:xfrm>
            <a:off x="5660517" y="3802253"/>
            <a:ext cx="1596136" cy="34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온책읽기, 국어 수업, 아침 활동</a:t>
            </a:r>
            <a:endParaRPr lang="en-US" sz="880" dirty="0"/>
          </a:p>
          <a:p>
            <a:pPr algn="l" indent="0" marL="0">
              <a:lnSpc>
                <a:spcPts val="114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구성과 차시 PPT, 활동지, 지도안</a:t>
            </a:r>
            <a:endParaRPr lang="en-US" sz="880" dirty="0"/>
          </a:p>
        </p:txBody>
      </p:sp>
      <p:sp>
        <p:nvSpPr>
          <p:cNvPr id="82" name="txt-D5-cap"/>
          <p:cNvSpPr txBox="1"/>
          <p:nvPr/>
        </p:nvSpPr>
        <p:spPr>
          <a:xfrm>
            <a:off x="317500" y="5982081"/>
            <a:ext cx="2484501" cy="169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ko-KR" altLang="en-US" sz="76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새 읽기 화면: 「은혜 갚은 까치」에서 「과거」를 누른 모습</a:t>
            </a:r>
            <a:endParaRPr lang="en-US" sz="760" dirty="0"/>
          </a:p>
        </p:txBody>
      </p:sp>
      <p:sp>
        <p:nvSpPr>
          <p:cNvPr id="83" name="txt-D5-r1"/>
          <p:cNvSpPr txBox="1"/>
          <p:nvPr/>
        </p:nvSpPr>
        <p:spPr>
          <a:xfrm>
            <a:off x="3073400" y="4479671"/>
            <a:ext cx="178892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한 권으로 수업이 되는 책</a:t>
            </a:r>
            <a:endParaRPr lang="en-US" sz="1250" dirty="0"/>
          </a:p>
        </p:txBody>
      </p:sp>
      <p:sp>
        <p:nvSpPr>
          <p:cNvPr id="84" name="txt-D5-r2"/>
          <p:cNvSpPr txBox="1"/>
          <p:nvPr/>
        </p:nvSpPr>
        <p:spPr>
          <a:xfrm>
            <a:off x="3073400" y="4733671"/>
            <a:ext cx="3147949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60"/>
              </a:lnSpc>
              <a:buNone/>
            </a:pPr>
            <a:r>
              <a:rPr lang="ko-KR" altLang="en-US" sz="9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종이책이나 전자책을 사서 나눠 주는 것과 달리, 부기 책은</a:t>
            </a:r>
            <a:endParaRPr lang="en-US" sz="980" dirty="0"/>
          </a:p>
          <a:p>
            <a:pPr algn="l" indent="0" marL="0">
              <a:lnSpc>
                <a:spcPts val="136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읽기 도움과 질문, 활동, 수업자료</a:t>
            </a:r>
            <a:pPr algn="l" indent="0" marL="0">
              <a:lnSpc>
                <a:spcPts val="1360"/>
              </a:lnSpc>
              <a:buNone/>
            </a:pPr>
            <a:r>
              <a:rPr lang="ko-KR" altLang="en-US" sz="9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가 책 안에 들어 있어</a:t>
            </a:r>
            <a:endParaRPr lang="en-US" sz="980" dirty="0"/>
          </a:p>
          <a:p>
            <a:pPr algn="l" indent="0" marL="0">
              <a:lnSpc>
                <a:spcPts val="1360"/>
              </a:lnSpc>
              <a:buNone/>
            </a:pPr>
            <a:r>
              <a:rPr lang="ko-KR" altLang="en-US" sz="9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교사가 따로 자료를 만들지 않아도 한 권으로 수업이 됩니다.</a:t>
            </a:r>
            <a:endParaRPr lang="en-US" sz="980" dirty="0"/>
          </a:p>
        </p:txBody>
      </p:sp>
      <p:sp>
        <p:nvSpPr>
          <p:cNvPr id="85" name="txt-D5-r3"/>
          <p:cNvSpPr txBox="1"/>
          <p:nvPr/>
        </p:nvSpPr>
        <p:spPr>
          <a:xfrm>
            <a:off x="3073400" y="5351526"/>
            <a:ext cx="71145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새 읽기 화면</a:t>
            </a:r>
            <a:endParaRPr lang="en-US" sz="1000" dirty="0"/>
          </a:p>
        </p:txBody>
      </p:sp>
      <p:sp>
        <p:nvSpPr>
          <p:cNvPr id="86" name="txt-D5-r4"/>
          <p:cNvSpPr txBox="1"/>
          <p:nvPr/>
        </p:nvSpPr>
        <p:spPr>
          <a:xfrm>
            <a:off x="3073400" y="5545963"/>
            <a:ext cx="355523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책이 화면 가운데를 크게 차지하고, 도구는 3초 뒤 사라져 책만 남습니다.</a:t>
            </a: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낱말을 누르면 오른쪽 카드에 뜻이 뜨고, 「이 쪽 낱말」 띠에 모입니다.</a:t>
            </a:r>
            <a:endParaRPr lang="en-US" sz="920" dirty="0"/>
          </a:p>
        </p:txBody>
      </p:sp>
      <p:sp>
        <p:nvSpPr>
          <p:cNvPr id="87" name="txt-D5-s2"/>
          <p:cNvSpPr txBox="1"/>
          <p:nvPr/>
        </p:nvSpPr>
        <p:spPr>
          <a:xfrm>
            <a:off x="863346" y="6316345"/>
            <a:ext cx="2783459" cy="42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부기 도서의 차별성 7가지</a:t>
            </a:r>
            <a:endParaRPr lang="en-US" sz="1900" dirty="0"/>
          </a:p>
        </p:txBody>
      </p:sp>
      <p:sp>
        <p:nvSpPr>
          <p:cNvPr id="88" name="txt-D5-b0n"/>
          <p:cNvSpPr txBox="1"/>
          <p:nvPr/>
        </p:nvSpPr>
        <p:spPr>
          <a:xfrm>
            <a:off x="393700" y="68036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1</a:t>
            </a:r>
            <a:endParaRPr lang="en-US" sz="850" dirty="0"/>
          </a:p>
        </p:txBody>
      </p:sp>
      <p:sp>
        <p:nvSpPr>
          <p:cNvPr id="89" name="txt-D5-b0a"/>
          <p:cNvSpPr txBox="1"/>
          <p:nvPr/>
        </p:nvSpPr>
        <p:spPr>
          <a:xfrm>
            <a:off x="698500" y="6767322"/>
            <a:ext cx="2262251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원작의 가치를 살린 명작 재구성</a:t>
            </a:r>
            <a:endParaRPr lang="en-US" sz="1250" dirty="0"/>
          </a:p>
        </p:txBody>
      </p:sp>
      <p:sp>
        <p:nvSpPr>
          <p:cNvPr id="90" name="txt-D5-b0b"/>
          <p:cNvSpPr txBox="1"/>
          <p:nvPr/>
        </p:nvSpPr>
        <p:spPr>
          <a:xfrm>
            <a:off x="495300" y="7000748"/>
            <a:ext cx="3301111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ko-KR" altLang="en-US" sz="87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원작의 줄거리, 인물, 주제와 정서를 지키며 학생 눈높이에 맞게 다시 씀</a:t>
            </a:r>
            <a:endParaRPr lang="en-US" sz="870" dirty="0"/>
          </a:p>
        </p:txBody>
      </p:sp>
      <p:sp>
        <p:nvSpPr>
          <p:cNvPr id="91" name="txt-D5-b0c"/>
          <p:cNvSpPr txBox="1"/>
          <p:nvPr/>
        </p:nvSpPr>
        <p:spPr>
          <a:xfrm>
            <a:off x="495300" y="7212838"/>
            <a:ext cx="285737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80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교육적 가치  </a:t>
            </a:r>
            <a:pPr algn="l" indent="0" marL="0">
              <a:lnSpc>
                <a:spcPts val="1200"/>
              </a:lnSpc>
              <a:buNone/>
            </a:pPr>
            <a:r>
              <a:rPr lang="ko-KR" altLang="en-US" sz="9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고전과 명작의 문학적 가치, 독서교육의 질 확보</a:t>
            </a:r>
            <a:endParaRPr lang="en-US" sz="800" dirty="0"/>
          </a:p>
        </p:txBody>
      </p:sp>
      <p:sp>
        <p:nvSpPr>
          <p:cNvPr id="92" name="txt-D5-b1n"/>
          <p:cNvSpPr txBox="1"/>
          <p:nvPr/>
        </p:nvSpPr>
        <p:spPr>
          <a:xfrm>
            <a:off x="3907028" y="68036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2</a:t>
            </a:r>
            <a:endParaRPr lang="en-US" sz="850" dirty="0"/>
          </a:p>
        </p:txBody>
      </p:sp>
      <p:sp>
        <p:nvSpPr>
          <p:cNvPr id="93" name="txt-D5-b1a"/>
          <p:cNvSpPr txBox="1"/>
          <p:nvPr/>
        </p:nvSpPr>
        <p:spPr>
          <a:xfrm>
            <a:off x="4211828" y="6767322"/>
            <a:ext cx="2104517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현직 교사와 작가의 공동 개발</a:t>
            </a:r>
            <a:endParaRPr lang="en-US" sz="1250" dirty="0"/>
          </a:p>
        </p:txBody>
      </p:sp>
      <p:sp>
        <p:nvSpPr>
          <p:cNvPr id="94" name="txt-D5-b1b"/>
          <p:cNvSpPr txBox="1"/>
          <p:nvPr/>
        </p:nvSpPr>
        <p:spPr>
          <a:xfrm>
            <a:off x="4008628" y="7000748"/>
            <a:ext cx="3212846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ko-KR" altLang="en-US" sz="87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교사의 교육과정 이해와 학생 지도 경험에 작가의 문학적 표현을 더함</a:t>
            </a:r>
            <a:endParaRPr lang="en-US" sz="870" dirty="0"/>
          </a:p>
        </p:txBody>
      </p:sp>
      <p:sp>
        <p:nvSpPr>
          <p:cNvPr id="95" name="txt-D5-b1c"/>
          <p:cNvSpPr txBox="1"/>
          <p:nvPr/>
        </p:nvSpPr>
        <p:spPr>
          <a:xfrm>
            <a:off x="4008628" y="7212838"/>
            <a:ext cx="268490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ko-KR" altLang="en-US" sz="708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원고 검토  </a:t>
            </a:r>
            <a:pPr algn="l" indent="0" marL="0">
              <a:lnSpc>
                <a:spcPts val="1062"/>
              </a:lnSpc>
              <a:buNone/>
            </a:pPr>
            <a:r>
              <a:rPr lang="ko-KR" altLang="en-US" sz="797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교사는 수업 활용을, 작가는 전개와 표현을 살핍니다.</a:t>
            </a:r>
            <a:endParaRPr lang="en-US" sz="708" dirty="0"/>
          </a:p>
        </p:txBody>
      </p:sp>
      <p:sp>
        <p:nvSpPr>
          <p:cNvPr id="96" name="txt-D5-b2n"/>
          <p:cNvSpPr txBox="1"/>
          <p:nvPr/>
        </p:nvSpPr>
        <p:spPr>
          <a:xfrm>
            <a:off x="393700" y="76418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3</a:t>
            </a:r>
            <a:endParaRPr lang="en-US" sz="850" dirty="0"/>
          </a:p>
        </p:txBody>
      </p:sp>
      <p:sp>
        <p:nvSpPr>
          <p:cNvPr id="97" name="txt-D5-b2a"/>
          <p:cNvSpPr txBox="1"/>
          <p:nvPr/>
        </p:nvSpPr>
        <p:spPr>
          <a:xfrm>
            <a:off x="698500" y="7605522"/>
            <a:ext cx="2290953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학년별 50권, 6년 300권의 체계</a:t>
            </a:r>
            <a:endParaRPr lang="en-US" sz="1250" dirty="0"/>
          </a:p>
        </p:txBody>
      </p:sp>
      <p:sp>
        <p:nvSpPr>
          <p:cNvPr id="98" name="txt-D5-b2b"/>
          <p:cNvSpPr txBox="1"/>
          <p:nvPr/>
        </p:nvSpPr>
        <p:spPr>
          <a:xfrm>
            <a:off x="495300" y="7838948"/>
            <a:ext cx="3187319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091"/>
              </a:lnSpc>
              <a:buNone/>
            </a:pPr>
            <a:r>
              <a:rPr lang="ko-KR" altLang="en-US" sz="819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학년이 오를수록 긴 이야기를 읽고 깊이 생각할 주제를 다루는 독서 순서</a:t>
            </a:r>
            <a:endParaRPr lang="en-US" sz="819" dirty="0"/>
          </a:p>
        </p:txBody>
      </p:sp>
      <p:sp>
        <p:nvSpPr>
          <p:cNvPr id="99" name="txt-D5-b2c"/>
          <p:cNvSpPr txBox="1"/>
          <p:nvPr/>
        </p:nvSpPr>
        <p:spPr>
          <a:xfrm>
            <a:off x="495300" y="8051038"/>
            <a:ext cx="242938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29"/>
              </a:lnSpc>
              <a:buNone/>
            </a:pPr>
            <a:r>
              <a:rPr lang="ko-KR" altLang="en-US" sz="753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교육적 가치  </a:t>
            </a:r>
            <a:pPr algn="l" indent="0" marL="0">
              <a:lnSpc>
                <a:spcPts val="1129"/>
              </a:lnSpc>
              <a:buNone/>
            </a:pPr>
            <a:r>
              <a:rPr lang="ko-KR" altLang="en-US" sz="847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1학년부터 6학년까지 읽을 책과 수업 자료</a:t>
            </a:r>
            <a:endParaRPr lang="en-US" sz="753" dirty="0"/>
          </a:p>
        </p:txBody>
      </p:sp>
      <p:sp>
        <p:nvSpPr>
          <p:cNvPr id="100" name="txt-D5-b3n"/>
          <p:cNvSpPr txBox="1"/>
          <p:nvPr/>
        </p:nvSpPr>
        <p:spPr>
          <a:xfrm>
            <a:off x="3907028" y="76418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4</a:t>
            </a:r>
            <a:endParaRPr lang="en-US" sz="850" dirty="0"/>
          </a:p>
        </p:txBody>
      </p:sp>
      <p:sp>
        <p:nvSpPr>
          <p:cNvPr id="101" name="txt-D5-b3a"/>
          <p:cNvSpPr txBox="1"/>
          <p:nvPr/>
        </p:nvSpPr>
        <p:spPr>
          <a:xfrm>
            <a:off x="4211828" y="7605522"/>
            <a:ext cx="1906651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학생 눈높이에 맞춘 가독성</a:t>
            </a:r>
            <a:endParaRPr lang="en-US" sz="1250" dirty="0"/>
          </a:p>
        </p:txBody>
      </p:sp>
      <p:sp>
        <p:nvSpPr>
          <p:cNvPr id="102" name="txt-D5-b3b"/>
          <p:cNvSpPr txBox="1"/>
          <p:nvPr/>
        </p:nvSpPr>
        <p:spPr>
          <a:xfrm>
            <a:off x="4008628" y="7838948"/>
            <a:ext cx="2856611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ko-KR" altLang="en-US" sz="87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문장 길이, 어휘 수준, 이야기 전개를 학년별 읽기 능력에 맞춤</a:t>
            </a:r>
            <a:endParaRPr lang="en-US" sz="870" dirty="0"/>
          </a:p>
        </p:txBody>
      </p:sp>
      <p:sp>
        <p:nvSpPr>
          <p:cNvPr id="103" name="txt-D5-b3c"/>
          <p:cNvSpPr txBox="1"/>
          <p:nvPr/>
        </p:nvSpPr>
        <p:spPr>
          <a:xfrm>
            <a:off x="4008628" y="8051038"/>
            <a:ext cx="249466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80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교육적 가치  </a:t>
            </a:r>
            <a:pPr algn="l" indent="0" marL="0">
              <a:lnSpc>
                <a:spcPts val="1200"/>
              </a:lnSpc>
              <a:buNone/>
            </a:pPr>
            <a:r>
              <a:rPr lang="ko-KR" altLang="en-US" sz="9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읽기 부담을 덜고 독서 참여 기회를 넓힘</a:t>
            </a:r>
            <a:endParaRPr lang="en-US" sz="800" dirty="0"/>
          </a:p>
        </p:txBody>
      </p:sp>
      <p:sp>
        <p:nvSpPr>
          <p:cNvPr id="104" name="txt-D5-s0n"/>
          <p:cNvSpPr txBox="1"/>
          <p:nvPr/>
        </p:nvSpPr>
        <p:spPr>
          <a:xfrm>
            <a:off x="342900" y="8468868"/>
            <a:ext cx="254000" cy="167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975"/>
              </a:lnSpc>
              <a:buNone/>
            </a:pPr>
            <a:r>
              <a:rPr lang="ko-KR" altLang="en-US" sz="75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5</a:t>
            </a:r>
            <a:endParaRPr lang="en-US" sz="750" dirty="0"/>
          </a:p>
        </p:txBody>
      </p:sp>
      <p:sp>
        <p:nvSpPr>
          <p:cNvPr id="105" name="txt-D5-s0a"/>
          <p:cNvSpPr txBox="1"/>
          <p:nvPr/>
        </p:nvSpPr>
        <p:spPr>
          <a:xfrm>
            <a:off x="596900" y="8450453"/>
            <a:ext cx="1858391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4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흥미와 정서적 친밀도를 높인 이야기</a:t>
            </a:r>
            <a:endParaRPr lang="en-US" sz="940" dirty="0"/>
          </a:p>
        </p:txBody>
      </p:sp>
      <p:sp>
        <p:nvSpPr>
          <p:cNvPr id="106" name="txt-D5-s0c"/>
          <p:cNvSpPr txBox="1"/>
          <p:nvPr/>
        </p:nvSpPr>
        <p:spPr>
          <a:xfrm>
            <a:off x="596900" y="8623808"/>
            <a:ext cx="12489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ko-KR" altLang="en-US" sz="86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독서 흥미, 공감, 인물 이해</a:t>
            </a:r>
            <a:endParaRPr lang="en-US" sz="860" dirty="0"/>
          </a:p>
        </p:txBody>
      </p:sp>
      <p:sp>
        <p:nvSpPr>
          <p:cNvPr id="107" name="txt-D5-s1n"/>
          <p:cNvSpPr txBox="1"/>
          <p:nvPr/>
        </p:nvSpPr>
        <p:spPr>
          <a:xfrm>
            <a:off x="2672461" y="8468868"/>
            <a:ext cx="254000" cy="167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975"/>
              </a:lnSpc>
              <a:buNone/>
            </a:pPr>
            <a:r>
              <a:rPr lang="ko-KR" altLang="en-US" sz="75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6</a:t>
            </a:r>
            <a:endParaRPr lang="en-US" sz="750" dirty="0"/>
          </a:p>
        </p:txBody>
      </p:sp>
      <p:sp>
        <p:nvSpPr>
          <p:cNvPr id="108" name="txt-D5-s1a"/>
          <p:cNvSpPr txBox="1"/>
          <p:nvPr/>
        </p:nvSpPr>
        <p:spPr>
          <a:xfrm>
            <a:off x="2926461" y="8450453"/>
            <a:ext cx="1659763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4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한 권을 끝까지 읽도록 돕는 구성</a:t>
            </a:r>
            <a:endParaRPr lang="en-US" sz="940" dirty="0"/>
          </a:p>
        </p:txBody>
      </p:sp>
      <p:sp>
        <p:nvSpPr>
          <p:cNvPr id="109" name="txt-D5-s1c"/>
          <p:cNvSpPr txBox="1"/>
          <p:nvPr/>
        </p:nvSpPr>
        <p:spPr>
          <a:xfrm>
            <a:off x="2926461" y="8623808"/>
            <a:ext cx="172986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ko-KR" altLang="en-US" sz="86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중도 포기를 줄이고 완독 경험을 쌓음</a:t>
            </a:r>
            <a:endParaRPr lang="en-US" sz="860" dirty="0"/>
          </a:p>
        </p:txBody>
      </p:sp>
      <p:sp>
        <p:nvSpPr>
          <p:cNvPr id="110" name="txt-D5-s2n"/>
          <p:cNvSpPr txBox="1"/>
          <p:nvPr/>
        </p:nvSpPr>
        <p:spPr>
          <a:xfrm>
            <a:off x="5001895" y="8468868"/>
            <a:ext cx="254000" cy="167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975"/>
              </a:lnSpc>
              <a:buNone/>
            </a:pPr>
            <a:r>
              <a:rPr lang="ko-KR" altLang="en-US" sz="75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7</a:t>
            </a:r>
            <a:endParaRPr lang="en-US" sz="750" dirty="0"/>
          </a:p>
        </p:txBody>
      </p:sp>
      <p:sp>
        <p:nvSpPr>
          <p:cNvPr id="111" name="txt-D5-s2a"/>
          <p:cNvSpPr txBox="1"/>
          <p:nvPr/>
        </p:nvSpPr>
        <p:spPr>
          <a:xfrm>
            <a:off x="5255895" y="8450453"/>
            <a:ext cx="1858391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4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책을 읽고 생각을 말과 글로 표현</a:t>
            </a:r>
            <a:endParaRPr lang="en-US" sz="940" dirty="0"/>
          </a:p>
        </p:txBody>
      </p:sp>
      <p:sp>
        <p:nvSpPr>
          <p:cNvPr id="112" name="txt-D5-s2c"/>
          <p:cNvSpPr txBox="1"/>
          <p:nvPr/>
        </p:nvSpPr>
        <p:spPr>
          <a:xfrm>
            <a:off x="5255895" y="8623808"/>
            <a:ext cx="1455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ko-KR" altLang="en-US" sz="86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질문, 해석, 표현 중심 독서수업</a:t>
            </a:r>
            <a:endParaRPr lang="en-US" sz="860" dirty="0"/>
          </a:p>
        </p:txBody>
      </p:sp>
      <p:sp>
        <p:nvSpPr>
          <p:cNvPr id="113" name="txt-D5-gl"/>
          <p:cNvSpPr txBox="1"/>
          <p:nvPr/>
        </p:nvSpPr>
        <p:spPr>
          <a:xfrm>
            <a:off x="317500" y="9590532"/>
            <a:ext cx="1066800" cy="50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ko-KR" altLang="en-US" sz="13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학년별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ko-KR" altLang="en-US" sz="13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대표 작품</a:t>
            </a:r>
            <a:endParaRPr lang="en-US" sz="1300" dirty="0"/>
          </a:p>
        </p:txBody>
      </p:sp>
      <p:sp>
        <p:nvSpPr>
          <p:cNvPr id="114" name="txt-D5-g0a"/>
          <p:cNvSpPr txBox="1"/>
          <p:nvPr/>
        </p:nvSpPr>
        <p:spPr>
          <a:xfrm>
            <a:off x="1600200" y="904468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1학년</a:t>
            </a:r>
            <a:endParaRPr lang="en-US" sz="1000" dirty="0"/>
          </a:p>
        </p:txBody>
      </p:sp>
      <p:sp>
        <p:nvSpPr>
          <p:cNvPr id="115" name="txt-D5-g0b"/>
          <p:cNvSpPr txBox="1"/>
          <p:nvPr/>
        </p:nvSpPr>
        <p:spPr>
          <a:xfrm>
            <a:off x="2184400" y="9044686"/>
            <a:ext cx="358203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토끼와 거북이, 여우와 신 포도, 해와 달이 된 오누이, 금도끼 은도끼</a:t>
            </a:r>
            <a:endParaRPr lang="en-US" sz="1000" dirty="0"/>
          </a:p>
        </p:txBody>
      </p:sp>
      <p:sp>
        <p:nvSpPr>
          <p:cNvPr id="116" name="txt-D5-g1a"/>
          <p:cNvSpPr txBox="1"/>
          <p:nvPr/>
        </p:nvSpPr>
        <p:spPr>
          <a:xfrm>
            <a:off x="1600200" y="924280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2학년</a:t>
            </a:r>
            <a:endParaRPr lang="en-US" sz="1000" dirty="0"/>
          </a:p>
        </p:txBody>
      </p:sp>
      <p:sp>
        <p:nvSpPr>
          <p:cNvPr id="117" name="txt-D5-g1b"/>
          <p:cNvSpPr txBox="1"/>
          <p:nvPr/>
        </p:nvSpPr>
        <p:spPr>
          <a:xfrm>
            <a:off x="2184400" y="9242806"/>
            <a:ext cx="274218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미운 오리 새끼, 브레멘 음악대, 콩쥐팥쥐, 별주부전</a:t>
            </a:r>
            <a:endParaRPr lang="en-US" sz="1000" dirty="0"/>
          </a:p>
        </p:txBody>
      </p:sp>
      <p:sp>
        <p:nvSpPr>
          <p:cNvPr id="118" name="txt-D5-g2a"/>
          <p:cNvSpPr txBox="1"/>
          <p:nvPr/>
        </p:nvSpPr>
        <p:spPr>
          <a:xfrm>
            <a:off x="1600200" y="944092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3학년</a:t>
            </a:r>
            <a:endParaRPr lang="en-US" sz="1000" dirty="0"/>
          </a:p>
        </p:txBody>
      </p:sp>
      <p:sp>
        <p:nvSpPr>
          <p:cNvPr id="119" name="txt-D5-g2b"/>
          <p:cNvSpPr txBox="1"/>
          <p:nvPr/>
        </p:nvSpPr>
        <p:spPr>
          <a:xfrm>
            <a:off x="2184400" y="9440926"/>
            <a:ext cx="29213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행복한 왕자, 눈의 여왕, 플랜더스의 개, 은혜 갚은 까치</a:t>
            </a:r>
            <a:endParaRPr lang="en-US" sz="1000" dirty="0"/>
          </a:p>
        </p:txBody>
      </p:sp>
      <p:sp>
        <p:nvSpPr>
          <p:cNvPr id="120" name="txt-D5-g3a"/>
          <p:cNvSpPr txBox="1"/>
          <p:nvPr/>
        </p:nvSpPr>
        <p:spPr>
          <a:xfrm>
            <a:off x="1600200" y="963904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4학년</a:t>
            </a:r>
            <a:endParaRPr lang="en-US" sz="1000" dirty="0"/>
          </a:p>
        </p:txBody>
      </p:sp>
      <p:sp>
        <p:nvSpPr>
          <p:cNvPr id="121" name="txt-D5-g3b"/>
          <p:cNvSpPr txBox="1"/>
          <p:nvPr/>
        </p:nvSpPr>
        <p:spPr>
          <a:xfrm>
            <a:off x="2184400" y="9639046"/>
            <a:ext cx="250151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어린 왕자, 오즈의 마법사, 작은 아씨들, 심청전</a:t>
            </a:r>
            <a:endParaRPr lang="en-US" sz="1000" dirty="0"/>
          </a:p>
        </p:txBody>
      </p:sp>
      <p:sp>
        <p:nvSpPr>
          <p:cNvPr id="122" name="txt-D5-g4a"/>
          <p:cNvSpPr txBox="1"/>
          <p:nvPr/>
        </p:nvSpPr>
        <p:spPr>
          <a:xfrm>
            <a:off x="1600200" y="983716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5학년</a:t>
            </a:r>
            <a:endParaRPr lang="en-US" sz="1000" dirty="0"/>
          </a:p>
        </p:txBody>
      </p:sp>
      <p:sp>
        <p:nvSpPr>
          <p:cNvPr id="123" name="txt-D5-g4b"/>
          <p:cNvSpPr txBox="1"/>
          <p:nvPr/>
        </p:nvSpPr>
        <p:spPr>
          <a:xfrm>
            <a:off x="2184400" y="9837166"/>
            <a:ext cx="2767076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빨간 머리 앤, 80일간의 세계일주, 홍길동전, 춘향전</a:t>
            </a:r>
            <a:endParaRPr lang="en-US" sz="1000" dirty="0"/>
          </a:p>
        </p:txBody>
      </p:sp>
      <p:sp>
        <p:nvSpPr>
          <p:cNvPr id="124" name="txt-D5-g5a"/>
          <p:cNvSpPr txBox="1"/>
          <p:nvPr/>
        </p:nvSpPr>
        <p:spPr>
          <a:xfrm>
            <a:off x="1600200" y="10035286"/>
            <a:ext cx="36868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6학년</a:t>
            </a:r>
            <a:endParaRPr lang="en-US" sz="1000" dirty="0"/>
          </a:p>
        </p:txBody>
      </p:sp>
      <p:sp>
        <p:nvSpPr>
          <p:cNvPr id="125" name="txt-D5-g5b"/>
          <p:cNvSpPr txBox="1"/>
          <p:nvPr/>
        </p:nvSpPr>
        <p:spPr>
          <a:xfrm>
            <a:off x="2184400" y="10035286"/>
            <a:ext cx="3071241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레 미제라블, 큰 바위 얼굴, 삼국지, 하늘과 바람과 별과 시</a:t>
            </a:r>
            <a:endParaRPr lang="en-US" sz="1000" dirty="0"/>
          </a:p>
        </p:txBody>
      </p:sp>
      <p:sp>
        <p:nvSpPr>
          <p:cNvPr id="126" name="txt-D5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0552" y="495300"/>
            <a:ext cx="377850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5213" y="2590451"/>
            <a:ext cx="281775" cy="268923"/>
          </a:xfrm>
          <a:custGeom>
            <a:avLst/>
            <a:gdLst/>
            <a:ahLst/>
            <a:cxnLst/>
            <a:rect l="l" t="t" r="r" b="b"/>
            <a:pathLst>
              <a:path w="281775" h="268923">
                <a:moveTo>
                  <a:pt x="140860" y="268923"/>
                </a:moveTo>
                <a:lnTo>
                  <a:pt x="140860" y="38418"/>
                </a:lnTo>
                <a:cubicBezTo>
                  <a:pt x="89645" y="0"/>
                  <a:pt x="38418" y="0"/>
                  <a:pt x="0" y="25607"/>
                </a:cubicBezTo>
                <a:lnTo>
                  <a:pt x="0" y="256112"/>
                </a:lnTo>
                <a:cubicBezTo>
                  <a:pt x="38418" y="230505"/>
                  <a:pt x="89645" y="230505"/>
                  <a:pt x="140860" y="268923"/>
                </a:cubicBezTo>
                <a:cubicBezTo>
                  <a:pt x="192088" y="230505"/>
                  <a:pt x="243315" y="230505"/>
                  <a:pt x="281733" y="256112"/>
                </a:cubicBezTo>
                <a:lnTo>
                  <a:pt x="281733" y="25607"/>
                </a:lnTo>
                <a:cubicBezTo>
                  <a:pt x="243315" y="0"/>
                  <a:pt x="192088" y="0"/>
                  <a:pt x="140860" y="3841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9780" y="2755900"/>
            <a:ext cx="309927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7340" y="3571240"/>
            <a:ext cx="2712720" cy="1703070"/>
          </a:xfrm>
          <a:prstGeom prst="rect">
            <a:avLst/>
          </a:prstGeom>
          <a:solidFill>
            <a:srgbClr val="D8D2C0"/>
          </a:solidFill>
          <a:ln/>
        </p:spPr>
      </p:sp>
      <p:sp>
        <p:nvSpPr>
          <p:cNvPr id="6" name="Shape 4"/>
          <p:cNvSpPr/>
          <p:nvPr/>
        </p:nvSpPr>
        <p:spPr>
          <a:xfrm>
            <a:off x="3111500" y="3581400"/>
            <a:ext cx="2027428" cy="508000"/>
          </a:xfrm>
          <a:prstGeom prst="roundRect">
            <a:avLst>
              <a:gd name="adj" fmla="val 15000"/>
            </a:avLst>
          </a:prstGeom>
          <a:solidFill>
            <a:srgbClr val="F0F5EF"/>
          </a:solidFill>
          <a:ln/>
        </p:spPr>
      </p:sp>
      <p:sp>
        <p:nvSpPr>
          <p:cNvPr id="7" name="Shape 5"/>
          <p:cNvSpPr/>
          <p:nvPr/>
        </p:nvSpPr>
        <p:spPr>
          <a:xfrm>
            <a:off x="5215128" y="3581400"/>
            <a:ext cx="2027428" cy="508000"/>
          </a:xfrm>
          <a:prstGeom prst="roundRect">
            <a:avLst>
              <a:gd name="adj" fmla="val 15000"/>
            </a:avLst>
          </a:prstGeom>
          <a:solidFill>
            <a:srgbClr val="F0F5EF"/>
          </a:solidFill>
          <a:ln/>
        </p:spPr>
      </p:sp>
      <p:sp>
        <p:nvSpPr>
          <p:cNvPr id="8" name="Shape 6"/>
          <p:cNvSpPr/>
          <p:nvPr/>
        </p:nvSpPr>
        <p:spPr>
          <a:xfrm>
            <a:off x="3111500" y="4165600"/>
            <a:ext cx="2027428" cy="508000"/>
          </a:xfrm>
          <a:prstGeom prst="roundRect">
            <a:avLst>
              <a:gd name="adj" fmla="val 15000"/>
            </a:avLst>
          </a:prstGeom>
          <a:solidFill>
            <a:srgbClr val="F0F5EF"/>
          </a:solidFill>
          <a:ln/>
        </p:spPr>
      </p:sp>
      <p:sp>
        <p:nvSpPr>
          <p:cNvPr id="9" name="Shape 7"/>
          <p:cNvSpPr/>
          <p:nvPr/>
        </p:nvSpPr>
        <p:spPr>
          <a:xfrm>
            <a:off x="5215128" y="4165600"/>
            <a:ext cx="2027428" cy="508000"/>
          </a:xfrm>
          <a:prstGeom prst="roundRect">
            <a:avLst>
              <a:gd name="adj" fmla="val 15000"/>
            </a:avLst>
          </a:prstGeom>
          <a:solidFill>
            <a:srgbClr val="F0F5EF"/>
          </a:solidFill>
          <a:ln/>
        </p:spPr>
      </p:sp>
      <p:sp>
        <p:nvSpPr>
          <p:cNvPr id="10" name="Shape 8"/>
          <p:cNvSpPr/>
          <p:nvPr/>
        </p:nvSpPr>
        <p:spPr>
          <a:xfrm>
            <a:off x="3111500" y="4749800"/>
            <a:ext cx="4131056" cy="514350"/>
          </a:xfrm>
          <a:prstGeom prst="roundRect">
            <a:avLst>
              <a:gd name="adj" fmla="val 14815"/>
            </a:avLst>
          </a:prstGeom>
          <a:solidFill>
            <a:srgbClr val="F6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405213" y="5674519"/>
            <a:ext cx="281775" cy="204940"/>
          </a:xfrm>
          <a:custGeom>
            <a:avLst/>
            <a:gdLst/>
            <a:ahLst/>
            <a:cxnLst/>
            <a:rect l="l" t="t" r="r" b="b"/>
            <a:pathLst>
              <a:path w="281775" h="204940">
                <a:moveTo>
                  <a:pt x="64025" y="204898"/>
                </a:moveTo>
                <a:lnTo>
                  <a:pt x="217695" y="204898"/>
                </a:lnTo>
                <a:cubicBezTo>
                  <a:pt x="253094" y="204898"/>
                  <a:pt x="281733" y="176259"/>
                  <a:pt x="281733" y="140860"/>
                </a:cubicBezTo>
                <a:lnTo>
                  <a:pt x="281733" y="64025"/>
                </a:lnTo>
                <a:cubicBezTo>
                  <a:pt x="281733" y="28638"/>
                  <a:pt x="253094" y="0"/>
                  <a:pt x="217695" y="0"/>
                </a:cubicBezTo>
                <a:lnTo>
                  <a:pt x="64025" y="0"/>
                </a:lnTo>
                <a:cubicBezTo>
                  <a:pt x="28638" y="0"/>
                  <a:pt x="0" y="28638"/>
                  <a:pt x="0" y="64025"/>
                </a:cubicBezTo>
                <a:lnTo>
                  <a:pt x="0" y="140860"/>
                </a:lnTo>
                <a:cubicBezTo>
                  <a:pt x="0" y="176259"/>
                  <a:pt x="28638" y="204898"/>
                  <a:pt x="64025" y="20489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630" y="5879459"/>
            <a:ext cx="25565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630" y="5879459"/>
            <a:ext cx="102400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710" y="57667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535832" y="57667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9815" y="57667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6723" y="5839968"/>
            <a:ext cx="317233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500" y="6642100"/>
            <a:ext cx="5334000" cy="584200"/>
          </a:xfrm>
          <a:prstGeom prst="roundRect">
            <a:avLst>
              <a:gd name="adj" fmla="val 17391"/>
            </a:avLst>
          </a:prstGeom>
          <a:solidFill>
            <a:srgbClr val="F6F5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727700" y="6642100"/>
            <a:ext cx="1514856" cy="584200"/>
          </a:xfrm>
          <a:prstGeom prst="roundRect">
            <a:avLst>
              <a:gd name="adj" fmla="val 17391"/>
            </a:avLst>
          </a:prstGeom>
          <a:solidFill>
            <a:srgbClr val="F0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8065" y="7573245"/>
            <a:ext cx="256070" cy="256070"/>
          </a:xfrm>
          <a:custGeom>
            <a:avLst/>
            <a:gdLst/>
            <a:ahLst/>
            <a:cxnLst/>
            <a:rect l="l" t="t" r="r" b="b"/>
            <a:pathLst>
              <a:path w="256070" h="256070">
                <a:moveTo>
                  <a:pt x="0" y="256112"/>
                </a:moveTo>
                <a:lnTo>
                  <a:pt x="25607" y="166480"/>
                </a:lnTo>
                <a:lnTo>
                  <a:pt x="192088" y="0"/>
                </a:lnTo>
                <a:lnTo>
                  <a:pt x="256112" y="64025"/>
                </a:lnTo>
                <a:lnTo>
                  <a:pt x="89645" y="230505"/>
                </a:lnTo>
                <a:lnTo>
                  <a:pt x="0" y="256112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630" y="7739767"/>
            <a:ext cx="64122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735" y="7611662"/>
            <a:ext cx="63983" cy="64122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23896" y="7732268"/>
            <a:ext cx="445516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500" y="8470900"/>
            <a:ext cx="1285875" cy="279400"/>
          </a:xfrm>
          <a:prstGeom prst="roundRect">
            <a:avLst>
              <a:gd name="adj" fmla="val 45455"/>
            </a:avLst>
          </a:prstGeom>
          <a:solidFill>
            <a:srgbClr val="EBE7D9"/>
          </a:solidFill>
          <a:ln/>
        </p:spPr>
      </p:sp>
      <p:sp>
        <p:nvSpPr>
          <p:cNvPr id="25" name="Shape 23"/>
          <p:cNvSpPr/>
          <p:nvPr/>
        </p:nvSpPr>
        <p:spPr>
          <a:xfrm>
            <a:off x="1666875" y="8470900"/>
            <a:ext cx="1285875" cy="279400"/>
          </a:xfrm>
          <a:prstGeom prst="roundRect">
            <a:avLst>
              <a:gd name="adj" fmla="val 45455"/>
            </a:avLst>
          </a:prstGeom>
          <a:solidFill>
            <a:srgbClr val="EBE7D9"/>
          </a:solidFill>
          <a:ln/>
        </p:spPr>
      </p:sp>
      <p:sp>
        <p:nvSpPr>
          <p:cNvPr id="26" name="Shape 24"/>
          <p:cNvSpPr/>
          <p:nvPr/>
        </p:nvSpPr>
        <p:spPr>
          <a:xfrm>
            <a:off x="3016250" y="8470900"/>
            <a:ext cx="1285875" cy="279400"/>
          </a:xfrm>
          <a:prstGeom prst="roundRect">
            <a:avLst>
              <a:gd name="adj" fmla="val 45455"/>
            </a:avLst>
          </a:prstGeom>
          <a:solidFill>
            <a:srgbClr val="EBE7D9"/>
          </a:solidFill>
          <a:ln/>
        </p:spPr>
      </p:sp>
      <p:sp>
        <p:nvSpPr>
          <p:cNvPr id="27" name="Shape 25"/>
          <p:cNvSpPr/>
          <p:nvPr/>
        </p:nvSpPr>
        <p:spPr>
          <a:xfrm>
            <a:off x="4365625" y="8470900"/>
            <a:ext cx="1285875" cy="279400"/>
          </a:xfrm>
          <a:prstGeom prst="roundRect">
            <a:avLst>
              <a:gd name="adj" fmla="val 45455"/>
            </a:avLst>
          </a:prstGeom>
          <a:solidFill>
            <a:srgbClr val="EBE7D9"/>
          </a:solidFill>
          <a:ln/>
        </p:spPr>
      </p:sp>
      <p:sp>
        <p:nvSpPr>
          <p:cNvPr id="28" name="Shape 26"/>
          <p:cNvSpPr/>
          <p:nvPr/>
        </p:nvSpPr>
        <p:spPr>
          <a:xfrm>
            <a:off x="5727700" y="7937500"/>
            <a:ext cx="1514856" cy="812800"/>
          </a:xfrm>
          <a:prstGeom prst="roundRect">
            <a:avLst>
              <a:gd name="adj" fmla="val 12500"/>
            </a:avLst>
          </a:prstGeom>
          <a:solidFill>
            <a:srgbClr val="F0F5EF"/>
          </a:solidFill>
          <a:ln/>
        </p:spPr>
      </p:sp>
      <p:sp>
        <p:nvSpPr>
          <p:cNvPr id="29" name="Shape 27"/>
          <p:cNvSpPr/>
          <p:nvPr/>
        </p:nvSpPr>
        <p:spPr>
          <a:xfrm>
            <a:off x="430847" y="9046083"/>
            <a:ext cx="230505" cy="282194"/>
          </a:xfrm>
          <a:custGeom>
            <a:avLst/>
            <a:gdLst/>
            <a:ahLst/>
            <a:cxnLst/>
            <a:rect l="l" t="t" r="r" b="b"/>
            <a:pathLst>
              <a:path w="230505" h="282194">
                <a:moveTo>
                  <a:pt x="0" y="0"/>
                </a:moveTo>
                <a:lnTo>
                  <a:pt x="153670" y="0"/>
                </a:lnTo>
                <a:lnTo>
                  <a:pt x="230505" y="76835"/>
                </a:lnTo>
                <a:lnTo>
                  <a:pt x="230505" y="282194"/>
                </a:lnTo>
                <a:lnTo>
                  <a:pt x="0" y="282194"/>
                </a:lnTo>
                <a:lnTo>
                  <a:pt x="0" y="0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537" y="9164828"/>
            <a:ext cx="127127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537" y="9217914"/>
            <a:ext cx="127127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537" y="9271000"/>
            <a:ext cx="81026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23896" y="9218168"/>
            <a:ext cx="445516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6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pic>
        <p:nvPicPr>
          <p:cNvPr id="37" name="Image 1" descr="부기 읽기 화면: 1학년 토끼와 거북이를 베트남어와 한국어로 나란히 본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3581400"/>
            <a:ext cx="2692400" cy="1682750"/>
          </a:xfrm>
          <a:prstGeom prst="rect">
            <a:avLst/>
          </a:prstGeom>
        </p:spPr>
      </p:pic>
      <p:sp>
        <p:nvSpPr>
          <p:cNvPr id="38" name="txt-D6-hd"/>
          <p:cNvSpPr txBox="1"/>
          <p:nvPr/>
        </p:nvSpPr>
        <p:spPr>
          <a:xfrm>
            <a:off x="381000" y="295529"/>
            <a:ext cx="3003931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학생이 경험하는 부기 독서수업</a:t>
            </a:r>
            <a:endParaRPr lang="en-US" sz="1700" dirty="0"/>
          </a:p>
        </p:txBody>
      </p:sp>
      <p:sp>
        <p:nvSpPr>
          <p:cNvPr id="39" name="txt-D6-h1"/>
          <p:cNvSpPr txBox="1"/>
          <p:nvPr/>
        </p:nvSpPr>
        <p:spPr>
          <a:xfrm>
            <a:off x="381000" y="727710"/>
            <a:ext cx="414299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반 전체가 같은 책을</a:t>
            </a:r>
            <a:endParaRPr lang="en-US" sz="3700" dirty="0"/>
          </a:p>
        </p:txBody>
      </p:sp>
      <p:sp>
        <p:nvSpPr>
          <p:cNvPr id="40" name="txt-D6-h2"/>
          <p:cNvSpPr txBox="1"/>
          <p:nvPr/>
        </p:nvSpPr>
        <p:spPr>
          <a:xfrm>
            <a:off x="381000" y="1388110"/>
            <a:ext cx="4658487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끝까지 읽고 답합니다.</a:t>
            </a:r>
            <a:endParaRPr lang="en-US" sz="3700" dirty="0"/>
          </a:p>
        </p:txBody>
      </p:sp>
      <p:sp>
        <p:nvSpPr>
          <p:cNvPr id="41" name="txt-D6-s1"/>
          <p:cNvSpPr txBox="1"/>
          <p:nvPr/>
        </p:nvSpPr>
        <p:spPr>
          <a:xfrm>
            <a:off x="863346" y="2540254"/>
            <a:ext cx="3232912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385"/>
              </a:lnSpc>
              <a:buNone/>
            </a:pPr>
            <a:r>
              <a:rPr lang="ko-KR" altLang="en-US" sz="1835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명작 300권을 함께 끝까지 읽기</a:t>
            </a:r>
            <a:endParaRPr lang="en-US" sz="1835" dirty="0"/>
          </a:p>
        </p:txBody>
      </p:sp>
      <p:sp>
        <p:nvSpPr>
          <p:cNvPr id="42" name="txt-D6-1b"/>
          <p:cNvSpPr txBox="1"/>
          <p:nvPr/>
        </p:nvSpPr>
        <p:spPr>
          <a:xfrm>
            <a:off x="381000" y="2946781"/>
            <a:ext cx="6815328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현직 교사와 작가가 원작을 살려 학년 눈높이로 다시 쓴 명작을, 반 전체가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낱말 뜻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과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읽어주기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의 도움을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받아 끝까지 읽습니다.</a:t>
            </a:r>
            <a:endParaRPr lang="en-US" sz="1250" dirty="0"/>
          </a:p>
        </p:txBody>
      </p:sp>
      <p:sp>
        <p:nvSpPr>
          <p:cNvPr id="43" name="txt-D6-cap"/>
          <p:cNvSpPr txBox="1"/>
          <p:nvPr/>
        </p:nvSpPr>
        <p:spPr>
          <a:xfrm>
            <a:off x="317500" y="5296281"/>
            <a:ext cx="2268220" cy="169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ko-KR" altLang="en-US" sz="76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1학년 그림책 「토끼와 거북이」 베트남어 나란히 보기</a:t>
            </a:r>
            <a:endParaRPr lang="en-US" sz="760" dirty="0"/>
          </a:p>
        </p:txBody>
      </p:sp>
      <p:sp>
        <p:nvSpPr>
          <p:cNvPr id="44" name="txt-D6-1c0a"/>
          <p:cNvSpPr txBox="1"/>
          <p:nvPr/>
        </p:nvSpPr>
        <p:spPr>
          <a:xfrm>
            <a:off x="3111500" y="3660013"/>
            <a:ext cx="202742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낱말 풀이 카드</a:t>
            </a:r>
            <a:endParaRPr lang="en-US" sz="1050" dirty="0"/>
          </a:p>
        </p:txBody>
      </p:sp>
      <p:sp>
        <p:nvSpPr>
          <p:cNvPr id="45" name="txt-D6-1c0b"/>
          <p:cNvSpPr txBox="1"/>
          <p:nvPr/>
        </p:nvSpPr>
        <p:spPr>
          <a:xfrm>
            <a:off x="3111500" y="3862959"/>
            <a:ext cx="2027428" cy="200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70"/>
              </a:lnSpc>
              <a:buNone/>
            </a:pPr>
            <a:r>
              <a:rPr lang="ko-KR" altLang="en-US" sz="9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누르면 오른쪽 카드에 뜻이</a:t>
            </a:r>
            <a:endParaRPr lang="en-US" sz="900" dirty="0"/>
          </a:p>
        </p:txBody>
      </p:sp>
      <p:sp>
        <p:nvSpPr>
          <p:cNvPr id="46" name="txt-D6-1c1a"/>
          <p:cNvSpPr txBox="1"/>
          <p:nvPr/>
        </p:nvSpPr>
        <p:spPr>
          <a:xfrm>
            <a:off x="5215128" y="3660013"/>
            <a:ext cx="202742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「이 쪽 낱말」 띠</a:t>
            </a:r>
            <a:endParaRPr lang="en-US" sz="1050" dirty="0"/>
          </a:p>
        </p:txBody>
      </p:sp>
      <p:sp>
        <p:nvSpPr>
          <p:cNvPr id="47" name="txt-D6-1c1b"/>
          <p:cNvSpPr txBox="1"/>
          <p:nvPr/>
        </p:nvSpPr>
        <p:spPr>
          <a:xfrm>
            <a:off x="5215128" y="3862959"/>
            <a:ext cx="2027428" cy="200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70"/>
              </a:lnSpc>
              <a:buNone/>
            </a:pPr>
            <a:r>
              <a:rPr lang="ko-KR" altLang="en-US" sz="9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그 쪽 낱말 뜻을 책 아래에</a:t>
            </a:r>
            <a:endParaRPr lang="en-US" sz="900" dirty="0"/>
          </a:p>
        </p:txBody>
      </p:sp>
      <p:sp>
        <p:nvSpPr>
          <p:cNvPr id="48" name="txt-D6-1c2a"/>
          <p:cNvSpPr txBox="1"/>
          <p:nvPr/>
        </p:nvSpPr>
        <p:spPr>
          <a:xfrm>
            <a:off x="3111500" y="4244213"/>
            <a:ext cx="202742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읽어주기</a:t>
            </a:r>
            <a:endParaRPr lang="en-US" sz="1050" dirty="0"/>
          </a:p>
        </p:txBody>
      </p:sp>
      <p:sp>
        <p:nvSpPr>
          <p:cNvPr id="49" name="txt-D6-1c2b"/>
          <p:cNvSpPr txBox="1"/>
          <p:nvPr/>
        </p:nvSpPr>
        <p:spPr>
          <a:xfrm>
            <a:off x="3111500" y="4447159"/>
            <a:ext cx="2027428" cy="200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70"/>
              </a:lnSpc>
              <a:buNone/>
            </a:pPr>
            <a:r>
              <a:rPr lang="ko-KR" altLang="en-US" sz="9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소리로 들으며 따라 읽기</a:t>
            </a:r>
            <a:endParaRPr lang="en-US" sz="900" dirty="0"/>
          </a:p>
        </p:txBody>
      </p:sp>
      <p:sp>
        <p:nvSpPr>
          <p:cNvPr id="50" name="txt-D6-1c3a"/>
          <p:cNvSpPr txBox="1"/>
          <p:nvPr/>
        </p:nvSpPr>
        <p:spPr>
          <a:xfrm>
            <a:off x="5215128" y="4244213"/>
            <a:ext cx="202742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글자 크기</a:t>
            </a:r>
            <a:endParaRPr lang="en-US" sz="1050" dirty="0"/>
          </a:p>
        </p:txBody>
      </p:sp>
      <p:sp>
        <p:nvSpPr>
          <p:cNvPr id="51" name="txt-D6-1c3b"/>
          <p:cNvSpPr txBox="1"/>
          <p:nvPr/>
        </p:nvSpPr>
        <p:spPr>
          <a:xfrm>
            <a:off x="5215128" y="4447159"/>
            <a:ext cx="2027428" cy="200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70"/>
              </a:lnSpc>
              <a:buNone/>
            </a:pPr>
            <a:r>
              <a:rPr lang="ko-KR" altLang="en-US" sz="9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읽기 편한 크기로</a:t>
            </a:r>
            <a:endParaRPr lang="en-US" sz="900" dirty="0"/>
          </a:p>
        </p:txBody>
      </p:sp>
      <p:sp>
        <p:nvSpPr>
          <p:cNvPr id="52" name="txt-D6-1c4a"/>
          <p:cNvSpPr txBox="1"/>
          <p:nvPr/>
        </p:nvSpPr>
        <p:spPr>
          <a:xfrm>
            <a:off x="3111500" y="4850638"/>
            <a:ext cx="4131056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365"/>
              </a:lnSpc>
              <a:buNone/>
            </a:pPr>
            <a:r>
              <a:rPr lang="ko-KR" altLang="en-US" sz="10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1~4학년 200권, 4개 언어 나란히</a:t>
            </a:r>
            <a:endParaRPr lang="en-US" sz="1050" dirty="0"/>
          </a:p>
        </p:txBody>
      </p:sp>
      <p:sp>
        <p:nvSpPr>
          <p:cNvPr id="53" name="txt-D6-1c4b"/>
          <p:cNvSpPr txBox="1"/>
          <p:nvPr/>
        </p:nvSpPr>
        <p:spPr>
          <a:xfrm>
            <a:off x="3111500" y="5057013"/>
            <a:ext cx="41310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한국어   English   Tiếng Việt   Русский</a:t>
            </a:r>
            <a:endParaRPr lang="en-US" sz="920" dirty="0"/>
          </a:p>
        </p:txBody>
      </p:sp>
      <p:sp>
        <p:nvSpPr>
          <p:cNvPr id="54" name="txt-D6-s2"/>
          <p:cNvSpPr txBox="1"/>
          <p:nvPr/>
        </p:nvSpPr>
        <p:spPr>
          <a:xfrm>
            <a:off x="863346" y="5624322"/>
            <a:ext cx="3157728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깊이 있게 읽기(캐릭터 대화)</a:t>
            </a:r>
            <a:endParaRPr lang="en-US" sz="1950" dirty="0"/>
          </a:p>
        </p:txBody>
      </p:sp>
      <p:sp>
        <p:nvSpPr>
          <p:cNvPr id="55" name="txt-D6-2b"/>
          <p:cNvSpPr txBox="1"/>
          <p:nvPr/>
        </p:nvSpPr>
        <p:spPr>
          <a:xfrm>
            <a:off x="381000" y="6032881"/>
            <a:ext cx="6664833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책을 다 읽으면 인물이 된 부기가 장면마다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미리 쓴 질문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을 묻고, 학생은 인물의 자리에서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까닭을 들어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답합니다. 답이 짧으면 한 번 더 묻습니다.</a:t>
            </a:r>
            <a:endParaRPr lang="en-US" sz="1250" dirty="0"/>
          </a:p>
        </p:txBody>
      </p:sp>
      <p:sp>
        <p:nvSpPr>
          <p:cNvPr id="56" name="txt-D6-2q1"/>
          <p:cNvSpPr txBox="1"/>
          <p:nvPr/>
        </p:nvSpPr>
        <p:spPr>
          <a:xfrm>
            <a:off x="508000" y="6755638"/>
            <a:ext cx="197688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「행복한 왕자」 인물이 된 부기의 질문</a:t>
            </a:r>
            <a:endParaRPr lang="en-US" sz="920" dirty="0"/>
          </a:p>
        </p:txBody>
      </p:sp>
      <p:sp>
        <p:nvSpPr>
          <p:cNvPr id="57" name="txt-D6-2q2"/>
          <p:cNvSpPr txBox="1"/>
          <p:nvPr/>
        </p:nvSpPr>
        <p:spPr>
          <a:xfrm>
            <a:off x="508000" y="6943725"/>
            <a:ext cx="3466973" cy="300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ko-KR" altLang="en-US" sz="135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“당신이라면 그렇게 했을까요? 왜 그런가요?”</a:t>
            </a:r>
            <a:endParaRPr lang="en-US" sz="1350" dirty="0"/>
          </a:p>
        </p:txBody>
      </p:sp>
      <p:sp>
        <p:nvSpPr>
          <p:cNvPr id="58" name="txt-D6-2p1"/>
          <p:cNvSpPr txBox="1"/>
          <p:nvPr/>
        </p:nvSpPr>
        <p:spPr>
          <a:xfrm>
            <a:off x="5727700" y="6715252"/>
            <a:ext cx="151485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ko-KR" altLang="en-US" sz="14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특허 등록</a:t>
            </a:r>
            <a:endParaRPr lang="en-US" sz="1400" dirty="0"/>
          </a:p>
        </p:txBody>
      </p:sp>
      <p:sp>
        <p:nvSpPr>
          <p:cNvPr id="59" name="txt-D6-2p2"/>
          <p:cNvSpPr txBox="1"/>
          <p:nvPr/>
        </p:nvSpPr>
        <p:spPr>
          <a:xfrm>
            <a:off x="5727700" y="6984238"/>
            <a:ext cx="15148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캐릭터 대화</a:t>
            </a:r>
            <a:endParaRPr lang="en-US" sz="920" dirty="0"/>
          </a:p>
        </p:txBody>
      </p:sp>
      <p:sp>
        <p:nvSpPr>
          <p:cNvPr id="60" name="txt-D6-s3"/>
          <p:cNvSpPr txBox="1"/>
          <p:nvPr/>
        </p:nvSpPr>
        <p:spPr>
          <a:xfrm>
            <a:off x="863346" y="7516622"/>
            <a:ext cx="1836293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9"/>
              </a:lnSpc>
              <a:buNone/>
            </a:pPr>
            <a:r>
              <a:rPr lang="ko-KR" altLang="en-US" sz="1353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읽고 표현하는 독후활동</a:t>
            </a:r>
            <a:endParaRPr lang="en-US" sz="1353" dirty="0"/>
          </a:p>
        </p:txBody>
      </p:sp>
      <p:sp>
        <p:nvSpPr>
          <p:cNvPr id="61" name="txt-D6-3b"/>
          <p:cNvSpPr txBox="1"/>
          <p:nvPr/>
        </p:nvSpPr>
        <p:spPr>
          <a:xfrm>
            <a:off x="381000" y="7934833"/>
            <a:ext cx="5299202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ko-KR" altLang="en-US" sz="12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화면 활동 카드 9가지, 수업 활동 20가지, 책갈피와 종이인형 같은 실물 자료로 읽은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ko-KR" altLang="en-US" sz="12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생각을 </a:t>
            </a:r>
            <a:pPr algn="l" indent="0" marL="0">
              <a:lnSpc>
                <a:spcPts val="1750"/>
              </a:lnSpc>
              <a:buNone/>
            </a:pPr>
            <a:r>
              <a:rPr lang="ko-KR" altLang="en-US" sz="120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글, 그림, 말</a:t>
            </a:r>
            <a:pPr algn="l" indent="0" marL="0">
              <a:lnSpc>
                <a:spcPts val="1750"/>
              </a:lnSpc>
              <a:buNone/>
            </a:pPr>
            <a:r>
              <a:rPr lang="ko-KR" altLang="en-US" sz="12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로 표현합니다.</a:t>
            </a:r>
            <a:endParaRPr lang="en-US" sz="1200" dirty="0"/>
          </a:p>
        </p:txBody>
      </p:sp>
      <p:sp>
        <p:nvSpPr>
          <p:cNvPr id="62" name="txt-D6-3c0"/>
          <p:cNvSpPr txBox="1"/>
          <p:nvPr/>
        </p:nvSpPr>
        <p:spPr>
          <a:xfrm>
            <a:off x="317500" y="8531987"/>
            <a:ext cx="1285875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읽기 전 </a:t>
            </a:r>
            <a:pPr algn="ctr" indent="0" marL="0">
              <a:lnSpc>
                <a:spcPts val="1235"/>
              </a:lnSpc>
              <a:buNone/>
            </a:pPr>
            <a:r>
              <a:rPr lang="ko-KR" altLang="en-US" sz="9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1가지</a:t>
            </a:r>
            <a:endParaRPr lang="en-US" sz="950" dirty="0"/>
          </a:p>
        </p:txBody>
      </p:sp>
      <p:sp>
        <p:nvSpPr>
          <p:cNvPr id="63" name="txt-D6-3c1"/>
          <p:cNvSpPr txBox="1"/>
          <p:nvPr/>
        </p:nvSpPr>
        <p:spPr>
          <a:xfrm>
            <a:off x="1666875" y="8531987"/>
            <a:ext cx="1285875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읽은 뒤 짚기 </a:t>
            </a:r>
            <a:pPr algn="ctr" indent="0" marL="0">
              <a:lnSpc>
                <a:spcPts val="1235"/>
              </a:lnSpc>
              <a:buNone/>
            </a:pPr>
            <a:r>
              <a:rPr lang="ko-KR" altLang="en-US" sz="9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4가지</a:t>
            </a:r>
            <a:endParaRPr lang="en-US" sz="950" dirty="0"/>
          </a:p>
        </p:txBody>
      </p:sp>
      <p:sp>
        <p:nvSpPr>
          <p:cNvPr id="64" name="txt-D6-3c2"/>
          <p:cNvSpPr txBox="1"/>
          <p:nvPr/>
        </p:nvSpPr>
        <p:spPr>
          <a:xfrm>
            <a:off x="3016250" y="8531987"/>
            <a:ext cx="1285875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깊이 생각하기 </a:t>
            </a:r>
            <a:pPr algn="ctr" indent="0" marL="0">
              <a:lnSpc>
                <a:spcPts val="1235"/>
              </a:lnSpc>
              <a:buNone/>
            </a:pPr>
            <a:r>
              <a:rPr lang="ko-KR" altLang="en-US" sz="9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2가지</a:t>
            </a:r>
            <a:endParaRPr lang="en-US" sz="950" dirty="0"/>
          </a:p>
        </p:txBody>
      </p:sp>
      <p:sp>
        <p:nvSpPr>
          <p:cNvPr id="65" name="txt-D6-3c3"/>
          <p:cNvSpPr txBox="1"/>
          <p:nvPr/>
        </p:nvSpPr>
        <p:spPr>
          <a:xfrm>
            <a:off x="4365625" y="8531987"/>
            <a:ext cx="1285875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표현과 나눔 </a:t>
            </a:r>
            <a:pPr algn="ctr" indent="0" marL="0">
              <a:lnSpc>
                <a:spcPts val="1235"/>
              </a:lnSpc>
              <a:buNone/>
            </a:pPr>
            <a:r>
              <a:rPr lang="ko-KR" altLang="en-US" sz="9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2가지</a:t>
            </a:r>
            <a:endParaRPr lang="en-US" sz="950" dirty="0"/>
          </a:p>
        </p:txBody>
      </p:sp>
      <p:sp>
        <p:nvSpPr>
          <p:cNvPr id="66" name="txt-D6-3n1"/>
          <p:cNvSpPr txBox="1"/>
          <p:nvPr/>
        </p:nvSpPr>
        <p:spPr>
          <a:xfrm>
            <a:off x="5727700" y="8031353"/>
            <a:ext cx="1514856" cy="46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730"/>
              </a:lnSpc>
              <a:buNone/>
            </a:pPr>
            <a:r>
              <a:rPr lang="ko-KR" altLang="en-US" sz="2100" dirty="0" b="0">
                <a:solidFill>
                  <a:srgbClr val="15543C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1,816건</a:t>
            </a:r>
            <a:endParaRPr lang="en-US" sz="2100" dirty="0"/>
          </a:p>
        </p:txBody>
      </p:sp>
      <p:sp>
        <p:nvSpPr>
          <p:cNvPr id="67" name="txt-D6-3n2"/>
          <p:cNvSpPr txBox="1"/>
          <p:nvPr/>
        </p:nvSpPr>
        <p:spPr>
          <a:xfrm>
            <a:off x="5727700" y="8381238"/>
            <a:ext cx="15148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한 달 독후활동</a:t>
            </a:r>
            <a:endParaRPr lang="en-US" sz="920" dirty="0"/>
          </a:p>
        </p:txBody>
      </p:sp>
      <p:sp>
        <p:nvSpPr>
          <p:cNvPr id="68" name="txt-D6-3n3"/>
          <p:cNvSpPr txBox="1"/>
          <p:nvPr/>
        </p:nvSpPr>
        <p:spPr>
          <a:xfrm>
            <a:off x="5727700" y="8546084"/>
            <a:ext cx="1514856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070"/>
              </a:lnSpc>
              <a:buNone/>
            </a:pPr>
            <a:r>
              <a:rPr lang="ko-KR" altLang="en-US" sz="82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선도교사단 72학급</a:t>
            </a:r>
            <a:endParaRPr lang="en-US" sz="820" dirty="0"/>
          </a:p>
        </p:txBody>
      </p:sp>
      <p:sp>
        <p:nvSpPr>
          <p:cNvPr id="69" name="txt-D6-s4"/>
          <p:cNvSpPr txBox="1"/>
          <p:nvPr/>
        </p:nvSpPr>
        <p:spPr>
          <a:xfrm>
            <a:off x="863346" y="9002522"/>
            <a:ext cx="1836293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독서 포트폴리오</a:t>
            </a:r>
            <a:endParaRPr lang="en-US" sz="1950" dirty="0"/>
          </a:p>
        </p:txBody>
      </p:sp>
      <p:sp>
        <p:nvSpPr>
          <p:cNvPr id="70" name="txt-D6-4b"/>
          <p:cNvSpPr txBox="1"/>
          <p:nvPr/>
        </p:nvSpPr>
        <p:spPr>
          <a:xfrm>
            <a:off x="381000" y="9411081"/>
            <a:ext cx="6650101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밑줄, 메모, 마음에 남은 장면 같은 활동, 인물과 나눈 대화가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숙제 없이 다섯 칸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으로 모입니다. 학생은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b="0" dirty="0">
                <a:solidFill>
                  <a:srgbClr val="101D42"/>
                </a:solidFill>
                <a:highlight>
                  <a:srgbClr val="FFF0AD"/>
                </a:highlight>
                <a:latin typeface="BKSansBold" pitchFamily="34" charset="0"/>
                <a:ea typeface="BKSansBold" pitchFamily="34" charset="-127"/>
                <a:cs typeface="BKSansBold" pitchFamily="34" charset="-120"/>
              </a:rPr>
              <a:t>1~6학년 6년 기록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으로 자기 성장 과정을 돌아봅니다.</a:t>
            </a:r>
            <a:endParaRPr lang="en-US" sz="1250" dirty="0"/>
          </a:p>
        </p:txBody>
      </p:sp>
      <p:sp>
        <p:nvSpPr>
          <p:cNvPr id="71" name="txt-D6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44700" y="495300"/>
            <a:ext cx="51343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88000" y="1066800"/>
            <a:ext cx="1587500" cy="1117600"/>
          </a:xfrm>
          <a:prstGeom prst="roundRect">
            <a:avLst>
              <a:gd name="adj" fmla="val 9091"/>
            </a:avLst>
          </a:prstGeom>
          <a:solidFill>
            <a:srgbClr val="F0F5EF"/>
          </a:solidFill>
          <a:ln/>
        </p:spPr>
      </p:sp>
      <p:sp>
        <p:nvSpPr>
          <p:cNvPr id="4" name="Shape 2"/>
          <p:cNvSpPr/>
          <p:nvPr/>
        </p:nvSpPr>
        <p:spPr>
          <a:xfrm>
            <a:off x="418065" y="2596877"/>
            <a:ext cx="256070" cy="256070"/>
          </a:xfrm>
          <a:custGeom>
            <a:avLst/>
            <a:gdLst/>
            <a:ahLst/>
            <a:cxnLst/>
            <a:rect l="l" t="t" r="r" b="b"/>
            <a:pathLst>
              <a:path w="256070" h="256070">
                <a:moveTo>
                  <a:pt x="0" y="256112"/>
                </a:moveTo>
                <a:lnTo>
                  <a:pt x="25607" y="166480"/>
                </a:lnTo>
                <a:lnTo>
                  <a:pt x="192088" y="0"/>
                </a:lnTo>
                <a:lnTo>
                  <a:pt x="256112" y="64025"/>
                </a:lnTo>
                <a:lnTo>
                  <a:pt x="89645" y="230505"/>
                </a:lnTo>
                <a:lnTo>
                  <a:pt x="0" y="256112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630" y="2763399"/>
            <a:ext cx="64122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735" y="2635294"/>
            <a:ext cx="63983" cy="64122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75857" y="2755900"/>
            <a:ext cx="400319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7500" y="3225800"/>
            <a:ext cx="6925056" cy="266700"/>
          </a:xfrm>
          <a:prstGeom prst="roundRect">
            <a:avLst>
              <a:gd name="adj" fmla="val 28571"/>
            </a:avLst>
          </a:prstGeom>
          <a:solidFill>
            <a:srgbClr val="EBE7D9"/>
          </a:solidFill>
          <a:ln/>
        </p:spPr>
      </p:sp>
      <p:sp>
        <p:nvSpPr>
          <p:cNvPr id="9" name="Shape 7"/>
          <p:cNvSpPr/>
          <p:nvPr/>
        </p:nvSpPr>
        <p:spPr>
          <a:xfrm>
            <a:off x="317500" y="3543300"/>
            <a:ext cx="6925056" cy="349250"/>
          </a:xfrm>
          <a:prstGeom prst="roundRect">
            <a:avLst>
              <a:gd name="adj" fmla="val 21818"/>
            </a:avLst>
          </a:prstGeom>
          <a:solidFill>
            <a:srgbClr val="F6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1231900" y="3606800"/>
            <a:ext cx="0" cy="22225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500" y="3956050"/>
            <a:ext cx="6925056" cy="1511300"/>
          </a:xfrm>
          <a:prstGeom prst="roundRect">
            <a:avLst>
              <a:gd name="adj" fmla="val 5042"/>
            </a:avLst>
          </a:prstGeom>
          <a:solidFill>
            <a:srgbClr val="F0F5E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1900" y="4019550"/>
            <a:ext cx="0" cy="1384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0800" y="432435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0800" y="471170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0800" y="509905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5530850"/>
            <a:ext cx="6925056" cy="736600"/>
          </a:xfrm>
          <a:prstGeom prst="roundRect">
            <a:avLst>
              <a:gd name="adj" fmla="val 10345"/>
            </a:avLst>
          </a:prstGeom>
          <a:solidFill>
            <a:srgbClr val="F6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1900" y="5594350"/>
            <a:ext cx="0" cy="6096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0800" y="589915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500" y="6330950"/>
            <a:ext cx="6925056" cy="736600"/>
          </a:xfrm>
          <a:prstGeom prst="roundRect">
            <a:avLst>
              <a:gd name="adj" fmla="val 10345"/>
            </a:avLst>
          </a:prstGeom>
          <a:solidFill>
            <a:srgbClr val="F0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31900" y="6394450"/>
            <a:ext cx="0" cy="6096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0800" y="6699250"/>
            <a:ext cx="5816600" cy="0"/>
          </a:xfrm>
          <a:prstGeom prst="line">
            <a:avLst/>
          </a:prstGeom>
          <a:noFill/>
          <a:ln w="5080">
            <a:solidFill>
              <a:srgbClr val="E3DD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500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0451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4" name="Shape 22"/>
          <p:cNvSpPr/>
          <p:nvPr/>
        </p:nvSpPr>
        <p:spPr>
          <a:xfrm>
            <a:off x="3143402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6354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69305" y="7473950"/>
            <a:ext cx="1273251" cy="304800"/>
          </a:xfrm>
          <a:prstGeom prst="roundRect">
            <a:avLst>
              <a:gd name="adj" fmla="val 25000"/>
            </a:avLst>
          </a:prstGeom>
          <a:solidFill>
            <a:srgbClr val="F0F5EF"/>
          </a:solidFill>
          <a:ln/>
        </p:spPr>
      </p:sp>
      <p:sp>
        <p:nvSpPr>
          <p:cNvPr id="27" name="Shape 25"/>
          <p:cNvSpPr/>
          <p:nvPr/>
        </p:nvSpPr>
        <p:spPr>
          <a:xfrm>
            <a:off x="403225" y="79355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8" name="Shape 26"/>
          <p:cNvSpPr/>
          <p:nvPr/>
        </p:nvSpPr>
        <p:spPr>
          <a:xfrm>
            <a:off x="403225" y="81260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9" name="Shape 27"/>
          <p:cNvSpPr/>
          <p:nvPr/>
        </p:nvSpPr>
        <p:spPr>
          <a:xfrm>
            <a:off x="450831" y="8452942"/>
            <a:ext cx="190538" cy="190538"/>
          </a:xfrm>
          <a:custGeom>
            <a:avLst/>
            <a:gdLst/>
            <a:ahLst/>
            <a:cxnLst/>
            <a:rect l="l" t="t" r="r" b="b"/>
            <a:pathLst>
              <a:path w="190538" h="190538">
                <a:moveTo>
                  <a:pt x="190504" y="95246"/>
                </a:moveTo>
                <a:cubicBezTo>
                  <a:pt x="190504" y="42645"/>
                  <a:pt x="147858" y="0"/>
                  <a:pt x="95246" y="0"/>
                </a:cubicBezTo>
                <a:cubicBezTo>
                  <a:pt x="42645" y="0"/>
                  <a:pt x="0" y="42645"/>
                  <a:pt x="0" y="95246"/>
                </a:cubicBezTo>
                <a:cubicBezTo>
                  <a:pt x="0" y="147858"/>
                  <a:pt x="42645" y="190504"/>
                  <a:pt x="95246" y="190504"/>
                </a:cubicBezTo>
                <a:cubicBezTo>
                  <a:pt x="147858" y="190504"/>
                  <a:pt x="190504" y="147858"/>
                  <a:pt x="190504" y="95246"/>
                </a:cubicBezTo>
              </a:path>
            </a:pathLst>
          </a:custGeom>
          <a:ln w="20193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80" y="8631593"/>
            <a:ext cx="0" cy="47549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3706" y="8631593"/>
            <a:ext cx="0" cy="47549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80" y="8679142"/>
            <a:ext cx="95326" cy="0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0381" y="8714918"/>
            <a:ext cx="71438" cy="0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6043" y="8548154"/>
            <a:ext cx="0" cy="119101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0381" y="8512493"/>
            <a:ext cx="35662" cy="35662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6043" y="8512493"/>
            <a:ext cx="35776" cy="35662"/>
          </a:xfrm>
          <a:prstGeom prst="line">
            <a:avLst/>
          </a:prstGeom>
          <a:noFill/>
          <a:ln w="20193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39591" y="8614918"/>
            <a:ext cx="333946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7500" y="8769350"/>
            <a:ext cx="6925056" cy="1155700"/>
          </a:xfrm>
          <a:prstGeom prst="roundRect">
            <a:avLst>
              <a:gd name="adj" fmla="val 8791"/>
            </a:avLst>
          </a:prstGeom>
          <a:solidFill>
            <a:srgbClr val="F6F5F0"/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1" name="txt-D7-hd"/>
          <p:cNvSpPr txBox="1"/>
          <p:nvPr/>
        </p:nvSpPr>
        <p:spPr>
          <a:xfrm>
            <a:off x="381000" y="295529"/>
            <a:ext cx="1607439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33"/>
              </a:lnSpc>
              <a:buNone/>
            </a:pPr>
            <a:r>
              <a:rPr lang="ko-KR" altLang="en-US" sz="118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읽고 표현하는 독후활동</a:t>
            </a:r>
            <a:endParaRPr lang="en-US" sz="1180" dirty="0"/>
          </a:p>
        </p:txBody>
      </p:sp>
      <p:sp>
        <p:nvSpPr>
          <p:cNvPr id="42" name="txt-D7-h1"/>
          <p:cNvSpPr txBox="1"/>
          <p:nvPr/>
        </p:nvSpPr>
        <p:spPr>
          <a:xfrm>
            <a:off x="381000" y="727710"/>
            <a:ext cx="449148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3720"/>
              </a:lnSpc>
              <a:buNone/>
            </a:pPr>
            <a:r>
              <a:rPr lang="ko-KR" altLang="en-US" sz="2647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책을 읽고 든 생각을 표현하고</a:t>
            </a:r>
            <a:endParaRPr lang="en-US" sz="2647" dirty="0"/>
          </a:p>
        </p:txBody>
      </p:sp>
      <p:sp>
        <p:nvSpPr>
          <p:cNvPr id="43" name="txt-D7-h2"/>
          <p:cNvSpPr txBox="1"/>
          <p:nvPr/>
        </p:nvSpPr>
        <p:spPr>
          <a:xfrm>
            <a:off x="381000" y="1388110"/>
            <a:ext cx="4072763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기록으로 남깁니다.</a:t>
            </a:r>
            <a:endParaRPr lang="en-US" sz="3700" dirty="0"/>
          </a:p>
        </p:txBody>
      </p:sp>
      <p:sp>
        <p:nvSpPr>
          <p:cNvPr id="44" name="txt-D7-n1"/>
          <p:cNvSpPr txBox="1"/>
          <p:nvPr/>
        </p:nvSpPr>
        <p:spPr>
          <a:xfrm>
            <a:off x="5588000" y="1262888"/>
            <a:ext cx="15875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ko-KR" altLang="en-US" sz="2400" dirty="0" b="0">
                <a:solidFill>
                  <a:srgbClr val="15543C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1,816건</a:t>
            </a:r>
            <a:endParaRPr lang="en-US" sz="2400" dirty="0"/>
          </a:p>
        </p:txBody>
      </p:sp>
      <p:sp>
        <p:nvSpPr>
          <p:cNvPr id="45" name="txt-D7-n2"/>
          <p:cNvSpPr txBox="1"/>
          <p:nvPr/>
        </p:nvSpPr>
        <p:spPr>
          <a:xfrm>
            <a:off x="5588000" y="1685036"/>
            <a:ext cx="1587500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한 달 독후활동 제출</a:t>
            </a:r>
            <a:endParaRPr lang="en-US" sz="950" dirty="0"/>
          </a:p>
        </p:txBody>
      </p:sp>
      <p:sp>
        <p:nvSpPr>
          <p:cNvPr id="46" name="txt-D7-n3"/>
          <p:cNvSpPr txBox="1"/>
          <p:nvPr/>
        </p:nvSpPr>
        <p:spPr>
          <a:xfrm>
            <a:off x="5588000" y="1875282"/>
            <a:ext cx="15875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선도교사단 72학급</a:t>
            </a:r>
            <a:endParaRPr lang="en-US" sz="850" dirty="0"/>
          </a:p>
        </p:txBody>
      </p:sp>
      <p:sp>
        <p:nvSpPr>
          <p:cNvPr id="47" name="txt-D7-s1"/>
          <p:cNvSpPr txBox="1"/>
          <p:nvPr/>
        </p:nvSpPr>
        <p:spPr>
          <a:xfrm>
            <a:off x="863346" y="2540254"/>
            <a:ext cx="2301875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독후활동 카드 9가지</a:t>
            </a:r>
            <a:endParaRPr lang="en-US" sz="1950" dirty="0"/>
          </a:p>
        </p:txBody>
      </p:sp>
      <p:sp>
        <p:nvSpPr>
          <p:cNvPr id="48" name="txt-D7-1b"/>
          <p:cNvSpPr txBox="1"/>
          <p:nvPr/>
        </p:nvSpPr>
        <p:spPr>
          <a:xfrm>
            <a:off x="381000" y="2961640"/>
            <a:ext cx="561505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교사가 활동을 고르면 우리 반 책에 맞춘 카드가 학생 화면에 뜹니다. 읽기 단계에 맞춰 고릅니다.</a:t>
            </a:r>
            <a:endParaRPr lang="en-US" sz="1100" dirty="0"/>
          </a:p>
        </p:txBody>
      </p:sp>
      <p:sp>
        <p:nvSpPr>
          <p:cNvPr id="49" name="txt-D7-th33"/>
          <p:cNvSpPr txBox="1"/>
          <p:nvPr/>
        </p:nvSpPr>
        <p:spPr>
          <a:xfrm>
            <a:off x="419100" y="3280537"/>
            <a:ext cx="536067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읽기 단계</a:t>
            </a:r>
            <a:endParaRPr lang="en-US" sz="950" dirty="0"/>
          </a:p>
        </p:txBody>
      </p:sp>
      <p:sp>
        <p:nvSpPr>
          <p:cNvPr id="50" name="txt-D7-th104"/>
          <p:cNvSpPr txBox="1"/>
          <p:nvPr/>
        </p:nvSpPr>
        <p:spPr>
          <a:xfrm>
            <a:off x="1320800" y="3280537"/>
            <a:ext cx="279400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활동</a:t>
            </a:r>
            <a:endParaRPr lang="en-US" sz="950" dirty="0"/>
          </a:p>
        </p:txBody>
      </p:sp>
      <p:sp>
        <p:nvSpPr>
          <p:cNvPr id="51" name="txt-D7-th214"/>
          <p:cNvSpPr txBox="1"/>
          <p:nvPr/>
        </p:nvSpPr>
        <p:spPr>
          <a:xfrm>
            <a:off x="2717800" y="3280537"/>
            <a:ext cx="1305941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학생이 하는 일과 내는 것</a:t>
            </a:r>
            <a:endParaRPr lang="en-US" sz="950" dirty="0"/>
          </a:p>
        </p:txBody>
      </p:sp>
      <p:sp>
        <p:nvSpPr>
          <p:cNvPr id="52" name="txt-D7-th438"/>
          <p:cNvSpPr txBox="1"/>
          <p:nvPr/>
        </p:nvSpPr>
        <p:spPr>
          <a:xfrm>
            <a:off x="5562600" y="3280537"/>
            <a:ext cx="907034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선생님이 보는 점</a:t>
            </a:r>
            <a:endParaRPr lang="en-US" sz="950" dirty="0"/>
          </a:p>
        </p:txBody>
      </p:sp>
      <p:sp>
        <p:nvSpPr>
          <p:cNvPr id="53" name="txt-D7-g0"/>
          <p:cNvSpPr txBox="1"/>
          <p:nvPr/>
        </p:nvSpPr>
        <p:spPr>
          <a:xfrm>
            <a:off x="419100" y="3633089"/>
            <a:ext cx="421767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읽기 전</a:t>
            </a:r>
            <a:endParaRPr lang="en-US" sz="950" dirty="0"/>
          </a:p>
        </p:txBody>
      </p:sp>
      <p:sp>
        <p:nvSpPr>
          <p:cNvPr id="54" name="txt-D7-a0"/>
          <p:cNvSpPr txBox="1"/>
          <p:nvPr/>
        </p:nvSpPr>
        <p:spPr>
          <a:xfrm>
            <a:off x="1320800" y="3561334"/>
            <a:ext cx="739140" cy="370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읽기 전 짐작,</a:t>
            </a:r>
            <a:endParaRPr lang="en-US" sz="980" dirty="0"/>
          </a:p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읽은 후 확인</a:t>
            </a:r>
            <a:endParaRPr lang="en-US" sz="980" dirty="0"/>
          </a:p>
        </p:txBody>
      </p:sp>
      <p:sp>
        <p:nvSpPr>
          <p:cNvPr id="55" name="txt-D7-d0"/>
          <p:cNvSpPr txBox="1"/>
          <p:nvPr/>
        </p:nvSpPr>
        <p:spPr>
          <a:xfrm>
            <a:off x="2717800" y="3583178"/>
            <a:ext cx="251485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읽기 전에 짐작을 쓰고, 다 읽은 뒤 실제와 비교하기</a:t>
            </a:r>
            <a:endParaRPr lang="en-US" sz="920" dirty="0"/>
          </a:p>
        </p:txBody>
      </p:sp>
      <p:sp>
        <p:nvSpPr>
          <p:cNvPr id="56" name="txt-D7-o0"/>
          <p:cNvSpPr txBox="1"/>
          <p:nvPr/>
        </p:nvSpPr>
        <p:spPr>
          <a:xfrm>
            <a:off x="2717800" y="3737610"/>
            <a:ext cx="163690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읽기 전 짐작과 읽은 뒤 확인</a:t>
            </a:r>
            <a:endParaRPr lang="en-US" sz="780" dirty="0"/>
          </a:p>
        </p:txBody>
      </p:sp>
      <p:sp>
        <p:nvSpPr>
          <p:cNvPr id="57" name="txt-D7-e0"/>
          <p:cNvSpPr txBox="1"/>
          <p:nvPr/>
        </p:nvSpPr>
        <p:spPr>
          <a:xfrm>
            <a:off x="5562600" y="3641471"/>
            <a:ext cx="9636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808"/>
              </a:lnSpc>
              <a:buNone/>
            </a:pPr>
            <a:r>
              <a:rPr lang="ko-KR" altLang="en-US" sz="619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짐작과 책 내용을 비교했는가</a:t>
            </a:r>
            <a:endParaRPr lang="en-US" sz="619" dirty="0"/>
          </a:p>
        </p:txBody>
      </p:sp>
      <p:sp>
        <p:nvSpPr>
          <p:cNvPr id="58" name="txt-D7-g1"/>
          <p:cNvSpPr txBox="1"/>
          <p:nvPr/>
        </p:nvSpPr>
        <p:spPr>
          <a:xfrm>
            <a:off x="419100" y="4544314"/>
            <a:ext cx="421767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읽은 뒤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짚기</a:t>
            </a:r>
            <a:endParaRPr lang="en-US" sz="950" dirty="0"/>
          </a:p>
        </p:txBody>
      </p:sp>
      <p:sp>
        <p:nvSpPr>
          <p:cNvPr id="59" name="txt-D7-a1"/>
          <p:cNvSpPr txBox="1"/>
          <p:nvPr/>
        </p:nvSpPr>
        <p:spPr>
          <a:xfrm>
            <a:off x="1320800" y="4052824"/>
            <a:ext cx="934085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마음에 남은 장면</a:t>
            </a:r>
            <a:endParaRPr lang="en-US" sz="980" dirty="0"/>
          </a:p>
        </p:txBody>
      </p:sp>
      <p:sp>
        <p:nvSpPr>
          <p:cNvPr id="60" name="txt-D7-d1"/>
          <p:cNvSpPr txBox="1"/>
          <p:nvPr/>
        </p:nvSpPr>
        <p:spPr>
          <a:xfrm>
            <a:off x="2717800" y="3995928"/>
            <a:ext cx="2095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가장 마음에 남은 장면을 고르고 까닭 쓰기</a:t>
            </a:r>
            <a:endParaRPr lang="en-US" sz="920" dirty="0"/>
          </a:p>
        </p:txBody>
      </p:sp>
      <p:sp>
        <p:nvSpPr>
          <p:cNvPr id="61" name="txt-D7-o1"/>
          <p:cNvSpPr txBox="1"/>
          <p:nvPr/>
        </p:nvSpPr>
        <p:spPr>
          <a:xfrm>
            <a:off x="2717800" y="4150360"/>
            <a:ext cx="1706626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장면 하나와 까닭 한 줄(80자)</a:t>
            </a:r>
            <a:endParaRPr lang="en-US" sz="780" dirty="0"/>
          </a:p>
        </p:txBody>
      </p:sp>
      <p:sp>
        <p:nvSpPr>
          <p:cNvPr id="62" name="txt-D7-e1"/>
          <p:cNvSpPr txBox="1"/>
          <p:nvPr/>
        </p:nvSpPr>
        <p:spPr>
          <a:xfrm>
            <a:off x="5562600" y="4054221"/>
            <a:ext cx="148767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책에서 근거를 찾았는가</a:t>
            </a:r>
            <a:endParaRPr lang="en-US" sz="920" dirty="0"/>
          </a:p>
        </p:txBody>
      </p:sp>
      <p:sp>
        <p:nvSpPr>
          <p:cNvPr id="63" name="txt-D7-a2"/>
          <p:cNvSpPr txBox="1"/>
          <p:nvPr/>
        </p:nvSpPr>
        <p:spPr>
          <a:xfrm>
            <a:off x="1320800" y="4440174"/>
            <a:ext cx="787273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속마음 말풍선</a:t>
            </a:r>
            <a:endParaRPr lang="en-US" sz="980" dirty="0"/>
          </a:p>
        </p:txBody>
      </p:sp>
      <p:sp>
        <p:nvSpPr>
          <p:cNvPr id="64" name="txt-D7-d2"/>
          <p:cNvSpPr txBox="1"/>
          <p:nvPr/>
        </p:nvSpPr>
        <p:spPr>
          <a:xfrm>
            <a:off x="2717800" y="4383278"/>
            <a:ext cx="234403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장면과 인물을 골라 인물이 속으로 했을 말 쓰기</a:t>
            </a:r>
            <a:endParaRPr lang="en-US" sz="920" dirty="0"/>
          </a:p>
        </p:txBody>
      </p:sp>
      <p:sp>
        <p:nvSpPr>
          <p:cNvPr id="65" name="txt-D7-o2"/>
          <p:cNvSpPr txBox="1"/>
          <p:nvPr/>
        </p:nvSpPr>
        <p:spPr>
          <a:xfrm>
            <a:off x="2717800" y="4537710"/>
            <a:ext cx="151549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장면, 인물, 속마음(80자)</a:t>
            </a:r>
            <a:endParaRPr lang="en-US" sz="780" dirty="0"/>
          </a:p>
        </p:txBody>
      </p:sp>
      <p:sp>
        <p:nvSpPr>
          <p:cNvPr id="66" name="txt-D7-e2"/>
          <p:cNvSpPr txBox="1"/>
          <p:nvPr/>
        </p:nvSpPr>
        <p:spPr>
          <a:xfrm>
            <a:off x="5562600" y="4441571"/>
            <a:ext cx="110147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장면의 상황과 맞는가</a:t>
            </a:r>
            <a:endParaRPr lang="en-US" sz="920" dirty="0"/>
          </a:p>
        </p:txBody>
      </p:sp>
      <p:sp>
        <p:nvSpPr>
          <p:cNvPr id="67" name="txt-D7-a3"/>
          <p:cNvSpPr txBox="1"/>
          <p:nvPr/>
        </p:nvSpPr>
        <p:spPr>
          <a:xfrm>
            <a:off x="1320800" y="4827524"/>
            <a:ext cx="1080897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기억에 남는 낱말 셋</a:t>
            </a:r>
            <a:endParaRPr lang="en-US" sz="980" dirty="0"/>
          </a:p>
        </p:txBody>
      </p:sp>
      <p:sp>
        <p:nvSpPr>
          <p:cNvPr id="68" name="txt-D7-d3"/>
          <p:cNvSpPr txBox="1"/>
          <p:nvPr/>
        </p:nvSpPr>
        <p:spPr>
          <a:xfrm>
            <a:off x="2717800" y="4770628"/>
            <a:ext cx="19010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책을 읽고 기억에 남는 낱말 세 개 적기</a:t>
            </a:r>
            <a:endParaRPr lang="en-US" sz="920" dirty="0"/>
          </a:p>
        </p:txBody>
      </p:sp>
      <p:sp>
        <p:nvSpPr>
          <p:cNvPr id="69" name="txt-D7-o3"/>
          <p:cNvSpPr txBox="1"/>
          <p:nvPr/>
        </p:nvSpPr>
        <p:spPr>
          <a:xfrm>
            <a:off x="2717800" y="4925060"/>
            <a:ext cx="85509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낱말 세 개</a:t>
            </a:r>
            <a:endParaRPr lang="en-US" sz="780" dirty="0"/>
          </a:p>
        </p:txBody>
      </p:sp>
      <p:sp>
        <p:nvSpPr>
          <p:cNvPr id="70" name="txt-D7-e3"/>
          <p:cNvSpPr txBox="1"/>
          <p:nvPr/>
        </p:nvSpPr>
        <p:spPr>
          <a:xfrm>
            <a:off x="5562600" y="4752721"/>
            <a:ext cx="1460627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사건이나 인물을 설명하는 낱말인</a:t>
            </a: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가</a:t>
            </a:r>
            <a:endParaRPr lang="en-US" sz="920" dirty="0"/>
          </a:p>
        </p:txBody>
      </p:sp>
      <p:sp>
        <p:nvSpPr>
          <p:cNvPr id="71" name="txt-D7-a4"/>
          <p:cNvSpPr txBox="1"/>
          <p:nvPr/>
        </p:nvSpPr>
        <p:spPr>
          <a:xfrm>
            <a:off x="1320800" y="5214874"/>
            <a:ext cx="66929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별점과 까닭</a:t>
            </a:r>
            <a:endParaRPr lang="en-US" sz="980" dirty="0"/>
          </a:p>
        </p:txBody>
      </p:sp>
      <p:sp>
        <p:nvSpPr>
          <p:cNvPr id="72" name="txt-D7-d4"/>
          <p:cNvSpPr txBox="1"/>
          <p:nvPr/>
        </p:nvSpPr>
        <p:spPr>
          <a:xfrm>
            <a:off x="2717800" y="5157978"/>
            <a:ext cx="18529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별 1~5개를 주고 그만큼 준 까닭 쓰기</a:t>
            </a:r>
            <a:endParaRPr lang="en-US" sz="920" dirty="0"/>
          </a:p>
        </p:txBody>
      </p:sp>
      <p:sp>
        <p:nvSpPr>
          <p:cNvPr id="73" name="txt-D7-o4"/>
          <p:cNvSpPr txBox="1"/>
          <p:nvPr/>
        </p:nvSpPr>
        <p:spPr>
          <a:xfrm>
            <a:off x="2717800" y="5312410"/>
            <a:ext cx="1435862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별 1~5개와 까닭(80자)</a:t>
            </a:r>
            <a:endParaRPr lang="en-US" sz="780" dirty="0"/>
          </a:p>
        </p:txBody>
      </p:sp>
      <p:sp>
        <p:nvSpPr>
          <p:cNvPr id="74" name="txt-D7-e4"/>
          <p:cNvSpPr txBox="1"/>
          <p:nvPr/>
        </p:nvSpPr>
        <p:spPr>
          <a:xfrm>
            <a:off x="5562600" y="5216271"/>
            <a:ext cx="14335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점수보다 까닭이 구체적인가</a:t>
            </a:r>
            <a:endParaRPr lang="en-US" sz="920" dirty="0"/>
          </a:p>
        </p:txBody>
      </p:sp>
      <p:sp>
        <p:nvSpPr>
          <p:cNvPr id="75" name="txt-D7-g2"/>
          <p:cNvSpPr txBox="1"/>
          <p:nvPr/>
        </p:nvSpPr>
        <p:spPr>
          <a:xfrm>
            <a:off x="419100" y="5731764"/>
            <a:ext cx="508127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깊이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생각하기</a:t>
            </a:r>
            <a:endParaRPr lang="en-US" sz="950" dirty="0"/>
          </a:p>
        </p:txBody>
      </p:sp>
      <p:sp>
        <p:nvSpPr>
          <p:cNvPr id="76" name="txt-D7-a5"/>
          <p:cNvSpPr txBox="1"/>
          <p:nvPr/>
        </p:nvSpPr>
        <p:spPr>
          <a:xfrm>
            <a:off x="1320800" y="5627624"/>
            <a:ext cx="66929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인물과 대화</a:t>
            </a:r>
            <a:endParaRPr lang="en-US" sz="980" dirty="0"/>
          </a:p>
        </p:txBody>
      </p:sp>
      <p:sp>
        <p:nvSpPr>
          <p:cNvPr id="77" name="txt-D7-d5"/>
          <p:cNvSpPr txBox="1"/>
          <p:nvPr/>
        </p:nvSpPr>
        <p:spPr>
          <a:xfrm>
            <a:off x="2717800" y="5570728"/>
            <a:ext cx="22062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인물이 된 부기의 질문에 까닭을 들어 답하기</a:t>
            </a:r>
            <a:endParaRPr lang="en-US" sz="920" dirty="0"/>
          </a:p>
        </p:txBody>
      </p:sp>
      <p:sp>
        <p:nvSpPr>
          <p:cNvPr id="78" name="txt-D7-o5"/>
          <p:cNvSpPr txBox="1"/>
          <p:nvPr/>
        </p:nvSpPr>
        <p:spPr>
          <a:xfrm>
            <a:off x="2717800" y="5725160"/>
            <a:ext cx="1612138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인물이 된 부기와 나눈 대화</a:t>
            </a:r>
            <a:endParaRPr lang="en-US" sz="780" dirty="0"/>
          </a:p>
        </p:txBody>
      </p:sp>
      <p:sp>
        <p:nvSpPr>
          <p:cNvPr id="79" name="txt-D7-e5"/>
          <p:cNvSpPr txBox="1"/>
          <p:nvPr/>
        </p:nvSpPr>
        <p:spPr>
          <a:xfrm>
            <a:off x="5562600" y="5552821"/>
            <a:ext cx="1487678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인물의 처지를 생각하며 답했</a:t>
            </a: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는가</a:t>
            </a:r>
            <a:endParaRPr lang="en-US" sz="920" dirty="0"/>
          </a:p>
        </p:txBody>
      </p:sp>
      <p:sp>
        <p:nvSpPr>
          <p:cNvPr id="80" name="txt-D7-a6"/>
          <p:cNvSpPr txBox="1"/>
          <p:nvPr/>
        </p:nvSpPr>
        <p:spPr>
          <a:xfrm>
            <a:off x="1320800" y="6014974"/>
            <a:ext cx="787273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인물에게 편지</a:t>
            </a:r>
            <a:endParaRPr lang="en-US" sz="980" dirty="0"/>
          </a:p>
        </p:txBody>
      </p:sp>
      <p:sp>
        <p:nvSpPr>
          <p:cNvPr id="81" name="txt-D7-d6"/>
          <p:cNvSpPr txBox="1"/>
          <p:nvPr/>
        </p:nvSpPr>
        <p:spPr>
          <a:xfrm>
            <a:off x="2717800" y="5958078"/>
            <a:ext cx="226034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인물 한 명을 골라 하고 싶은 말을 편지로 쓰기</a:t>
            </a:r>
            <a:endParaRPr lang="en-US" sz="920" dirty="0"/>
          </a:p>
        </p:txBody>
      </p:sp>
      <p:sp>
        <p:nvSpPr>
          <p:cNvPr id="82" name="txt-D7-o6"/>
          <p:cNvSpPr txBox="1"/>
          <p:nvPr/>
        </p:nvSpPr>
        <p:spPr>
          <a:xfrm>
            <a:off x="2717800" y="6112510"/>
            <a:ext cx="1515999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받는 인물과 편지(300자)</a:t>
            </a:r>
            <a:endParaRPr lang="en-US" sz="780" dirty="0"/>
          </a:p>
        </p:txBody>
      </p:sp>
      <p:sp>
        <p:nvSpPr>
          <p:cNvPr id="83" name="txt-D7-e6"/>
          <p:cNvSpPr txBox="1"/>
          <p:nvPr/>
        </p:nvSpPr>
        <p:spPr>
          <a:xfrm>
            <a:off x="5562600" y="6016371"/>
            <a:ext cx="12392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29"/>
              </a:lnSpc>
              <a:buNone/>
            </a:pPr>
            <a:r>
              <a:rPr lang="ko-KR" altLang="en-US" sz="866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자기 경험을 예로 들었는가</a:t>
            </a:r>
            <a:endParaRPr lang="en-US" sz="866" dirty="0"/>
          </a:p>
        </p:txBody>
      </p:sp>
      <p:sp>
        <p:nvSpPr>
          <p:cNvPr id="84" name="txt-D7-g3"/>
          <p:cNvSpPr txBox="1"/>
          <p:nvPr/>
        </p:nvSpPr>
        <p:spPr>
          <a:xfrm>
            <a:off x="419100" y="6531864"/>
            <a:ext cx="393827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표현과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나눔</a:t>
            </a:r>
            <a:endParaRPr lang="en-US" sz="950" dirty="0"/>
          </a:p>
        </p:txBody>
      </p:sp>
      <p:sp>
        <p:nvSpPr>
          <p:cNvPr id="85" name="txt-D7-a7"/>
          <p:cNvSpPr txBox="1"/>
          <p:nvPr/>
        </p:nvSpPr>
        <p:spPr>
          <a:xfrm>
            <a:off x="1320800" y="6427724"/>
            <a:ext cx="1023112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그림으로 표현하기</a:t>
            </a:r>
            <a:endParaRPr lang="en-US" sz="980" dirty="0"/>
          </a:p>
        </p:txBody>
      </p:sp>
      <p:sp>
        <p:nvSpPr>
          <p:cNvPr id="86" name="txt-D7-d7"/>
          <p:cNvSpPr txBox="1"/>
          <p:nvPr/>
        </p:nvSpPr>
        <p:spPr>
          <a:xfrm>
            <a:off x="2717800" y="6370828"/>
            <a:ext cx="2565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떠오르는 장면을 그리고 무엇을 그렸는지 한 줄 쓰기</a:t>
            </a:r>
            <a:endParaRPr lang="en-US" sz="920" dirty="0"/>
          </a:p>
        </p:txBody>
      </p:sp>
      <p:sp>
        <p:nvSpPr>
          <p:cNvPr id="87" name="txt-D7-o7"/>
          <p:cNvSpPr txBox="1"/>
          <p:nvPr/>
        </p:nvSpPr>
        <p:spPr>
          <a:xfrm>
            <a:off x="2717800" y="6525260"/>
            <a:ext cx="1183132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그림과 설명 한 줄</a:t>
            </a:r>
            <a:endParaRPr lang="en-US" sz="780" dirty="0"/>
          </a:p>
        </p:txBody>
      </p:sp>
      <p:sp>
        <p:nvSpPr>
          <p:cNvPr id="88" name="txt-D7-e7"/>
          <p:cNvSpPr txBox="1"/>
          <p:nvPr/>
        </p:nvSpPr>
        <p:spPr>
          <a:xfrm>
            <a:off x="5562600" y="6429121"/>
            <a:ext cx="110147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29"/>
              </a:lnSpc>
              <a:buNone/>
            </a:pPr>
            <a:r>
              <a:rPr lang="ko-KR" altLang="en-US" sz="866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그린 까닭을 설명했는가</a:t>
            </a:r>
            <a:endParaRPr lang="en-US" sz="866" dirty="0"/>
          </a:p>
        </p:txBody>
      </p:sp>
      <p:sp>
        <p:nvSpPr>
          <p:cNvPr id="89" name="txt-D7-a8"/>
          <p:cNvSpPr txBox="1"/>
          <p:nvPr/>
        </p:nvSpPr>
        <p:spPr>
          <a:xfrm>
            <a:off x="1320800" y="6815074"/>
            <a:ext cx="816102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8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함께 쓰는 교실</a:t>
            </a:r>
            <a:endParaRPr lang="en-US" sz="980" dirty="0"/>
          </a:p>
        </p:txBody>
      </p:sp>
      <p:sp>
        <p:nvSpPr>
          <p:cNvPr id="90" name="txt-D7-d8"/>
          <p:cNvSpPr txBox="1"/>
          <p:nvPr/>
        </p:nvSpPr>
        <p:spPr>
          <a:xfrm>
            <a:off x="2717800" y="6758178"/>
            <a:ext cx="24643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긴 글을 쓰며 선생님 쪽지 도움말 받기(3학년부터)</a:t>
            </a:r>
            <a:endParaRPr lang="en-US" sz="920" dirty="0"/>
          </a:p>
        </p:txBody>
      </p:sp>
      <p:sp>
        <p:nvSpPr>
          <p:cNvPr id="91" name="txt-D7-o8"/>
          <p:cNvSpPr txBox="1"/>
          <p:nvPr/>
        </p:nvSpPr>
        <p:spPr>
          <a:xfrm>
            <a:off x="2717800" y="6912610"/>
            <a:ext cx="136385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78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내는 것  </a:t>
            </a:r>
            <a:pPr algn="l" indent="0" marL="0">
              <a:lnSpc>
                <a:spcPts val="1100"/>
              </a:lnSpc>
              <a:buNone/>
            </a:pPr>
            <a:r>
              <a:rPr lang="ko-KR" altLang="en-US" sz="84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다 쓴 글, 우리 반 문집</a:t>
            </a:r>
            <a:endParaRPr lang="en-US" sz="780" dirty="0"/>
          </a:p>
        </p:txBody>
      </p:sp>
      <p:sp>
        <p:nvSpPr>
          <p:cNvPr id="92" name="txt-D7-e8"/>
          <p:cNvSpPr txBox="1"/>
          <p:nvPr/>
        </p:nvSpPr>
        <p:spPr>
          <a:xfrm>
            <a:off x="5562600" y="6816471"/>
            <a:ext cx="146062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도움말을 받아 글을 고쳤는가</a:t>
            </a:r>
            <a:endParaRPr lang="en-US" sz="920" dirty="0"/>
          </a:p>
        </p:txBody>
      </p:sp>
      <p:sp>
        <p:nvSpPr>
          <p:cNvPr id="93" name="txt-D7-f0"/>
          <p:cNvSpPr txBox="1"/>
          <p:nvPr/>
        </p:nvSpPr>
        <p:spPr>
          <a:xfrm>
            <a:off x="381000" y="7235190"/>
            <a:ext cx="3893439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운영 흐름</a:t>
            </a:r>
            <a:pPr algn="l" indent="0" marL="0">
              <a:lnSpc>
                <a:spcPts val="143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 활동을 고르고 제출한 결과를 포트폴리오에 저장합니다.</a:t>
            </a:r>
            <a:endParaRPr lang="en-US" sz="1100" dirty="0"/>
          </a:p>
        </p:txBody>
      </p:sp>
      <p:sp>
        <p:nvSpPr>
          <p:cNvPr id="94" name="txt-D7-fl0"/>
          <p:cNvSpPr txBox="1"/>
          <p:nvPr/>
        </p:nvSpPr>
        <p:spPr>
          <a:xfrm>
            <a:off x="317500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교사가 활동 고르기</a:t>
            </a:r>
            <a:endParaRPr lang="en-US" sz="890" dirty="0"/>
          </a:p>
        </p:txBody>
      </p:sp>
      <p:sp>
        <p:nvSpPr>
          <p:cNvPr id="95" name="txt-D7-fr0"/>
          <p:cNvSpPr txBox="1"/>
          <p:nvPr/>
        </p:nvSpPr>
        <p:spPr>
          <a:xfrm>
            <a:off x="1590802" y="7535291"/>
            <a:ext cx="1397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 b="0">
                <a:solidFill>
                  <a:srgbClr val="D59B3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→</a:t>
            </a:r>
            <a:endParaRPr lang="en-US" sz="1100" dirty="0"/>
          </a:p>
        </p:txBody>
      </p:sp>
      <p:sp>
        <p:nvSpPr>
          <p:cNvPr id="96" name="txt-D7-fl1"/>
          <p:cNvSpPr txBox="1"/>
          <p:nvPr/>
        </p:nvSpPr>
        <p:spPr>
          <a:xfrm>
            <a:off x="1730502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학생 화면에 카드</a:t>
            </a:r>
            <a:endParaRPr lang="en-US" sz="890" dirty="0"/>
          </a:p>
        </p:txBody>
      </p:sp>
      <p:sp>
        <p:nvSpPr>
          <p:cNvPr id="97" name="txt-D7-fr1"/>
          <p:cNvSpPr txBox="1"/>
          <p:nvPr/>
        </p:nvSpPr>
        <p:spPr>
          <a:xfrm>
            <a:off x="3003677" y="7535291"/>
            <a:ext cx="1397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 b="0">
                <a:solidFill>
                  <a:srgbClr val="D59B3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→</a:t>
            </a:r>
            <a:endParaRPr lang="en-US" sz="1100" dirty="0"/>
          </a:p>
        </p:txBody>
      </p:sp>
      <p:sp>
        <p:nvSpPr>
          <p:cNvPr id="98" name="txt-D7-fl2"/>
          <p:cNvSpPr txBox="1"/>
          <p:nvPr/>
        </p:nvSpPr>
        <p:spPr>
          <a:xfrm>
            <a:off x="3143377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학생 제출</a:t>
            </a:r>
            <a:endParaRPr lang="en-US" sz="890" dirty="0"/>
          </a:p>
        </p:txBody>
      </p:sp>
      <p:sp>
        <p:nvSpPr>
          <p:cNvPr id="99" name="txt-D7-fr2"/>
          <p:cNvSpPr txBox="1"/>
          <p:nvPr/>
        </p:nvSpPr>
        <p:spPr>
          <a:xfrm>
            <a:off x="4416679" y="7535291"/>
            <a:ext cx="1397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 b="0">
                <a:solidFill>
                  <a:srgbClr val="D59B3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→</a:t>
            </a:r>
            <a:endParaRPr lang="en-US" sz="1100" dirty="0"/>
          </a:p>
        </p:txBody>
      </p:sp>
      <p:sp>
        <p:nvSpPr>
          <p:cNvPr id="100" name="txt-D7-fl3"/>
          <p:cNvSpPr txBox="1"/>
          <p:nvPr/>
        </p:nvSpPr>
        <p:spPr>
          <a:xfrm>
            <a:off x="4556379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도장 4종과 한 줄</a:t>
            </a:r>
            <a:endParaRPr lang="en-US" sz="890" dirty="0"/>
          </a:p>
        </p:txBody>
      </p:sp>
      <p:sp>
        <p:nvSpPr>
          <p:cNvPr id="101" name="txt-D7-fr3"/>
          <p:cNvSpPr txBox="1"/>
          <p:nvPr/>
        </p:nvSpPr>
        <p:spPr>
          <a:xfrm>
            <a:off x="5829554" y="7535291"/>
            <a:ext cx="1397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 b="0">
                <a:solidFill>
                  <a:srgbClr val="D59B3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→</a:t>
            </a:r>
            <a:endParaRPr lang="en-US" sz="1100" dirty="0"/>
          </a:p>
        </p:txBody>
      </p:sp>
      <p:sp>
        <p:nvSpPr>
          <p:cNvPr id="102" name="txt-D7-fl4"/>
          <p:cNvSpPr txBox="1"/>
          <p:nvPr/>
        </p:nvSpPr>
        <p:spPr>
          <a:xfrm>
            <a:off x="5969254" y="7553706"/>
            <a:ext cx="127330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60"/>
              </a:lnSpc>
              <a:buNone/>
            </a:pPr>
            <a:r>
              <a:rPr lang="ko-KR" altLang="en-US" sz="89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독서 포트폴리오에 저장</a:t>
            </a:r>
            <a:endParaRPr lang="en-US" sz="890" dirty="0"/>
          </a:p>
        </p:txBody>
      </p:sp>
      <p:sp>
        <p:nvSpPr>
          <p:cNvPr id="103" name="txt-D7-nb0a"/>
          <p:cNvSpPr txBox="1"/>
          <p:nvPr/>
        </p:nvSpPr>
        <p:spPr>
          <a:xfrm>
            <a:off x="533400" y="7885176"/>
            <a:ext cx="787273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ko-KR" altLang="en-US" sz="98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확인과 피드백</a:t>
            </a:r>
            <a:endParaRPr lang="en-US" sz="980" dirty="0"/>
          </a:p>
        </p:txBody>
      </p:sp>
      <p:sp>
        <p:nvSpPr>
          <p:cNvPr id="104" name="txt-D7-nb0b"/>
          <p:cNvSpPr txBox="1"/>
          <p:nvPr/>
        </p:nvSpPr>
        <p:spPr>
          <a:xfrm>
            <a:off x="1447800" y="7887462"/>
            <a:ext cx="4488053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도장 4종(참 잘했어요, 멋진 생각이에요, 조금 더 자세히, 다시 읽어 봐요)과 한 줄 피드백</a:t>
            </a:r>
            <a:endParaRPr lang="en-US" sz="960" dirty="0"/>
          </a:p>
        </p:txBody>
      </p:sp>
      <p:sp>
        <p:nvSpPr>
          <p:cNvPr id="105" name="txt-D7-nb1a"/>
          <p:cNvSpPr txBox="1"/>
          <p:nvPr/>
        </p:nvSpPr>
        <p:spPr>
          <a:xfrm>
            <a:off x="533400" y="8075676"/>
            <a:ext cx="522605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ko-KR" altLang="en-US" sz="98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오프라인</a:t>
            </a:r>
            <a:endParaRPr lang="en-US" sz="980" dirty="0"/>
          </a:p>
        </p:txBody>
      </p:sp>
      <p:sp>
        <p:nvSpPr>
          <p:cNvPr id="106" name="txt-D7-nb1b"/>
          <p:cNvSpPr txBox="1"/>
          <p:nvPr/>
        </p:nvSpPr>
        <p:spPr>
          <a:xfrm>
            <a:off x="1447800" y="8077962"/>
            <a:ext cx="4949571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같은 활동지를 인쇄해 손글씨, 그림, 역할극으로 표현합니다. 1, 2학년은 손글씨 활동지로 씁니다.</a:t>
            </a:r>
            <a:endParaRPr lang="en-US" sz="960" dirty="0"/>
          </a:p>
        </p:txBody>
      </p:sp>
      <p:sp>
        <p:nvSpPr>
          <p:cNvPr id="107" name="txt-D7-s2"/>
          <p:cNvSpPr txBox="1"/>
          <p:nvPr/>
        </p:nvSpPr>
        <p:spPr>
          <a:xfrm>
            <a:off x="863346" y="8424164"/>
            <a:ext cx="2985516" cy="390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75"/>
              </a:lnSpc>
              <a:buNone/>
            </a:pPr>
            <a:r>
              <a:rPr lang="ko-KR" altLang="en-US" sz="17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수업 활동 20가지와 실물 자료</a:t>
            </a:r>
            <a:endParaRPr lang="en-US" sz="1750" dirty="0"/>
          </a:p>
        </p:txBody>
      </p:sp>
      <p:sp>
        <p:nvSpPr>
          <p:cNvPr id="108" name="txt-D7-l0a"/>
          <p:cNvSpPr txBox="1"/>
          <p:nvPr/>
        </p:nvSpPr>
        <p:spPr>
          <a:xfrm>
            <a:off x="469900" y="8844788"/>
            <a:ext cx="59169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도입 5가지</a:t>
            </a:r>
            <a:endParaRPr lang="en-US" sz="920" dirty="0"/>
          </a:p>
        </p:txBody>
      </p:sp>
      <p:sp>
        <p:nvSpPr>
          <p:cNvPr id="109" name="txt-D7-l0b"/>
          <p:cNvSpPr txBox="1"/>
          <p:nvPr/>
        </p:nvSpPr>
        <p:spPr>
          <a:xfrm>
            <a:off x="1244600" y="8842883"/>
            <a:ext cx="5290312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표지와 제목으로 상상하기, 그림 먼저 살펴보기, 배경지식 떠올리기, 질문 만들며 시작하기, 지난 차시 떠올리기</a:t>
            </a:r>
            <a:endParaRPr lang="en-US" sz="900" dirty="0"/>
          </a:p>
        </p:txBody>
      </p:sp>
      <p:sp>
        <p:nvSpPr>
          <p:cNvPr id="110" name="txt-D7-l1a"/>
          <p:cNvSpPr txBox="1"/>
          <p:nvPr/>
        </p:nvSpPr>
        <p:spPr>
          <a:xfrm>
            <a:off x="469900" y="9050528"/>
            <a:ext cx="66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전개 11가지</a:t>
            </a:r>
            <a:endParaRPr lang="en-US" sz="920" dirty="0"/>
          </a:p>
        </p:txBody>
      </p:sp>
      <p:sp>
        <p:nvSpPr>
          <p:cNvPr id="111" name="txt-D7-l1b"/>
          <p:cNvSpPr txBox="1"/>
          <p:nvPr/>
        </p:nvSpPr>
        <p:spPr>
          <a:xfrm>
            <a:off x="1244600" y="9048623"/>
            <a:ext cx="5947283" cy="364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소리 내어 함께 읽기, 선생님이 읽어주기, 혼자 깊이 읽기, 인물 마음 지도 그리기, 사건 순서 정리하기, 활동지 풀기, 짝과 모둠</a:t>
            </a:r>
            <a:endParaRPr lang="en-US" sz="900" dirty="0"/>
          </a:p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토의, 역할극과 낭독극, 몸과 표정으로 표현하기, 장면 그림으로 표현, 부기와 대화하기</a:t>
            </a:r>
            <a:endParaRPr lang="en-US" sz="900" dirty="0"/>
          </a:p>
        </p:txBody>
      </p:sp>
      <p:sp>
        <p:nvSpPr>
          <p:cNvPr id="112" name="txt-D7-l2a"/>
          <p:cNvSpPr txBox="1"/>
          <p:nvPr/>
        </p:nvSpPr>
        <p:spPr>
          <a:xfrm>
            <a:off x="469900" y="9411208"/>
            <a:ext cx="59169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정리 4가지</a:t>
            </a:r>
            <a:endParaRPr lang="en-US" sz="920" dirty="0"/>
          </a:p>
        </p:txBody>
      </p:sp>
      <p:sp>
        <p:nvSpPr>
          <p:cNvPr id="113" name="txt-D7-l2b"/>
          <p:cNvSpPr txBox="1"/>
          <p:nvPr/>
        </p:nvSpPr>
        <p:spPr>
          <a:xfrm>
            <a:off x="1244600" y="9409303"/>
            <a:ext cx="3715131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생각 나누기와 발표, 독후감이나 소감 쓰기, 한 줄 정리와 평가, 다음 차시 예고</a:t>
            </a:r>
            <a:endParaRPr lang="en-US" sz="900" dirty="0"/>
          </a:p>
        </p:txBody>
      </p:sp>
      <p:sp>
        <p:nvSpPr>
          <p:cNvPr id="114" name="txt-D7-l3a"/>
          <p:cNvSpPr txBox="1"/>
          <p:nvPr/>
        </p:nvSpPr>
        <p:spPr>
          <a:xfrm>
            <a:off x="469900" y="9616948"/>
            <a:ext cx="520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실물 자료</a:t>
            </a:r>
            <a:endParaRPr lang="en-US" sz="920" dirty="0"/>
          </a:p>
        </p:txBody>
      </p:sp>
      <p:sp>
        <p:nvSpPr>
          <p:cNvPr id="115" name="txt-D7-l3b"/>
          <p:cNvSpPr txBox="1"/>
          <p:nvPr/>
        </p:nvSpPr>
        <p:spPr>
          <a:xfrm>
            <a:off x="1244600" y="9615043"/>
            <a:ext cx="6050280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내 책 옷장 책갈피 32종, 종이인형 놀이책 「부기 이야기 극장」, 스티커북 5권, 색칠 꾸미기형 종이인형 23권, 본문 삽화형 4권</a:t>
            </a:r>
            <a:endParaRPr lang="en-US" sz="900" dirty="0"/>
          </a:p>
        </p:txBody>
      </p:sp>
      <p:sp>
        <p:nvSpPr>
          <p:cNvPr id="116" name="txt-D7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2900" y="3111500"/>
            <a:ext cx="2489200" cy="2067560"/>
          </a:xfrm>
          <a:prstGeom prst="roundRect">
            <a:avLst>
              <a:gd name="adj" fmla="val 4914"/>
            </a:avLst>
          </a:prstGeom>
          <a:solidFill>
            <a:srgbClr val="F0F5EF"/>
          </a:solidFill>
          <a:ln/>
        </p:spPr>
      </p:sp>
      <p:sp>
        <p:nvSpPr>
          <p:cNvPr id="3" name="Shape 1"/>
          <p:cNvSpPr/>
          <p:nvPr/>
        </p:nvSpPr>
        <p:spPr>
          <a:xfrm>
            <a:off x="317500" y="3111500"/>
            <a:ext cx="2489200" cy="2067560"/>
          </a:xfrm>
          <a:prstGeom prst="roundRect">
            <a:avLst>
              <a:gd name="adj" fmla="val 4914"/>
            </a:avLst>
          </a:prstGeom>
          <a:solidFill>
            <a:srgbClr val="F0F5EF"/>
          </a:solidFill>
          <a:ln/>
        </p:spPr>
      </p:sp>
      <p:sp>
        <p:nvSpPr>
          <p:cNvPr id="4" name="Shape 2"/>
          <p:cNvSpPr/>
          <p:nvPr/>
        </p:nvSpPr>
        <p:spPr>
          <a:xfrm>
            <a:off x="3714687" y="495300"/>
            <a:ext cx="346436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11396" y="701040"/>
            <a:ext cx="2941320" cy="1514094"/>
          </a:xfrm>
          <a:prstGeom prst="rect">
            <a:avLst/>
          </a:prstGeom>
          <a:solidFill>
            <a:srgbClr val="D8D2C0"/>
          </a:solidFill>
          <a:ln/>
        </p:spPr>
      </p:sp>
      <p:sp>
        <p:nvSpPr>
          <p:cNvPr id="6" name="Shape 4"/>
          <p:cNvSpPr/>
          <p:nvPr/>
        </p:nvSpPr>
        <p:spPr>
          <a:xfrm>
            <a:off x="440246" y="248843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077" y="268693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96" y="268693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077" y="273977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413" y="277952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6037" y="259422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6413" y="255460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6037" y="255460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4570" y="2664968"/>
            <a:ext cx="439448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9100" y="3213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6" name="Shape 14"/>
          <p:cNvSpPr/>
          <p:nvPr/>
        </p:nvSpPr>
        <p:spPr>
          <a:xfrm>
            <a:off x="2984500" y="3213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5541201" y="3101340"/>
            <a:ext cx="1608455" cy="2088007"/>
          </a:xfrm>
          <a:prstGeom prst="rect">
            <a:avLst/>
          </a:prstGeom>
          <a:solidFill>
            <a:srgbClr val="D8D2C0"/>
          </a:solidFill>
          <a:ln/>
        </p:spPr>
      </p:sp>
      <p:sp>
        <p:nvSpPr>
          <p:cNvPr id="18" name="Shape 16"/>
          <p:cNvSpPr/>
          <p:nvPr/>
        </p:nvSpPr>
        <p:spPr>
          <a:xfrm>
            <a:off x="317500" y="5407660"/>
            <a:ext cx="6925056" cy="492760"/>
          </a:xfrm>
          <a:prstGeom prst="roundRect">
            <a:avLst>
              <a:gd name="adj" fmla="val 15464"/>
            </a:avLst>
          </a:prstGeom>
          <a:solidFill>
            <a:srgbClr val="F6F5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5006" y="6616764"/>
            <a:ext cx="32639" cy="93091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494856" y="6558598"/>
            <a:ext cx="32639" cy="151384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4706" y="6500305"/>
            <a:ext cx="32639" cy="209550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2" name="Shape 20"/>
          <p:cNvSpPr/>
          <p:nvPr/>
        </p:nvSpPr>
        <p:spPr>
          <a:xfrm>
            <a:off x="634556" y="6442139"/>
            <a:ext cx="32639" cy="267716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3" name="Shape 21"/>
          <p:cNvSpPr/>
          <p:nvPr/>
        </p:nvSpPr>
        <p:spPr>
          <a:xfrm>
            <a:off x="317500" y="6774180"/>
            <a:ext cx="6925056" cy="241300"/>
          </a:xfrm>
          <a:prstGeom prst="roundRect">
            <a:avLst>
              <a:gd name="adj" fmla="val 31579"/>
            </a:avLst>
          </a:prstGeom>
          <a:solidFill>
            <a:srgbClr val="EBE7D9"/>
          </a:solidFill>
          <a:ln/>
        </p:spPr>
      </p:sp>
      <p:sp>
        <p:nvSpPr>
          <p:cNvPr id="24" name="Shape 22"/>
          <p:cNvSpPr/>
          <p:nvPr/>
        </p:nvSpPr>
        <p:spPr>
          <a:xfrm>
            <a:off x="317500" y="705358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6F5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70000" y="710438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500" y="754126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0F5EF"/>
          </a:solidFill>
          <a:ln/>
        </p:spPr>
      </p:sp>
      <p:sp>
        <p:nvSpPr>
          <p:cNvPr id="27" name="Shape 25"/>
          <p:cNvSpPr/>
          <p:nvPr/>
        </p:nvSpPr>
        <p:spPr>
          <a:xfrm>
            <a:off x="1270000" y="759206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7500" y="802894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6F5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270000" y="807974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7500" y="851662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0F5EF"/>
          </a:solidFill>
          <a:ln/>
        </p:spPr>
      </p:sp>
      <p:sp>
        <p:nvSpPr>
          <p:cNvPr id="31" name="Shape 29"/>
          <p:cNvSpPr/>
          <p:nvPr/>
        </p:nvSpPr>
        <p:spPr>
          <a:xfrm>
            <a:off x="1270000" y="856742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500" y="9004300"/>
            <a:ext cx="6925056" cy="455930"/>
          </a:xfrm>
          <a:prstGeom prst="roundRect">
            <a:avLst>
              <a:gd name="adj" fmla="val 16713"/>
            </a:avLst>
          </a:prstGeom>
          <a:solidFill>
            <a:srgbClr val="F6F5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270000" y="9055100"/>
            <a:ext cx="0" cy="34798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500" y="9555480"/>
            <a:ext cx="6925056" cy="533400"/>
          </a:xfrm>
          <a:prstGeom prst="roundRect">
            <a:avLst>
              <a:gd name="adj" fmla="val 19048"/>
            </a:avLst>
          </a:prstGeom>
          <a:solidFill>
            <a:srgbClr val="F0F5EF"/>
          </a:solidFill>
          <a:ln/>
        </p:spPr>
      </p:sp>
      <p:sp>
        <p:nvSpPr>
          <p:cNvPr id="35" name="Shape 33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7" name="Image 0" descr="부기 교사 화면 수업 만들기: 책 골라 수업 만들기와 고민으로 수업 짜기 두 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1556" y="711200"/>
            <a:ext cx="2921000" cy="1493774"/>
          </a:xfrm>
          <a:prstGeom prst="rect">
            <a:avLst/>
          </a:prstGeom>
        </p:spPr>
      </p:pic>
      <p:pic>
        <p:nvPicPr>
          <p:cNvPr id="38" name="Image 1" descr="고민으로 수업 짜기가 만든 수업 설계안 예시: 토끼와 거북이 2학년 국어 1차시 친구 마음 읽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361" y="3111500"/>
            <a:ext cx="1588135" cy="2067687"/>
          </a:xfrm>
          <a:prstGeom prst="rect">
            <a:avLst/>
          </a:prstGeom>
        </p:spPr>
      </p:pic>
      <p:sp>
        <p:nvSpPr>
          <p:cNvPr id="39" name="txt-D8-hd"/>
          <p:cNvSpPr txBox="1"/>
          <p:nvPr/>
        </p:nvSpPr>
        <p:spPr>
          <a:xfrm>
            <a:off x="381000" y="295529"/>
            <a:ext cx="3327527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교사의 수업 설계와 학교 운영 지원</a:t>
            </a:r>
            <a:endParaRPr lang="en-US" sz="1700" dirty="0"/>
          </a:p>
        </p:txBody>
      </p:sp>
      <p:sp>
        <p:nvSpPr>
          <p:cNvPr id="40" name="txt-D8-h1"/>
          <p:cNvSpPr txBox="1"/>
          <p:nvPr/>
        </p:nvSpPr>
        <p:spPr>
          <a:xfrm>
            <a:off x="381000" y="746506"/>
            <a:ext cx="267957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ko-KR" altLang="en-US" sz="320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우리 반 수업을</a:t>
            </a:r>
            <a:endParaRPr lang="en-US" sz="3200" dirty="0"/>
          </a:p>
        </p:txBody>
      </p:sp>
      <p:sp>
        <p:nvSpPr>
          <p:cNvPr id="41" name="txt-D8-h2"/>
          <p:cNvSpPr txBox="1"/>
          <p:nvPr/>
        </p:nvSpPr>
        <p:spPr>
          <a:xfrm>
            <a:off x="381000" y="1305306"/>
            <a:ext cx="322795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ko-KR" altLang="en-US" sz="2154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책이나 학급 고민부터 만듭니다.</a:t>
            </a:r>
            <a:endParaRPr lang="en-US" sz="2154" dirty="0"/>
          </a:p>
        </p:txBody>
      </p:sp>
      <p:sp>
        <p:nvSpPr>
          <p:cNvPr id="42" name="txt-D8-cap0"/>
          <p:cNvSpPr txBox="1"/>
          <p:nvPr/>
        </p:nvSpPr>
        <p:spPr>
          <a:xfrm>
            <a:off x="4321556" y="2237105"/>
            <a:ext cx="2196719" cy="169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ko-KR" altLang="en-US" sz="76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교사 화면 「수업 만들기」: 어떻게 수업을 만들까요?</a:t>
            </a:r>
            <a:endParaRPr lang="en-US" sz="760" dirty="0"/>
          </a:p>
        </p:txBody>
      </p:sp>
      <p:sp>
        <p:nvSpPr>
          <p:cNvPr id="43" name="txt-D8-s1"/>
          <p:cNvSpPr txBox="1"/>
          <p:nvPr/>
        </p:nvSpPr>
        <p:spPr>
          <a:xfrm>
            <a:off x="863346" y="2449322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교사 맞춤형 지원</a:t>
            </a:r>
            <a:endParaRPr lang="en-US" sz="1950" dirty="0"/>
          </a:p>
        </p:txBody>
      </p:sp>
      <p:sp>
        <p:nvSpPr>
          <p:cNvPr id="44" name="txt-D8-1b"/>
          <p:cNvSpPr txBox="1"/>
          <p:nvPr/>
        </p:nvSpPr>
        <p:spPr>
          <a:xfrm>
            <a:off x="381000" y="2850261"/>
            <a:ext cx="462178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ko-KR" altLang="en-US" sz="10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「수업 만들기」에 들어가면 두 길 가운데 하나를 골라 우리 반 수업을 만듭니다.</a:t>
            </a:r>
            <a:endParaRPr lang="en-US" sz="1080" dirty="0"/>
          </a:p>
        </p:txBody>
      </p:sp>
      <p:sp>
        <p:nvSpPr>
          <p:cNvPr id="45" name="txt-D8-p0n"/>
          <p:cNvSpPr txBox="1"/>
          <p:nvPr/>
        </p:nvSpPr>
        <p:spPr>
          <a:xfrm>
            <a:off x="381000" y="32349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txt-D8-p0a"/>
          <p:cNvSpPr txBox="1"/>
          <p:nvPr/>
        </p:nvSpPr>
        <p:spPr>
          <a:xfrm>
            <a:off x="673100" y="3202686"/>
            <a:ext cx="137795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책 골라 수업 만들기</a:t>
            </a:r>
            <a:endParaRPr lang="en-US" sz="1200" dirty="0"/>
          </a:p>
        </p:txBody>
      </p:sp>
      <p:sp>
        <p:nvSpPr>
          <p:cNvPr id="47" name="txt-D8-p0b"/>
          <p:cNvSpPr txBox="1"/>
          <p:nvPr/>
        </p:nvSpPr>
        <p:spPr>
          <a:xfrm>
            <a:off x="457200" y="3435223"/>
            <a:ext cx="2151126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ko-KR" altLang="en-US" sz="93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책을 먼저 고르고, 준비된 차시 구성 가운데</a:t>
            </a:r>
            <a:endParaRPr lang="en-US" sz="930" dirty="0"/>
          </a:p>
          <a:p>
            <a:pPr algn="l" indent="0" marL="0">
              <a:lnSpc>
                <a:spcPts val="1260"/>
              </a:lnSpc>
              <a:buNone/>
            </a:pPr>
            <a:r>
              <a:rPr lang="ko-KR" altLang="en-US" sz="93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골라 우리 반 수업을 짭니다.</a:t>
            </a:r>
            <a:endParaRPr lang="en-US" sz="930" dirty="0"/>
          </a:p>
        </p:txBody>
      </p:sp>
      <p:sp>
        <p:nvSpPr>
          <p:cNvPr id="48" name="txt-D8-p0c"/>
          <p:cNvSpPr txBox="1"/>
          <p:nvPr/>
        </p:nvSpPr>
        <p:spPr>
          <a:xfrm>
            <a:off x="457200" y="3826510"/>
            <a:ext cx="37884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84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이럴 때</a:t>
            </a:r>
            <a:endParaRPr lang="en-US" sz="840" dirty="0"/>
          </a:p>
        </p:txBody>
      </p:sp>
      <p:sp>
        <p:nvSpPr>
          <p:cNvPr id="49" name="txt-D8-p0d"/>
          <p:cNvSpPr txBox="1"/>
          <p:nvPr/>
        </p:nvSpPr>
        <p:spPr>
          <a:xfrm>
            <a:off x="457200" y="3977513"/>
            <a:ext cx="2275967" cy="352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8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읽힐 책이 이미 정해졌을 때, 준비된 구성을 쓰고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싶을 때</a:t>
            </a:r>
            <a:endParaRPr lang="en-US" sz="880" dirty="0"/>
          </a:p>
        </p:txBody>
      </p:sp>
      <p:sp>
        <p:nvSpPr>
          <p:cNvPr id="50" name="txt-D8-p0e"/>
          <p:cNvSpPr txBox="1"/>
          <p:nvPr/>
        </p:nvSpPr>
        <p:spPr>
          <a:xfrm>
            <a:off x="457200" y="4351020"/>
            <a:ext cx="37884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84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받는 것</a:t>
            </a:r>
            <a:endParaRPr lang="en-US" sz="840" dirty="0"/>
          </a:p>
        </p:txBody>
      </p:sp>
      <p:sp>
        <p:nvSpPr>
          <p:cNvPr id="51" name="txt-D8-p0f"/>
          <p:cNvSpPr txBox="1"/>
          <p:nvPr/>
        </p:nvSpPr>
        <p:spPr>
          <a:xfrm>
            <a:off x="457200" y="4502023"/>
            <a:ext cx="2242566" cy="65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온책읽기 10차시, 국어수업 4차시, 아침활동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5차시, 직접 제작. 차시 PPT, 활동지, 디지털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독서지도안, 교수학습 과정안(.hwpx, PDF)을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받아 학생에게 배포</a:t>
            </a:r>
            <a:endParaRPr lang="en-US" sz="880" dirty="0"/>
          </a:p>
        </p:txBody>
      </p:sp>
      <p:sp>
        <p:nvSpPr>
          <p:cNvPr id="52" name="txt-D8-p1n"/>
          <p:cNvSpPr txBox="1"/>
          <p:nvPr/>
        </p:nvSpPr>
        <p:spPr>
          <a:xfrm>
            <a:off x="2946400" y="32349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0" dirty="0">
                <a:solidFill>
                  <a:srgbClr val="FFFFFF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2</a:t>
            </a:r>
            <a:endParaRPr lang="en-US" sz="850" dirty="0"/>
          </a:p>
        </p:txBody>
      </p:sp>
      <p:sp>
        <p:nvSpPr>
          <p:cNvPr id="53" name="txt-D8-p1a"/>
          <p:cNvSpPr txBox="1"/>
          <p:nvPr/>
        </p:nvSpPr>
        <p:spPr>
          <a:xfrm>
            <a:off x="3238500" y="3202686"/>
            <a:ext cx="165735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고민으로 수업 짜기(AI)</a:t>
            </a:r>
            <a:endParaRPr lang="en-US" sz="1200" dirty="0"/>
          </a:p>
        </p:txBody>
      </p:sp>
      <p:sp>
        <p:nvSpPr>
          <p:cNvPr id="54" name="txt-D8-p1b"/>
          <p:cNvSpPr txBox="1"/>
          <p:nvPr/>
        </p:nvSpPr>
        <p:spPr>
          <a:xfrm>
            <a:off x="3022600" y="3435223"/>
            <a:ext cx="21766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ko-KR" altLang="en-US" sz="93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요즘 우리 반 모습을 적으면 AI가 수업 질문,</a:t>
            </a:r>
            <a:endParaRPr lang="en-US" sz="930" dirty="0"/>
          </a:p>
          <a:p>
            <a:pPr algn="l" indent="0" marL="0">
              <a:lnSpc>
                <a:spcPts val="1260"/>
              </a:lnSpc>
              <a:buNone/>
            </a:pPr>
            <a:r>
              <a:rPr lang="ko-KR" altLang="en-US" sz="93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함께 읽을 책, 수업 설계안을 짜 줍니다.</a:t>
            </a:r>
            <a:endParaRPr lang="en-US" sz="930" dirty="0"/>
          </a:p>
        </p:txBody>
      </p:sp>
      <p:sp>
        <p:nvSpPr>
          <p:cNvPr id="55" name="txt-D8-p1c"/>
          <p:cNvSpPr txBox="1"/>
          <p:nvPr/>
        </p:nvSpPr>
        <p:spPr>
          <a:xfrm>
            <a:off x="3022600" y="3826510"/>
            <a:ext cx="37884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84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이럴 때</a:t>
            </a:r>
            <a:endParaRPr lang="en-US" sz="840" dirty="0"/>
          </a:p>
        </p:txBody>
      </p:sp>
      <p:sp>
        <p:nvSpPr>
          <p:cNvPr id="56" name="txt-D8-p1d"/>
          <p:cNvSpPr txBox="1"/>
          <p:nvPr/>
        </p:nvSpPr>
        <p:spPr>
          <a:xfrm>
            <a:off x="3022600" y="3977513"/>
            <a:ext cx="2064131" cy="352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8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우리 반에 마음 쓰이는 모습이 있을 때, 어떤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책으로 할지 아직 정하지 못했을 때</a:t>
            </a:r>
            <a:endParaRPr lang="en-US" sz="880" dirty="0"/>
          </a:p>
        </p:txBody>
      </p:sp>
      <p:sp>
        <p:nvSpPr>
          <p:cNvPr id="57" name="txt-D8-p1e"/>
          <p:cNvSpPr txBox="1"/>
          <p:nvPr/>
        </p:nvSpPr>
        <p:spPr>
          <a:xfrm>
            <a:off x="3022600" y="4351020"/>
            <a:ext cx="378841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ko-KR" altLang="en-US" sz="84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받는 것</a:t>
            </a:r>
            <a:endParaRPr lang="en-US" sz="840" dirty="0"/>
          </a:p>
        </p:txBody>
      </p:sp>
      <p:sp>
        <p:nvSpPr>
          <p:cNvPr id="58" name="txt-D8-p1f"/>
          <p:cNvSpPr txBox="1"/>
          <p:nvPr/>
        </p:nvSpPr>
        <p:spPr>
          <a:xfrm>
            <a:off x="3022600" y="4502023"/>
            <a:ext cx="2240788" cy="352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수업 질문, 함께 읽을 책, 1~3차시 수업 설계안,</a:t>
            </a:r>
            <a:endParaRPr lang="en-US" sz="880" dirty="0"/>
          </a:p>
          <a:p>
            <a:pPr algn="l" indent="0" marL="0">
              <a:lnSpc>
                <a:spcPts val="1180"/>
              </a:lnSpc>
              <a:buNone/>
            </a:pPr>
            <a:r>
              <a:rPr lang="ko-KR" altLang="en-US" sz="88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학생 앱 활동(「학생에게 내주기」)</a:t>
            </a:r>
            <a:endParaRPr lang="en-US" sz="880" dirty="0"/>
          </a:p>
        </p:txBody>
      </p:sp>
      <p:sp>
        <p:nvSpPr>
          <p:cNvPr id="59" name="txt-D8-cap1"/>
          <p:cNvSpPr txBox="1"/>
          <p:nvPr/>
        </p:nvSpPr>
        <p:spPr>
          <a:xfrm>
            <a:off x="5448300" y="5211191"/>
            <a:ext cx="1611122" cy="169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ko-KR" altLang="en-US" sz="76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설계안 예시: 2학년 「토끼와 거북이」</a:t>
            </a:r>
            <a:endParaRPr lang="en-US" sz="760" dirty="0"/>
          </a:p>
        </p:txBody>
      </p:sp>
      <p:sp>
        <p:nvSpPr>
          <p:cNvPr id="60" name="txt-D8-k"/>
          <p:cNvSpPr txBox="1"/>
          <p:nvPr/>
        </p:nvSpPr>
        <p:spPr>
          <a:xfrm>
            <a:off x="469900" y="5491988"/>
            <a:ext cx="6779260" cy="370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ko-KR" altLang="en-US" sz="92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수업 설계안에 들어가는 것</a:t>
            </a:r>
            <a:pPr algn="l" indent="0" marL="0">
              <a:lnSpc>
                <a:spcPts val="124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 읽을 책, 대상과 차시, 수업 질문, 성취기준, 학습 목표, 차시 목표와 학습 문제, 도입, 전개, 정리 단계별 교수학습</a:t>
            </a:r>
            <a:endParaRPr lang="en-US" sz="920" dirty="0"/>
          </a:p>
          <a:p>
            <a:pPr algn="l" indent="0" marL="0">
              <a:lnSpc>
                <a:spcPts val="124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활동과 시간, 갈래가 붙은 발문(경험, 사실, 마음, 상상, 가치)과 예상 답, 자료와 유의점, 볼 것(평가), 학생 앱 활동, 막힐 때 도움</a:t>
            </a:r>
            <a:endParaRPr lang="en-US" sz="920" dirty="0"/>
          </a:p>
        </p:txBody>
      </p:sp>
      <p:sp>
        <p:nvSpPr>
          <p:cNvPr id="61" name="txt-D8-z"/>
          <p:cNvSpPr txBox="1"/>
          <p:nvPr/>
        </p:nvSpPr>
        <p:spPr>
          <a:xfrm>
            <a:off x="381000" y="5962015"/>
            <a:ext cx="4404614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ko-KR" altLang="en-US" sz="82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고민을 적을 때 학생 이름이나 누구인지 알 수 있는 사연은 빼고 적도록 화면이 안내합니다.</a:t>
            </a:r>
            <a:r>
              <a:rPr lang="ko-KR" altLang="en-US" sz="820" dirty="0" b="0">
                <a:solidFill>
                  <a:srgbClr val="43516A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 적은 글은 수업안을 만들 때만 AI(Anthropic Claude)에 보내고, 데이터 무보관(ZDR)을 적용합니다.</a:t>
            </a:r>
            <a:endParaRPr lang="en-US" sz="820" dirty="0"/>
          </a:p>
        </p:txBody>
      </p:sp>
      <p:sp>
        <p:nvSpPr>
          <p:cNvPr id="62" name="txt-D8-s2"/>
          <p:cNvSpPr txBox="1"/>
          <p:nvPr/>
        </p:nvSpPr>
        <p:spPr>
          <a:xfrm>
            <a:off x="863346" y="6391402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성과 및 운영관리</a:t>
            </a:r>
            <a:endParaRPr lang="en-US" sz="1950" dirty="0"/>
          </a:p>
        </p:txBody>
      </p:sp>
      <p:sp>
        <p:nvSpPr>
          <p:cNvPr id="63" name="txt-D8-2b"/>
          <p:cNvSpPr txBox="1"/>
          <p:nvPr/>
        </p:nvSpPr>
        <p:spPr>
          <a:xfrm>
            <a:off x="2835402" y="6504813"/>
            <a:ext cx="4224147" cy="20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20"/>
              </a:lnSpc>
              <a:buNone/>
            </a:pPr>
            <a:r>
              <a:rPr lang="ko-KR" altLang="en-US" sz="94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운영계획부터 연수, 참여 현황 점검, 성과 보고, 기술 지원까지 운영 기관이 맡습니다.</a:t>
            </a:r>
            <a:endParaRPr lang="en-US" sz="940" dirty="0"/>
          </a:p>
        </p:txBody>
      </p:sp>
      <p:sp>
        <p:nvSpPr>
          <p:cNvPr id="64" name="txt-D8-th34"/>
          <p:cNvSpPr txBox="1"/>
          <p:nvPr/>
        </p:nvSpPr>
        <p:spPr>
          <a:xfrm>
            <a:off x="431800" y="6816217"/>
            <a:ext cx="279400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단계</a:t>
            </a:r>
            <a:endParaRPr lang="en-US" sz="950" dirty="0"/>
          </a:p>
        </p:txBody>
      </p:sp>
      <p:sp>
        <p:nvSpPr>
          <p:cNvPr id="65" name="txt-D8-th123"/>
          <p:cNvSpPr txBox="1"/>
          <p:nvPr/>
        </p:nvSpPr>
        <p:spPr>
          <a:xfrm>
            <a:off x="1562100" y="6816217"/>
            <a:ext cx="764667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운영관리 항목</a:t>
            </a:r>
            <a:endParaRPr lang="en-US" sz="950" dirty="0"/>
          </a:p>
        </p:txBody>
      </p:sp>
      <p:sp>
        <p:nvSpPr>
          <p:cNvPr id="66" name="txt-D8-th262"/>
          <p:cNvSpPr txBox="1"/>
          <p:nvPr/>
        </p:nvSpPr>
        <p:spPr>
          <a:xfrm>
            <a:off x="3327400" y="6816217"/>
            <a:ext cx="764667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35"/>
              </a:lnSpc>
              <a:buNone/>
            </a:pPr>
            <a:r>
              <a:rPr lang="ko-KR" altLang="en-US" sz="95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구체적인 내용</a:t>
            </a:r>
            <a:endParaRPr lang="en-US" sz="950" dirty="0"/>
          </a:p>
        </p:txBody>
      </p:sp>
      <p:sp>
        <p:nvSpPr>
          <p:cNvPr id="67" name="txt-D8-t0s"/>
          <p:cNvSpPr txBox="1"/>
          <p:nvPr/>
        </p:nvSpPr>
        <p:spPr>
          <a:xfrm>
            <a:off x="431800" y="7201916"/>
            <a:ext cx="281813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준비</a:t>
            </a:r>
            <a:endParaRPr lang="en-US" sz="960" dirty="0"/>
          </a:p>
        </p:txBody>
      </p:sp>
      <p:sp>
        <p:nvSpPr>
          <p:cNvPr id="68" name="txt-D8-t0n"/>
          <p:cNvSpPr txBox="1"/>
          <p:nvPr/>
        </p:nvSpPr>
        <p:spPr>
          <a:xfrm>
            <a:off x="1320800" y="708317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1</a:t>
            </a:r>
            <a:endParaRPr lang="en-US" sz="960" dirty="0"/>
          </a:p>
        </p:txBody>
      </p:sp>
      <p:sp>
        <p:nvSpPr>
          <p:cNvPr id="69" name="txt-D8-t0a"/>
          <p:cNvSpPr txBox="1"/>
          <p:nvPr/>
        </p:nvSpPr>
        <p:spPr>
          <a:xfrm>
            <a:off x="1562100" y="7083171"/>
            <a:ext cx="1147064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학교별 운영계획 수립</a:t>
            </a:r>
            <a:endParaRPr lang="en-US" sz="960" dirty="0"/>
          </a:p>
        </p:txBody>
      </p:sp>
      <p:sp>
        <p:nvSpPr>
          <p:cNvPr id="70" name="txt-D8-t0b"/>
          <p:cNvSpPr txBox="1"/>
          <p:nvPr/>
        </p:nvSpPr>
        <p:spPr>
          <a:xfrm>
            <a:off x="3327400" y="7086346"/>
            <a:ext cx="306247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학교 규모와 학년 구성에 맞춘 연간 운영계획과 권장 독서 일정</a:t>
            </a:r>
            <a:endParaRPr lang="en-US" sz="920" dirty="0"/>
          </a:p>
        </p:txBody>
      </p:sp>
      <p:sp>
        <p:nvSpPr>
          <p:cNvPr id="71" name="txt-D8-t1n"/>
          <p:cNvSpPr txBox="1"/>
          <p:nvPr/>
        </p:nvSpPr>
        <p:spPr>
          <a:xfrm>
            <a:off x="1320800" y="732701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2</a:t>
            </a:r>
            <a:endParaRPr lang="en-US" sz="960" dirty="0"/>
          </a:p>
        </p:txBody>
      </p:sp>
      <p:sp>
        <p:nvSpPr>
          <p:cNvPr id="72" name="txt-D8-t1a"/>
          <p:cNvSpPr txBox="1"/>
          <p:nvPr/>
        </p:nvSpPr>
        <p:spPr>
          <a:xfrm>
            <a:off x="1562100" y="7327011"/>
            <a:ext cx="117538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학교와 학급 개설 관리</a:t>
            </a:r>
            <a:endParaRPr lang="en-US" sz="960" dirty="0"/>
          </a:p>
        </p:txBody>
      </p:sp>
      <p:sp>
        <p:nvSpPr>
          <p:cNvPr id="73" name="txt-D8-t1b"/>
          <p:cNvSpPr txBox="1"/>
          <p:nvPr/>
        </p:nvSpPr>
        <p:spPr>
          <a:xfrm>
            <a:off x="3327400" y="7330186"/>
            <a:ext cx="296735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학교 등록, 학급 개설, 계정 생성 안내, 학급 코드와 이용 권한</a:t>
            </a:r>
            <a:endParaRPr lang="en-US" sz="920" dirty="0"/>
          </a:p>
        </p:txBody>
      </p:sp>
      <p:sp>
        <p:nvSpPr>
          <p:cNvPr id="74" name="txt-D8-t2s"/>
          <p:cNvSpPr txBox="1"/>
          <p:nvPr/>
        </p:nvSpPr>
        <p:spPr>
          <a:xfrm>
            <a:off x="431800" y="7689596"/>
            <a:ext cx="541147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수업 운영</a:t>
            </a:r>
            <a:endParaRPr lang="en-US" sz="960" dirty="0"/>
          </a:p>
        </p:txBody>
      </p:sp>
      <p:sp>
        <p:nvSpPr>
          <p:cNvPr id="75" name="txt-D8-t2n"/>
          <p:cNvSpPr txBox="1"/>
          <p:nvPr/>
        </p:nvSpPr>
        <p:spPr>
          <a:xfrm>
            <a:off x="1320800" y="757085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3</a:t>
            </a:r>
            <a:endParaRPr lang="en-US" sz="960" dirty="0"/>
          </a:p>
        </p:txBody>
      </p:sp>
      <p:sp>
        <p:nvSpPr>
          <p:cNvPr id="76" name="txt-D8-t2a"/>
          <p:cNvSpPr txBox="1"/>
          <p:nvPr/>
        </p:nvSpPr>
        <p:spPr>
          <a:xfrm>
            <a:off x="1562100" y="7570851"/>
            <a:ext cx="105981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교사 수업 운영 지원</a:t>
            </a:r>
            <a:endParaRPr lang="en-US" sz="960" dirty="0"/>
          </a:p>
        </p:txBody>
      </p:sp>
      <p:sp>
        <p:nvSpPr>
          <p:cNvPr id="77" name="txt-D8-t2b"/>
          <p:cNvSpPr txBox="1"/>
          <p:nvPr/>
        </p:nvSpPr>
        <p:spPr>
          <a:xfrm>
            <a:off x="3327400" y="7574026"/>
            <a:ext cx="296379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온책읽기, 국어 수업, 아침 독서활동 운영과 차시별 수업자료</a:t>
            </a:r>
            <a:endParaRPr lang="en-US" sz="920" dirty="0"/>
          </a:p>
        </p:txBody>
      </p:sp>
      <p:sp>
        <p:nvSpPr>
          <p:cNvPr id="78" name="txt-D8-t3n"/>
          <p:cNvSpPr txBox="1"/>
          <p:nvPr/>
        </p:nvSpPr>
        <p:spPr>
          <a:xfrm>
            <a:off x="1320800" y="781469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4</a:t>
            </a:r>
            <a:endParaRPr lang="en-US" sz="960" dirty="0"/>
          </a:p>
        </p:txBody>
      </p:sp>
      <p:sp>
        <p:nvSpPr>
          <p:cNvPr id="79" name="txt-D8-t3a"/>
          <p:cNvSpPr txBox="1"/>
          <p:nvPr/>
        </p:nvSpPr>
        <p:spPr>
          <a:xfrm>
            <a:off x="1562100" y="7814691"/>
            <a:ext cx="916051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교사 온라인 연수</a:t>
            </a:r>
            <a:endParaRPr lang="en-US" sz="960" dirty="0"/>
          </a:p>
        </p:txBody>
      </p:sp>
      <p:sp>
        <p:nvSpPr>
          <p:cNvPr id="80" name="txt-D8-t3b"/>
          <p:cNvSpPr txBox="1"/>
          <p:nvPr/>
        </p:nvSpPr>
        <p:spPr>
          <a:xfrm>
            <a:off x="3327400" y="7817866"/>
            <a:ext cx="301790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플랫폼 사용법, 수업 설계, 학생 활동 관리를 다루는 정기 연수</a:t>
            </a:r>
            <a:endParaRPr lang="en-US" sz="920" dirty="0"/>
          </a:p>
        </p:txBody>
      </p:sp>
      <p:sp>
        <p:nvSpPr>
          <p:cNvPr id="81" name="txt-D8-t4s"/>
          <p:cNvSpPr txBox="1"/>
          <p:nvPr/>
        </p:nvSpPr>
        <p:spPr>
          <a:xfrm>
            <a:off x="431800" y="8177276"/>
            <a:ext cx="541147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참여 점검</a:t>
            </a:r>
            <a:endParaRPr lang="en-US" sz="960" dirty="0"/>
          </a:p>
        </p:txBody>
      </p:sp>
      <p:sp>
        <p:nvSpPr>
          <p:cNvPr id="82" name="txt-D8-t4n"/>
          <p:cNvSpPr txBox="1"/>
          <p:nvPr/>
        </p:nvSpPr>
        <p:spPr>
          <a:xfrm>
            <a:off x="1320800" y="805853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5</a:t>
            </a:r>
            <a:endParaRPr lang="en-US" sz="960" dirty="0"/>
          </a:p>
        </p:txBody>
      </p:sp>
      <p:sp>
        <p:nvSpPr>
          <p:cNvPr id="83" name="txt-D8-t4a"/>
          <p:cNvSpPr txBox="1"/>
          <p:nvPr/>
        </p:nvSpPr>
        <p:spPr>
          <a:xfrm>
            <a:off x="1562100" y="8058531"/>
            <a:ext cx="117538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학생 이용 활성화 관리</a:t>
            </a:r>
            <a:endParaRPr lang="en-US" sz="960" dirty="0"/>
          </a:p>
        </p:txBody>
      </p:sp>
      <p:sp>
        <p:nvSpPr>
          <p:cNvPr id="84" name="txt-D8-t4b"/>
          <p:cNvSpPr txBox="1"/>
          <p:nvPr/>
        </p:nvSpPr>
        <p:spPr>
          <a:xfrm>
            <a:off x="3327400" y="8061706"/>
            <a:ext cx="287413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학급별 접속과 독서 참여 현황 점검, 미활성 학급 교사 안내</a:t>
            </a:r>
            <a:endParaRPr lang="en-US" sz="920" dirty="0"/>
          </a:p>
        </p:txBody>
      </p:sp>
      <p:sp>
        <p:nvSpPr>
          <p:cNvPr id="85" name="txt-D8-t5n"/>
          <p:cNvSpPr txBox="1"/>
          <p:nvPr/>
        </p:nvSpPr>
        <p:spPr>
          <a:xfrm>
            <a:off x="1320800" y="830237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6</a:t>
            </a:r>
            <a:endParaRPr lang="en-US" sz="960" dirty="0"/>
          </a:p>
        </p:txBody>
      </p:sp>
      <p:sp>
        <p:nvSpPr>
          <p:cNvPr id="86" name="txt-D8-t5a"/>
          <p:cNvSpPr txBox="1"/>
          <p:nvPr/>
        </p:nvSpPr>
        <p:spPr>
          <a:xfrm>
            <a:off x="1562100" y="8302371"/>
            <a:ext cx="1406398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독서활동과 완독 현황 관리</a:t>
            </a:r>
            <a:endParaRPr lang="en-US" sz="960" dirty="0"/>
          </a:p>
        </p:txBody>
      </p:sp>
      <p:sp>
        <p:nvSpPr>
          <p:cNvPr id="87" name="txt-D8-t5b"/>
          <p:cNvSpPr txBox="1"/>
          <p:nvPr/>
        </p:nvSpPr>
        <p:spPr>
          <a:xfrm>
            <a:off x="3327400" y="8305546"/>
            <a:ext cx="265861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학급별 독서 진행, 완독 권수, 독후활동 참여 현황 집계</a:t>
            </a:r>
            <a:endParaRPr lang="en-US" sz="920" dirty="0"/>
          </a:p>
        </p:txBody>
      </p:sp>
      <p:sp>
        <p:nvSpPr>
          <p:cNvPr id="88" name="txt-D8-t6s"/>
          <p:cNvSpPr txBox="1"/>
          <p:nvPr/>
        </p:nvSpPr>
        <p:spPr>
          <a:xfrm>
            <a:off x="431800" y="8664956"/>
            <a:ext cx="656717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보고와 상담</a:t>
            </a:r>
            <a:endParaRPr lang="en-US" sz="960" dirty="0"/>
          </a:p>
        </p:txBody>
      </p:sp>
      <p:sp>
        <p:nvSpPr>
          <p:cNvPr id="89" name="txt-D8-t6n"/>
          <p:cNvSpPr txBox="1"/>
          <p:nvPr/>
        </p:nvSpPr>
        <p:spPr>
          <a:xfrm>
            <a:off x="1320800" y="854621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7</a:t>
            </a:r>
            <a:endParaRPr lang="en-US" sz="960" dirty="0"/>
          </a:p>
        </p:txBody>
      </p:sp>
      <p:sp>
        <p:nvSpPr>
          <p:cNvPr id="90" name="txt-D8-t6a"/>
          <p:cNvSpPr txBox="1"/>
          <p:nvPr/>
        </p:nvSpPr>
        <p:spPr>
          <a:xfrm>
            <a:off x="1562100" y="8546211"/>
            <a:ext cx="117538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학교별 운영 성과 보고</a:t>
            </a:r>
            <a:endParaRPr lang="en-US" sz="960" dirty="0"/>
          </a:p>
        </p:txBody>
      </p:sp>
      <p:sp>
        <p:nvSpPr>
          <p:cNvPr id="91" name="txt-D8-t6b"/>
          <p:cNvSpPr txBox="1"/>
          <p:nvPr/>
        </p:nvSpPr>
        <p:spPr>
          <a:xfrm>
            <a:off x="3327400" y="8549386"/>
            <a:ext cx="274231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월간 운영 현황, 학기별 독서활동 분석, 연간 결과보고서</a:t>
            </a:r>
            <a:endParaRPr lang="en-US" sz="920" dirty="0"/>
          </a:p>
        </p:txBody>
      </p:sp>
      <p:sp>
        <p:nvSpPr>
          <p:cNvPr id="92" name="txt-D8-t7n"/>
          <p:cNvSpPr txBox="1"/>
          <p:nvPr/>
        </p:nvSpPr>
        <p:spPr>
          <a:xfrm>
            <a:off x="1320800" y="879005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8</a:t>
            </a:r>
            <a:endParaRPr lang="en-US" sz="960" dirty="0"/>
          </a:p>
        </p:txBody>
      </p:sp>
      <p:sp>
        <p:nvSpPr>
          <p:cNvPr id="93" name="txt-D8-t7a"/>
          <p:cNvSpPr txBox="1"/>
          <p:nvPr/>
        </p:nvSpPr>
        <p:spPr>
          <a:xfrm>
            <a:off x="1562100" y="8790051"/>
            <a:ext cx="1290828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학교별 온라인 운영 상담</a:t>
            </a:r>
            <a:endParaRPr lang="en-US" sz="960" dirty="0"/>
          </a:p>
        </p:txBody>
      </p:sp>
      <p:sp>
        <p:nvSpPr>
          <p:cNvPr id="94" name="txt-D8-t7b"/>
          <p:cNvSpPr txBox="1"/>
          <p:nvPr/>
        </p:nvSpPr>
        <p:spPr>
          <a:xfrm>
            <a:off x="3327400" y="8793226"/>
            <a:ext cx="25750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담당 교사 운영 점검, 수업 활용 상담, 개선 사항 안내</a:t>
            </a:r>
            <a:endParaRPr lang="en-US" sz="920" dirty="0"/>
          </a:p>
        </p:txBody>
      </p:sp>
      <p:sp>
        <p:nvSpPr>
          <p:cNvPr id="95" name="txt-D8-t8s"/>
          <p:cNvSpPr txBox="1"/>
          <p:nvPr/>
        </p:nvSpPr>
        <p:spPr>
          <a:xfrm>
            <a:off x="431800" y="9152636"/>
            <a:ext cx="656717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5543C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지원과 유지</a:t>
            </a:r>
            <a:endParaRPr lang="en-US" sz="960" dirty="0"/>
          </a:p>
        </p:txBody>
      </p:sp>
      <p:sp>
        <p:nvSpPr>
          <p:cNvPr id="96" name="txt-D8-t8n"/>
          <p:cNvSpPr txBox="1"/>
          <p:nvPr/>
        </p:nvSpPr>
        <p:spPr>
          <a:xfrm>
            <a:off x="1320800" y="903389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9</a:t>
            </a:r>
            <a:endParaRPr lang="en-US" sz="960" dirty="0"/>
          </a:p>
        </p:txBody>
      </p:sp>
      <p:sp>
        <p:nvSpPr>
          <p:cNvPr id="97" name="txt-D8-t8a"/>
          <p:cNvSpPr txBox="1"/>
          <p:nvPr/>
        </p:nvSpPr>
        <p:spPr>
          <a:xfrm>
            <a:off x="1562100" y="9033891"/>
            <a:ext cx="1031621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기술과 이용자 지원</a:t>
            </a:r>
            <a:endParaRPr lang="en-US" sz="960" dirty="0"/>
          </a:p>
        </p:txBody>
      </p:sp>
      <p:sp>
        <p:nvSpPr>
          <p:cNvPr id="98" name="txt-D8-t8b"/>
          <p:cNvSpPr txBox="1"/>
          <p:nvPr/>
        </p:nvSpPr>
        <p:spPr>
          <a:xfrm>
            <a:off x="3327400" y="9037066"/>
            <a:ext cx="26917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로그인, 계정, 서비스 오류 문의 응대, 장애 접수와 처리</a:t>
            </a:r>
            <a:endParaRPr lang="en-US" sz="920" dirty="0"/>
          </a:p>
        </p:txBody>
      </p:sp>
      <p:sp>
        <p:nvSpPr>
          <p:cNvPr id="99" name="txt-D8-t9n"/>
          <p:cNvSpPr txBox="1"/>
          <p:nvPr/>
        </p:nvSpPr>
        <p:spPr>
          <a:xfrm>
            <a:off x="1320800" y="9277731"/>
            <a:ext cx="20320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D59B3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10</a:t>
            </a:r>
            <a:endParaRPr lang="en-US" sz="960" dirty="0"/>
          </a:p>
        </p:txBody>
      </p:sp>
      <p:sp>
        <p:nvSpPr>
          <p:cNvPr id="100" name="txt-D8-t9a"/>
          <p:cNvSpPr txBox="1"/>
          <p:nvPr/>
        </p:nvSpPr>
        <p:spPr>
          <a:xfrm>
            <a:off x="1562100" y="9277731"/>
            <a:ext cx="1378204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b="0" dirty="0">
                <a:solidFill>
                  <a:srgbClr val="101D42"/>
                </a:solidFill>
                <a:latin typeface="BKSansBold" pitchFamily="34" charset="0"/>
                <a:ea typeface="BKSansBold" pitchFamily="34" charset="-127"/>
                <a:cs typeface="BKSansBold" pitchFamily="34" charset="-120"/>
              </a:rPr>
              <a:t>콘텐츠와 서비스 유지관리</a:t>
            </a:r>
            <a:endParaRPr lang="en-US" sz="960" dirty="0"/>
          </a:p>
        </p:txBody>
      </p:sp>
      <p:sp>
        <p:nvSpPr>
          <p:cNvPr id="101" name="txt-D8-t9b"/>
          <p:cNvSpPr txBox="1"/>
          <p:nvPr/>
        </p:nvSpPr>
        <p:spPr>
          <a:xfrm>
            <a:off x="3327400" y="9280906"/>
            <a:ext cx="321221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도서와 수업자료 오류 수정, 기능 유지보수, 보안과 개인정보 보호</a:t>
            </a:r>
            <a:endParaRPr lang="en-US" sz="920" dirty="0"/>
          </a:p>
        </p:txBody>
      </p:sp>
      <p:sp>
        <p:nvSpPr>
          <p:cNvPr id="102" name="txt-D8-end"/>
          <p:cNvSpPr txBox="1"/>
          <p:nvPr/>
        </p:nvSpPr>
        <p:spPr>
          <a:xfrm>
            <a:off x="317500" y="9614789"/>
            <a:ext cx="6925056" cy="50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ko-KR" altLang="en-US" sz="1250" dirty="0" b="0">
                <a:solidFill>
                  <a:srgbClr val="101D42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경남의 아이들이 스스로 이해하고 판단하는 사람으로 자라도록,</a:t>
            </a:r>
            <a:r>
              <a:rPr lang="ko-KR" altLang="en-US" sz="1250" dirty="0" b="0">
                <a:solidFill>
                  <a:srgbClr val="15543C"/>
                </a:solidFill>
                <a:latin typeface="BKSerifBlack" pitchFamily="34" charset="0"/>
                <a:ea typeface="BKSerifBlack" pitchFamily="34" charset="-127"/>
                <a:cs typeface="BKSerifBlack" pitchFamily="34" charset="-120"/>
              </a:rPr>
              <a:t>학교에서 독서수업을 꾸준히 운영할 수 있도록 지원해 주십시오.</a:t>
            </a:r>
            <a:endParaRPr lang="en-US" sz="1250" dirty="0"/>
          </a:p>
        </p:txBody>
      </p:sp>
      <p:sp>
        <p:nvSpPr>
          <p:cNvPr id="103" name="txt-D8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 b="0">
                <a:solidFill>
                  <a:srgbClr val="101D42"/>
                </a:solidFill>
                <a:latin typeface="BKSans" pitchFamily="34" charset="0"/>
                <a:ea typeface="BKSans" pitchFamily="34" charset="-127"/>
                <a:cs typeface="BKSans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주식회사 엠에스이씨엠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부기 독서교육 브로슈어</dc:title>
  <dc:subject>PptxGenJS Presentation</dc:subject>
  <dc:creator>MSECM</dc:creator>
  <cp:lastModifiedBy>MSECM</cp:lastModifiedBy>
  <cp:revision>1</cp:revision>
  <dcterms:created xsi:type="dcterms:W3CDTF">2026-10-29T04:01:55Z</dcterms:created>
  <dcterms:modified xsi:type="dcterms:W3CDTF">2026-10-29T04:01:55Z</dcterms:modified>
</cp:coreProperties>
</file>