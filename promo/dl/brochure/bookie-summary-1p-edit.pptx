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2"/>
  </ns0:sldIdLst>
  <ns0:notesMasterIdLst>
    <ns0:notesMasterId ns1:id="rId7"/>
  </ns0:notesMasterIdLst>
  <ns0:sldSz cx="7560005" cy="10692003"/>
  <ns0:notesSz cx="10692003" cy="7560005"/>
  <ns0:defaultTextStyle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4953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369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1496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401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3909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290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2512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131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242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242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08500"/>
            <a:ext cx="6925056" cy="1701800"/>
          </a:xfrm>
          <a:prstGeom prst="roundRect">
            <a:avLst>
              <a:gd name="adj" fmla="val 5970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674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43484" y="7784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637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189734" y="77956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4659" y="7981950"/>
            <a:ext cx="2324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4659" y="7981950"/>
            <a:ext cx="93091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50186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6" name="Shape 24"/>
          <p:cNvSpPr/>
          <p:nvPr/>
        </p:nvSpPr>
        <p:spPr>
          <a:xfrm>
            <a:off x="2308479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6645" y="78794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15543C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59225" y="7795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1554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82466" y="7947025"/>
            <a:ext cx="58293" cy="58166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98925" y="7830566"/>
            <a:ext cx="58166" cy="58293"/>
          </a:xfrm>
          <a:prstGeom prst="line">
            <a:avLst/>
          </a:prstGeom>
          <a:noFill/>
          <a:ln w="18669">
            <a:solidFill>
              <a:srgbClr val="1554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56250" y="7645400"/>
            <a:ext cx="1676400" cy="825500"/>
          </a:xfrm>
          <a:prstGeom prst="roundRect">
            <a:avLst>
              <a:gd name="adj" fmla="val 9231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705475" y="7947025"/>
            <a:ext cx="32639" cy="93091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4" name="Shape 32"/>
          <p:cNvSpPr/>
          <p:nvPr/>
        </p:nvSpPr>
        <p:spPr>
          <a:xfrm>
            <a:off x="5775325" y="7888859"/>
            <a:ext cx="32639" cy="151384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5" name="Shape 33"/>
          <p:cNvSpPr/>
          <p:nvPr/>
        </p:nvSpPr>
        <p:spPr>
          <a:xfrm>
            <a:off x="5845175" y="7830566"/>
            <a:ext cx="32639" cy="209550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6" name="Shape 34"/>
          <p:cNvSpPr/>
          <p:nvPr/>
        </p:nvSpPr>
        <p:spPr>
          <a:xfrm>
            <a:off x="5915025" y="7772400"/>
            <a:ext cx="32639" cy="267716"/>
          </a:xfrm>
          <a:prstGeom prst="rect">
            <a:avLst/>
          </a:prstGeom>
          <a:solidFill>
            <a:srgbClr val="15543C"/>
          </a:solidFill>
          <a:ln/>
        </p:spPr>
      </p:sp>
      <p:sp>
        <p:nvSpPr>
          <p:cNvPr id="37" name="Shape 35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pic>
        <p:nvPicPr>
          <p:cNvPr id="3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300" y="6362700"/>
            <a:ext cx="1409700" cy="968248"/>
          </a:xfrm>
          <a:prstGeom prst="rect">
            <a:avLst/>
          </a:prstGeom>
        </p:spPr>
      </p:pic>
      <p:sp>
        <p:nvSpPr>
          <p:cNvPr id="40" name="txt-1-0"/>
          <p:cNvSpPr txBox="1"/>
          <p:nvPr/>
        </p:nvSpPr>
        <p:spPr>
          <a:xfrm>
            <a:off x="381000" y="2969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41" name="txt-1-1"/>
          <p:cNvSpPr txBox="1"/>
          <p:nvPr/>
        </p:nvSpPr>
        <p:spPr>
          <a:xfrm>
            <a:off x="355473" y="6941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42" name="txt-1-2"/>
          <p:cNvSpPr txBox="1"/>
          <p:nvPr/>
        </p:nvSpPr>
        <p:spPr>
          <a:xfrm>
            <a:off x="355473" y="14062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43" name="txt-1-3"/>
          <p:cNvSpPr txBox="1"/>
          <p:nvPr/>
        </p:nvSpPr>
        <p:spPr>
          <a:xfrm>
            <a:off x="381000" y="23364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44" name="txt-1-4"/>
          <p:cNvSpPr txBox="1"/>
          <p:nvPr/>
        </p:nvSpPr>
        <p:spPr>
          <a:xfrm>
            <a:off x="787146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45" name="txt-1-5"/>
          <p:cNvSpPr txBox="1"/>
          <p:nvPr/>
        </p:nvSpPr>
        <p:spPr>
          <a:xfrm>
            <a:off x="3085465" y="31160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46" name="txt-1-6"/>
          <p:cNvSpPr txBox="1"/>
          <p:nvPr/>
        </p:nvSpPr>
        <p:spPr>
          <a:xfrm>
            <a:off x="5383784" y="31160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47" name="txt-1-7"/>
          <p:cNvSpPr txBox="1"/>
          <p:nvPr/>
        </p:nvSpPr>
        <p:spPr>
          <a:xfrm>
            <a:off x="398653" y="35402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낱말과 문장의 뜻을 이해하고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교과의 학습</a:t>
            </a:r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이어 가는 힘</a:t>
            </a:r>
            <a:endParaRPr lang="en-US" sz="1080" dirty="0"/>
          </a:p>
        </p:txBody>
      </p:sp>
      <p:sp>
        <p:nvSpPr>
          <p:cNvPr id="48" name="txt-1-8"/>
          <p:cNvSpPr txBox="1"/>
          <p:nvPr/>
        </p:nvSpPr>
        <p:spPr>
          <a:xfrm>
            <a:off x="3178937" y="35402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49" name="txt-1-9"/>
          <p:cNvSpPr txBox="1"/>
          <p:nvPr/>
        </p:nvSpPr>
        <p:spPr>
          <a:xfrm>
            <a:off x="5241290" y="35402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50" name="txt-1-10"/>
          <p:cNvSpPr txBox="1"/>
          <p:nvPr/>
        </p:nvSpPr>
        <p:spPr>
          <a:xfrm>
            <a:off x="1478280" y="41685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읽고 근거를 찾는 연습이 AI의 답을 판단할 바탕이 됩니다.*</a:t>
            </a:r>
            <a:endParaRPr lang="en-US" sz="1000" dirty="0"/>
          </a:p>
        </p:txBody>
      </p:sp>
      <p:sp>
        <p:nvSpPr>
          <p:cNvPr id="51" name="txt-1-11"/>
          <p:cNvSpPr txBox="1"/>
          <p:nvPr/>
        </p:nvSpPr>
        <p:spPr>
          <a:xfrm>
            <a:off x="482346" y="46281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ko-KR" altLang="en-US" sz="2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기본이 쌓일 시간이 필요합니다</a:t>
            </a:r>
            <a:endParaRPr lang="en-US" sz="2700" dirty="0"/>
          </a:p>
        </p:txBody>
      </p:sp>
      <p:sp>
        <p:nvSpPr>
          <p:cNvPr id="52" name="txt-1-12"/>
          <p:cNvSpPr txBox="1"/>
          <p:nvPr/>
        </p:nvSpPr>
        <p:spPr>
          <a:xfrm>
            <a:off x="495300" y="51276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전자도서관과 책이 있어도 낯선 어휘에서 막히면 이해와 재미가 끊깁니다.</a:t>
            </a:r>
            <a:endParaRPr lang="en-US" sz="121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읽는 중의 도움과 교사의 질문을 연결해 한 권 읽는 경험을 돕습니다.</a:t>
            </a:r>
            <a:endParaRPr lang="en-US" sz="1210" dirty="0"/>
          </a:p>
        </p:txBody>
      </p:sp>
      <p:sp>
        <p:nvSpPr>
          <p:cNvPr id="53" name="txt-1-13"/>
          <p:cNvSpPr txBox="1"/>
          <p:nvPr/>
        </p:nvSpPr>
        <p:spPr>
          <a:xfrm>
            <a:off x="2679319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4" name="txt-1-14"/>
          <p:cNvSpPr txBox="1"/>
          <p:nvPr/>
        </p:nvSpPr>
        <p:spPr>
          <a:xfrm>
            <a:off x="4749038" y="58629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55" name="txt-1-15"/>
          <p:cNvSpPr txBox="1"/>
          <p:nvPr/>
        </p:nvSpPr>
        <p:spPr>
          <a:xfrm>
            <a:off x="1261364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56" name="txt-1-16"/>
          <p:cNvSpPr txBox="1"/>
          <p:nvPr/>
        </p:nvSpPr>
        <p:spPr>
          <a:xfrm>
            <a:off x="3331083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이해의 중단</a:t>
            </a:r>
            <a:endParaRPr lang="en-US" sz="1100" dirty="0"/>
          </a:p>
        </p:txBody>
      </p:sp>
      <p:sp>
        <p:nvSpPr>
          <p:cNvPr id="57" name="txt-1-17"/>
          <p:cNvSpPr txBox="1"/>
          <p:nvPr/>
        </p:nvSpPr>
        <p:spPr>
          <a:xfrm>
            <a:off x="5400802" y="58974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읽기의 포기</a:t>
            </a:r>
            <a:endParaRPr lang="en-US" sz="1100" dirty="0"/>
          </a:p>
        </p:txBody>
      </p:sp>
      <p:sp>
        <p:nvSpPr>
          <p:cNvPr id="58" name="txt-1-18"/>
          <p:cNvSpPr txBox="1"/>
          <p:nvPr/>
        </p:nvSpPr>
        <p:spPr>
          <a:xfrm>
            <a:off x="381000" y="64151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59" name="txt-1-19"/>
          <p:cNvSpPr txBox="1"/>
          <p:nvPr/>
        </p:nvSpPr>
        <p:spPr>
          <a:xfrm>
            <a:off x="381000" y="68118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부기는 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 대신 질문</a:t>
            </a:r>
            <a:pPr algn="l" indent="0" marL="0">
              <a:lnSpc>
                <a:spcPts val="2990"/>
              </a:lnSpc>
              <a:buNone/>
            </a:pPr>
            <a:r>
              <a:rPr lang="ko-KR" altLang="en-US" sz="23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건넵니다.</a:t>
            </a:r>
            <a:endParaRPr lang="en-US" sz="2300" dirty="0"/>
          </a:p>
        </p:txBody>
      </p:sp>
      <p:sp>
        <p:nvSpPr>
          <p:cNvPr id="60" name="txt-1-20"/>
          <p:cNvSpPr txBox="1"/>
          <p:nvPr/>
        </p:nvSpPr>
        <p:spPr>
          <a:xfrm>
            <a:off x="381000" y="7313422"/>
            <a:ext cx="4235577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온라인과 인쇄 활동지로 같은 책과 질문을 함께 읽습니다.</a:t>
            </a:r>
            <a:endParaRPr lang="en-US" sz="1050" dirty="0"/>
          </a:p>
        </p:txBody>
      </p:sp>
      <p:sp>
        <p:nvSpPr>
          <p:cNvPr id="61" name="txt-1-21"/>
          <p:cNvSpPr txBox="1"/>
          <p:nvPr/>
        </p:nvSpPr>
        <p:spPr>
          <a:xfrm>
            <a:off x="825246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</a:t>
            </a:r>
            <a:endParaRPr lang="en-US" sz="1600" dirty="0"/>
          </a:p>
        </p:txBody>
      </p:sp>
      <p:sp>
        <p:nvSpPr>
          <p:cNvPr id="62" name="txt-1-22"/>
          <p:cNvSpPr txBox="1"/>
          <p:nvPr/>
        </p:nvSpPr>
        <p:spPr>
          <a:xfrm>
            <a:off x="2571242" y="7737856"/>
            <a:ext cx="584200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묻기</a:t>
            </a:r>
            <a:endParaRPr lang="en-US" sz="1600" dirty="0"/>
          </a:p>
        </p:txBody>
      </p:sp>
      <p:sp>
        <p:nvSpPr>
          <p:cNvPr id="63" name="txt-1-23"/>
          <p:cNvSpPr txBox="1"/>
          <p:nvPr/>
        </p:nvSpPr>
        <p:spPr>
          <a:xfrm>
            <a:off x="4317238" y="7737856"/>
            <a:ext cx="1016127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표현하기</a:t>
            </a:r>
            <a:endParaRPr lang="en-US" sz="1600" dirty="0"/>
          </a:p>
        </p:txBody>
      </p:sp>
      <p:sp>
        <p:nvSpPr>
          <p:cNvPr id="64" name="txt-1-24"/>
          <p:cNvSpPr txBox="1"/>
          <p:nvPr/>
        </p:nvSpPr>
        <p:spPr>
          <a:xfrm>
            <a:off x="5951220" y="7737856"/>
            <a:ext cx="811911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모으기</a:t>
            </a:r>
            <a:endParaRPr lang="en-US" sz="1600" dirty="0"/>
          </a:p>
        </p:txBody>
      </p:sp>
      <p:sp>
        <p:nvSpPr>
          <p:cNvPr id="65" name="txt-1-25"/>
          <p:cNvSpPr txBox="1"/>
          <p:nvPr/>
        </p:nvSpPr>
        <p:spPr>
          <a:xfrm>
            <a:off x="616077" y="8082280"/>
            <a:ext cx="108013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능동적 그림 읽기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· 다국어 지원</a:t>
            </a:r>
            <a:endParaRPr lang="en-US" sz="850" dirty="0"/>
          </a:p>
        </p:txBody>
      </p:sp>
      <p:sp>
        <p:nvSpPr>
          <p:cNvPr id="66" name="txt-1-26"/>
          <p:cNvSpPr txBox="1"/>
          <p:nvPr/>
        </p:nvSpPr>
        <p:spPr>
          <a:xfrm>
            <a:off x="2228342" y="8082280"/>
            <a:ext cx="1345946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생각한 까닭을 묻는 질문</a:t>
            </a:r>
            <a:endParaRPr lang="en-US" sz="850" dirty="0"/>
          </a:p>
        </p:txBody>
      </p:sp>
      <p:sp>
        <p:nvSpPr>
          <p:cNvPr id="67" name="txt-1-27"/>
          <p:cNvSpPr txBox="1"/>
          <p:nvPr/>
        </p:nvSpPr>
        <p:spPr>
          <a:xfrm>
            <a:off x="3796030" y="8082280"/>
            <a:ext cx="170116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글, 그림, 편지 쓰기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화면과 인쇄 활동지로 참여</a:t>
            </a:r>
            <a:endParaRPr lang="en-US" sz="850" dirty="0"/>
          </a:p>
        </p:txBody>
      </p:sp>
      <p:sp>
        <p:nvSpPr>
          <p:cNvPr id="68" name="txt-1-28"/>
          <p:cNvSpPr txBox="1"/>
          <p:nvPr/>
        </p:nvSpPr>
        <p:spPr>
          <a:xfrm>
            <a:off x="5553202" y="8082280"/>
            <a:ext cx="1679702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</a:t>
            </a:r>
            <a:endParaRPr lang="en-US" sz="8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ko-KR" altLang="en-US" sz="8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느끼고 달라졌는지 기록</a:t>
            </a:r>
            <a:endParaRPr lang="en-US" sz="850" dirty="0"/>
          </a:p>
        </p:txBody>
      </p:sp>
      <p:sp>
        <p:nvSpPr>
          <p:cNvPr id="69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72학급</a:t>
            </a:r>
            <a:endParaRPr lang="en-US" sz="2400" dirty="0"/>
          </a:p>
        </p:txBody>
      </p:sp>
      <p:sp>
        <p:nvSpPr>
          <p:cNvPr id="70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1,196명</a:t>
            </a:r>
            <a:endParaRPr lang="en-US" sz="2400" dirty="0"/>
          </a:p>
        </p:txBody>
      </p:sp>
      <p:sp>
        <p:nvSpPr>
          <p:cNvPr id="71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26,924권</a:t>
            </a:r>
            <a:endParaRPr lang="en-US" sz="2400" dirty="0"/>
          </a:p>
        </p:txBody>
      </p:sp>
      <p:sp>
        <p:nvSpPr>
          <p:cNvPr id="72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1,816건</a:t>
            </a:r>
            <a:endParaRPr lang="en-US" sz="2400" dirty="0"/>
          </a:p>
        </p:txBody>
      </p:sp>
      <p:sp>
        <p:nvSpPr>
          <p:cNvPr id="73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74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75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76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77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9. 20.~10. 21. 선도교사단 온오프라인 운영 종합</a:t>
            </a:r>
            <a:endParaRPr lang="en-US" sz="1000" dirty="0"/>
          </a:p>
        </p:txBody>
      </p:sp>
      <p:sp>
        <p:nvSpPr>
          <p:cNvPr id="78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79" name="txt-1-39"/>
          <p:cNvSpPr txBox="1"/>
          <p:nvPr/>
        </p:nvSpPr>
        <p:spPr>
          <a:xfrm>
            <a:off x="304800" y="10510393"/>
            <a:ext cx="6350000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Kreijkes 외(2026), Computers &amp; Education 243, 105514.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현장 초등교사가 드리는 제안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요약과 답안을 대신 만드는 동안 학생은 무엇을 직접 읽고 생각할까요.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글을 따라 읽고, 근거를 찾고, 자기 말로 정리하는 시간을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교실에서 지키려는 고민으로 부기를 만들었습니다.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생각할 일을 바깥 도구에 맡기는 현상을 인지 외주화라고 부릅니다.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답을 이해하고 검토하려면 학생 안에 낱말과 배경지식이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쌓여 있어야 합니다. 독서수업은 그 바탕을 마련하는 시간입니다.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자라야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할까요. 디지털 도구를 도입하는 일에도 이 질문이 먼저 놓여야 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읽고 이해하며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 들어 말하는 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꾸준히 길러 주어야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이 절실함에서 부기가 시작됐습니다.</a:t>
            </a:r>
            <a:endParaRPr lang="en-US" sz="1800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학생이 직접 읽고 묻고 정리한 생각은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다음 글을 이해하고 판단할 바탕이 됩니다.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아는 것이 쌓여야,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새 지식이 연결됩니다.</a:t>
            </a:r>
            <a:endParaRPr lang="en-US" sz="3700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내용은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알고 있는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연결될 때 더 잘 이해할 수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있습니다.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관련 어휘와 배경지식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부족하면 글자를 읽어도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맥락과 의미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어휘 ·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 ·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 · 추론 · 연결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>
                <a:solidFill>
                  <a:srgbClr val="D59B3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읽고 받아들이는 경험이 쌓여,</a:t>
            </a:r>
            <a:endParaRPr lang="en-US" sz="1800" dirty="0"/>
          </a:p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배경지식의 영향은 지식의 정확성 · 글의 특성 등에 따라 달라집니다.</a:t>
            </a:r>
            <a:endParaRPr lang="en-US" sz="980" dirty="0"/>
          </a:p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Smith et al. (2021) ·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만든 답을 읽었다고 학습까지 끝나는 것은 아닙니다.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중등학생 읽기 실험에서는 LLM만 쓴 조건보다 직접 필기한 조건이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3일 뒤 이해 평가에서 더 높은 점수를 받았습니다.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12점 만점의 이해 점수는 LLM 조건 4.00점, 필기 조건 4.89점이었습니다.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직접 읽고 정리하는 과정을 남기는 데 주목했습니다.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말로 설명할 수 있는가?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그렇게 생각한 근거는 무엇인가?</a:t>
            </a:r>
            <a:endParaRPr lang="en-US" sz="13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1" dirty="0">
                <a:solidFill>
                  <a:srgbClr val="15543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63500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Kreijkes 외(2026), Computers &amp; Education 243, 105514.</a:t>
            </a:r>
            <a:endParaRPr lang="en-US" sz="830" dirty="0"/>
          </a:p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>
                <a:solidFill>
                  <a:srgbClr val="4351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62357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56184" y="63235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90800" y="63246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7500" y="67310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184" y="6830441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1109" y="7016750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1109" y="7016750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636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574929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33095" y="6914261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2590800" y="68199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7226300"/>
            <a:ext cx="6925056" cy="431800"/>
          </a:xfrm>
          <a:prstGeom prst="roundRect">
            <a:avLst>
              <a:gd name="adj" fmla="val 23529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79425" y="73257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666" y="74771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125" y="73606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90800" y="731520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4208" y="79496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5148961" y="8140700"/>
            <a:ext cx="203009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842500"/>
            <a:ext cx="6925056" cy="495300"/>
          </a:xfrm>
          <a:prstGeom prst="roundRect">
            <a:avLst>
              <a:gd name="adj" fmla="val 20513"/>
            </a:avLst>
          </a:prstGeom>
          <a:solidFill>
            <a:srgbClr val="F0F5EF"/>
          </a:solidFill>
          <a:ln/>
        </p:spPr>
      </p:sp>
      <p:sp>
        <p:nvSpPr>
          <p:cNvPr id="33" name="Shape 31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5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6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37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38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고전의 지혜에서 시작하고자 합니다</a:t>
            </a:r>
            <a:endParaRPr lang="en-US" sz="2100" dirty="0"/>
          </a:p>
        </p:txBody>
      </p:sp>
      <p:sp>
        <p:nvSpPr>
          <p:cNvPr id="39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1" dirty="0">
                <a:solidFill>
                  <a:srgbClr val="101D42"/>
                </a:solidFill>
                <a:highlight>
                  <a:srgbClr val="FFF0AD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40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1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책을 제공해도 모르는 낱말에서 멈추면 읽기의 재미를 느끼기 어렵습니다.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읽던 자리의 뜻풀이와 교사의 질문을 연결해 이해를 돕고,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권을 읽은 경험이 다음 책으로 이어지도록 구성했습니다.</a:t>
            </a:r>
            <a:endParaRPr lang="en-US" sz="1650" dirty="0"/>
          </a:p>
        </p:txBody>
      </p:sp>
      <p:sp>
        <p:nvSpPr>
          <p:cNvPr id="42" name="txt-5-6"/>
          <p:cNvSpPr txBox="1"/>
          <p:nvPr/>
        </p:nvSpPr>
        <p:spPr>
          <a:xfrm>
            <a:off x="2742565" y="6342634"/>
            <a:ext cx="3071114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낱말 뜻 · 능동적 그림 읽기 · 다국어 지원</a:t>
            </a:r>
            <a:endParaRPr lang="en-US" sz="1250" dirty="0"/>
          </a:p>
        </p:txBody>
      </p:sp>
      <p:sp>
        <p:nvSpPr>
          <p:cNvPr id="43" name="txt-5-7"/>
          <p:cNvSpPr txBox="1"/>
          <p:nvPr/>
        </p:nvSpPr>
        <p:spPr>
          <a:xfrm>
            <a:off x="863346" y="6303010"/>
            <a:ext cx="1071245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읽기 지원</a:t>
            </a:r>
            <a:endParaRPr lang="en-US" sz="1600" dirty="0"/>
          </a:p>
        </p:txBody>
      </p:sp>
      <p:sp>
        <p:nvSpPr>
          <p:cNvPr id="44" name="txt-5-8"/>
          <p:cNvSpPr txBox="1"/>
          <p:nvPr/>
        </p:nvSpPr>
        <p:spPr>
          <a:xfrm>
            <a:off x="2742565" y="6837934"/>
            <a:ext cx="2655951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캐릭터와의 대화 · 다양한 독후활동</a:t>
            </a:r>
            <a:endParaRPr lang="en-US" sz="1250" dirty="0"/>
          </a:p>
        </p:txBody>
      </p:sp>
      <p:sp>
        <p:nvSpPr>
          <p:cNvPr id="45" name="txt-5-9"/>
          <p:cNvSpPr txBox="1"/>
          <p:nvPr/>
        </p:nvSpPr>
        <p:spPr>
          <a:xfrm>
            <a:off x="863346" y="67979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생각과 표현</a:t>
            </a:r>
            <a:endParaRPr lang="en-US" sz="1600" dirty="0"/>
          </a:p>
        </p:txBody>
      </p:sp>
      <p:sp>
        <p:nvSpPr>
          <p:cNvPr id="46" name="txt-5-10"/>
          <p:cNvSpPr txBox="1"/>
          <p:nvPr/>
        </p:nvSpPr>
        <p:spPr>
          <a:xfrm>
            <a:off x="2742565" y="7333234"/>
            <a:ext cx="2910459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독서 기록 자산 · 수업 자료 · 학생 기록</a:t>
            </a:r>
            <a:endParaRPr lang="en-US" sz="1250" dirty="0"/>
          </a:p>
        </p:txBody>
      </p:sp>
      <p:sp>
        <p:nvSpPr>
          <p:cNvPr id="47" name="txt-5-11"/>
          <p:cNvSpPr txBox="1"/>
          <p:nvPr/>
        </p:nvSpPr>
        <p:spPr>
          <a:xfrm>
            <a:off x="863346" y="7293229"/>
            <a:ext cx="1287272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ko-KR" altLang="en-US" sz="160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기록과 지도</a:t>
            </a:r>
            <a:endParaRPr lang="en-US" sz="1600" dirty="0"/>
          </a:p>
        </p:txBody>
      </p:sp>
      <p:sp>
        <p:nvSpPr>
          <p:cNvPr id="48" name="txt-5-12"/>
          <p:cNvSpPr txBox="1"/>
          <p:nvPr/>
        </p:nvSpPr>
        <p:spPr>
          <a:xfrm>
            <a:off x="863346" y="7920482"/>
            <a:ext cx="4726559" cy="43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5"/>
              </a:lnSpc>
              <a:buNone/>
            </a:pPr>
            <a:r>
              <a:rPr lang="ko-KR" altLang="en-US" sz="205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온라인과 오프라인에서 같은 수업을</a:t>
            </a:r>
            <a:endParaRPr lang="en-US" sz="2050" dirty="0"/>
          </a:p>
        </p:txBody>
      </p:sp>
      <p:sp>
        <p:nvSpPr>
          <p:cNvPr id="49" name="txt-5-13"/>
          <p:cNvSpPr txBox="1"/>
          <p:nvPr/>
        </p:nvSpPr>
        <p:spPr>
          <a:xfrm>
            <a:off x="381000" y="8435213"/>
            <a:ext cx="714095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온라인에서는 화면에 답하고 포트폴리오에 기록합니다. 오프라인에서는 같은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활동지를 인쇄해 손글씨, 그림, 역할극으로 읽은 내용을 표현합니다.</a:t>
            </a:r>
            <a:endParaRPr lang="en-US" sz="1500" dirty="0"/>
          </a:p>
        </p:txBody>
      </p:sp>
      <p:sp>
        <p:nvSpPr>
          <p:cNvPr id="50" name="txt-5-14"/>
          <p:cNvSpPr txBox="1"/>
          <p:nvPr/>
        </p:nvSpPr>
        <p:spPr>
          <a:xfrm>
            <a:off x="381000" y="9057386"/>
            <a:ext cx="7045706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교사는 우리 반의 고민에 맞는 책과 질문을 고르고, 학생의 답을 보며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ko-KR" altLang="en-US" sz="15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질문과 피드백을 정합니다. 읽기와 학급 생활을 함께 잇는 수업입니다.</a:t>
            </a:r>
            <a:endParaRPr lang="en-US" sz="1500" dirty="0"/>
          </a:p>
        </p:txBody>
      </p:sp>
      <p:sp>
        <p:nvSpPr>
          <p:cNvPr id="51" name="txt-5-15"/>
          <p:cNvSpPr txBox="1"/>
          <p:nvPr/>
        </p:nvSpPr>
        <p:spPr>
          <a:xfrm>
            <a:off x="1251204" y="9831959"/>
            <a:ext cx="5056886" cy="523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01D42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경남의 아이들이 스스로 이해하고 판단하는 사람으로 자라도록,</a:t>
            </a:r>
            <a:endParaRPr lang="en-US" sz="1280" dirty="0"/>
          </a:p>
          <a:p>
            <a:pPr algn="ctr" indent="0" marL="0">
              <a:lnSpc>
                <a:spcPts val="1792"/>
              </a:lnSpc>
              <a:buNone/>
            </a:pPr>
            <a:r>
              <a:rPr lang="ko-KR" altLang="en-US" sz="1280" dirty="0">
                <a:solidFill>
                  <a:srgbClr val="15543C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기본 독서교육을 함께 지켜 주십시오.</a:t>
            </a:r>
            <a:endParaRPr lang="en-US" sz="1280" dirty="0"/>
          </a:p>
        </p:txBody>
      </p:sp>
      <p:sp>
        <p:nvSpPr>
          <p:cNvPr id="52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>
                <a:solidFill>
                  <a:srgbClr val="101D4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2026-10-28T11:54:38Z</dcterms:created>
  <dcterms:modified xsi:type="dcterms:W3CDTF">2026-10-28T11:54:38Z</dcterms:modified>
</cp:coreProperties>
</file>