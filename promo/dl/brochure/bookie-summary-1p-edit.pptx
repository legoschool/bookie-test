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>
  <ns0:sldMasterIdLst>
    <ns0:sldMasterId id="2147483648" ns1:id="rId1"/>
  </ns0:sldMasterIdLst>
  <ns0:sldIdLst>
    <ns0:sldId id="256" ns1:id="rId2"/>
  </ns0:sldIdLst>
  <ns0:notesMasterIdLst>
    <ns0:notesMasterId ns1:id="rId7"/>
  </ns0:notesMasterIdLst>
  <ns0:sldSz cx="7560005" cy="10692003"/>
  <ns0:notesSz cx="10692003" cy="7560005"/>
  <ns0:defaultTextStyle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5913" y="495300"/>
            <a:ext cx="5843143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" y="3136900"/>
            <a:ext cx="266700" cy="292100"/>
          </a:xfrm>
          <a:custGeom>
            <a:avLst/>
            <a:gdLst/>
            <a:ahLst/>
            <a:cxnLst/>
            <a:rect l="l" t="t" r="r" b="b"/>
            <a:pathLst>
              <a:path w="266700" h="292100">
                <a:moveTo>
                  <a:pt x="127000" y="292100"/>
                </a:moveTo>
                <a:lnTo>
                  <a:pt x="127000" y="139700"/>
                </a:lnTo>
                <a:cubicBezTo>
                  <a:pt x="63500" y="165100"/>
                  <a:pt x="0" y="139700"/>
                  <a:pt x="0" y="38100"/>
                </a:cubicBezTo>
                <a:cubicBezTo>
                  <a:pt x="101600" y="25400"/>
                  <a:pt x="127000" y="76200"/>
                  <a:pt x="127000" y="139700"/>
                </a:cubicBezTo>
                <a:cubicBezTo>
                  <a:pt x="127000" y="38100"/>
                  <a:pt x="203200" y="0"/>
                  <a:pt x="266700" y="12700"/>
                </a:cubicBezTo>
                <a:cubicBezTo>
                  <a:pt x="266700" y="101600"/>
                  <a:pt x="203200" y="152400"/>
                  <a:pt x="127000" y="1397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2616200" y="3124200"/>
            <a:ext cx="0" cy="90170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30500" y="3149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03200" y="101600"/>
                </a:moveTo>
                <a:cubicBezTo>
                  <a:pt x="203200" y="45491"/>
                  <a:pt x="157709" y="0"/>
                  <a:pt x="101600" y="0"/>
                </a:cubicBezTo>
                <a:cubicBezTo>
                  <a:pt x="45491" y="0"/>
                  <a:pt x="0" y="45491"/>
                  <a:pt x="0" y="101600"/>
                </a:cubicBezTo>
                <a:cubicBezTo>
                  <a:pt x="0" y="157709"/>
                  <a:pt x="45491" y="203200"/>
                  <a:pt x="101600" y="203200"/>
                </a:cubicBezTo>
                <a:cubicBezTo>
                  <a:pt x="157709" y="203200"/>
                  <a:pt x="203200" y="157709"/>
                  <a:pt x="203200" y="101600"/>
                </a:cubicBezTo>
              </a:path>
            </a:pathLst>
          </a:custGeom>
          <a:ln w="20320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81300" y="3340100"/>
            <a:ext cx="0" cy="5080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2900" y="3340100"/>
            <a:ext cx="0" cy="5080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81300" y="3390900"/>
            <a:ext cx="101600" cy="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94000" y="3429000"/>
            <a:ext cx="76200" cy="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2100" y="3251200"/>
            <a:ext cx="0" cy="12700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94000" y="3213100"/>
            <a:ext cx="38100" cy="3810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2100" y="3213100"/>
            <a:ext cx="38100" cy="3810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14900" y="3124200"/>
            <a:ext cx="0" cy="90170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91100" y="3124200"/>
            <a:ext cx="279400" cy="292100"/>
          </a:xfrm>
          <a:custGeom>
            <a:avLst/>
            <a:gdLst/>
            <a:ahLst/>
            <a:cxnLst/>
            <a:rect l="l" t="t" r="r" b="b"/>
            <a:pathLst>
              <a:path w="279400" h="292100">
                <a:moveTo>
                  <a:pt x="139700" y="292100"/>
                </a:moveTo>
                <a:cubicBezTo>
                  <a:pt x="101600" y="241300"/>
                  <a:pt x="0" y="190500"/>
                  <a:pt x="0" y="101600"/>
                </a:cubicBezTo>
                <a:cubicBezTo>
                  <a:pt x="0" y="0"/>
                  <a:pt x="114300" y="0"/>
                  <a:pt x="139700" y="76200"/>
                </a:cubicBezTo>
                <a:cubicBezTo>
                  <a:pt x="165100" y="0"/>
                  <a:pt x="279400" y="0"/>
                  <a:pt x="279400" y="101600"/>
                </a:cubicBezTo>
                <a:cubicBezTo>
                  <a:pt x="279400" y="190500"/>
                  <a:pt x="177800" y="241300"/>
                  <a:pt x="139700" y="2921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5" name="Shape 13"/>
          <p:cNvSpPr/>
          <p:nvPr/>
        </p:nvSpPr>
        <p:spPr>
          <a:xfrm>
            <a:off x="317500" y="4508500"/>
            <a:ext cx="6925056" cy="1701800"/>
          </a:xfrm>
          <a:prstGeom prst="roundRect">
            <a:avLst>
              <a:gd name="adj" fmla="val 5970"/>
            </a:avLst>
          </a:prstGeom>
          <a:solidFill>
            <a:srgbClr val="F6F5F0"/>
          </a:solidFill>
          <a:ln/>
        </p:spPr>
      </p:sp>
      <p:sp>
        <p:nvSpPr>
          <p:cNvPr id="16" name="Shape 14"/>
          <p:cNvSpPr/>
          <p:nvPr/>
        </p:nvSpPr>
        <p:spPr>
          <a:xfrm>
            <a:off x="876300" y="5867400"/>
            <a:ext cx="1676400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17" name="Shape 15"/>
          <p:cNvSpPr/>
          <p:nvPr/>
        </p:nvSpPr>
        <p:spPr>
          <a:xfrm>
            <a:off x="2946400" y="5867400"/>
            <a:ext cx="1676400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18" name="Shape 16"/>
          <p:cNvSpPr/>
          <p:nvPr/>
        </p:nvSpPr>
        <p:spPr>
          <a:xfrm>
            <a:off x="5016500" y="5867400"/>
            <a:ext cx="1676400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19" name="Shape 17"/>
          <p:cNvSpPr/>
          <p:nvPr/>
        </p:nvSpPr>
        <p:spPr>
          <a:xfrm>
            <a:off x="317500" y="7645400"/>
            <a:ext cx="1676400" cy="825500"/>
          </a:xfrm>
          <a:prstGeom prst="roundRect">
            <a:avLst>
              <a:gd name="adj" fmla="val 9231"/>
            </a:avLst>
          </a:prstGeom>
          <a:solidFill>
            <a:srgbClr val="F0F5EF"/>
          </a:solidFill>
          <a:ln/>
        </p:spPr>
      </p:sp>
      <p:sp>
        <p:nvSpPr>
          <p:cNvPr id="20" name="Shape 18"/>
          <p:cNvSpPr/>
          <p:nvPr/>
        </p:nvSpPr>
        <p:spPr>
          <a:xfrm>
            <a:off x="443484" y="7784084"/>
            <a:ext cx="256159" cy="244475"/>
          </a:xfrm>
          <a:custGeom>
            <a:avLst/>
            <a:gdLst/>
            <a:ahLst/>
            <a:cxnLst/>
            <a:rect l="l" t="t" r="r" b="b"/>
            <a:pathLst>
              <a:path w="256159" h="244475">
                <a:moveTo>
                  <a:pt x="128054" y="244475"/>
                </a:moveTo>
                <a:lnTo>
                  <a:pt x="128054" y="34925"/>
                </a:lnTo>
                <a:cubicBezTo>
                  <a:pt x="81496" y="0"/>
                  <a:pt x="34925" y="0"/>
                  <a:pt x="0" y="23279"/>
                </a:cubicBezTo>
                <a:lnTo>
                  <a:pt x="0" y="232829"/>
                </a:lnTo>
                <a:cubicBezTo>
                  <a:pt x="34925" y="209550"/>
                  <a:pt x="81496" y="209550"/>
                  <a:pt x="128054" y="244475"/>
                </a:cubicBezTo>
                <a:cubicBezTo>
                  <a:pt x="174625" y="209550"/>
                  <a:pt x="221196" y="209550"/>
                  <a:pt x="256121" y="232829"/>
                </a:cubicBezTo>
                <a:lnTo>
                  <a:pt x="256121" y="23279"/>
                </a:lnTo>
                <a:cubicBezTo>
                  <a:pt x="221196" y="0"/>
                  <a:pt x="174625" y="0"/>
                  <a:pt x="128054" y="34925"/>
                </a:cubicBezTo>
              </a:path>
            </a:pathLst>
          </a:custGeom>
          <a:ln w="18669">
            <a:solidFill>
              <a:srgbClr val="1554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63750" y="7645400"/>
            <a:ext cx="1676400" cy="825500"/>
          </a:xfrm>
          <a:prstGeom prst="roundRect">
            <a:avLst>
              <a:gd name="adj" fmla="val 9231"/>
            </a:avLst>
          </a:prstGeom>
          <a:solidFill>
            <a:srgbClr val="F0F5EF"/>
          </a:solidFill>
          <a:ln/>
        </p:spPr>
      </p:sp>
      <p:sp>
        <p:nvSpPr>
          <p:cNvPr id="22" name="Shape 20"/>
          <p:cNvSpPr/>
          <p:nvPr/>
        </p:nvSpPr>
        <p:spPr>
          <a:xfrm>
            <a:off x="2189734" y="7795641"/>
            <a:ext cx="256159" cy="186309"/>
          </a:xfrm>
          <a:custGeom>
            <a:avLst/>
            <a:gdLst/>
            <a:ahLst/>
            <a:cxnLst/>
            <a:rect l="l" t="t" r="r" b="b"/>
            <a:pathLst>
              <a:path w="256159" h="186309">
                <a:moveTo>
                  <a:pt x="58204" y="186271"/>
                </a:moveTo>
                <a:lnTo>
                  <a:pt x="197904" y="186271"/>
                </a:lnTo>
                <a:cubicBezTo>
                  <a:pt x="230086" y="186271"/>
                  <a:pt x="256121" y="160236"/>
                  <a:pt x="256121" y="128054"/>
                </a:cubicBezTo>
                <a:lnTo>
                  <a:pt x="256121" y="58204"/>
                </a:lnTo>
                <a:cubicBezTo>
                  <a:pt x="256121" y="26035"/>
                  <a:pt x="230086" y="0"/>
                  <a:pt x="197904" y="0"/>
                </a:cubicBezTo>
                <a:lnTo>
                  <a:pt x="58204" y="0"/>
                </a:lnTo>
                <a:cubicBezTo>
                  <a:pt x="26035" y="0"/>
                  <a:pt x="0" y="26035"/>
                  <a:pt x="0" y="58204"/>
                </a:cubicBezTo>
                <a:lnTo>
                  <a:pt x="0" y="128054"/>
                </a:lnTo>
                <a:cubicBezTo>
                  <a:pt x="0" y="160236"/>
                  <a:pt x="26035" y="186271"/>
                  <a:pt x="58204" y="186271"/>
                </a:cubicBezTo>
              </a:path>
            </a:pathLst>
          </a:custGeom>
          <a:ln w="18669">
            <a:solidFill>
              <a:srgbClr val="1554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4659" y="7981950"/>
            <a:ext cx="23241" cy="58166"/>
          </a:xfrm>
          <a:prstGeom prst="line">
            <a:avLst/>
          </a:prstGeom>
          <a:noFill/>
          <a:ln w="18669">
            <a:solidFill>
              <a:srgbClr val="1554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4659" y="7981950"/>
            <a:ext cx="93091" cy="58166"/>
          </a:xfrm>
          <a:prstGeom prst="line">
            <a:avLst/>
          </a:prstGeom>
          <a:noFill/>
          <a:ln w="18669">
            <a:solidFill>
              <a:srgbClr val="1554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50186" y="7879461"/>
            <a:ext cx="18669" cy="18669"/>
          </a:xfrm>
          <a:custGeom>
            <a:avLst/>
            <a:gdLst/>
            <a:ahLst/>
            <a:cxnLst/>
            <a:rect l="l" t="t" r="r" b="b"/>
            <a:pathLst>
              <a:path w="18669" h="18669">
                <a:moveTo>
                  <a:pt x="18631" y="9309"/>
                </a:moveTo>
                <a:cubicBezTo>
                  <a:pt x="18631" y="4166"/>
                  <a:pt x="14453" y="0"/>
                  <a:pt x="9309" y="0"/>
                </a:cubicBezTo>
                <a:cubicBezTo>
                  <a:pt x="4166" y="0"/>
                  <a:pt x="0" y="4166"/>
                  <a:pt x="0" y="9309"/>
                </a:cubicBezTo>
                <a:cubicBezTo>
                  <a:pt x="0" y="14453"/>
                  <a:pt x="4166" y="18631"/>
                  <a:pt x="9309" y="18631"/>
                </a:cubicBezTo>
                <a:cubicBezTo>
                  <a:pt x="14453" y="18631"/>
                  <a:pt x="18631" y="14453"/>
                  <a:pt x="18631" y="9309"/>
                </a:cubicBezTo>
              </a:path>
            </a:pathLst>
          </a:custGeom>
          <a:solidFill>
            <a:srgbClr val="15543C"/>
          </a:solidFill>
          <a:ln/>
        </p:spPr>
      </p:sp>
      <p:sp>
        <p:nvSpPr>
          <p:cNvPr id="26" name="Shape 24"/>
          <p:cNvSpPr/>
          <p:nvPr/>
        </p:nvSpPr>
        <p:spPr>
          <a:xfrm>
            <a:off x="2308479" y="7879461"/>
            <a:ext cx="18669" cy="18669"/>
          </a:xfrm>
          <a:custGeom>
            <a:avLst/>
            <a:gdLst/>
            <a:ahLst/>
            <a:cxnLst/>
            <a:rect l="l" t="t" r="r" b="b"/>
            <a:pathLst>
              <a:path w="18669" h="18669">
                <a:moveTo>
                  <a:pt x="18631" y="9309"/>
                </a:moveTo>
                <a:cubicBezTo>
                  <a:pt x="18631" y="4166"/>
                  <a:pt x="14453" y="0"/>
                  <a:pt x="9309" y="0"/>
                </a:cubicBezTo>
                <a:cubicBezTo>
                  <a:pt x="4166" y="0"/>
                  <a:pt x="0" y="4166"/>
                  <a:pt x="0" y="9309"/>
                </a:cubicBezTo>
                <a:cubicBezTo>
                  <a:pt x="0" y="14453"/>
                  <a:pt x="4166" y="18631"/>
                  <a:pt x="9309" y="18631"/>
                </a:cubicBezTo>
                <a:cubicBezTo>
                  <a:pt x="14453" y="18631"/>
                  <a:pt x="18631" y="14453"/>
                  <a:pt x="18631" y="9309"/>
                </a:cubicBezTo>
              </a:path>
            </a:pathLst>
          </a:custGeom>
          <a:solidFill>
            <a:srgbClr val="15543C"/>
          </a:solidFill>
          <a:ln/>
        </p:spPr>
      </p:sp>
      <p:sp>
        <p:nvSpPr>
          <p:cNvPr id="27" name="Shape 25"/>
          <p:cNvSpPr/>
          <p:nvPr/>
        </p:nvSpPr>
        <p:spPr>
          <a:xfrm>
            <a:off x="2366645" y="7879461"/>
            <a:ext cx="18669" cy="18669"/>
          </a:xfrm>
          <a:custGeom>
            <a:avLst/>
            <a:gdLst/>
            <a:ahLst/>
            <a:cxnLst/>
            <a:rect l="l" t="t" r="r" b="b"/>
            <a:pathLst>
              <a:path w="18669" h="18669">
                <a:moveTo>
                  <a:pt x="18631" y="9309"/>
                </a:moveTo>
                <a:cubicBezTo>
                  <a:pt x="18631" y="4166"/>
                  <a:pt x="14453" y="0"/>
                  <a:pt x="9309" y="0"/>
                </a:cubicBezTo>
                <a:cubicBezTo>
                  <a:pt x="4166" y="0"/>
                  <a:pt x="0" y="4166"/>
                  <a:pt x="0" y="9309"/>
                </a:cubicBezTo>
                <a:cubicBezTo>
                  <a:pt x="0" y="14453"/>
                  <a:pt x="4166" y="18631"/>
                  <a:pt x="9309" y="18631"/>
                </a:cubicBezTo>
                <a:cubicBezTo>
                  <a:pt x="14453" y="18631"/>
                  <a:pt x="18631" y="14453"/>
                  <a:pt x="18631" y="9309"/>
                </a:cubicBezTo>
              </a:path>
            </a:pathLst>
          </a:custGeom>
          <a:solidFill>
            <a:srgbClr val="15543C"/>
          </a:solidFill>
          <a:ln/>
        </p:spPr>
      </p:sp>
      <p:sp>
        <p:nvSpPr>
          <p:cNvPr id="28" name="Shape 26"/>
          <p:cNvSpPr/>
          <p:nvPr/>
        </p:nvSpPr>
        <p:spPr>
          <a:xfrm>
            <a:off x="3810000" y="7645400"/>
            <a:ext cx="1676400" cy="825500"/>
          </a:xfrm>
          <a:prstGeom prst="roundRect">
            <a:avLst>
              <a:gd name="adj" fmla="val 9231"/>
            </a:avLst>
          </a:prstGeom>
          <a:solidFill>
            <a:srgbClr val="F0F5EF"/>
          </a:solidFill>
          <a:ln/>
        </p:spPr>
      </p:sp>
      <p:sp>
        <p:nvSpPr>
          <p:cNvPr id="29" name="Shape 27"/>
          <p:cNvSpPr/>
          <p:nvPr/>
        </p:nvSpPr>
        <p:spPr>
          <a:xfrm>
            <a:off x="3959225" y="7795641"/>
            <a:ext cx="232791" cy="232791"/>
          </a:xfrm>
          <a:custGeom>
            <a:avLst/>
            <a:gdLst/>
            <a:ahLst/>
            <a:cxnLst/>
            <a:rect l="l" t="t" r="r" b="b"/>
            <a:pathLst>
              <a:path w="232791" h="232791">
                <a:moveTo>
                  <a:pt x="0" y="232829"/>
                </a:moveTo>
                <a:lnTo>
                  <a:pt x="23279" y="151346"/>
                </a:lnTo>
                <a:lnTo>
                  <a:pt x="174625" y="0"/>
                </a:lnTo>
                <a:lnTo>
                  <a:pt x="232829" y="58204"/>
                </a:lnTo>
                <a:lnTo>
                  <a:pt x="81496" y="209550"/>
                </a:lnTo>
                <a:lnTo>
                  <a:pt x="0" y="232829"/>
                </a:lnTo>
              </a:path>
            </a:pathLst>
          </a:custGeom>
          <a:ln w="18669">
            <a:solidFill>
              <a:srgbClr val="1554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82466" y="7947025"/>
            <a:ext cx="58293" cy="58166"/>
          </a:xfrm>
          <a:prstGeom prst="line">
            <a:avLst/>
          </a:prstGeom>
          <a:noFill/>
          <a:ln w="18669">
            <a:solidFill>
              <a:srgbClr val="15543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98925" y="7830566"/>
            <a:ext cx="58166" cy="58293"/>
          </a:xfrm>
          <a:prstGeom prst="line">
            <a:avLst/>
          </a:prstGeom>
          <a:noFill/>
          <a:ln w="18669">
            <a:solidFill>
              <a:srgbClr val="1554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56250" y="7645400"/>
            <a:ext cx="1676400" cy="825500"/>
          </a:xfrm>
          <a:prstGeom prst="roundRect">
            <a:avLst>
              <a:gd name="adj" fmla="val 9231"/>
            </a:avLst>
          </a:prstGeom>
          <a:solidFill>
            <a:srgbClr val="F0F5EF"/>
          </a:solidFill>
          <a:ln/>
        </p:spPr>
      </p:sp>
      <p:sp>
        <p:nvSpPr>
          <p:cNvPr id="33" name="Shape 31"/>
          <p:cNvSpPr/>
          <p:nvPr/>
        </p:nvSpPr>
        <p:spPr>
          <a:xfrm>
            <a:off x="5705475" y="7947025"/>
            <a:ext cx="32639" cy="93091"/>
          </a:xfrm>
          <a:prstGeom prst="rect">
            <a:avLst/>
          </a:prstGeom>
          <a:solidFill>
            <a:srgbClr val="15543C"/>
          </a:solidFill>
          <a:ln/>
        </p:spPr>
      </p:sp>
      <p:sp>
        <p:nvSpPr>
          <p:cNvPr id="34" name="Shape 32"/>
          <p:cNvSpPr/>
          <p:nvPr/>
        </p:nvSpPr>
        <p:spPr>
          <a:xfrm>
            <a:off x="5775325" y="7888859"/>
            <a:ext cx="32639" cy="151384"/>
          </a:xfrm>
          <a:prstGeom prst="rect">
            <a:avLst/>
          </a:prstGeom>
          <a:solidFill>
            <a:srgbClr val="15543C"/>
          </a:solidFill>
          <a:ln/>
        </p:spPr>
      </p:sp>
      <p:sp>
        <p:nvSpPr>
          <p:cNvPr id="35" name="Shape 33"/>
          <p:cNvSpPr/>
          <p:nvPr/>
        </p:nvSpPr>
        <p:spPr>
          <a:xfrm>
            <a:off x="5845175" y="7830566"/>
            <a:ext cx="32639" cy="209550"/>
          </a:xfrm>
          <a:prstGeom prst="rect">
            <a:avLst/>
          </a:prstGeom>
          <a:solidFill>
            <a:srgbClr val="15543C"/>
          </a:solidFill>
          <a:ln/>
        </p:spPr>
      </p:sp>
      <p:sp>
        <p:nvSpPr>
          <p:cNvPr id="36" name="Shape 34"/>
          <p:cNvSpPr/>
          <p:nvPr/>
        </p:nvSpPr>
        <p:spPr>
          <a:xfrm>
            <a:off x="5915025" y="7772400"/>
            <a:ext cx="32639" cy="267716"/>
          </a:xfrm>
          <a:prstGeom prst="rect">
            <a:avLst/>
          </a:prstGeom>
          <a:solidFill>
            <a:srgbClr val="15543C"/>
          </a:solidFill>
          <a:ln/>
        </p:spPr>
      </p:sp>
      <p:sp>
        <p:nvSpPr>
          <p:cNvPr id="37" name="Shape 35"/>
          <p:cNvSpPr/>
          <p:nvPr/>
        </p:nvSpPr>
        <p:spPr>
          <a:xfrm>
            <a:off x="317500" y="8636000"/>
            <a:ext cx="6925056" cy="812800"/>
          </a:xfrm>
          <a:prstGeom prst="roundRect">
            <a:avLst>
              <a:gd name="adj" fmla="val 12500"/>
            </a:avLst>
          </a:prstGeom>
          <a:solidFill>
            <a:srgbClr val="F6F5F0"/>
          </a:solidFill>
          <a:ln/>
        </p:spPr>
      </p:sp>
      <p:sp>
        <p:nvSpPr>
          <p:cNvPr id="38" name="Shape 36"/>
          <p:cNvSpPr/>
          <p:nvPr/>
        </p:nvSpPr>
        <p:spPr>
          <a:xfrm>
            <a:off x="317500" y="9829800"/>
            <a:ext cx="6925056" cy="596900"/>
          </a:xfrm>
          <a:prstGeom prst="roundRect">
            <a:avLst>
              <a:gd name="adj" fmla="val 17021"/>
            </a:avLst>
          </a:prstGeom>
          <a:solidFill>
            <a:srgbClr val="F0F5EF"/>
          </a:solidFill>
          <a:ln/>
        </p:spPr>
      </p:sp>
      <p:pic>
        <p:nvPicPr>
          <p:cNvPr id="39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2300" y="6362700"/>
            <a:ext cx="1409700" cy="968248"/>
          </a:xfrm>
          <a:prstGeom prst="rect">
            <a:avLst/>
          </a:prstGeom>
        </p:spPr>
      </p:pic>
      <p:sp>
        <p:nvSpPr>
          <p:cNvPr id="40" name="txt-1-0"/>
          <p:cNvSpPr txBox="1"/>
          <p:nvPr/>
        </p:nvSpPr>
        <p:spPr>
          <a:xfrm>
            <a:off x="381000" y="296926"/>
            <a:ext cx="1035177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AI 시대,</a:t>
            </a:r>
            <a:endParaRPr lang="en-US" sz="1700" dirty="0"/>
          </a:p>
        </p:txBody>
      </p:sp>
      <p:sp>
        <p:nvSpPr>
          <p:cNvPr id="41" name="txt-1-1"/>
          <p:cNvSpPr txBox="1"/>
          <p:nvPr/>
        </p:nvSpPr>
        <p:spPr>
          <a:xfrm>
            <a:off x="355473" y="694182"/>
            <a:ext cx="5665724" cy="103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0"/>
              </a:lnSpc>
              <a:buNone/>
            </a:pPr>
            <a:r>
              <a:rPr lang="ko-KR" altLang="en-US" sz="48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독서는 모든 학습의</a:t>
            </a:r>
            <a:endParaRPr lang="en-US" sz="4800" dirty="0"/>
          </a:p>
        </p:txBody>
      </p:sp>
      <p:sp>
        <p:nvSpPr>
          <p:cNvPr id="42" name="txt-1-2"/>
          <p:cNvSpPr txBox="1"/>
          <p:nvPr/>
        </p:nvSpPr>
        <p:spPr>
          <a:xfrm>
            <a:off x="355473" y="1406271"/>
            <a:ext cx="3908044" cy="1116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60"/>
              </a:lnSpc>
              <a:buNone/>
            </a:pPr>
            <a:r>
              <a:rPr lang="ko-KR" altLang="en-US" sz="52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기본</a:t>
            </a:r>
            <a:pPr algn="l" indent="0" marL="0">
              <a:lnSpc>
                <a:spcPts val="6760"/>
              </a:lnSpc>
              <a:buNone/>
            </a:pPr>
            <a:r>
              <a:rPr lang="ko-KR" altLang="en-US" sz="52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입니다.</a:t>
            </a:r>
            <a:endParaRPr lang="en-US" sz="5200" dirty="0"/>
          </a:p>
        </p:txBody>
      </p:sp>
      <p:sp>
        <p:nvSpPr>
          <p:cNvPr id="43" name="txt-1-3"/>
          <p:cNvSpPr txBox="1"/>
          <p:nvPr/>
        </p:nvSpPr>
        <p:spPr>
          <a:xfrm>
            <a:off x="381000" y="2336419"/>
            <a:ext cx="5091049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ko-KR" altLang="en-US" sz="16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답을 내놓아도,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ko-KR" altLang="en-US" sz="16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읽고 이해하고 판단하는 힘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학생 안에 있어야 합니다.</a:t>
            </a:r>
            <a:endParaRPr lang="en-US" sz="1600" dirty="0"/>
          </a:p>
        </p:txBody>
      </p:sp>
      <p:sp>
        <p:nvSpPr>
          <p:cNvPr id="44" name="txt-1-4"/>
          <p:cNvSpPr txBox="1"/>
          <p:nvPr/>
        </p:nvSpPr>
        <p:spPr>
          <a:xfrm>
            <a:off x="787146" y="3116072"/>
            <a:ext cx="1358138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학습의 기본</a:t>
            </a:r>
            <a:endParaRPr lang="en-US" sz="1700" dirty="0"/>
          </a:p>
        </p:txBody>
      </p:sp>
      <p:sp>
        <p:nvSpPr>
          <p:cNvPr id="45" name="txt-1-5"/>
          <p:cNvSpPr txBox="1"/>
          <p:nvPr/>
        </p:nvSpPr>
        <p:spPr>
          <a:xfrm>
            <a:off x="3085465" y="3116072"/>
            <a:ext cx="1358138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사고의 기본</a:t>
            </a:r>
            <a:endParaRPr lang="en-US" sz="1700" dirty="0"/>
          </a:p>
        </p:txBody>
      </p:sp>
      <p:sp>
        <p:nvSpPr>
          <p:cNvPr id="46" name="txt-1-6"/>
          <p:cNvSpPr txBox="1"/>
          <p:nvPr/>
        </p:nvSpPr>
        <p:spPr>
          <a:xfrm>
            <a:off x="5383784" y="3116072"/>
            <a:ext cx="1128776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삶의 기본</a:t>
            </a:r>
            <a:endParaRPr lang="en-US" sz="1700" dirty="0"/>
          </a:p>
        </p:txBody>
      </p:sp>
      <p:sp>
        <p:nvSpPr>
          <p:cNvPr id="47" name="txt-1-7"/>
          <p:cNvSpPr txBox="1"/>
          <p:nvPr/>
        </p:nvSpPr>
        <p:spPr>
          <a:xfrm>
            <a:off x="398653" y="3540252"/>
            <a:ext cx="2162683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ko-KR" altLang="en-US" sz="108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낱말과 문장의 뜻을 이해하고</a:t>
            </a:r>
            <a:endParaRPr lang="en-US" sz="1080" dirty="0"/>
          </a:p>
          <a:p>
            <a:pPr algn="ctr" indent="0" marL="0">
              <a:lnSpc>
                <a:spcPts val="1600"/>
              </a:lnSpc>
              <a:buNone/>
            </a:pPr>
            <a:r>
              <a:rPr lang="ko-KR" altLang="en-US" sz="108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교과의 학습</a:t>
            </a:r>
            <a:pPr algn="ctr" indent="0" marL="0">
              <a:lnSpc>
                <a:spcPts val="1600"/>
              </a:lnSpc>
              <a:buNone/>
            </a:pPr>
            <a:r>
              <a:rPr lang="ko-KR" altLang="en-US" sz="108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이어 가는 힘</a:t>
            </a:r>
            <a:endParaRPr lang="en-US" sz="1080" dirty="0"/>
          </a:p>
        </p:txBody>
      </p:sp>
      <p:sp>
        <p:nvSpPr>
          <p:cNvPr id="48" name="txt-1-8"/>
          <p:cNvSpPr txBox="1"/>
          <p:nvPr/>
        </p:nvSpPr>
        <p:spPr>
          <a:xfrm>
            <a:off x="3178937" y="3540252"/>
            <a:ext cx="1503045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ko-KR" altLang="en-US" sz="108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근거를 찾고 질문하며</a:t>
            </a:r>
            <a:endParaRPr lang="en-US" sz="1080" dirty="0"/>
          </a:p>
          <a:p>
            <a:pPr algn="l" indent="0" marL="0">
              <a:lnSpc>
                <a:spcPts val="1600"/>
              </a:lnSpc>
              <a:buNone/>
            </a:pPr>
            <a:r>
              <a:rPr lang="ko-KR" altLang="en-US" sz="108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 생각을 세우는 힘</a:t>
            </a:r>
            <a:endParaRPr lang="en-US" sz="1080" dirty="0"/>
          </a:p>
        </p:txBody>
      </p:sp>
      <p:sp>
        <p:nvSpPr>
          <p:cNvPr id="49" name="txt-1-9"/>
          <p:cNvSpPr txBox="1"/>
          <p:nvPr/>
        </p:nvSpPr>
        <p:spPr>
          <a:xfrm>
            <a:off x="5241290" y="3540252"/>
            <a:ext cx="1668907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ko-KR" altLang="en-US" sz="108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 속의 다른 삶을 만나</a:t>
            </a:r>
            <a:endParaRPr lang="en-US" sz="1080" dirty="0"/>
          </a:p>
          <a:p>
            <a:pPr algn="ctr" indent="0" marL="0">
              <a:lnSpc>
                <a:spcPts val="1600"/>
              </a:lnSpc>
              <a:buNone/>
            </a:pPr>
            <a:r>
              <a:rPr lang="ko-KR" altLang="en-US" sz="108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나와 타인을 이해하는 힘</a:t>
            </a:r>
            <a:endParaRPr lang="en-US" sz="1080" dirty="0"/>
          </a:p>
        </p:txBody>
      </p:sp>
      <p:sp>
        <p:nvSpPr>
          <p:cNvPr id="50" name="txt-1-10"/>
          <p:cNvSpPr txBox="1"/>
          <p:nvPr/>
        </p:nvSpPr>
        <p:spPr>
          <a:xfrm>
            <a:off x="1478280" y="4168521"/>
            <a:ext cx="460184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읽고 근거를 찾는 연습이 AI의 답을 판단할 바탕이 됩니다.*</a:t>
            </a:r>
            <a:endParaRPr lang="en-US" sz="1000" dirty="0"/>
          </a:p>
        </p:txBody>
      </p:sp>
      <p:sp>
        <p:nvSpPr>
          <p:cNvPr id="51" name="txt-1-11"/>
          <p:cNvSpPr txBox="1"/>
          <p:nvPr/>
        </p:nvSpPr>
        <p:spPr>
          <a:xfrm>
            <a:off x="482346" y="4628134"/>
            <a:ext cx="5168646" cy="579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ko-KR" altLang="en-US" sz="2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기본이 쌓일 시간이 필요합니다</a:t>
            </a:r>
            <a:endParaRPr lang="en-US" sz="2700" dirty="0"/>
          </a:p>
        </p:txBody>
      </p:sp>
      <p:sp>
        <p:nvSpPr>
          <p:cNvPr id="52" name="txt-1-12"/>
          <p:cNvSpPr txBox="1"/>
          <p:nvPr/>
        </p:nvSpPr>
        <p:spPr>
          <a:xfrm>
            <a:off x="495300" y="5127625"/>
            <a:ext cx="7026656" cy="540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ko-KR" altLang="en-US" sz="121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전자도서관과 책이 있어도 낯선 어휘에서 막히면 이해와 재미가 끊깁니다.</a:t>
            </a:r>
            <a:endParaRPr lang="en-US" sz="1210" dirty="0"/>
          </a:p>
          <a:p>
            <a:pPr algn="l" indent="0" marL="0">
              <a:lnSpc>
                <a:spcPts val="1850"/>
              </a:lnSpc>
              <a:buNone/>
            </a:pPr>
            <a:r>
              <a:rPr lang="ko-KR" altLang="en-US" sz="121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읽는 중의 도움과 교사의 질문을 연결해 한 권 읽는 경험을 돕습니다.</a:t>
            </a:r>
            <a:endParaRPr lang="en-US" sz="1210" dirty="0"/>
          </a:p>
        </p:txBody>
      </p:sp>
      <p:sp>
        <p:nvSpPr>
          <p:cNvPr id="53" name="txt-1-13"/>
          <p:cNvSpPr txBox="1"/>
          <p:nvPr/>
        </p:nvSpPr>
        <p:spPr>
          <a:xfrm>
            <a:off x="2679319" y="5862955"/>
            <a:ext cx="334010" cy="279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ko-KR" altLang="en-US" sz="1300" dirty="0">
                <a:solidFill>
                  <a:srgbClr val="D59B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300" dirty="0"/>
          </a:p>
        </p:txBody>
      </p:sp>
      <p:sp>
        <p:nvSpPr>
          <p:cNvPr id="54" name="txt-1-14"/>
          <p:cNvSpPr txBox="1"/>
          <p:nvPr/>
        </p:nvSpPr>
        <p:spPr>
          <a:xfrm>
            <a:off x="4749038" y="5862955"/>
            <a:ext cx="334010" cy="279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ko-KR" altLang="en-US" sz="1300" dirty="0">
                <a:solidFill>
                  <a:srgbClr val="D59B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300" dirty="0"/>
          </a:p>
        </p:txBody>
      </p:sp>
      <p:sp>
        <p:nvSpPr>
          <p:cNvPr id="55" name="txt-1-15"/>
          <p:cNvSpPr txBox="1"/>
          <p:nvPr/>
        </p:nvSpPr>
        <p:spPr>
          <a:xfrm>
            <a:off x="1261364" y="5897499"/>
            <a:ext cx="907161" cy="236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모르는 낱말</a:t>
            </a:r>
            <a:endParaRPr lang="en-US" sz="1100" dirty="0"/>
          </a:p>
        </p:txBody>
      </p:sp>
      <p:sp>
        <p:nvSpPr>
          <p:cNvPr id="56" name="txt-1-16"/>
          <p:cNvSpPr txBox="1"/>
          <p:nvPr/>
        </p:nvSpPr>
        <p:spPr>
          <a:xfrm>
            <a:off x="3331083" y="5897499"/>
            <a:ext cx="907161" cy="236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이해의 중단</a:t>
            </a:r>
            <a:endParaRPr lang="en-US" sz="1100" dirty="0"/>
          </a:p>
        </p:txBody>
      </p:sp>
      <p:sp>
        <p:nvSpPr>
          <p:cNvPr id="57" name="txt-1-17"/>
          <p:cNvSpPr txBox="1"/>
          <p:nvPr/>
        </p:nvSpPr>
        <p:spPr>
          <a:xfrm>
            <a:off x="5400802" y="5897499"/>
            <a:ext cx="907161" cy="236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읽기의 포기</a:t>
            </a:r>
            <a:endParaRPr lang="en-US" sz="1100" dirty="0"/>
          </a:p>
        </p:txBody>
      </p:sp>
      <p:sp>
        <p:nvSpPr>
          <p:cNvPr id="58" name="txt-1-18"/>
          <p:cNvSpPr txBox="1"/>
          <p:nvPr/>
        </p:nvSpPr>
        <p:spPr>
          <a:xfrm>
            <a:off x="381000" y="6415151"/>
            <a:ext cx="4904105" cy="450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ko-KR" altLang="en-US" sz="21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초등교사들이 뜻을 모아 만들었습니다</a:t>
            </a:r>
            <a:endParaRPr lang="en-US" sz="2100" dirty="0"/>
          </a:p>
        </p:txBody>
      </p:sp>
      <p:sp>
        <p:nvSpPr>
          <p:cNvPr id="59" name="txt-1-19"/>
          <p:cNvSpPr txBox="1"/>
          <p:nvPr/>
        </p:nvSpPr>
        <p:spPr>
          <a:xfrm>
            <a:off x="381000" y="6811899"/>
            <a:ext cx="4670044" cy="493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ko-KR" altLang="en-US" sz="23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부기는 </a:t>
            </a:r>
            <a:pPr algn="l" indent="0" marL="0">
              <a:lnSpc>
                <a:spcPts val="2990"/>
              </a:lnSpc>
              <a:buNone/>
            </a:pPr>
            <a:r>
              <a:rPr lang="ko-KR" altLang="en-US" sz="23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 대신 질문</a:t>
            </a:r>
            <a:pPr algn="l" indent="0" marL="0">
              <a:lnSpc>
                <a:spcPts val="2990"/>
              </a:lnSpc>
              <a:buNone/>
            </a:pPr>
            <a:r>
              <a:rPr lang="ko-KR" altLang="en-US" sz="23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건넵니다.</a:t>
            </a:r>
            <a:endParaRPr lang="en-US" sz="2300" dirty="0"/>
          </a:p>
        </p:txBody>
      </p:sp>
      <p:sp>
        <p:nvSpPr>
          <p:cNvPr id="60" name="txt-1-20"/>
          <p:cNvSpPr txBox="1"/>
          <p:nvPr/>
        </p:nvSpPr>
        <p:spPr>
          <a:xfrm>
            <a:off x="381000" y="7313422"/>
            <a:ext cx="4235577" cy="22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온라인과 인쇄 활동지로 같은 책과 질문을 함께 읽습니다.</a:t>
            </a:r>
            <a:endParaRPr lang="en-US" sz="1050" dirty="0"/>
          </a:p>
        </p:txBody>
      </p:sp>
      <p:sp>
        <p:nvSpPr>
          <p:cNvPr id="61" name="txt-1-21"/>
          <p:cNvSpPr txBox="1"/>
          <p:nvPr/>
        </p:nvSpPr>
        <p:spPr>
          <a:xfrm>
            <a:off x="825246" y="7737856"/>
            <a:ext cx="584200" cy="34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ko-KR" altLang="en-US" sz="16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읽기</a:t>
            </a:r>
            <a:endParaRPr lang="en-US" sz="1600" dirty="0"/>
          </a:p>
        </p:txBody>
      </p:sp>
      <p:sp>
        <p:nvSpPr>
          <p:cNvPr id="62" name="txt-1-22"/>
          <p:cNvSpPr txBox="1"/>
          <p:nvPr/>
        </p:nvSpPr>
        <p:spPr>
          <a:xfrm>
            <a:off x="2571242" y="7737856"/>
            <a:ext cx="584200" cy="34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ko-KR" altLang="en-US" sz="16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묻기</a:t>
            </a:r>
            <a:endParaRPr lang="en-US" sz="1600" dirty="0"/>
          </a:p>
        </p:txBody>
      </p:sp>
      <p:sp>
        <p:nvSpPr>
          <p:cNvPr id="63" name="txt-1-23"/>
          <p:cNvSpPr txBox="1"/>
          <p:nvPr/>
        </p:nvSpPr>
        <p:spPr>
          <a:xfrm>
            <a:off x="4317238" y="7737856"/>
            <a:ext cx="1016127" cy="34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ko-KR" altLang="en-US" sz="16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표현하기</a:t>
            </a:r>
            <a:endParaRPr lang="en-US" sz="1600" dirty="0"/>
          </a:p>
        </p:txBody>
      </p:sp>
      <p:sp>
        <p:nvSpPr>
          <p:cNvPr id="64" name="txt-1-24"/>
          <p:cNvSpPr txBox="1"/>
          <p:nvPr/>
        </p:nvSpPr>
        <p:spPr>
          <a:xfrm>
            <a:off x="5951220" y="7737856"/>
            <a:ext cx="811911" cy="34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ko-KR" altLang="en-US" sz="16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모으기</a:t>
            </a:r>
            <a:endParaRPr lang="en-US" sz="1600" dirty="0"/>
          </a:p>
        </p:txBody>
      </p:sp>
      <p:sp>
        <p:nvSpPr>
          <p:cNvPr id="65" name="txt-1-25"/>
          <p:cNvSpPr txBox="1"/>
          <p:nvPr/>
        </p:nvSpPr>
        <p:spPr>
          <a:xfrm>
            <a:off x="616077" y="8082280"/>
            <a:ext cx="1080135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8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능동적 그림 읽기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ko-KR" altLang="en-US" sz="8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낱말 · 다국어 지원</a:t>
            </a:r>
            <a:endParaRPr lang="en-US" sz="850" dirty="0"/>
          </a:p>
        </p:txBody>
      </p:sp>
      <p:sp>
        <p:nvSpPr>
          <p:cNvPr id="66" name="txt-1-26"/>
          <p:cNvSpPr txBox="1"/>
          <p:nvPr/>
        </p:nvSpPr>
        <p:spPr>
          <a:xfrm>
            <a:off x="2228342" y="8082280"/>
            <a:ext cx="1345946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8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캐릭터와의 대화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ko-KR" altLang="en-US" sz="8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생각한 까닭을 묻는 질문</a:t>
            </a:r>
            <a:endParaRPr lang="en-US" sz="850" dirty="0"/>
          </a:p>
        </p:txBody>
      </p:sp>
      <p:sp>
        <p:nvSpPr>
          <p:cNvPr id="67" name="txt-1-27"/>
          <p:cNvSpPr txBox="1"/>
          <p:nvPr/>
        </p:nvSpPr>
        <p:spPr>
          <a:xfrm>
            <a:off x="3796030" y="8082280"/>
            <a:ext cx="1701165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8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글, 그림, 편지 쓰기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ko-KR" altLang="en-US" sz="8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화면과 인쇄 활동지로 참여</a:t>
            </a:r>
            <a:endParaRPr lang="en-US" sz="850" dirty="0"/>
          </a:p>
        </p:txBody>
      </p:sp>
      <p:sp>
        <p:nvSpPr>
          <p:cNvPr id="68" name="txt-1-28"/>
          <p:cNvSpPr txBox="1"/>
          <p:nvPr/>
        </p:nvSpPr>
        <p:spPr>
          <a:xfrm>
            <a:off x="5553202" y="8082280"/>
            <a:ext cx="1679702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8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독서 기록 자산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ko-KR" altLang="en-US" sz="8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느끼고 달라졌는지 기록</a:t>
            </a:r>
            <a:endParaRPr lang="en-US" sz="850" dirty="0"/>
          </a:p>
        </p:txBody>
      </p:sp>
      <p:sp>
        <p:nvSpPr>
          <p:cNvPr id="69" name="txt-1-29"/>
          <p:cNvSpPr txBox="1"/>
          <p:nvPr/>
        </p:nvSpPr>
        <p:spPr>
          <a:xfrm>
            <a:off x="756666" y="8758047"/>
            <a:ext cx="1141476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ko-KR" altLang="en-US" sz="2400" dirty="0">
                <a:solidFill>
                  <a:srgbClr val="1554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72학급</a:t>
            </a:r>
            <a:endParaRPr lang="en-US" sz="2400" dirty="0"/>
          </a:p>
        </p:txBody>
      </p:sp>
      <p:sp>
        <p:nvSpPr>
          <p:cNvPr id="70" name="txt-1-30"/>
          <p:cNvSpPr txBox="1"/>
          <p:nvPr/>
        </p:nvSpPr>
        <p:spPr>
          <a:xfrm>
            <a:off x="2399538" y="8758047"/>
            <a:ext cx="1298448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ko-KR" altLang="en-US" sz="2400" dirty="0">
                <a:solidFill>
                  <a:srgbClr val="1554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1,196명</a:t>
            </a:r>
            <a:endParaRPr lang="en-US" sz="2400" dirty="0"/>
          </a:p>
        </p:txBody>
      </p:sp>
      <p:sp>
        <p:nvSpPr>
          <p:cNvPr id="71" name="txt-1-31"/>
          <p:cNvSpPr txBox="1"/>
          <p:nvPr/>
        </p:nvSpPr>
        <p:spPr>
          <a:xfrm>
            <a:off x="4029202" y="8758047"/>
            <a:ext cx="1484503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ko-KR" altLang="en-US" sz="2400" dirty="0">
                <a:solidFill>
                  <a:srgbClr val="1554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26,924건</a:t>
            </a:r>
            <a:endParaRPr lang="en-US" sz="2400" dirty="0"/>
          </a:p>
        </p:txBody>
      </p:sp>
      <p:sp>
        <p:nvSpPr>
          <p:cNvPr id="72" name="txt-1-32"/>
          <p:cNvSpPr txBox="1"/>
          <p:nvPr/>
        </p:nvSpPr>
        <p:spPr>
          <a:xfrm>
            <a:off x="5827903" y="8758047"/>
            <a:ext cx="1298448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ko-KR" altLang="en-US" sz="2400" dirty="0">
                <a:solidFill>
                  <a:srgbClr val="1554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1,816건</a:t>
            </a:r>
            <a:endParaRPr lang="en-US" sz="2400" dirty="0"/>
          </a:p>
        </p:txBody>
      </p:sp>
      <p:sp>
        <p:nvSpPr>
          <p:cNvPr id="73" name="txt-1-33"/>
          <p:cNvSpPr txBox="1"/>
          <p:nvPr/>
        </p:nvSpPr>
        <p:spPr>
          <a:xfrm>
            <a:off x="945896" y="9116314"/>
            <a:ext cx="725043" cy="22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학급</a:t>
            </a:r>
            <a:endParaRPr lang="en-US" sz="1050" dirty="0"/>
          </a:p>
        </p:txBody>
      </p:sp>
      <p:sp>
        <p:nvSpPr>
          <p:cNvPr id="74" name="txt-1-34"/>
          <p:cNvSpPr txBox="1"/>
          <p:nvPr/>
        </p:nvSpPr>
        <p:spPr>
          <a:xfrm>
            <a:off x="2522474" y="9116314"/>
            <a:ext cx="1027811" cy="22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사용 학생</a:t>
            </a:r>
            <a:endParaRPr lang="en-US" sz="1050" dirty="0"/>
          </a:p>
        </p:txBody>
      </p:sp>
      <p:sp>
        <p:nvSpPr>
          <p:cNvPr id="75" name="txt-1-35"/>
          <p:cNvSpPr txBox="1"/>
          <p:nvPr/>
        </p:nvSpPr>
        <p:spPr>
          <a:xfrm>
            <a:off x="4374261" y="9116314"/>
            <a:ext cx="725043" cy="22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완독 기록</a:t>
            </a:r>
            <a:endParaRPr lang="en-US" sz="1050" dirty="0"/>
          </a:p>
        </p:txBody>
      </p:sp>
      <p:sp>
        <p:nvSpPr>
          <p:cNvPr id="76" name="txt-1-36"/>
          <p:cNvSpPr txBox="1"/>
          <p:nvPr/>
        </p:nvSpPr>
        <p:spPr>
          <a:xfrm>
            <a:off x="5965952" y="9116314"/>
            <a:ext cx="994918" cy="22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독후활동 제출</a:t>
            </a:r>
            <a:endParaRPr lang="en-US" sz="1050" dirty="0"/>
          </a:p>
        </p:txBody>
      </p:sp>
      <p:sp>
        <p:nvSpPr>
          <p:cNvPr id="77" name="txt-1-37"/>
          <p:cNvSpPr txBox="1"/>
          <p:nvPr/>
        </p:nvSpPr>
        <p:spPr>
          <a:xfrm>
            <a:off x="2012823" y="9514586"/>
            <a:ext cx="3532124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9. 20.~10. 21. 선도교사단 온오프라인 운영 종합</a:t>
            </a:r>
            <a:endParaRPr lang="en-US" sz="1000" dirty="0"/>
          </a:p>
        </p:txBody>
      </p:sp>
      <p:sp>
        <p:nvSpPr>
          <p:cNvPr id="78" name="txt-1-38"/>
          <p:cNvSpPr txBox="1"/>
          <p:nvPr/>
        </p:nvSpPr>
        <p:spPr>
          <a:xfrm>
            <a:off x="1502410" y="9843897"/>
            <a:ext cx="4554855" cy="57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ko-KR" altLang="en-US" sz="14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경남의 모든 학생이 읽고 생각하는 기본을 갖추도록,</a:t>
            </a:r>
            <a:endParaRPr lang="en-US" sz="1400" dirty="0"/>
          </a:p>
          <a:p>
            <a:pPr algn="ctr" indent="0" marL="0">
              <a:lnSpc>
                <a:spcPts val="1960"/>
              </a:lnSpc>
              <a:buNone/>
            </a:pPr>
            <a:r>
              <a:rPr lang="ko-KR" altLang="en-US" sz="14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학교 독서교육의 지속적인 운영을 지원해 주십시오.</a:t>
            </a:r>
            <a:endParaRPr lang="en-US" sz="1400" dirty="0"/>
          </a:p>
        </p:txBody>
      </p:sp>
      <p:sp>
        <p:nvSpPr>
          <p:cNvPr id="79" name="txt-1-39"/>
          <p:cNvSpPr txBox="1"/>
          <p:nvPr/>
        </p:nvSpPr>
        <p:spPr>
          <a:xfrm>
            <a:off x="304800" y="10510393"/>
            <a:ext cx="6350000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buNone/>
            </a:pPr>
            <a:r>
              <a:rPr lang="ko-KR" altLang="en-US" sz="650" dirty="0">
                <a:solidFill>
                  <a:srgbClr val="4351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Kreijkes 외(2026), Computers &amp; Education 243, 105514. 중등학생 연구.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96082" y="495300"/>
            <a:ext cx="3982974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7416" y="2578100"/>
            <a:ext cx="277876" cy="304292"/>
          </a:xfrm>
          <a:custGeom>
            <a:avLst/>
            <a:gdLst/>
            <a:ahLst/>
            <a:cxnLst/>
            <a:rect l="l" t="t" r="r" b="b"/>
            <a:pathLst>
              <a:path w="277876" h="304292">
                <a:moveTo>
                  <a:pt x="132296" y="304267"/>
                </a:moveTo>
                <a:lnTo>
                  <a:pt x="132296" y="145517"/>
                </a:lnTo>
                <a:cubicBezTo>
                  <a:pt x="66142" y="171983"/>
                  <a:pt x="0" y="145517"/>
                  <a:pt x="0" y="39688"/>
                </a:cubicBezTo>
                <a:cubicBezTo>
                  <a:pt x="105829" y="26454"/>
                  <a:pt x="132296" y="79375"/>
                  <a:pt x="132296" y="145517"/>
                </a:cubicBezTo>
                <a:cubicBezTo>
                  <a:pt x="132296" y="39688"/>
                  <a:pt x="211671" y="0"/>
                  <a:pt x="277813" y="13233"/>
                </a:cubicBezTo>
                <a:cubicBezTo>
                  <a:pt x="277813" y="105829"/>
                  <a:pt x="211671" y="158750"/>
                  <a:pt x="132296" y="14551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3266059" y="2755900"/>
            <a:ext cx="3912997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3959" y="447090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6791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2709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6791" y="472224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0126" y="476199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750" y="457669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0126" y="453707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750" y="453707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65697" y="4635500"/>
            <a:ext cx="713359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4208" y="6362192"/>
            <a:ext cx="291084" cy="304292"/>
          </a:xfrm>
          <a:custGeom>
            <a:avLst/>
            <a:gdLst/>
            <a:ahLst/>
            <a:cxnLst/>
            <a:rect l="l" t="t" r="r" b="b"/>
            <a:pathLst>
              <a:path w="291084" h="304292">
                <a:moveTo>
                  <a:pt x="145517" y="304267"/>
                </a:moveTo>
                <a:cubicBezTo>
                  <a:pt x="105829" y="251358"/>
                  <a:pt x="0" y="198438"/>
                  <a:pt x="0" y="105829"/>
                </a:cubicBezTo>
                <a:cubicBezTo>
                  <a:pt x="0" y="0"/>
                  <a:pt x="119063" y="0"/>
                  <a:pt x="145517" y="79375"/>
                </a:cubicBezTo>
                <a:cubicBezTo>
                  <a:pt x="171983" y="0"/>
                  <a:pt x="291046" y="0"/>
                  <a:pt x="291046" y="105829"/>
                </a:cubicBezTo>
                <a:cubicBezTo>
                  <a:pt x="291046" y="198438"/>
                  <a:pt x="185204" y="251358"/>
                  <a:pt x="145517" y="30426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5" name="Shape 13"/>
          <p:cNvSpPr/>
          <p:nvPr/>
        </p:nvSpPr>
        <p:spPr>
          <a:xfrm>
            <a:off x="4106037" y="6553200"/>
            <a:ext cx="3073019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500" y="9232900"/>
            <a:ext cx="6925056" cy="889000"/>
          </a:xfrm>
          <a:prstGeom prst="roundRect">
            <a:avLst>
              <a:gd name="adj" fmla="val 11429"/>
            </a:avLst>
          </a:prstGeom>
          <a:solidFill>
            <a:srgbClr val="F0F5EF"/>
          </a:solidFill>
          <a:ln/>
        </p:spPr>
      </p:sp>
      <p:sp>
        <p:nvSpPr>
          <p:cNvPr id="17" name="Shape 15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19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003300"/>
            <a:ext cx="1841500" cy="1264920"/>
          </a:xfrm>
          <a:prstGeom prst="rect">
            <a:avLst/>
          </a:prstGeom>
        </p:spPr>
      </p:pic>
      <p:sp>
        <p:nvSpPr>
          <p:cNvPr id="20" name="txt-2-0"/>
          <p:cNvSpPr txBox="1"/>
          <p:nvPr/>
        </p:nvSpPr>
        <p:spPr>
          <a:xfrm>
            <a:off x="381000" y="296926"/>
            <a:ext cx="3081401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현장 초등교사가 드리는 제안</a:t>
            </a:r>
            <a:endParaRPr lang="en-US" sz="1700" dirty="0"/>
          </a:p>
        </p:txBody>
      </p:sp>
      <p:sp>
        <p:nvSpPr>
          <p:cNvPr id="21" name="txt-2-1"/>
          <p:cNvSpPr txBox="1"/>
          <p:nvPr/>
        </p:nvSpPr>
        <p:spPr>
          <a:xfrm>
            <a:off x="381000" y="730758"/>
            <a:ext cx="4901565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스스로 생각할 기회를</a:t>
            </a:r>
            <a:endParaRPr lang="en-US" sz="3700" dirty="0"/>
          </a:p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잃을까 두렵습니다.</a:t>
            </a:r>
            <a:endParaRPr lang="en-US" sz="3700" dirty="0"/>
          </a:p>
        </p:txBody>
      </p:sp>
      <p:sp>
        <p:nvSpPr>
          <p:cNvPr id="22" name="txt-2-2"/>
          <p:cNvSpPr txBox="1"/>
          <p:nvPr/>
        </p:nvSpPr>
        <p:spPr>
          <a:xfrm>
            <a:off x="863346" y="2545207"/>
            <a:ext cx="2655316" cy="4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교실에서 마주한 걱정</a:t>
            </a:r>
            <a:endParaRPr lang="en-US" sz="1950" dirty="0"/>
          </a:p>
        </p:txBody>
      </p:sp>
      <p:sp>
        <p:nvSpPr>
          <p:cNvPr id="23" name="txt-2-3"/>
          <p:cNvSpPr txBox="1"/>
          <p:nvPr/>
        </p:nvSpPr>
        <p:spPr>
          <a:xfrm>
            <a:off x="381000" y="3027680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GPT가 요약과 답안을 대신 만드는 동안 학생은 무엇을 직접 읽고 생각할까요.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글을 따라 읽고, 근거를 찾고, 자기 말로 정리하는 시간을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교실에서 지키려는 고민으로 부기를 만들었습니다.</a:t>
            </a:r>
            <a:endParaRPr lang="en-US" sz="1800" dirty="0"/>
          </a:p>
        </p:txBody>
      </p:sp>
      <p:sp>
        <p:nvSpPr>
          <p:cNvPr id="24" name="txt-2-4"/>
          <p:cNvSpPr txBox="1"/>
          <p:nvPr/>
        </p:nvSpPr>
        <p:spPr>
          <a:xfrm>
            <a:off x="863346" y="4424426"/>
            <a:ext cx="6174994" cy="4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정보가 많아도, 깊은 이해는 저절로 생기지 않습니다</a:t>
            </a:r>
            <a:endParaRPr lang="en-US" sz="1950" dirty="0"/>
          </a:p>
        </p:txBody>
      </p:sp>
      <p:sp>
        <p:nvSpPr>
          <p:cNvPr id="25" name="txt-2-5"/>
          <p:cNvSpPr txBox="1"/>
          <p:nvPr/>
        </p:nvSpPr>
        <p:spPr>
          <a:xfrm>
            <a:off x="381000" y="4945253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생각할 일을 바깥 도구에 맡기는 현상을 인지 외주화라고 부릅니다.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AI의 답을 이해하고 검토하려면 학생 안에 낱말과 배경지식이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쌓여 있어야 합니다. 독서수업은 그 바탕을 마련하는 시간입니다.</a:t>
            </a:r>
            <a:endParaRPr lang="en-US" sz="1800" dirty="0"/>
          </a:p>
        </p:txBody>
      </p:sp>
      <p:sp>
        <p:nvSpPr>
          <p:cNvPr id="26" name="txt-2-6"/>
          <p:cNvSpPr txBox="1"/>
          <p:nvPr/>
        </p:nvSpPr>
        <p:spPr>
          <a:xfrm>
            <a:off x="863346" y="6341999"/>
            <a:ext cx="3579368" cy="4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학교가 먼저 고민해야 할 질문</a:t>
            </a:r>
            <a:endParaRPr lang="en-US" sz="1950" dirty="0"/>
          </a:p>
        </p:txBody>
      </p:sp>
      <p:sp>
        <p:nvSpPr>
          <p:cNvPr id="27" name="txt-2-7"/>
          <p:cNvSpPr txBox="1"/>
          <p:nvPr/>
        </p:nvSpPr>
        <p:spPr>
          <a:xfrm>
            <a:off x="381000" y="6837045"/>
            <a:ext cx="7140956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학생은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알고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경험을 쌓고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생각하는 사람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자라야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할까요. 디지털 도구를 도입하는 일에도 이 질문이 먼저 놓여야 합니다.</a:t>
            </a:r>
            <a:endParaRPr lang="en-US" sz="1800" dirty="0"/>
          </a:p>
        </p:txBody>
      </p:sp>
      <p:sp>
        <p:nvSpPr>
          <p:cNvPr id="28" name="txt-2-8"/>
          <p:cNvSpPr txBox="1"/>
          <p:nvPr/>
        </p:nvSpPr>
        <p:spPr>
          <a:xfrm>
            <a:off x="381000" y="7637145"/>
            <a:ext cx="6979285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스스로 읽고 이해하며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근거를 들어 말하는 힘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꾸준히 길러 주어야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합니다. 이 절실함에서 부기가 시작됐습니다.</a:t>
            </a:r>
            <a:endParaRPr lang="en-US" sz="1800" dirty="0"/>
          </a:p>
        </p:txBody>
      </p:sp>
      <p:sp>
        <p:nvSpPr>
          <p:cNvPr id="29" name="txt-2-9"/>
          <p:cNvSpPr txBox="1"/>
          <p:nvPr/>
        </p:nvSpPr>
        <p:spPr>
          <a:xfrm>
            <a:off x="963295" y="9322562"/>
            <a:ext cx="5632323" cy="715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학생이 직접 읽고 묻고 정리한 생각은</a:t>
            </a:r>
            <a:endParaRPr lang="en-US" sz="1750" dirty="0"/>
          </a:p>
          <a:p>
            <a:pPr algn="ctr" indent="0" marL="0">
              <a:lnSpc>
                <a:spcPts val="245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다음 글을 이해하고 판단할 바탕이 됩니다.</a:t>
            </a:r>
            <a:endParaRPr lang="en-US" sz="1750" dirty="0"/>
          </a:p>
        </p:txBody>
      </p:sp>
      <p:sp>
        <p:nvSpPr>
          <p:cNvPr id="30" name="txt-2-10"/>
          <p:cNvSpPr txBox="1"/>
          <p:nvPr/>
        </p:nvSpPr>
        <p:spPr>
          <a:xfrm>
            <a:off x="3504565" y="10362692"/>
            <a:ext cx="42481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/ 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87548" y="495300"/>
            <a:ext cx="4191508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7416" y="2578100"/>
            <a:ext cx="277876" cy="304292"/>
          </a:xfrm>
          <a:custGeom>
            <a:avLst/>
            <a:gdLst/>
            <a:ahLst/>
            <a:cxnLst/>
            <a:rect l="l" t="t" r="r" b="b"/>
            <a:pathLst>
              <a:path w="277876" h="304292">
                <a:moveTo>
                  <a:pt x="132296" y="304267"/>
                </a:moveTo>
                <a:lnTo>
                  <a:pt x="132296" y="145517"/>
                </a:lnTo>
                <a:cubicBezTo>
                  <a:pt x="66142" y="171983"/>
                  <a:pt x="0" y="145517"/>
                  <a:pt x="0" y="39688"/>
                </a:cubicBezTo>
                <a:cubicBezTo>
                  <a:pt x="105829" y="26454"/>
                  <a:pt x="132296" y="79375"/>
                  <a:pt x="132296" y="145517"/>
                </a:cubicBezTo>
                <a:cubicBezTo>
                  <a:pt x="132296" y="39688"/>
                  <a:pt x="211671" y="0"/>
                  <a:pt x="277813" y="13233"/>
                </a:cubicBezTo>
                <a:cubicBezTo>
                  <a:pt x="277813" y="105829"/>
                  <a:pt x="211671" y="158750"/>
                  <a:pt x="132296" y="14551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5720842" y="2755900"/>
            <a:ext cx="1458214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3959" y="447090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6791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2709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6791" y="472224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0126" y="476199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750" y="457669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0126" y="453707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750" y="453707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119" y="4635500"/>
            <a:ext cx="892937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7500" y="7988300"/>
            <a:ext cx="6925056" cy="622300"/>
          </a:xfrm>
          <a:prstGeom prst="roundRect">
            <a:avLst>
              <a:gd name="adj" fmla="val 16327"/>
            </a:avLst>
          </a:prstGeom>
          <a:solidFill>
            <a:srgbClr val="F0F5EF"/>
          </a:solidFill>
          <a:ln/>
        </p:spPr>
      </p:sp>
      <p:sp>
        <p:nvSpPr>
          <p:cNvPr id="15" name="Shape 13"/>
          <p:cNvSpPr/>
          <p:nvPr/>
        </p:nvSpPr>
        <p:spPr>
          <a:xfrm>
            <a:off x="494284" y="8165084"/>
            <a:ext cx="256159" cy="244475"/>
          </a:xfrm>
          <a:custGeom>
            <a:avLst/>
            <a:gdLst/>
            <a:ahLst/>
            <a:cxnLst/>
            <a:rect l="l" t="t" r="r" b="b"/>
            <a:pathLst>
              <a:path w="256159" h="244475">
                <a:moveTo>
                  <a:pt x="128054" y="244475"/>
                </a:moveTo>
                <a:lnTo>
                  <a:pt x="128054" y="34925"/>
                </a:lnTo>
                <a:cubicBezTo>
                  <a:pt x="81496" y="0"/>
                  <a:pt x="34925" y="0"/>
                  <a:pt x="0" y="23279"/>
                </a:cubicBezTo>
                <a:lnTo>
                  <a:pt x="0" y="232829"/>
                </a:lnTo>
                <a:cubicBezTo>
                  <a:pt x="34925" y="209550"/>
                  <a:pt x="81496" y="209550"/>
                  <a:pt x="128054" y="244475"/>
                </a:cubicBezTo>
                <a:cubicBezTo>
                  <a:pt x="174625" y="209550"/>
                  <a:pt x="221196" y="209550"/>
                  <a:pt x="256121" y="232829"/>
                </a:cubicBezTo>
                <a:lnTo>
                  <a:pt x="256121" y="23279"/>
                </a:lnTo>
                <a:cubicBezTo>
                  <a:pt x="221196" y="0"/>
                  <a:pt x="174625" y="0"/>
                  <a:pt x="128054" y="34925"/>
                </a:cubicBez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66009" y="8165084"/>
            <a:ext cx="186309" cy="186309"/>
          </a:xfrm>
          <a:custGeom>
            <a:avLst/>
            <a:gdLst/>
            <a:ahLst/>
            <a:cxnLst/>
            <a:rect l="l" t="t" r="r" b="b"/>
            <a:pathLst>
              <a:path w="186309" h="186309">
                <a:moveTo>
                  <a:pt x="186271" y="93129"/>
                </a:moveTo>
                <a:cubicBezTo>
                  <a:pt x="186271" y="41694"/>
                  <a:pt x="144564" y="0"/>
                  <a:pt x="93129" y="0"/>
                </a:cubicBezTo>
                <a:cubicBezTo>
                  <a:pt x="41694" y="0"/>
                  <a:pt x="0" y="41694"/>
                  <a:pt x="0" y="93129"/>
                </a:cubicBezTo>
                <a:cubicBezTo>
                  <a:pt x="0" y="144564"/>
                  <a:pt x="41694" y="186271"/>
                  <a:pt x="93129" y="186271"/>
                </a:cubicBezTo>
                <a:cubicBezTo>
                  <a:pt x="144564" y="186271"/>
                  <a:pt x="186271" y="144564"/>
                  <a:pt x="186271" y="93129"/>
                </a:cubicBez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12491" y="8339709"/>
            <a:ext cx="0" cy="46482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05709" y="8339709"/>
            <a:ext cx="0" cy="46482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12491" y="8386191"/>
            <a:ext cx="93218" cy="0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4175" y="8421116"/>
            <a:ext cx="69850" cy="0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59100" y="8258175"/>
            <a:ext cx="0" cy="116459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4175" y="8223250"/>
            <a:ext cx="34925" cy="34925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59100" y="8223250"/>
            <a:ext cx="34925" cy="34925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91125" y="8176641"/>
            <a:ext cx="232791" cy="232791"/>
          </a:xfrm>
          <a:custGeom>
            <a:avLst/>
            <a:gdLst/>
            <a:ahLst/>
            <a:cxnLst/>
            <a:rect l="l" t="t" r="r" b="b"/>
            <a:pathLst>
              <a:path w="232791" h="232791">
                <a:moveTo>
                  <a:pt x="0" y="232829"/>
                </a:moveTo>
                <a:lnTo>
                  <a:pt x="23279" y="151346"/>
                </a:lnTo>
                <a:lnTo>
                  <a:pt x="174625" y="0"/>
                </a:lnTo>
                <a:lnTo>
                  <a:pt x="232829" y="58204"/>
                </a:lnTo>
                <a:lnTo>
                  <a:pt x="81496" y="209550"/>
                </a:lnTo>
                <a:lnTo>
                  <a:pt x="0" y="232829"/>
                </a:ln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14366" y="8328025"/>
            <a:ext cx="58293" cy="58166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30825" y="8211566"/>
            <a:ext cx="58166" cy="58293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7500" y="8826500"/>
            <a:ext cx="6925056" cy="825500"/>
          </a:xfrm>
          <a:prstGeom prst="roundRect">
            <a:avLst>
              <a:gd name="adj" fmla="val 12308"/>
            </a:avLst>
          </a:prstGeom>
          <a:solidFill>
            <a:srgbClr val="F0F5EF"/>
          </a:solidFill>
          <a:ln/>
        </p:spPr>
      </p:sp>
      <p:sp>
        <p:nvSpPr>
          <p:cNvPr id="28" name="Shape 26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30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003300"/>
            <a:ext cx="1841500" cy="1264920"/>
          </a:xfrm>
          <a:prstGeom prst="rect">
            <a:avLst/>
          </a:prstGeom>
        </p:spPr>
      </p:pic>
      <p:sp>
        <p:nvSpPr>
          <p:cNvPr id="31" name="txt-3-0"/>
          <p:cNvSpPr txBox="1"/>
          <p:nvPr/>
        </p:nvSpPr>
        <p:spPr>
          <a:xfrm>
            <a:off x="381000" y="296926"/>
            <a:ext cx="2851912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독서가 만드는 이해의 바탕</a:t>
            </a:r>
            <a:endParaRPr lang="en-US" sz="1700" dirty="0"/>
          </a:p>
        </p:txBody>
      </p:sp>
      <p:sp>
        <p:nvSpPr>
          <p:cNvPr id="32" name="txt-3-1"/>
          <p:cNvSpPr txBox="1"/>
          <p:nvPr/>
        </p:nvSpPr>
        <p:spPr>
          <a:xfrm>
            <a:off x="381000" y="730758"/>
            <a:ext cx="5077333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아는 것이 쌓여야,</a:t>
            </a:r>
            <a:endParaRPr lang="en-US" sz="3700" dirty="0"/>
          </a:p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새 지식이 연결됩니다.</a:t>
            </a:r>
            <a:endParaRPr lang="en-US" sz="3700" dirty="0"/>
          </a:p>
        </p:txBody>
      </p:sp>
      <p:sp>
        <p:nvSpPr>
          <p:cNvPr id="33" name="txt-3-2"/>
          <p:cNvSpPr txBox="1"/>
          <p:nvPr/>
        </p:nvSpPr>
        <p:spPr>
          <a:xfrm>
            <a:off x="863346" y="2540000"/>
            <a:ext cx="5355717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20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어휘와 간접 경험이 이해의 바탕을 넓힙니다</a:t>
            </a:r>
            <a:endParaRPr lang="en-US" sz="2000" dirty="0"/>
          </a:p>
        </p:txBody>
      </p:sp>
      <p:sp>
        <p:nvSpPr>
          <p:cNvPr id="34" name="txt-3-3"/>
          <p:cNvSpPr txBox="1"/>
          <p:nvPr/>
        </p:nvSpPr>
        <p:spPr>
          <a:xfrm>
            <a:off x="381000" y="3040253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이야기에서는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삶과 선택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을, 설명하는 글에서는 세상의 원리를,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에세이에서는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사람의 생각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만납니다. 문맥 속에서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낱말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익히고,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생각을 따라 읽으며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 경험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비교합니다.</a:t>
            </a:r>
            <a:endParaRPr lang="en-US" sz="1800" dirty="0"/>
          </a:p>
        </p:txBody>
      </p:sp>
      <p:sp>
        <p:nvSpPr>
          <p:cNvPr id="35" name="txt-3-4"/>
          <p:cNvSpPr txBox="1"/>
          <p:nvPr/>
        </p:nvSpPr>
        <p:spPr>
          <a:xfrm>
            <a:off x="863346" y="4417314"/>
            <a:ext cx="5977382" cy="424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74"/>
              </a:lnSpc>
              <a:buNone/>
            </a:pPr>
            <a:r>
              <a:rPr lang="ko-KR" altLang="en-US" sz="198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스키마는 경험과 지식이 조직된 ‘이해의 틀’입니다</a:t>
            </a:r>
            <a:endParaRPr lang="en-US" sz="1980" dirty="0"/>
          </a:p>
        </p:txBody>
      </p:sp>
      <p:sp>
        <p:nvSpPr>
          <p:cNvPr id="36" name="txt-3-5"/>
          <p:cNvSpPr txBox="1"/>
          <p:nvPr/>
        </p:nvSpPr>
        <p:spPr>
          <a:xfrm>
            <a:off x="381000" y="4932426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새로운 내용은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 알고 있는 개념과 경험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연결될 때 더 잘 이해할 수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있습니다.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관련 어휘와 배경지식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부족하면 글자를 읽어도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맥락과 의미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연결하기 어렵습니다.</a:t>
            </a:r>
            <a:endParaRPr lang="en-US" sz="1800" dirty="0"/>
          </a:p>
        </p:txBody>
      </p:sp>
      <p:sp>
        <p:nvSpPr>
          <p:cNvPr id="37" name="txt-3-6"/>
          <p:cNvSpPr txBox="1"/>
          <p:nvPr/>
        </p:nvSpPr>
        <p:spPr>
          <a:xfrm>
            <a:off x="381000" y="6113526"/>
            <a:ext cx="7140956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그래서 읽기 전 필요한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배경을 짚고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읽으며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어휘를 익히고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새 내용으로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생각을 넓히거나 고치는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과정이 필요합니다.</a:t>
            </a:r>
            <a:endParaRPr lang="en-US" sz="1800" dirty="0"/>
          </a:p>
        </p:txBody>
      </p:sp>
      <p:sp>
        <p:nvSpPr>
          <p:cNvPr id="38" name="txt-3-7"/>
          <p:cNvSpPr txBox="1"/>
          <p:nvPr/>
        </p:nvSpPr>
        <p:spPr>
          <a:xfrm>
            <a:off x="863346" y="8180705"/>
            <a:ext cx="1171321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ko-KR" altLang="en-US" sz="1080" dirty="0">
                <a:solidFill>
                  <a:srgbClr val="1554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어휘 · 간접 경험</a:t>
            </a:r>
            <a:endParaRPr lang="en-US" sz="1080" dirty="0"/>
          </a:p>
        </p:txBody>
      </p:sp>
      <p:sp>
        <p:nvSpPr>
          <p:cNvPr id="39" name="txt-3-8"/>
          <p:cNvSpPr txBox="1"/>
          <p:nvPr/>
        </p:nvSpPr>
        <p:spPr>
          <a:xfrm>
            <a:off x="3199765" y="8180705"/>
            <a:ext cx="1276223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ko-KR" altLang="en-US" sz="1080" dirty="0">
                <a:solidFill>
                  <a:srgbClr val="1554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배경지식 · 스키마</a:t>
            </a:r>
            <a:endParaRPr lang="en-US" sz="1080" dirty="0"/>
          </a:p>
        </p:txBody>
      </p:sp>
      <p:sp>
        <p:nvSpPr>
          <p:cNvPr id="40" name="txt-3-9"/>
          <p:cNvSpPr txBox="1"/>
          <p:nvPr/>
        </p:nvSpPr>
        <p:spPr>
          <a:xfrm>
            <a:off x="5536184" y="8180705"/>
            <a:ext cx="1289685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ko-KR" altLang="en-US" sz="1080" dirty="0">
                <a:solidFill>
                  <a:srgbClr val="1554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 · 추론 · 연결</a:t>
            </a:r>
            <a:endParaRPr lang="en-US" sz="1080" dirty="0"/>
          </a:p>
        </p:txBody>
      </p:sp>
      <p:sp>
        <p:nvSpPr>
          <p:cNvPr id="41" name="txt-3-10"/>
          <p:cNvSpPr txBox="1"/>
          <p:nvPr/>
        </p:nvSpPr>
        <p:spPr>
          <a:xfrm>
            <a:off x="2513965" y="8141970"/>
            <a:ext cx="361950" cy="321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>
                <a:solidFill>
                  <a:srgbClr val="D59B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500" dirty="0"/>
          </a:p>
        </p:txBody>
      </p:sp>
      <p:sp>
        <p:nvSpPr>
          <p:cNvPr id="42" name="txt-3-11"/>
          <p:cNvSpPr txBox="1"/>
          <p:nvPr/>
        </p:nvSpPr>
        <p:spPr>
          <a:xfrm>
            <a:off x="4850384" y="8141970"/>
            <a:ext cx="361950" cy="321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>
                <a:solidFill>
                  <a:srgbClr val="D59B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500" dirty="0"/>
          </a:p>
        </p:txBody>
      </p:sp>
      <p:sp>
        <p:nvSpPr>
          <p:cNvPr id="43" name="txt-3-12"/>
          <p:cNvSpPr txBox="1"/>
          <p:nvPr/>
        </p:nvSpPr>
        <p:spPr>
          <a:xfrm>
            <a:off x="1554099" y="8881237"/>
            <a:ext cx="4449699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읽고 받아들이는 경험이 쌓여,</a:t>
            </a:r>
            <a:endParaRPr lang="en-US" sz="1800" dirty="0"/>
          </a:p>
          <a:p>
            <a:pPr algn="ctr" indent="0" marL="0">
              <a:lnSpc>
                <a:spcPts val="2520"/>
              </a:lnSpc>
              <a:buNone/>
            </a:pPr>
            <a:r>
              <a:rPr lang="ko-KR" altLang="en-US" sz="18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세상을 이해하는 생각의 바탕이 됩니다.</a:t>
            </a:r>
            <a:endParaRPr lang="en-US" sz="1800" dirty="0"/>
          </a:p>
        </p:txBody>
      </p:sp>
      <p:sp>
        <p:nvSpPr>
          <p:cNvPr id="44" name="txt-3-13"/>
          <p:cNvSpPr txBox="1"/>
          <p:nvPr/>
        </p:nvSpPr>
        <p:spPr>
          <a:xfrm>
            <a:off x="393573" y="9801606"/>
            <a:ext cx="3943985" cy="496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ko-KR" altLang="en-US" sz="980" dirty="0">
                <a:solidFill>
                  <a:srgbClr val="4351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배경지식의 영향은 지식의 정확성 · 글의 특성 등에 따라 달라집니다.</a:t>
            </a:r>
            <a:endParaRPr lang="en-US" sz="980" dirty="0"/>
          </a:p>
          <a:p>
            <a:pPr algn="l" indent="0" marL="0">
              <a:lnSpc>
                <a:spcPts val="1700"/>
              </a:lnSpc>
              <a:buNone/>
            </a:pPr>
            <a:r>
              <a:rPr lang="ko-KR" altLang="en-US" sz="980" dirty="0">
                <a:solidFill>
                  <a:srgbClr val="4351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Smith et al. (2021) · Hattan et al. (2024)</a:t>
            </a:r>
            <a:endParaRPr lang="en-US" sz="980" dirty="0"/>
          </a:p>
        </p:txBody>
      </p:sp>
      <p:sp>
        <p:nvSpPr>
          <p:cNvPr id="45" name="txt-3-14"/>
          <p:cNvSpPr txBox="1"/>
          <p:nvPr/>
        </p:nvSpPr>
        <p:spPr>
          <a:xfrm>
            <a:off x="3504565" y="10362692"/>
            <a:ext cx="42481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/ 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75151" y="495300"/>
            <a:ext cx="3303905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7416" y="2578100"/>
            <a:ext cx="277876" cy="304292"/>
          </a:xfrm>
          <a:custGeom>
            <a:avLst/>
            <a:gdLst/>
            <a:ahLst/>
            <a:cxnLst/>
            <a:rect l="l" t="t" r="r" b="b"/>
            <a:pathLst>
              <a:path w="277876" h="304292">
                <a:moveTo>
                  <a:pt x="132296" y="304267"/>
                </a:moveTo>
                <a:lnTo>
                  <a:pt x="132296" y="145517"/>
                </a:lnTo>
                <a:cubicBezTo>
                  <a:pt x="66142" y="171983"/>
                  <a:pt x="0" y="145517"/>
                  <a:pt x="0" y="39688"/>
                </a:cubicBezTo>
                <a:cubicBezTo>
                  <a:pt x="105829" y="26454"/>
                  <a:pt x="132296" y="79375"/>
                  <a:pt x="132296" y="145517"/>
                </a:cubicBezTo>
                <a:cubicBezTo>
                  <a:pt x="132296" y="39688"/>
                  <a:pt x="211671" y="0"/>
                  <a:pt x="277813" y="13233"/>
                </a:cubicBezTo>
                <a:cubicBezTo>
                  <a:pt x="277813" y="105829"/>
                  <a:pt x="211671" y="158750"/>
                  <a:pt x="132296" y="14551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6081014" y="2755900"/>
            <a:ext cx="1098042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3959" y="434390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6791" y="4542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2709" y="4542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6791" y="459524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0126" y="463499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750" y="444969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0126" y="441007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750" y="441007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86120" y="4508500"/>
            <a:ext cx="139293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4208" y="7086092"/>
            <a:ext cx="291084" cy="304292"/>
          </a:xfrm>
          <a:custGeom>
            <a:avLst/>
            <a:gdLst/>
            <a:ahLst/>
            <a:cxnLst/>
            <a:rect l="l" t="t" r="r" b="b"/>
            <a:pathLst>
              <a:path w="291084" h="304292">
                <a:moveTo>
                  <a:pt x="145517" y="304267"/>
                </a:moveTo>
                <a:cubicBezTo>
                  <a:pt x="105829" y="251358"/>
                  <a:pt x="0" y="198438"/>
                  <a:pt x="0" y="105829"/>
                </a:cubicBezTo>
                <a:cubicBezTo>
                  <a:pt x="0" y="0"/>
                  <a:pt x="119063" y="0"/>
                  <a:pt x="145517" y="79375"/>
                </a:cubicBezTo>
                <a:cubicBezTo>
                  <a:pt x="171983" y="0"/>
                  <a:pt x="291046" y="0"/>
                  <a:pt x="291046" y="105829"/>
                </a:cubicBezTo>
                <a:cubicBezTo>
                  <a:pt x="291046" y="198438"/>
                  <a:pt x="185204" y="251358"/>
                  <a:pt x="145517" y="30426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5" name="Shape 13"/>
          <p:cNvSpPr/>
          <p:nvPr/>
        </p:nvSpPr>
        <p:spPr>
          <a:xfrm>
            <a:off x="6476365" y="7277100"/>
            <a:ext cx="702691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500" y="8877300"/>
            <a:ext cx="6925056" cy="927100"/>
          </a:xfrm>
          <a:prstGeom prst="roundRect">
            <a:avLst>
              <a:gd name="adj" fmla="val 10959"/>
            </a:avLst>
          </a:prstGeom>
          <a:solidFill>
            <a:srgbClr val="F0F5EF"/>
          </a:solidFill>
          <a:ln/>
        </p:spPr>
      </p:sp>
      <p:sp>
        <p:nvSpPr>
          <p:cNvPr id="17" name="Shape 15"/>
          <p:cNvSpPr/>
          <p:nvPr/>
        </p:nvSpPr>
        <p:spPr>
          <a:xfrm>
            <a:off x="495300" y="8966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8" name="Shape 16"/>
          <p:cNvSpPr/>
          <p:nvPr/>
        </p:nvSpPr>
        <p:spPr>
          <a:xfrm>
            <a:off x="495300" y="92329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9" name="Shape 17"/>
          <p:cNvSpPr/>
          <p:nvPr/>
        </p:nvSpPr>
        <p:spPr>
          <a:xfrm>
            <a:off x="495300" y="9499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0" name="Shape 18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22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003300"/>
            <a:ext cx="1841500" cy="1264920"/>
          </a:xfrm>
          <a:prstGeom prst="rect">
            <a:avLst/>
          </a:prstGeom>
        </p:spPr>
      </p:pic>
      <p:sp>
        <p:nvSpPr>
          <p:cNvPr id="23" name="txt-4-0"/>
          <p:cNvSpPr txBox="1"/>
          <p:nvPr/>
        </p:nvSpPr>
        <p:spPr>
          <a:xfrm>
            <a:off x="381000" y="296926"/>
            <a:ext cx="3828288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단편적인 정보에서 깊이 있는 이해로</a:t>
            </a:r>
            <a:endParaRPr lang="en-US" sz="1700" dirty="0"/>
          </a:p>
        </p:txBody>
      </p:sp>
      <p:sp>
        <p:nvSpPr>
          <p:cNvPr id="24" name="txt-4-1"/>
          <p:cNvSpPr txBox="1"/>
          <p:nvPr/>
        </p:nvSpPr>
        <p:spPr>
          <a:xfrm>
            <a:off x="381000" y="768858"/>
            <a:ext cx="5289804" cy="794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10"/>
              </a:lnSpc>
              <a:buNone/>
            </a:pPr>
            <a:r>
              <a:rPr lang="ko-KR" altLang="en-US" sz="3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‘본 적 있다’는 익숙함이</a:t>
            </a:r>
            <a:endParaRPr lang="en-US" sz="3700" dirty="0"/>
          </a:p>
        </p:txBody>
      </p:sp>
      <p:sp>
        <p:nvSpPr>
          <p:cNvPr id="25" name="txt-4-2"/>
          <p:cNvSpPr txBox="1"/>
          <p:nvPr/>
        </p:nvSpPr>
        <p:spPr>
          <a:xfrm>
            <a:off x="381000" y="1429512"/>
            <a:ext cx="5586730" cy="759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98"/>
              </a:lnSpc>
              <a:buNone/>
            </a:pPr>
            <a:r>
              <a:rPr lang="ko-KR" altLang="en-US" sz="3537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‘안다’는 이해는 아닙니다.</a:t>
            </a:r>
            <a:endParaRPr lang="en-US" sz="3537" dirty="0"/>
          </a:p>
        </p:txBody>
      </p:sp>
      <p:sp>
        <p:nvSpPr>
          <p:cNvPr id="26" name="txt-4-3"/>
          <p:cNvSpPr txBox="1"/>
          <p:nvPr/>
        </p:nvSpPr>
        <p:spPr>
          <a:xfrm>
            <a:off x="863346" y="2545207"/>
            <a:ext cx="5751830" cy="4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단편적인 정보가 생각의 전부가 될까 걱정됩니다</a:t>
            </a:r>
            <a:endParaRPr lang="en-US" sz="1950" dirty="0"/>
          </a:p>
        </p:txBody>
      </p:sp>
      <p:sp>
        <p:nvSpPr>
          <p:cNvPr id="27" name="txt-4-4"/>
          <p:cNvSpPr txBox="1"/>
          <p:nvPr/>
        </p:nvSpPr>
        <p:spPr>
          <a:xfrm>
            <a:off x="381000" y="3040253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만든 답을 읽었다고 학습까지 끝나는 것은 아닙니다.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중등학생 읽기 실험에서는 LLM만 쓴 조건보다 직접 필기한 조건이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3일 뒤 이해 평가에서 더 높은 점수를 받았습니다.</a:t>
            </a:r>
            <a:endParaRPr lang="en-US" sz="1800" dirty="0"/>
          </a:p>
        </p:txBody>
      </p:sp>
      <p:sp>
        <p:nvSpPr>
          <p:cNvPr id="28" name="txt-4-5"/>
          <p:cNvSpPr txBox="1"/>
          <p:nvPr/>
        </p:nvSpPr>
        <p:spPr>
          <a:xfrm>
            <a:off x="863346" y="4292346"/>
            <a:ext cx="54274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20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‘안다는 착각’을 넘어서는 연습이 필요합니다</a:t>
            </a:r>
            <a:endParaRPr lang="en-US" sz="2000" dirty="0"/>
          </a:p>
        </p:txBody>
      </p:sp>
      <p:sp>
        <p:nvSpPr>
          <p:cNvPr id="29" name="txt-4-6"/>
          <p:cNvSpPr txBox="1"/>
          <p:nvPr/>
        </p:nvSpPr>
        <p:spPr>
          <a:xfrm>
            <a:off x="381000" y="4780026"/>
            <a:ext cx="7140956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12점 만점의 이해 점수는 LLM 조건 4.00점, 필기 조건 4.89점이었습니다.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학생이 직접 읽고 정리하는 과정을 남기는 데 주목했습니다.</a:t>
            </a:r>
            <a:endParaRPr lang="en-US" sz="1800" dirty="0"/>
          </a:p>
        </p:txBody>
      </p:sp>
      <p:sp>
        <p:nvSpPr>
          <p:cNvPr id="30" name="txt-4-7"/>
          <p:cNvSpPr txBox="1"/>
          <p:nvPr/>
        </p:nvSpPr>
        <p:spPr>
          <a:xfrm>
            <a:off x="381000" y="5567426"/>
            <a:ext cx="7140956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학생이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 말로 설명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책에서 근거를 찾고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상황에 적용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 보는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활동이 필요합니다.</a:t>
            </a:r>
            <a:endParaRPr lang="en-US" sz="1800" dirty="0"/>
          </a:p>
        </p:txBody>
      </p:sp>
      <p:sp>
        <p:nvSpPr>
          <p:cNvPr id="31" name="txt-4-8"/>
          <p:cNvSpPr txBox="1"/>
          <p:nvPr/>
        </p:nvSpPr>
        <p:spPr>
          <a:xfrm>
            <a:off x="863346" y="7060057"/>
            <a:ext cx="6186678" cy="407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ko-KR" altLang="en-US" sz="19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디지털 교육의 중심에도 학생의 사고가 있어야 합니다</a:t>
            </a:r>
            <a:endParaRPr lang="en-US" sz="1900" dirty="0"/>
          </a:p>
        </p:txBody>
      </p:sp>
      <p:sp>
        <p:nvSpPr>
          <p:cNvPr id="32" name="txt-4-9"/>
          <p:cNvSpPr txBox="1"/>
          <p:nvPr/>
        </p:nvSpPr>
        <p:spPr>
          <a:xfrm>
            <a:off x="381000" y="7565136"/>
            <a:ext cx="7140956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빠르게 답을 제시해도, 그 </a:t>
            </a:r>
            <a:pPr algn="l" indent="0" marL="0">
              <a:lnSpc>
                <a:spcPts val="2500"/>
              </a:lnSpc>
              <a:buNone/>
            </a:pPr>
            <a:r>
              <a:rPr lang="ko-KR" altLang="en-US" sz="17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뜻과 근거를 판단하는 힘</a:t>
            </a:r>
            <a:pPr algn="l" indent="0" marL="0">
              <a:lnSpc>
                <a:spcPts val="250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학생 안에 있어야</a:t>
            </a:r>
            <a:endParaRPr lang="en-US" sz="1750" dirty="0"/>
          </a:p>
          <a:p>
            <a:pPr algn="l" indent="0" marL="0">
              <a:lnSpc>
                <a:spcPts val="250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합니다. 기술은 읽기와 표현을 돕고, 학생에게 </a:t>
            </a:r>
            <a:pPr algn="l" indent="0" marL="0">
              <a:lnSpc>
                <a:spcPts val="2500"/>
              </a:lnSpc>
              <a:buNone/>
            </a:pPr>
            <a:r>
              <a:rPr lang="ko-KR" altLang="en-US" sz="17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충분히 생각할 시간</a:t>
            </a:r>
            <a:pPr algn="l" indent="0" marL="0">
              <a:lnSpc>
                <a:spcPts val="250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주는</a:t>
            </a:r>
            <a:endParaRPr lang="en-US" sz="1750" dirty="0"/>
          </a:p>
          <a:p>
            <a:pPr algn="l" indent="0" marL="0">
              <a:lnSpc>
                <a:spcPts val="250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방향으로 써야 합니다.</a:t>
            </a:r>
            <a:endParaRPr lang="en-US" sz="1750" dirty="0"/>
          </a:p>
        </p:txBody>
      </p:sp>
      <p:sp>
        <p:nvSpPr>
          <p:cNvPr id="33" name="txt-4-10"/>
          <p:cNvSpPr txBox="1"/>
          <p:nvPr/>
        </p:nvSpPr>
        <p:spPr>
          <a:xfrm>
            <a:off x="545973" y="8965946"/>
            <a:ext cx="22415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?</a:t>
            </a:r>
            <a:endParaRPr lang="en-US" sz="1000" dirty="0"/>
          </a:p>
        </p:txBody>
      </p:sp>
      <p:sp>
        <p:nvSpPr>
          <p:cNvPr id="34" name="txt-4-11"/>
          <p:cNvSpPr txBox="1"/>
          <p:nvPr/>
        </p:nvSpPr>
        <p:spPr>
          <a:xfrm>
            <a:off x="812673" y="8910447"/>
            <a:ext cx="2582672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ko-KR" altLang="en-US" sz="13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말로 설명할 수 있는가?</a:t>
            </a:r>
            <a:endParaRPr lang="en-US" sz="1300" dirty="0"/>
          </a:p>
          <a:p>
            <a:pPr algn="l" indent="0" marL="0">
              <a:lnSpc>
                <a:spcPts val="2100"/>
              </a:lnSpc>
              <a:buNone/>
            </a:pPr>
            <a:r>
              <a:rPr lang="ko-KR" altLang="en-US" sz="13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그렇게 생각한 근거는 무엇인가?</a:t>
            </a:r>
            <a:endParaRPr lang="en-US" sz="1300" dirty="0"/>
          </a:p>
          <a:p>
            <a:pPr algn="l" indent="0" marL="0">
              <a:lnSpc>
                <a:spcPts val="2100"/>
              </a:lnSpc>
              <a:buNone/>
            </a:pPr>
            <a:r>
              <a:rPr lang="ko-KR" altLang="en-US" sz="13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상황에도 적용할 수 있는가?</a:t>
            </a:r>
            <a:endParaRPr lang="en-US" sz="1300" dirty="0"/>
          </a:p>
        </p:txBody>
      </p:sp>
      <p:sp>
        <p:nvSpPr>
          <p:cNvPr id="35" name="txt-4-12"/>
          <p:cNvSpPr txBox="1"/>
          <p:nvPr/>
        </p:nvSpPr>
        <p:spPr>
          <a:xfrm>
            <a:off x="545973" y="9232646"/>
            <a:ext cx="22415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?</a:t>
            </a:r>
            <a:endParaRPr lang="en-US" sz="1000" dirty="0"/>
          </a:p>
        </p:txBody>
      </p:sp>
      <p:sp>
        <p:nvSpPr>
          <p:cNvPr id="36" name="txt-4-13"/>
          <p:cNvSpPr txBox="1"/>
          <p:nvPr/>
        </p:nvSpPr>
        <p:spPr>
          <a:xfrm>
            <a:off x="545973" y="9499346"/>
            <a:ext cx="22415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?</a:t>
            </a:r>
            <a:endParaRPr lang="en-US" sz="1000" dirty="0"/>
          </a:p>
        </p:txBody>
      </p:sp>
      <p:sp>
        <p:nvSpPr>
          <p:cNvPr id="37" name="txt-4-14"/>
          <p:cNvSpPr txBox="1"/>
          <p:nvPr/>
        </p:nvSpPr>
        <p:spPr>
          <a:xfrm>
            <a:off x="381000" y="9901301"/>
            <a:ext cx="6350000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ko-KR" altLang="en-US" sz="830" dirty="0">
                <a:solidFill>
                  <a:srgbClr val="4351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Kreijkes 외(2026), Computers &amp; Education 243, 105514.</a:t>
            </a:r>
            <a:endParaRPr lang="en-US" sz="830" dirty="0"/>
          </a:p>
          <a:p>
            <a:pPr algn="l" indent="0" marL="0">
              <a:lnSpc>
                <a:spcPts val="1400"/>
              </a:lnSpc>
              <a:buNone/>
            </a:pPr>
            <a:r>
              <a:rPr lang="ko-KR" altLang="en-US" sz="830" dirty="0">
                <a:solidFill>
                  <a:srgbClr val="4351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14~15세 중등학생 연구이며, 초등학생이나 부기의 효과를 직접 검증한 결과는 아닙니다.</a:t>
            </a:r>
            <a:endParaRPr lang="en-US" sz="830" dirty="0"/>
          </a:p>
        </p:txBody>
      </p:sp>
      <p:sp>
        <p:nvSpPr>
          <p:cNvPr id="38" name="txt-4-15"/>
          <p:cNvSpPr txBox="1"/>
          <p:nvPr/>
        </p:nvSpPr>
        <p:spPr>
          <a:xfrm>
            <a:off x="3504565" y="10362692"/>
            <a:ext cx="42481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/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96082" y="495300"/>
            <a:ext cx="3982974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7416" y="2540000"/>
            <a:ext cx="277876" cy="304292"/>
          </a:xfrm>
          <a:custGeom>
            <a:avLst/>
            <a:gdLst/>
            <a:ahLst/>
            <a:cxnLst/>
            <a:rect l="l" t="t" r="r" b="b"/>
            <a:pathLst>
              <a:path w="277876" h="304292">
                <a:moveTo>
                  <a:pt x="132296" y="304267"/>
                </a:moveTo>
                <a:lnTo>
                  <a:pt x="132296" y="145517"/>
                </a:lnTo>
                <a:cubicBezTo>
                  <a:pt x="66142" y="171983"/>
                  <a:pt x="0" y="145517"/>
                  <a:pt x="0" y="39688"/>
                </a:cubicBezTo>
                <a:cubicBezTo>
                  <a:pt x="105829" y="26454"/>
                  <a:pt x="132296" y="79375"/>
                  <a:pt x="132296" y="145517"/>
                </a:cubicBezTo>
                <a:cubicBezTo>
                  <a:pt x="132296" y="39688"/>
                  <a:pt x="211671" y="0"/>
                  <a:pt x="277813" y="13233"/>
                </a:cubicBezTo>
                <a:cubicBezTo>
                  <a:pt x="277813" y="105829"/>
                  <a:pt x="211671" y="158750"/>
                  <a:pt x="132296" y="14551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5052695" y="2717800"/>
            <a:ext cx="2126361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3959" y="447090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6791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2709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6791" y="472224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0126" y="476199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750" y="457669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0126" y="453707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750" y="453707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10378" y="4635500"/>
            <a:ext cx="1868678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7500" y="6235700"/>
            <a:ext cx="6925056" cy="431800"/>
          </a:xfrm>
          <a:prstGeom prst="roundRect">
            <a:avLst>
              <a:gd name="adj" fmla="val 23529"/>
            </a:avLst>
          </a:prstGeom>
          <a:solidFill>
            <a:srgbClr val="F0F5EF"/>
          </a:solidFill>
          <a:ln/>
        </p:spPr>
      </p:sp>
      <p:sp>
        <p:nvSpPr>
          <p:cNvPr id="15" name="Shape 13"/>
          <p:cNvSpPr/>
          <p:nvPr/>
        </p:nvSpPr>
        <p:spPr>
          <a:xfrm>
            <a:off x="456184" y="6323584"/>
            <a:ext cx="256159" cy="244475"/>
          </a:xfrm>
          <a:custGeom>
            <a:avLst/>
            <a:gdLst/>
            <a:ahLst/>
            <a:cxnLst/>
            <a:rect l="l" t="t" r="r" b="b"/>
            <a:pathLst>
              <a:path w="256159" h="244475">
                <a:moveTo>
                  <a:pt x="128054" y="244475"/>
                </a:moveTo>
                <a:lnTo>
                  <a:pt x="128054" y="34925"/>
                </a:lnTo>
                <a:cubicBezTo>
                  <a:pt x="81496" y="0"/>
                  <a:pt x="34925" y="0"/>
                  <a:pt x="0" y="23279"/>
                </a:cubicBezTo>
                <a:lnTo>
                  <a:pt x="0" y="232829"/>
                </a:lnTo>
                <a:cubicBezTo>
                  <a:pt x="34925" y="209550"/>
                  <a:pt x="81496" y="209550"/>
                  <a:pt x="128054" y="244475"/>
                </a:cubicBezTo>
                <a:cubicBezTo>
                  <a:pt x="174625" y="209550"/>
                  <a:pt x="221196" y="209550"/>
                  <a:pt x="256121" y="232829"/>
                </a:cubicBezTo>
                <a:lnTo>
                  <a:pt x="256121" y="23279"/>
                </a:lnTo>
                <a:cubicBezTo>
                  <a:pt x="221196" y="0"/>
                  <a:pt x="174625" y="0"/>
                  <a:pt x="128054" y="34925"/>
                </a:cubicBez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90800" y="6324600"/>
            <a:ext cx="0" cy="2540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7500" y="6731000"/>
            <a:ext cx="6925056" cy="431800"/>
          </a:xfrm>
          <a:prstGeom prst="roundRect">
            <a:avLst>
              <a:gd name="adj" fmla="val 23529"/>
            </a:avLst>
          </a:prstGeom>
          <a:solidFill>
            <a:srgbClr val="F0F5EF"/>
          </a:solidFill>
          <a:ln/>
        </p:spPr>
      </p:sp>
      <p:sp>
        <p:nvSpPr>
          <p:cNvPr id="18" name="Shape 16"/>
          <p:cNvSpPr/>
          <p:nvPr/>
        </p:nvSpPr>
        <p:spPr>
          <a:xfrm>
            <a:off x="456184" y="6830441"/>
            <a:ext cx="256159" cy="186309"/>
          </a:xfrm>
          <a:custGeom>
            <a:avLst/>
            <a:gdLst/>
            <a:ahLst/>
            <a:cxnLst/>
            <a:rect l="l" t="t" r="r" b="b"/>
            <a:pathLst>
              <a:path w="256159" h="186309">
                <a:moveTo>
                  <a:pt x="58204" y="186271"/>
                </a:moveTo>
                <a:lnTo>
                  <a:pt x="197904" y="186271"/>
                </a:lnTo>
                <a:cubicBezTo>
                  <a:pt x="230086" y="186271"/>
                  <a:pt x="256121" y="160236"/>
                  <a:pt x="256121" y="128054"/>
                </a:cubicBezTo>
                <a:lnTo>
                  <a:pt x="256121" y="58204"/>
                </a:lnTo>
                <a:cubicBezTo>
                  <a:pt x="256121" y="26035"/>
                  <a:pt x="230086" y="0"/>
                  <a:pt x="197904" y="0"/>
                </a:cubicBezTo>
                <a:lnTo>
                  <a:pt x="58204" y="0"/>
                </a:lnTo>
                <a:cubicBezTo>
                  <a:pt x="26035" y="0"/>
                  <a:pt x="0" y="26035"/>
                  <a:pt x="0" y="58204"/>
                </a:cubicBezTo>
                <a:lnTo>
                  <a:pt x="0" y="128054"/>
                </a:lnTo>
                <a:cubicBezTo>
                  <a:pt x="0" y="160236"/>
                  <a:pt x="26035" y="186271"/>
                  <a:pt x="58204" y="186271"/>
                </a:cubicBez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1109" y="7016750"/>
            <a:ext cx="23241" cy="58166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1109" y="7016750"/>
            <a:ext cx="93091" cy="58166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6636" y="6914261"/>
            <a:ext cx="18669" cy="18669"/>
          </a:xfrm>
          <a:custGeom>
            <a:avLst/>
            <a:gdLst/>
            <a:ahLst/>
            <a:cxnLst/>
            <a:rect l="l" t="t" r="r" b="b"/>
            <a:pathLst>
              <a:path w="18669" h="18669">
                <a:moveTo>
                  <a:pt x="18631" y="9309"/>
                </a:moveTo>
                <a:cubicBezTo>
                  <a:pt x="18631" y="4166"/>
                  <a:pt x="14453" y="0"/>
                  <a:pt x="9309" y="0"/>
                </a:cubicBezTo>
                <a:cubicBezTo>
                  <a:pt x="4166" y="0"/>
                  <a:pt x="0" y="4166"/>
                  <a:pt x="0" y="9309"/>
                </a:cubicBezTo>
                <a:cubicBezTo>
                  <a:pt x="0" y="14453"/>
                  <a:pt x="4166" y="18631"/>
                  <a:pt x="9309" y="18631"/>
                </a:cubicBezTo>
                <a:cubicBezTo>
                  <a:pt x="14453" y="18631"/>
                  <a:pt x="18631" y="14453"/>
                  <a:pt x="18631" y="9309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2" name="Shape 20"/>
          <p:cNvSpPr/>
          <p:nvPr/>
        </p:nvSpPr>
        <p:spPr>
          <a:xfrm>
            <a:off x="574929" y="6914261"/>
            <a:ext cx="18669" cy="18669"/>
          </a:xfrm>
          <a:custGeom>
            <a:avLst/>
            <a:gdLst/>
            <a:ahLst/>
            <a:cxnLst/>
            <a:rect l="l" t="t" r="r" b="b"/>
            <a:pathLst>
              <a:path w="18669" h="18669">
                <a:moveTo>
                  <a:pt x="18631" y="9309"/>
                </a:moveTo>
                <a:cubicBezTo>
                  <a:pt x="18631" y="4166"/>
                  <a:pt x="14453" y="0"/>
                  <a:pt x="9309" y="0"/>
                </a:cubicBezTo>
                <a:cubicBezTo>
                  <a:pt x="4166" y="0"/>
                  <a:pt x="0" y="4166"/>
                  <a:pt x="0" y="9309"/>
                </a:cubicBezTo>
                <a:cubicBezTo>
                  <a:pt x="0" y="14453"/>
                  <a:pt x="4166" y="18631"/>
                  <a:pt x="9309" y="18631"/>
                </a:cubicBezTo>
                <a:cubicBezTo>
                  <a:pt x="14453" y="18631"/>
                  <a:pt x="18631" y="14453"/>
                  <a:pt x="18631" y="9309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3" name="Shape 21"/>
          <p:cNvSpPr/>
          <p:nvPr/>
        </p:nvSpPr>
        <p:spPr>
          <a:xfrm>
            <a:off x="633095" y="6914261"/>
            <a:ext cx="18669" cy="18669"/>
          </a:xfrm>
          <a:custGeom>
            <a:avLst/>
            <a:gdLst/>
            <a:ahLst/>
            <a:cxnLst/>
            <a:rect l="l" t="t" r="r" b="b"/>
            <a:pathLst>
              <a:path w="18669" h="18669">
                <a:moveTo>
                  <a:pt x="18631" y="9309"/>
                </a:moveTo>
                <a:cubicBezTo>
                  <a:pt x="18631" y="4166"/>
                  <a:pt x="14453" y="0"/>
                  <a:pt x="9309" y="0"/>
                </a:cubicBezTo>
                <a:cubicBezTo>
                  <a:pt x="4166" y="0"/>
                  <a:pt x="0" y="4166"/>
                  <a:pt x="0" y="9309"/>
                </a:cubicBezTo>
                <a:cubicBezTo>
                  <a:pt x="0" y="14453"/>
                  <a:pt x="4166" y="18631"/>
                  <a:pt x="9309" y="18631"/>
                </a:cubicBezTo>
                <a:cubicBezTo>
                  <a:pt x="14453" y="18631"/>
                  <a:pt x="18631" y="14453"/>
                  <a:pt x="18631" y="9309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4" name="Shape 22"/>
          <p:cNvSpPr/>
          <p:nvPr/>
        </p:nvSpPr>
        <p:spPr>
          <a:xfrm>
            <a:off x="2590800" y="6819900"/>
            <a:ext cx="0" cy="2540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7500" y="7226300"/>
            <a:ext cx="6925056" cy="431800"/>
          </a:xfrm>
          <a:prstGeom prst="roundRect">
            <a:avLst>
              <a:gd name="adj" fmla="val 23529"/>
            </a:avLst>
          </a:prstGeom>
          <a:solidFill>
            <a:srgbClr val="F0F5EF"/>
          </a:solidFill>
          <a:ln/>
        </p:spPr>
      </p:sp>
      <p:sp>
        <p:nvSpPr>
          <p:cNvPr id="26" name="Shape 24"/>
          <p:cNvSpPr/>
          <p:nvPr/>
        </p:nvSpPr>
        <p:spPr>
          <a:xfrm>
            <a:off x="479425" y="7325741"/>
            <a:ext cx="232791" cy="232791"/>
          </a:xfrm>
          <a:custGeom>
            <a:avLst/>
            <a:gdLst/>
            <a:ahLst/>
            <a:cxnLst/>
            <a:rect l="l" t="t" r="r" b="b"/>
            <a:pathLst>
              <a:path w="232791" h="232791">
                <a:moveTo>
                  <a:pt x="0" y="232829"/>
                </a:moveTo>
                <a:lnTo>
                  <a:pt x="23279" y="151346"/>
                </a:lnTo>
                <a:lnTo>
                  <a:pt x="174625" y="0"/>
                </a:lnTo>
                <a:lnTo>
                  <a:pt x="232829" y="58204"/>
                </a:lnTo>
                <a:lnTo>
                  <a:pt x="81496" y="209550"/>
                </a:lnTo>
                <a:lnTo>
                  <a:pt x="0" y="232829"/>
                </a:ln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666" y="7477125"/>
            <a:ext cx="58293" cy="58166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9125" y="7360666"/>
            <a:ext cx="58166" cy="58293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90800" y="7315200"/>
            <a:ext cx="0" cy="2540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4208" y="7949692"/>
            <a:ext cx="291084" cy="304292"/>
          </a:xfrm>
          <a:custGeom>
            <a:avLst/>
            <a:gdLst/>
            <a:ahLst/>
            <a:cxnLst/>
            <a:rect l="l" t="t" r="r" b="b"/>
            <a:pathLst>
              <a:path w="291084" h="304292">
                <a:moveTo>
                  <a:pt x="145517" y="304267"/>
                </a:moveTo>
                <a:cubicBezTo>
                  <a:pt x="105829" y="251358"/>
                  <a:pt x="0" y="198438"/>
                  <a:pt x="0" y="105829"/>
                </a:cubicBezTo>
                <a:cubicBezTo>
                  <a:pt x="0" y="0"/>
                  <a:pt x="119063" y="0"/>
                  <a:pt x="145517" y="79375"/>
                </a:cubicBezTo>
                <a:cubicBezTo>
                  <a:pt x="171983" y="0"/>
                  <a:pt x="291046" y="0"/>
                  <a:pt x="291046" y="105829"/>
                </a:cubicBezTo>
                <a:cubicBezTo>
                  <a:pt x="291046" y="198438"/>
                  <a:pt x="185204" y="251358"/>
                  <a:pt x="145517" y="30426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31" name="Shape 29"/>
          <p:cNvSpPr/>
          <p:nvPr/>
        </p:nvSpPr>
        <p:spPr>
          <a:xfrm>
            <a:off x="5148961" y="8140700"/>
            <a:ext cx="2030095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7500" y="9842500"/>
            <a:ext cx="6925056" cy="495300"/>
          </a:xfrm>
          <a:prstGeom prst="roundRect">
            <a:avLst>
              <a:gd name="adj" fmla="val 20513"/>
            </a:avLst>
          </a:prstGeom>
          <a:solidFill>
            <a:srgbClr val="F0F5EF"/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35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003300"/>
            <a:ext cx="1841500" cy="1264920"/>
          </a:xfrm>
          <a:prstGeom prst="rect">
            <a:avLst/>
          </a:prstGeom>
        </p:spPr>
      </p:pic>
      <p:sp>
        <p:nvSpPr>
          <p:cNvPr id="36" name="txt-5-0"/>
          <p:cNvSpPr txBox="1"/>
          <p:nvPr/>
        </p:nvSpPr>
        <p:spPr>
          <a:xfrm>
            <a:off x="381000" y="296926"/>
            <a:ext cx="3081401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교실의 문제에서 출발한 부기</a:t>
            </a:r>
            <a:endParaRPr lang="en-US" sz="1700" dirty="0"/>
          </a:p>
        </p:txBody>
      </p:sp>
      <p:sp>
        <p:nvSpPr>
          <p:cNvPr id="37" name="txt-5-1"/>
          <p:cNvSpPr txBox="1"/>
          <p:nvPr/>
        </p:nvSpPr>
        <p:spPr>
          <a:xfrm>
            <a:off x="381000" y="730758"/>
            <a:ext cx="4450334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지금 학교 현장에는</a:t>
            </a:r>
            <a:endParaRPr lang="en-US" sz="3700" dirty="0"/>
          </a:p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독서가 절실합니다.</a:t>
            </a:r>
            <a:endParaRPr lang="en-US" sz="3700" dirty="0"/>
          </a:p>
        </p:txBody>
      </p:sp>
      <p:sp>
        <p:nvSpPr>
          <p:cNvPr id="38" name="txt-5-2"/>
          <p:cNvSpPr txBox="1"/>
          <p:nvPr/>
        </p:nvSpPr>
        <p:spPr>
          <a:xfrm>
            <a:off x="863346" y="2504059"/>
            <a:ext cx="4620768" cy="450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ko-KR" altLang="en-US" sz="21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고전의 지혜에서 시작하고자 합니다</a:t>
            </a:r>
            <a:endParaRPr lang="en-US" sz="2100" dirty="0"/>
          </a:p>
        </p:txBody>
      </p:sp>
      <p:sp>
        <p:nvSpPr>
          <p:cNvPr id="39" name="txt-5-3"/>
          <p:cNvSpPr txBox="1"/>
          <p:nvPr/>
        </p:nvSpPr>
        <p:spPr>
          <a:xfrm>
            <a:off x="381000" y="2990342"/>
            <a:ext cx="71409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사람과 세상을 이해하고 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스스로 생각할 힘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기르기 위해, 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고전의 지혜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</a:t>
            </a:r>
            <a:endParaRPr lang="en-US" sz="1650" dirty="0"/>
          </a:p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빌리고자 했습니다. 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우정과 책임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공정과 나눔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읽으며 ‘왜 그런 선택을 했을까’,</a:t>
            </a:r>
            <a:endParaRPr lang="en-US" sz="1650" dirty="0"/>
          </a:p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‘나라면 어떻게 했을까’를 함께 묻습니다.</a:t>
            </a:r>
            <a:endParaRPr lang="en-US" sz="1650" dirty="0"/>
          </a:p>
        </p:txBody>
      </p:sp>
      <p:sp>
        <p:nvSpPr>
          <p:cNvPr id="40" name="txt-5-4"/>
          <p:cNvSpPr txBox="1"/>
          <p:nvPr/>
        </p:nvSpPr>
        <p:spPr>
          <a:xfrm>
            <a:off x="863346" y="4421378"/>
            <a:ext cx="4904105" cy="450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ko-KR" altLang="en-US" sz="21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초등교사들이 뜻을 모아 만들었습니다</a:t>
            </a:r>
            <a:endParaRPr lang="en-US" sz="2100" dirty="0"/>
          </a:p>
        </p:txBody>
      </p:sp>
      <p:sp>
        <p:nvSpPr>
          <p:cNvPr id="41" name="txt-5-5"/>
          <p:cNvSpPr txBox="1"/>
          <p:nvPr/>
        </p:nvSpPr>
        <p:spPr>
          <a:xfrm>
            <a:off x="381000" y="4933188"/>
            <a:ext cx="71409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책을 제공해도 모르는 낱말에서 멈추면 읽기의 재미를 느끼기 어렵습니다.</a:t>
            </a:r>
            <a:endParaRPr lang="en-US" sz="1650" dirty="0"/>
          </a:p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읽던 자리의 뜻풀이와 교사의 질문을 연결해 이해를 돕고,</a:t>
            </a:r>
            <a:endParaRPr lang="en-US" sz="1650" dirty="0"/>
          </a:p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권을 읽은 경험이 다음 책으로 이어지도록 구성했습니다.</a:t>
            </a:r>
            <a:endParaRPr lang="en-US" sz="1650" dirty="0"/>
          </a:p>
        </p:txBody>
      </p:sp>
      <p:sp>
        <p:nvSpPr>
          <p:cNvPr id="42" name="txt-5-6"/>
          <p:cNvSpPr txBox="1"/>
          <p:nvPr/>
        </p:nvSpPr>
        <p:spPr>
          <a:xfrm>
            <a:off x="2742565" y="6342634"/>
            <a:ext cx="307111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낱말 뜻 · 능동적 그림 읽기 · 다국어 지원</a:t>
            </a:r>
            <a:endParaRPr lang="en-US" sz="1250" dirty="0"/>
          </a:p>
        </p:txBody>
      </p:sp>
      <p:sp>
        <p:nvSpPr>
          <p:cNvPr id="43" name="txt-5-7"/>
          <p:cNvSpPr txBox="1"/>
          <p:nvPr/>
        </p:nvSpPr>
        <p:spPr>
          <a:xfrm>
            <a:off x="863346" y="6303010"/>
            <a:ext cx="1071245" cy="34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ko-KR" altLang="en-US" sz="16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읽기 지원</a:t>
            </a:r>
            <a:endParaRPr lang="en-US" sz="1600" dirty="0"/>
          </a:p>
        </p:txBody>
      </p:sp>
      <p:sp>
        <p:nvSpPr>
          <p:cNvPr id="44" name="txt-5-8"/>
          <p:cNvSpPr txBox="1"/>
          <p:nvPr/>
        </p:nvSpPr>
        <p:spPr>
          <a:xfrm>
            <a:off x="2742565" y="6837934"/>
            <a:ext cx="2655951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캐릭터와의 대화 · 다양한 독후활동</a:t>
            </a:r>
            <a:endParaRPr lang="en-US" sz="1250" dirty="0"/>
          </a:p>
        </p:txBody>
      </p:sp>
      <p:sp>
        <p:nvSpPr>
          <p:cNvPr id="45" name="txt-5-9"/>
          <p:cNvSpPr txBox="1"/>
          <p:nvPr/>
        </p:nvSpPr>
        <p:spPr>
          <a:xfrm>
            <a:off x="863346" y="6797929"/>
            <a:ext cx="1287272" cy="34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ko-KR" altLang="en-US" sz="16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생각과 표현</a:t>
            </a:r>
            <a:endParaRPr lang="en-US" sz="1600" dirty="0"/>
          </a:p>
        </p:txBody>
      </p:sp>
      <p:sp>
        <p:nvSpPr>
          <p:cNvPr id="46" name="txt-5-10"/>
          <p:cNvSpPr txBox="1"/>
          <p:nvPr/>
        </p:nvSpPr>
        <p:spPr>
          <a:xfrm>
            <a:off x="2742565" y="7333234"/>
            <a:ext cx="2910459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독서 기록 자산 · 수업 자료 · 학생 기록</a:t>
            </a:r>
            <a:endParaRPr lang="en-US" sz="1250" dirty="0"/>
          </a:p>
        </p:txBody>
      </p:sp>
      <p:sp>
        <p:nvSpPr>
          <p:cNvPr id="47" name="txt-5-11"/>
          <p:cNvSpPr txBox="1"/>
          <p:nvPr/>
        </p:nvSpPr>
        <p:spPr>
          <a:xfrm>
            <a:off x="863346" y="7293229"/>
            <a:ext cx="1287272" cy="34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ko-KR" altLang="en-US" sz="16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기록과 지도</a:t>
            </a:r>
            <a:endParaRPr lang="en-US" sz="1600" dirty="0"/>
          </a:p>
        </p:txBody>
      </p:sp>
      <p:sp>
        <p:nvSpPr>
          <p:cNvPr id="48" name="txt-5-12"/>
          <p:cNvSpPr txBox="1"/>
          <p:nvPr/>
        </p:nvSpPr>
        <p:spPr>
          <a:xfrm>
            <a:off x="863346" y="7920482"/>
            <a:ext cx="4726559" cy="43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5"/>
              </a:lnSpc>
              <a:buNone/>
            </a:pPr>
            <a:r>
              <a:rPr lang="ko-KR" altLang="en-US" sz="20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온라인과 오프라인에서 같은 수업을</a:t>
            </a:r>
            <a:endParaRPr lang="en-US" sz="2050" dirty="0"/>
          </a:p>
        </p:txBody>
      </p:sp>
      <p:sp>
        <p:nvSpPr>
          <p:cNvPr id="49" name="txt-5-13"/>
          <p:cNvSpPr txBox="1"/>
          <p:nvPr/>
        </p:nvSpPr>
        <p:spPr>
          <a:xfrm>
            <a:off x="381000" y="8435213"/>
            <a:ext cx="7140956" cy="61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ko-KR" altLang="en-US" sz="15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온라인에서는 화면에 답하고 포트폴리오에 기록합니다. 오프라인에서는 같은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ko-KR" altLang="en-US" sz="15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활동지를 인쇄해 손글씨, 그림, 역할극으로 읽은 내용을 표현합니다.</a:t>
            </a:r>
            <a:endParaRPr lang="en-US" sz="1500" dirty="0"/>
          </a:p>
        </p:txBody>
      </p:sp>
      <p:sp>
        <p:nvSpPr>
          <p:cNvPr id="50" name="txt-5-14"/>
          <p:cNvSpPr txBox="1"/>
          <p:nvPr/>
        </p:nvSpPr>
        <p:spPr>
          <a:xfrm>
            <a:off x="381000" y="9057386"/>
            <a:ext cx="7045706" cy="61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ko-KR" altLang="en-US" sz="15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교사는 우리 반의 고민에 맞는 책과 질문을 고르고, 학생의 답을 보며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ko-KR" altLang="en-US" sz="15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질문과 피드백을 정합니다. 읽기와 학급 생활을 함께 잇는 수업입니다.</a:t>
            </a:r>
            <a:endParaRPr lang="en-US" sz="1500" dirty="0"/>
          </a:p>
        </p:txBody>
      </p:sp>
      <p:sp>
        <p:nvSpPr>
          <p:cNvPr id="51" name="txt-5-15"/>
          <p:cNvSpPr txBox="1"/>
          <p:nvPr/>
        </p:nvSpPr>
        <p:spPr>
          <a:xfrm>
            <a:off x="1251204" y="9831959"/>
            <a:ext cx="5056886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2"/>
              </a:lnSpc>
              <a:buNone/>
            </a:pPr>
            <a:r>
              <a:rPr lang="ko-KR" altLang="en-US" sz="128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경남의 아이들이 스스로 이해하고 판단하는 사람으로 자라도록,</a:t>
            </a:r>
            <a:endParaRPr lang="en-US" sz="1280" dirty="0"/>
          </a:p>
          <a:p>
            <a:pPr algn="ctr" indent="0" marL="0">
              <a:lnSpc>
                <a:spcPts val="1792"/>
              </a:lnSpc>
              <a:buNone/>
            </a:pPr>
            <a:r>
              <a:rPr lang="ko-KR" altLang="en-US" sz="128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기본 독서교육을 함께 지켜 주십시오.</a:t>
            </a:r>
            <a:endParaRPr lang="en-US" sz="1280" dirty="0"/>
          </a:p>
        </p:txBody>
      </p:sp>
      <p:sp>
        <p:nvSpPr>
          <p:cNvPr id="52" name="txt-5-16"/>
          <p:cNvSpPr txBox="1"/>
          <p:nvPr/>
        </p:nvSpPr>
        <p:spPr>
          <a:xfrm>
            <a:off x="3504565" y="10362692"/>
            <a:ext cx="42481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/ 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주식회사 엠에스이씨엠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부기 독서교육 브로슈어</dc:title>
  <dc:subject>PptxGenJS Presentation</dc:subject>
  <dc:creator>MSECM</dc:creator>
  <cp:lastModifiedBy>MSECM</cp:lastModifiedBy>
  <cp:revision>1</cp:revision>
  <dcterms:created xsi:type="dcterms:W3CDTF">2026-10-28T11:54:38Z</dcterms:created>
  <dcterms:modified xsi:type="dcterms:W3CDTF">2026-10-28T11:54:38Z</dcterms:modified>
</cp:coreProperties>
</file>