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0005" cy="10692003"/>
  <p:notesSz cx="10692003" cy="75600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5913" y="635000"/>
            <a:ext cx="584314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400" y="3187700"/>
            <a:ext cx="266700" cy="292100"/>
          </a:xfrm>
          <a:custGeom>
            <a:avLst/>
            <a:gdLst/>
            <a:ahLst/>
            <a:cxnLst/>
            <a:rect l="l" t="t" r="r" b="b"/>
            <a:pathLst>
              <a:path w="266700" h="292100">
                <a:moveTo>
                  <a:pt x="127000" y="292100"/>
                </a:moveTo>
                <a:lnTo>
                  <a:pt x="127000" y="139700"/>
                </a:lnTo>
                <a:cubicBezTo>
                  <a:pt x="63500" y="165100"/>
                  <a:pt x="0" y="139700"/>
                  <a:pt x="0" y="38100"/>
                </a:cubicBezTo>
                <a:cubicBezTo>
                  <a:pt x="101600" y="25400"/>
                  <a:pt x="127000" y="76200"/>
                  <a:pt x="127000" y="139700"/>
                </a:cubicBezTo>
                <a:cubicBezTo>
                  <a:pt x="127000" y="38100"/>
                  <a:pt x="203200" y="0"/>
                  <a:pt x="266700" y="12700"/>
                </a:cubicBezTo>
                <a:cubicBezTo>
                  <a:pt x="266700" y="101600"/>
                  <a:pt x="203200" y="152400"/>
                  <a:pt x="127000" y="1397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2616200" y="31750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30500" y="3200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45491"/>
                  <a:pt x="157709" y="0"/>
                  <a:pt x="101600" y="0"/>
                </a:cubicBezTo>
                <a:cubicBezTo>
                  <a:pt x="45491" y="0"/>
                  <a:pt x="0" y="45491"/>
                  <a:pt x="0" y="101600"/>
                </a:cubicBezTo>
                <a:cubicBezTo>
                  <a:pt x="0" y="157709"/>
                  <a:pt x="45491" y="203200"/>
                  <a:pt x="101600" y="203200"/>
                </a:cubicBezTo>
                <a:cubicBezTo>
                  <a:pt x="157709" y="203200"/>
                  <a:pt x="203200" y="157709"/>
                  <a:pt x="203200" y="101600"/>
                </a:cubicBezTo>
              </a:path>
            </a:pathLst>
          </a:custGeom>
          <a:ln w="20320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81300" y="33909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2900" y="33909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1300" y="3441700"/>
            <a:ext cx="1016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94000" y="3479800"/>
            <a:ext cx="762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2100" y="3302000"/>
            <a:ext cx="0" cy="1270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94000" y="32639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2100" y="32639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4900" y="31750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1100" y="3175000"/>
            <a:ext cx="279400" cy="292100"/>
          </a:xfrm>
          <a:custGeom>
            <a:avLst/>
            <a:gdLst/>
            <a:ahLst/>
            <a:cxnLst/>
            <a:rect l="l" t="t" r="r" b="b"/>
            <a:pathLst>
              <a:path w="279400" h="292100">
                <a:moveTo>
                  <a:pt x="139700" y="292100"/>
                </a:moveTo>
                <a:cubicBezTo>
                  <a:pt x="101600" y="241300"/>
                  <a:pt x="0" y="190500"/>
                  <a:pt x="0" y="101600"/>
                </a:cubicBezTo>
                <a:cubicBezTo>
                  <a:pt x="0" y="0"/>
                  <a:pt x="114300" y="0"/>
                  <a:pt x="139700" y="76200"/>
                </a:cubicBezTo>
                <a:cubicBezTo>
                  <a:pt x="165100" y="0"/>
                  <a:pt x="279400" y="0"/>
                  <a:pt x="279400" y="101600"/>
                </a:cubicBezTo>
                <a:cubicBezTo>
                  <a:pt x="279400" y="190500"/>
                  <a:pt x="177800" y="241300"/>
                  <a:pt x="139700" y="2921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317500" y="4546600"/>
            <a:ext cx="6925056" cy="1638300"/>
          </a:xfrm>
          <a:prstGeom prst="roundRect">
            <a:avLst>
              <a:gd name="adj" fmla="val 6202"/>
            </a:avLst>
          </a:prstGeom>
          <a:solidFill>
            <a:srgbClr val="F6F5F0"/>
          </a:solidFill>
          <a:ln/>
        </p:spPr>
      </p:sp>
      <p:sp>
        <p:nvSpPr>
          <p:cNvPr id="16" name="Shape 14"/>
          <p:cNvSpPr/>
          <p:nvPr/>
        </p:nvSpPr>
        <p:spPr>
          <a:xfrm>
            <a:off x="876300" y="58420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2946400" y="58420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8" name="Shape 16"/>
          <p:cNvSpPr/>
          <p:nvPr/>
        </p:nvSpPr>
        <p:spPr>
          <a:xfrm>
            <a:off x="5016500" y="58420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17500" y="8636000"/>
            <a:ext cx="6925056" cy="812800"/>
          </a:xfrm>
          <a:prstGeom prst="roundRect">
            <a:avLst>
              <a:gd name="adj" fmla="val 12500"/>
            </a:avLst>
          </a:prstGeom>
          <a:solidFill>
            <a:srgbClr val="F6F5F0"/>
          </a:solidFill>
          <a:ln/>
        </p:spPr>
      </p:sp>
      <p:sp>
        <p:nvSpPr>
          <p:cNvPr id="20" name="Shape 18"/>
          <p:cNvSpPr/>
          <p:nvPr/>
        </p:nvSpPr>
        <p:spPr>
          <a:xfrm>
            <a:off x="317500" y="9829800"/>
            <a:ext cx="6925056" cy="596900"/>
          </a:xfrm>
          <a:prstGeom prst="roundRect">
            <a:avLst>
              <a:gd name="adj" fmla="val 17021"/>
            </a:avLst>
          </a:prstGeom>
          <a:solidFill>
            <a:srgbClr val="F0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317500" y="72517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2651252" y="72517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3" name="Shape 21"/>
          <p:cNvSpPr/>
          <p:nvPr/>
        </p:nvSpPr>
        <p:spPr>
          <a:xfrm>
            <a:off x="4985004" y="72517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4" name="Shape 22"/>
          <p:cNvSpPr/>
          <p:nvPr/>
        </p:nvSpPr>
        <p:spPr>
          <a:xfrm>
            <a:off x="317500" y="78740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5" name="Shape 23"/>
          <p:cNvSpPr/>
          <p:nvPr/>
        </p:nvSpPr>
        <p:spPr>
          <a:xfrm>
            <a:off x="2651252" y="78740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985004" y="78740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pic>
        <p:nvPicPr>
          <p:cNvPr id="27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2000" y="6286500"/>
            <a:ext cx="1270000" cy="872363"/>
          </a:xfrm>
          <a:prstGeom prst="rect">
            <a:avLst/>
          </a:prstGeom>
        </p:spPr>
      </p:pic>
      <p:sp>
        <p:nvSpPr>
          <p:cNvPr id="28" name="txt-1-0"/>
          <p:cNvSpPr txBox="1"/>
          <p:nvPr/>
        </p:nvSpPr>
        <p:spPr>
          <a:xfrm>
            <a:off x="381000" y="436626"/>
            <a:ext cx="1035177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AI 시대,</a:t>
            </a:r>
            <a:endParaRPr lang="en-US" sz="1700" dirty="0"/>
          </a:p>
        </p:txBody>
      </p:sp>
      <p:sp>
        <p:nvSpPr>
          <p:cNvPr id="29" name="txt-1-1"/>
          <p:cNvSpPr txBox="1"/>
          <p:nvPr/>
        </p:nvSpPr>
        <p:spPr>
          <a:xfrm>
            <a:off x="355473" y="808482"/>
            <a:ext cx="5665724" cy="1030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ko-KR" altLang="en-US" sz="4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독서는 모든 학습의</a:t>
            </a:r>
            <a:endParaRPr lang="en-US" sz="4800" dirty="0"/>
          </a:p>
        </p:txBody>
      </p:sp>
      <p:sp>
        <p:nvSpPr>
          <p:cNvPr id="30" name="txt-1-2"/>
          <p:cNvSpPr txBox="1"/>
          <p:nvPr/>
        </p:nvSpPr>
        <p:spPr>
          <a:xfrm>
            <a:off x="355473" y="1507871"/>
            <a:ext cx="3908044" cy="1116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기본</a:t>
            </a:r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입니다.</a:t>
            </a:r>
            <a:endParaRPr lang="en-US" sz="5200" dirty="0"/>
          </a:p>
        </p:txBody>
      </p:sp>
      <p:sp>
        <p:nvSpPr>
          <p:cNvPr id="31" name="txt-1-3"/>
          <p:cNvSpPr txBox="1"/>
          <p:nvPr/>
        </p:nvSpPr>
        <p:spPr>
          <a:xfrm>
            <a:off x="381000" y="2412619"/>
            <a:ext cx="5091049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AI가 답을 내놓아도,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읽고 이해하고 판단하는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은 학생 안에 있어야 합니다.</a:t>
            </a:r>
            <a:endParaRPr lang="en-US" sz="1600" dirty="0"/>
          </a:p>
        </p:txBody>
      </p:sp>
      <p:sp>
        <p:nvSpPr>
          <p:cNvPr id="32" name="txt-1-4"/>
          <p:cNvSpPr txBox="1"/>
          <p:nvPr/>
        </p:nvSpPr>
        <p:spPr>
          <a:xfrm>
            <a:off x="787146" y="31668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학습의 기본</a:t>
            </a:r>
            <a:endParaRPr lang="en-US" sz="1700" dirty="0"/>
          </a:p>
        </p:txBody>
      </p:sp>
      <p:sp>
        <p:nvSpPr>
          <p:cNvPr id="33" name="txt-1-5"/>
          <p:cNvSpPr txBox="1"/>
          <p:nvPr/>
        </p:nvSpPr>
        <p:spPr>
          <a:xfrm>
            <a:off x="3085465" y="31668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사고의 기본</a:t>
            </a:r>
            <a:endParaRPr lang="en-US" sz="1700" dirty="0"/>
          </a:p>
        </p:txBody>
      </p:sp>
      <p:sp>
        <p:nvSpPr>
          <p:cNvPr id="34" name="txt-1-6"/>
          <p:cNvSpPr txBox="1"/>
          <p:nvPr/>
        </p:nvSpPr>
        <p:spPr>
          <a:xfrm>
            <a:off x="5383784" y="3166872"/>
            <a:ext cx="1128776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삶의 기본</a:t>
            </a:r>
            <a:endParaRPr lang="en-US" sz="1700" dirty="0"/>
          </a:p>
        </p:txBody>
      </p:sp>
      <p:sp>
        <p:nvSpPr>
          <p:cNvPr id="35" name="txt-1-7"/>
          <p:cNvSpPr txBox="1"/>
          <p:nvPr/>
        </p:nvSpPr>
        <p:spPr>
          <a:xfrm>
            <a:off x="398653" y="3591052"/>
            <a:ext cx="2162683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낱말과 문장의 뜻을 이해하고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모든 교과의 학습</a:t>
            </a:r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이어 가는 힘</a:t>
            </a:r>
            <a:endParaRPr lang="en-US" sz="1080" dirty="0"/>
          </a:p>
        </p:txBody>
      </p:sp>
      <p:sp>
        <p:nvSpPr>
          <p:cNvPr id="36" name="txt-1-8"/>
          <p:cNvSpPr txBox="1"/>
          <p:nvPr/>
        </p:nvSpPr>
        <p:spPr>
          <a:xfrm>
            <a:off x="3178937" y="3591052"/>
            <a:ext cx="1503045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근거를 찾고 질문하며</a:t>
            </a:r>
            <a:endParaRPr lang="en-US" sz="1080" dirty="0"/>
          </a:p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자기 생각을 세우는 힘</a:t>
            </a:r>
            <a:endParaRPr lang="en-US" sz="1080" dirty="0"/>
          </a:p>
        </p:txBody>
      </p:sp>
      <p:sp>
        <p:nvSpPr>
          <p:cNvPr id="37" name="txt-1-9"/>
          <p:cNvSpPr txBox="1"/>
          <p:nvPr/>
        </p:nvSpPr>
        <p:spPr>
          <a:xfrm>
            <a:off x="5241290" y="3591052"/>
            <a:ext cx="1668907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 속의 다른 삶을 만나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나와 타인을 이해하는 힘</a:t>
            </a:r>
            <a:endParaRPr lang="en-US" sz="1080" dirty="0"/>
          </a:p>
        </p:txBody>
      </p:sp>
      <p:sp>
        <p:nvSpPr>
          <p:cNvPr id="38" name="txt-1-10"/>
          <p:cNvSpPr txBox="1"/>
          <p:nvPr/>
        </p:nvSpPr>
        <p:spPr>
          <a:xfrm>
            <a:off x="1478280" y="4206621"/>
            <a:ext cx="460184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직접 읽고 근거를 찾는 연습이 AI의 답을 판단할 바탕이 됩니다.*</a:t>
            </a:r>
            <a:endParaRPr lang="en-US" sz="1000" dirty="0"/>
          </a:p>
        </p:txBody>
      </p:sp>
      <p:sp>
        <p:nvSpPr>
          <p:cNvPr id="39" name="txt-1-11"/>
          <p:cNvSpPr txBox="1"/>
          <p:nvPr/>
        </p:nvSpPr>
        <p:spPr>
          <a:xfrm>
            <a:off x="482346" y="4666234"/>
            <a:ext cx="5168646" cy="579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ko-KR" altLang="en-US" sz="2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기본이 쌓일 시간이 필요합니다</a:t>
            </a:r>
            <a:endParaRPr lang="en-US" sz="2700" dirty="0"/>
          </a:p>
        </p:txBody>
      </p:sp>
      <p:sp>
        <p:nvSpPr>
          <p:cNvPr id="40" name="txt-1-12"/>
          <p:cNvSpPr txBox="1"/>
          <p:nvPr/>
        </p:nvSpPr>
        <p:spPr>
          <a:xfrm>
            <a:off x="495300" y="5165725"/>
            <a:ext cx="7026656" cy="540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전자도서관과 책이 있어도 낯선 어휘에서 막히면 이해와 재미가 끊깁니다.</a:t>
            </a:r>
            <a:endParaRPr lang="en-US" sz="121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읽는 중의 도움과 교사의 질문을 연결해 한 권 읽는 경험을 돕습니다.</a:t>
            </a:r>
            <a:endParaRPr lang="en-US" sz="1210" dirty="0"/>
          </a:p>
        </p:txBody>
      </p:sp>
      <p:sp>
        <p:nvSpPr>
          <p:cNvPr id="41" name="txt-1-13"/>
          <p:cNvSpPr txBox="1"/>
          <p:nvPr/>
        </p:nvSpPr>
        <p:spPr>
          <a:xfrm>
            <a:off x="2679319" y="58375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42" name="txt-1-14"/>
          <p:cNvSpPr txBox="1"/>
          <p:nvPr/>
        </p:nvSpPr>
        <p:spPr>
          <a:xfrm>
            <a:off x="4749038" y="58375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txt-1-15"/>
          <p:cNvSpPr txBox="1"/>
          <p:nvPr/>
        </p:nvSpPr>
        <p:spPr>
          <a:xfrm>
            <a:off x="1261364" y="58720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모르는 낱말</a:t>
            </a:r>
            <a:endParaRPr lang="en-US" sz="1100" dirty="0"/>
          </a:p>
        </p:txBody>
      </p:sp>
      <p:sp>
        <p:nvSpPr>
          <p:cNvPr id="44" name="txt-1-16"/>
          <p:cNvSpPr txBox="1"/>
          <p:nvPr/>
        </p:nvSpPr>
        <p:spPr>
          <a:xfrm>
            <a:off x="3331083" y="58720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이해의 중단</a:t>
            </a:r>
            <a:endParaRPr lang="en-US" sz="1100" dirty="0"/>
          </a:p>
        </p:txBody>
      </p:sp>
      <p:sp>
        <p:nvSpPr>
          <p:cNvPr id="45" name="txt-1-17"/>
          <p:cNvSpPr txBox="1"/>
          <p:nvPr/>
        </p:nvSpPr>
        <p:spPr>
          <a:xfrm>
            <a:off x="5400802" y="58720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읽기의 포기</a:t>
            </a:r>
            <a:endParaRPr lang="en-US" sz="1100" dirty="0"/>
          </a:p>
        </p:txBody>
      </p:sp>
      <p:sp>
        <p:nvSpPr>
          <p:cNvPr id="46" name="txt-1-18"/>
          <p:cNvSpPr txBox="1"/>
          <p:nvPr/>
        </p:nvSpPr>
        <p:spPr>
          <a:xfrm>
            <a:off x="381000" y="6351651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47" name="txt-1-19"/>
          <p:cNvSpPr txBox="1"/>
          <p:nvPr/>
        </p:nvSpPr>
        <p:spPr>
          <a:xfrm>
            <a:off x="381000" y="6748399"/>
            <a:ext cx="4670044" cy="49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부기는 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정답 대신 질문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건넵니다.</a:t>
            </a:r>
            <a:endParaRPr lang="en-US" sz="2300" dirty="0"/>
          </a:p>
        </p:txBody>
      </p:sp>
      <p:sp>
        <p:nvSpPr>
          <p:cNvPr id="48" name="txt-1-29"/>
          <p:cNvSpPr txBox="1"/>
          <p:nvPr/>
        </p:nvSpPr>
        <p:spPr>
          <a:xfrm>
            <a:off x="756666" y="8758047"/>
            <a:ext cx="1141476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72학급</a:t>
            </a:r>
            <a:endParaRPr lang="en-US" sz="2400" dirty="0"/>
          </a:p>
        </p:txBody>
      </p:sp>
      <p:sp>
        <p:nvSpPr>
          <p:cNvPr id="49" name="txt-1-30"/>
          <p:cNvSpPr txBox="1"/>
          <p:nvPr/>
        </p:nvSpPr>
        <p:spPr>
          <a:xfrm>
            <a:off x="2399538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1,196명</a:t>
            </a:r>
            <a:endParaRPr lang="en-US" sz="2400" dirty="0"/>
          </a:p>
        </p:txBody>
      </p:sp>
      <p:sp>
        <p:nvSpPr>
          <p:cNvPr id="50" name="txt-1-31"/>
          <p:cNvSpPr txBox="1"/>
          <p:nvPr/>
        </p:nvSpPr>
        <p:spPr>
          <a:xfrm>
            <a:off x="4029202" y="8758047"/>
            <a:ext cx="1484503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26,924권</a:t>
            </a:r>
            <a:endParaRPr lang="en-US" sz="2400" dirty="0"/>
          </a:p>
        </p:txBody>
      </p:sp>
      <p:sp>
        <p:nvSpPr>
          <p:cNvPr id="51" name="txt-1-32"/>
          <p:cNvSpPr txBox="1"/>
          <p:nvPr/>
        </p:nvSpPr>
        <p:spPr>
          <a:xfrm>
            <a:off x="5827903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1,816건</a:t>
            </a:r>
            <a:endParaRPr lang="en-US" sz="2400" dirty="0"/>
          </a:p>
        </p:txBody>
      </p:sp>
      <p:sp>
        <p:nvSpPr>
          <p:cNvPr id="52" name="txt-1-33"/>
          <p:cNvSpPr txBox="1"/>
          <p:nvPr/>
        </p:nvSpPr>
        <p:spPr>
          <a:xfrm>
            <a:off x="945896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운영 학급</a:t>
            </a:r>
            <a:endParaRPr lang="en-US" sz="1050" dirty="0"/>
          </a:p>
        </p:txBody>
      </p:sp>
      <p:sp>
        <p:nvSpPr>
          <p:cNvPr id="53" name="txt-1-34"/>
          <p:cNvSpPr txBox="1"/>
          <p:nvPr/>
        </p:nvSpPr>
        <p:spPr>
          <a:xfrm>
            <a:off x="2522474" y="9116314"/>
            <a:ext cx="1027811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실제 사용 학생</a:t>
            </a:r>
            <a:endParaRPr lang="en-US" sz="1050" dirty="0"/>
          </a:p>
        </p:txBody>
      </p:sp>
      <p:sp>
        <p:nvSpPr>
          <p:cNvPr id="54" name="txt-1-35"/>
          <p:cNvSpPr txBox="1"/>
          <p:nvPr/>
        </p:nvSpPr>
        <p:spPr>
          <a:xfrm>
            <a:off x="4374261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완독 기록</a:t>
            </a:r>
            <a:endParaRPr lang="en-US" sz="1050" dirty="0"/>
          </a:p>
        </p:txBody>
      </p:sp>
      <p:sp>
        <p:nvSpPr>
          <p:cNvPr id="55" name="txt-1-36"/>
          <p:cNvSpPr txBox="1"/>
          <p:nvPr/>
        </p:nvSpPr>
        <p:spPr>
          <a:xfrm>
            <a:off x="5965952" y="9116314"/>
            <a:ext cx="994918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독후활동 제출</a:t>
            </a:r>
            <a:endParaRPr lang="en-US" sz="1050" dirty="0"/>
          </a:p>
        </p:txBody>
      </p:sp>
      <p:sp>
        <p:nvSpPr>
          <p:cNvPr id="56" name="txt-1-37"/>
          <p:cNvSpPr txBox="1"/>
          <p:nvPr/>
        </p:nvSpPr>
        <p:spPr>
          <a:xfrm>
            <a:off x="2012823" y="9514586"/>
            <a:ext cx="353212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2026. 9. 20.~10. 21. 선도교사단 온오프라인 운영 종합</a:t>
            </a:r>
            <a:endParaRPr lang="en-US" sz="1000" dirty="0"/>
          </a:p>
        </p:txBody>
      </p:sp>
      <p:sp>
        <p:nvSpPr>
          <p:cNvPr id="57" name="txt-1-38"/>
          <p:cNvSpPr txBox="1"/>
          <p:nvPr/>
        </p:nvSpPr>
        <p:spPr>
          <a:xfrm>
            <a:off x="1502410" y="9843897"/>
            <a:ext cx="4554855" cy="572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경남의 모든 학생이 읽고 생각하는 기본을 갖추도록,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학교 독서교육의 지속적인 운영을 지원해 주십시오.</a:t>
            </a:r>
            <a:endParaRPr lang="en-US" sz="1400" dirty="0"/>
          </a:p>
        </p:txBody>
      </p:sp>
      <p:sp>
        <p:nvSpPr>
          <p:cNvPr id="58" name="txt-1-39"/>
          <p:cNvSpPr txBox="1"/>
          <p:nvPr/>
        </p:nvSpPr>
        <p:spPr>
          <a:xfrm>
            <a:off x="304800" y="10510393"/>
            <a:ext cx="6350000" cy="13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5"/>
              </a:lnSpc>
              <a:buNone/>
            </a:pPr>
            <a:r>
              <a:rPr lang="ko-KR" altLang="en-US" sz="65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* Kreijkes 외(2026), Computers &amp; Education 243, 105514.</a:t>
            </a:r>
            <a:endParaRPr lang="en-US" sz="650" dirty="0"/>
          </a:p>
        </p:txBody>
      </p:sp>
      <p:sp>
        <p:nvSpPr>
          <p:cNvPr id="59" name="txt-S-title"/>
          <p:cNvSpPr txBox="1"/>
          <p:nvPr/>
        </p:nvSpPr>
        <p:spPr>
          <a:xfrm>
            <a:off x="381000" y="186690"/>
            <a:ext cx="3004185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독서수업 프로그램 부기 기반 독서교육 위탁운영</a:t>
            </a:r>
            <a:endParaRPr lang="en-US" sz="1100" dirty="0"/>
          </a:p>
        </p:txBody>
      </p:sp>
      <p:sp>
        <p:nvSpPr>
          <p:cNvPr id="60" name="txt-S-g0a"/>
          <p:cNvSpPr txBox="1"/>
          <p:nvPr/>
        </p:nvSpPr>
        <p:spPr>
          <a:xfrm>
            <a:off x="317500" y="73308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명작 300권 같이 끝까지 읽기</a:t>
            </a:r>
            <a:endParaRPr lang="en-US" sz="1250" dirty="0"/>
          </a:p>
        </p:txBody>
      </p:sp>
      <p:sp>
        <p:nvSpPr>
          <p:cNvPr id="61" name="txt-S-g0b"/>
          <p:cNvSpPr txBox="1"/>
          <p:nvPr/>
        </p:nvSpPr>
        <p:spPr>
          <a:xfrm>
            <a:off x="317500" y="75684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학년별 50권, 낱말 뜻과 읽어주기</a:t>
            </a:r>
            <a:endParaRPr lang="en-US" sz="920" dirty="0"/>
          </a:p>
        </p:txBody>
      </p:sp>
      <p:sp>
        <p:nvSpPr>
          <p:cNvPr id="62" name="txt-S-g1a"/>
          <p:cNvSpPr txBox="1"/>
          <p:nvPr/>
        </p:nvSpPr>
        <p:spPr>
          <a:xfrm>
            <a:off x="2651252" y="73308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깊이 있게 읽기(캐릭터 대화)</a:t>
            </a:r>
            <a:endParaRPr lang="en-US" sz="1250" dirty="0"/>
          </a:p>
        </p:txBody>
      </p:sp>
      <p:sp>
        <p:nvSpPr>
          <p:cNvPr id="63" name="txt-S-g1b"/>
          <p:cNvSpPr txBox="1"/>
          <p:nvPr/>
        </p:nvSpPr>
        <p:spPr>
          <a:xfrm>
            <a:off x="2651252" y="75684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인물의 자리에서 까닭을 들어 답하기</a:t>
            </a:r>
            <a:endParaRPr lang="en-US" sz="920" dirty="0"/>
          </a:p>
        </p:txBody>
      </p:sp>
      <p:sp>
        <p:nvSpPr>
          <p:cNvPr id="64" name="txt-S-g2a"/>
          <p:cNvSpPr txBox="1"/>
          <p:nvPr/>
        </p:nvSpPr>
        <p:spPr>
          <a:xfrm>
            <a:off x="4985004" y="73308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강력한 독후활동</a:t>
            </a:r>
            <a:endParaRPr lang="en-US" sz="1250" dirty="0"/>
          </a:p>
        </p:txBody>
      </p:sp>
      <p:sp>
        <p:nvSpPr>
          <p:cNvPr id="65" name="txt-S-g2b"/>
          <p:cNvSpPr txBox="1"/>
          <p:nvPr/>
        </p:nvSpPr>
        <p:spPr>
          <a:xfrm>
            <a:off x="4985004" y="75684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활동 카드 9가지, 수업 활동 20가지</a:t>
            </a:r>
            <a:endParaRPr lang="en-US" sz="920" dirty="0"/>
          </a:p>
        </p:txBody>
      </p:sp>
      <p:sp>
        <p:nvSpPr>
          <p:cNvPr id="66" name="txt-S-g3a"/>
          <p:cNvSpPr txBox="1"/>
          <p:nvPr/>
        </p:nvSpPr>
        <p:spPr>
          <a:xfrm>
            <a:off x="317500" y="79531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 포트폴리오</a:t>
            </a:r>
            <a:endParaRPr lang="en-US" sz="1250" dirty="0"/>
          </a:p>
        </p:txBody>
      </p:sp>
      <p:sp>
        <p:nvSpPr>
          <p:cNvPr id="67" name="txt-S-g3b"/>
          <p:cNvSpPr txBox="1"/>
          <p:nvPr/>
        </p:nvSpPr>
        <p:spPr>
          <a:xfrm>
            <a:off x="317500" y="81907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숙제 없이 모이는 6년 독서 기록</a:t>
            </a:r>
            <a:endParaRPr lang="en-US" sz="920" dirty="0"/>
          </a:p>
        </p:txBody>
      </p:sp>
      <p:sp>
        <p:nvSpPr>
          <p:cNvPr id="68" name="txt-S-g4a"/>
          <p:cNvSpPr txBox="1"/>
          <p:nvPr/>
        </p:nvSpPr>
        <p:spPr>
          <a:xfrm>
            <a:off x="2651252" y="79531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교사 맞춤형 지원</a:t>
            </a:r>
            <a:endParaRPr lang="en-US" sz="1250" dirty="0"/>
          </a:p>
        </p:txBody>
      </p:sp>
      <p:sp>
        <p:nvSpPr>
          <p:cNvPr id="69" name="txt-S-g4b"/>
          <p:cNvSpPr txBox="1"/>
          <p:nvPr/>
        </p:nvSpPr>
        <p:spPr>
          <a:xfrm>
            <a:off x="2651252" y="81907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학급 고민에 맞는 책, 질문, 차시 자료</a:t>
            </a:r>
            <a:endParaRPr lang="en-US" sz="920" dirty="0"/>
          </a:p>
        </p:txBody>
      </p:sp>
      <p:sp>
        <p:nvSpPr>
          <p:cNvPr id="70" name="txt-S-g5a"/>
          <p:cNvSpPr txBox="1"/>
          <p:nvPr/>
        </p:nvSpPr>
        <p:spPr>
          <a:xfrm>
            <a:off x="4985004" y="79531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성과 및 운영관리</a:t>
            </a:r>
            <a:endParaRPr lang="en-US" sz="1250" dirty="0"/>
          </a:p>
        </p:txBody>
      </p:sp>
      <p:sp>
        <p:nvSpPr>
          <p:cNvPr id="71" name="txt-S-g5b"/>
          <p:cNvSpPr txBox="1"/>
          <p:nvPr/>
        </p:nvSpPr>
        <p:spPr>
          <a:xfrm>
            <a:off x="4985004" y="81907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연수부터 성과 보고까지 10개 항목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2026-10-28T22:36:35Z</dcterms:created>
  <dcterms:modified xsi:type="dcterms:W3CDTF">2026-10-28T22:36:35Z</dcterms:modified>
</cp:coreProperties>
</file>