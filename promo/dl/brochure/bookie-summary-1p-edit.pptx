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4953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369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149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3909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290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2512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242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08500"/>
            <a:ext cx="6925056" cy="1701800"/>
          </a:xfrm>
          <a:prstGeom prst="roundRect">
            <a:avLst>
              <a:gd name="adj" fmla="val 5970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" y="7784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637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189734" y="77956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4659" y="7981950"/>
            <a:ext cx="2324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659" y="7981950"/>
            <a:ext cx="9309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50186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6" name="Shape 24"/>
          <p:cNvSpPr/>
          <p:nvPr/>
        </p:nvSpPr>
        <p:spPr>
          <a:xfrm>
            <a:off x="2308479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6645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59225" y="7795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82466" y="7947025"/>
            <a:ext cx="58293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8925" y="7830566"/>
            <a:ext cx="58166" cy="58293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562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475" y="7947025"/>
            <a:ext cx="32639" cy="93091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4" name="Shape 32"/>
          <p:cNvSpPr/>
          <p:nvPr/>
        </p:nvSpPr>
        <p:spPr>
          <a:xfrm>
            <a:off x="5775325" y="7888859"/>
            <a:ext cx="32639" cy="151384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5" name="Shape 33"/>
          <p:cNvSpPr/>
          <p:nvPr/>
        </p:nvSpPr>
        <p:spPr>
          <a:xfrm>
            <a:off x="5845175" y="7830566"/>
            <a:ext cx="32639" cy="209550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7772400"/>
            <a:ext cx="32639" cy="267716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7" name="Shape 35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pic>
        <p:nvPicPr>
          <p:cNvPr id="3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300" y="6362700"/>
            <a:ext cx="1409700" cy="968248"/>
          </a:xfrm>
          <a:prstGeom prst="rect">
            <a:avLst/>
          </a:prstGeom>
        </p:spPr>
      </p:pic>
      <p:sp>
        <p:nvSpPr>
          <p:cNvPr id="40" name="txt-1-0"/>
          <p:cNvSpPr txBox="1"/>
          <p:nvPr/>
        </p:nvSpPr>
        <p:spPr>
          <a:xfrm>
            <a:off x="381000" y="2969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41" name="txt-1-1"/>
          <p:cNvSpPr txBox="1"/>
          <p:nvPr/>
        </p:nvSpPr>
        <p:spPr>
          <a:xfrm>
            <a:off x="355473" y="6941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42" name="txt-1-2"/>
          <p:cNvSpPr txBox="1"/>
          <p:nvPr/>
        </p:nvSpPr>
        <p:spPr>
          <a:xfrm>
            <a:off x="355473" y="14062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43" name="txt-1-3"/>
          <p:cNvSpPr txBox="1"/>
          <p:nvPr/>
        </p:nvSpPr>
        <p:spPr>
          <a:xfrm>
            <a:off x="381000" y="23364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44" name="txt-1-4"/>
          <p:cNvSpPr txBox="1"/>
          <p:nvPr/>
        </p:nvSpPr>
        <p:spPr>
          <a:xfrm>
            <a:off x="787146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45" name="txt-1-5"/>
          <p:cNvSpPr txBox="1"/>
          <p:nvPr/>
        </p:nvSpPr>
        <p:spPr>
          <a:xfrm>
            <a:off x="3085465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46" name="txt-1-6"/>
          <p:cNvSpPr txBox="1"/>
          <p:nvPr/>
        </p:nvSpPr>
        <p:spPr>
          <a:xfrm>
            <a:off x="5383784" y="31160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47" name="txt-1-7"/>
          <p:cNvSpPr txBox="1"/>
          <p:nvPr/>
        </p:nvSpPr>
        <p:spPr>
          <a:xfrm>
            <a:off x="398653" y="35402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48" name="txt-1-8"/>
          <p:cNvSpPr txBox="1"/>
          <p:nvPr/>
        </p:nvSpPr>
        <p:spPr>
          <a:xfrm>
            <a:off x="3178937" y="35402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49" name="txt-1-9"/>
          <p:cNvSpPr txBox="1"/>
          <p:nvPr/>
        </p:nvSpPr>
        <p:spPr>
          <a:xfrm>
            <a:off x="5241290" y="35402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50" name="txt-1-10"/>
          <p:cNvSpPr txBox="1"/>
          <p:nvPr/>
        </p:nvSpPr>
        <p:spPr>
          <a:xfrm>
            <a:off x="1478280" y="41685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 이해 과정에서는 전전두엽을 포함한 여러 뇌 영역이 함께 활동합니다.*</a:t>
            </a:r>
            <a:endParaRPr lang="en-US" sz="1000" dirty="0"/>
          </a:p>
        </p:txBody>
      </p:sp>
      <p:sp>
        <p:nvSpPr>
          <p:cNvPr id="51" name="txt-1-11"/>
          <p:cNvSpPr txBox="1"/>
          <p:nvPr/>
        </p:nvSpPr>
        <p:spPr>
          <a:xfrm>
            <a:off x="482346" y="46281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52" name="txt-1-12"/>
          <p:cNvSpPr txBox="1"/>
          <p:nvPr/>
        </p:nvSpPr>
        <p:spPr>
          <a:xfrm>
            <a:off x="495300" y="51276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학교에서 마주한 현실은, 아이들이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충분히 읽지 않는다는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것이었습니다.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언어의 장벽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읽기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수준 차이,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지도와 수업 준비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부담이 있습니다.</a:t>
            </a:r>
            <a:endParaRPr lang="en-US" sz="1210" dirty="0"/>
          </a:p>
        </p:txBody>
      </p:sp>
      <p:sp>
        <p:nvSpPr>
          <p:cNvPr id="53" name="txt-1-13"/>
          <p:cNvSpPr txBox="1"/>
          <p:nvPr/>
        </p:nvSpPr>
        <p:spPr>
          <a:xfrm>
            <a:off x="2679319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txt-1-14"/>
          <p:cNvSpPr txBox="1"/>
          <p:nvPr/>
        </p:nvSpPr>
        <p:spPr>
          <a:xfrm>
            <a:off x="4749038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5" name="txt-1-15"/>
          <p:cNvSpPr txBox="1"/>
          <p:nvPr/>
        </p:nvSpPr>
        <p:spPr>
          <a:xfrm>
            <a:off x="1261364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56" name="txt-1-16"/>
          <p:cNvSpPr txBox="1"/>
          <p:nvPr/>
        </p:nvSpPr>
        <p:spPr>
          <a:xfrm>
            <a:off x="3331083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57" name="txt-1-17"/>
          <p:cNvSpPr txBox="1"/>
          <p:nvPr/>
        </p:nvSpPr>
        <p:spPr>
          <a:xfrm>
            <a:off x="5400802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58" name="txt-1-18"/>
          <p:cNvSpPr txBox="1"/>
          <p:nvPr/>
        </p:nvSpPr>
        <p:spPr>
          <a:xfrm>
            <a:off x="381000" y="64151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59" name="txt-1-19"/>
          <p:cNvSpPr txBox="1"/>
          <p:nvPr/>
        </p:nvSpPr>
        <p:spPr>
          <a:xfrm>
            <a:off x="381000" y="68118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60" name="txt-1-20"/>
          <p:cNvSpPr txBox="1"/>
          <p:nvPr/>
        </p:nvSpPr>
        <p:spPr>
          <a:xfrm>
            <a:off x="381000" y="7313422"/>
            <a:ext cx="4235577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학교에서 시범 사용을 통해 </a:t>
            </a:r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계속 개선하고 발전</a:t>
            </a:r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시켜 나가고 있습니다.</a:t>
            </a:r>
            <a:endParaRPr lang="en-US" sz="1050" dirty="0"/>
          </a:p>
        </p:txBody>
      </p:sp>
      <p:sp>
        <p:nvSpPr>
          <p:cNvPr id="61" name="txt-1-21"/>
          <p:cNvSpPr txBox="1"/>
          <p:nvPr/>
        </p:nvSpPr>
        <p:spPr>
          <a:xfrm>
            <a:off x="825246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</a:t>
            </a:r>
            <a:endParaRPr lang="en-US" sz="1600" dirty="0"/>
          </a:p>
        </p:txBody>
      </p:sp>
      <p:sp>
        <p:nvSpPr>
          <p:cNvPr id="62" name="txt-1-22"/>
          <p:cNvSpPr txBox="1"/>
          <p:nvPr/>
        </p:nvSpPr>
        <p:spPr>
          <a:xfrm>
            <a:off x="2571242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묻기</a:t>
            </a:r>
            <a:endParaRPr lang="en-US" sz="1600" dirty="0"/>
          </a:p>
        </p:txBody>
      </p:sp>
      <p:sp>
        <p:nvSpPr>
          <p:cNvPr id="63" name="txt-1-23"/>
          <p:cNvSpPr txBox="1"/>
          <p:nvPr/>
        </p:nvSpPr>
        <p:spPr>
          <a:xfrm>
            <a:off x="4317238" y="7737856"/>
            <a:ext cx="1016127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표현하기</a:t>
            </a:r>
            <a:endParaRPr lang="en-US" sz="1600" dirty="0"/>
          </a:p>
        </p:txBody>
      </p:sp>
      <p:sp>
        <p:nvSpPr>
          <p:cNvPr id="64" name="txt-1-24"/>
          <p:cNvSpPr txBox="1"/>
          <p:nvPr/>
        </p:nvSpPr>
        <p:spPr>
          <a:xfrm>
            <a:off x="5951220" y="7737856"/>
            <a:ext cx="811911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모으기</a:t>
            </a:r>
            <a:endParaRPr lang="en-US" sz="1600" dirty="0"/>
          </a:p>
        </p:txBody>
      </p:sp>
      <p:sp>
        <p:nvSpPr>
          <p:cNvPr id="65" name="txt-1-25"/>
          <p:cNvSpPr txBox="1"/>
          <p:nvPr/>
        </p:nvSpPr>
        <p:spPr>
          <a:xfrm>
            <a:off x="616077" y="8082280"/>
            <a:ext cx="108013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능동적 그림 읽기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다국어 지원</a:t>
            </a:r>
            <a:endParaRPr lang="en-US" sz="850" dirty="0"/>
          </a:p>
        </p:txBody>
      </p:sp>
      <p:sp>
        <p:nvSpPr>
          <p:cNvPr id="66" name="txt-1-26"/>
          <p:cNvSpPr txBox="1"/>
          <p:nvPr/>
        </p:nvSpPr>
        <p:spPr>
          <a:xfrm>
            <a:off x="2228342" y="8082280"/>
            <a:ext cx="1345946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생각한 까닭을 묻는 질문</a:t>
            </a:r>
            <a:endParaRPr lang="en-US" sz="850" dirty="0"/>
          </a:p>
        </p:txBody>
      </p:sp>
      <p:sp>
        <p:nvSpPr>
          <p:cNvPr id="67" name="txt-1-27"/>
          <p:cNvSpPr txBox="1"/>
          <p:nvPr/>
        </p:nvSpPr>
        <p:spPr>
          <a:xfrm>
            <a:off x="3796030" y="8082280"/>
            <a:ext cx="170116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독후활동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 · 그림 · 편지로 내 생각 표현</a:t>
            </a:r>
            <a:endParaRPr lang="en-US" sz="850" dirty="0"/>
          </a:p>
        </p:txBody>
      </p:sp>
      <p:sp>
        <p:nvSpPr>
          <p:cNvPr id="68" name="txt-1-28"/>
          <p:cNvSpPr txBox="1"/>
          <p:nvPr/>
        </p:nvSpPr>
        <p:spPr>
          <a:xfrm>
            <a:off x="5553202" y="8082280"/>
            <a:ext cx="1679702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느끼고 달라졌는지 기록</a:t>
            </a:r>
            <a:endParaRPr lang="en-US" sz="850" dirty="0"/>
          </a:p>
        </p:txBody>
      </p:sp>
      <p:sp>
        <p:nvSpPr>
          <p:cNvPr id="69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70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71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26,924건</a:t>
            </a:r>
            <a:endParaRPr lang="en-US" sz="2400" dirty="0"/>
          </a:p>
        </p:txBody>
      </p:sp>
      <p:sp>
        <p:nvSpPr>
          <p:cNvPr id="72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73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74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75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76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77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9월 20일부터 10월 21일까지 한 달 시범 사용 결과</a:t>
            </a:r>
            <a:endParaRPr lang="en-US" sz="1000" dirty="0"/>
          </a:p>
        </p:txBody>
      </p:sp>
      <p:sp>
        <p:nvSpPr>
          <p:cNvPr id="78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79" name="txt-1-39"/>
          <p:cNvSpPr txBox="1"/>
          <p:nvPr/>
        </p:nvSpPr>
        <p:spPr>
          <a:xfrm>
            <a:off x="304800" y="10510393"/>
            <a:ext cx="2592451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출처: Yarkoni et al. (2008). NeuroImage, 41(4), 1408-1425.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2026-10-27T23:57:07Z</dcterms:created>
  <dcterms:modified xsi:type="dcterms:W3CDTF">2026-10-27T23:57:07Z</dcterms:modified>
</cp:coreProperties>
</file>