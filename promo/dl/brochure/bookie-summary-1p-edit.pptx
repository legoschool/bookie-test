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6350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877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20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4417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798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3020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750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46600"/>
            <a:ext cx="6925056" cy="1638300"/>
          </a:xfrm>
          <a:prstGeom prst="roundRect">
            <a:avLst>
              <a:gd name="adj" fmla="val 6202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20" name="Shape 18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317500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651252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3" name="Shape 21"/>
          <p:cNvSpPr/>
          <p:nvPr/>
        </p:nvSpPr>
        <p:spPr>
          <a:xfrm>
            <a:off x="4985004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7500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2651252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85004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pic>
        <p:nvPicPr>
          <p:cNvPr id="27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000" y="6286500"/>
            <a:ext cx="1270000" cy="872363"/>
          </a:xfrm>
          <a:prstGeom prst="rect">
            <a:avLst/>
          </a:prstGeom>
        </p:spPr>
      </p:pic>
      <p:sp>
        <p:nvSpPr>
          <p:cNvPr id="28" name="txt-1-0"/>
          <p:cNvSpPr txBox="1"/>
          <p:nvPr/>
        </p:nvSpPr>
        <p:spPr>
          <a:xfrm>
            <a:off x="381000" y="4366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29" name="txt-1-1"/>
          <p:cNvSpPr txBox="1"/>
          <p:nvPr/>
        </p:nvSpPr>
        <p:spPr>
          <a:xfrm>
            <a:off x="355473" y="8084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30" name="txt-1-2"/>
          <p:cNvSpPr txBox="1"/>
          <p:nvPr/>
        </p:nvSpPr>
        <p:spPr>
          <a:xfrm>
            <a:off x="355473" y="15078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31" name="txt-1-3"/>
          <p:cNvSpPr txBox="1"/>
          <p:nvPr/>
        </p:nvSpPr>
        <p:spPr>
          <a:xfrm>
            <a:off x="381000" y="24126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32" name="txt-1-4"/>
          <p:cNvSpPr txBox="1"/>
          <p:nvPr/>
        </p:nvSpPr>
        <p:spPr>
          <a:xfrm>
            <a:off x="787146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33" name="txt-1-5"/>
          <p:cNvSpPr txBox="1"/>
          <p:nvPr/>
        </p:nvSpPr>
        <p:spPr>
          <a:xfrm>
            <a:off x="3085465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34" name="txt-1-6"/>
          <p:cNvSpPr txBox="1"/>
          <p:nvPr/>
        </p:nvSpPr>
        <p:spPr>
          <a:xfrm>
            <a:off x="5383784" y="31668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35" name="txt-1-7"/>
          <p:cNvSpPr txBox="1"/>
          <p:nvPr/>
        </p:nvSpPr>
        <p:spPr>
          <a:xfrm>
            <a:off x="398653" y="35910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36" name="txt-1-8"/>
          <p:cNvSpPr txBox="1"/>
          <p:nvPr/>
        </p:nvSpPr>
        <p:spPr>
          <a:xfrm>
            <a:off x="3178937" y="35910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37" name="txt-1-9"/>
          <p:cNvSpPr txBox="1"/>
          <p:nvPr/>
        </p:nvSpPr>
        <p:spPr>
          <a:xfrm>
            <a:off x="5241290" y="35910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38" name="txt-1-10"/>
          <p:cNvSpPr txBox="1"/>
          <p:nvPr/>
        </p:nvSpPr>
        <p:spPr>
          <a:xfrm>
            <a:off x="1478280" y="42066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39" name="txt-1-11"/>
          <p:cNvSpPr txBox="1"/>
          <p:nvPr/>
        </p:nvSpPr>
        <p:spPr>
          <a:xfrm>
            <a:off x="482346" y="46662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40" name="txt-1-12"/>
          <p:cNvSpPr txBox="1"/>
          <p:nvPr/>
        </p:nvSpPr>
        <p:spPr>
          <a:xfrm>
            <a:off x="495300" y="51657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전자도서관과 책이 있어도 낯선 어휘에서 막히면 이해와 재미가 끊깁니다.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읽는 중의 도움과 교사의 질문을 연결해 한 권 읽는 경험을 돕습니다.</a:t>
            </a:r>
            <a:endParaRPr lang="en-US" sz="1210" dirty="0"/>
          </a:p>
        </p:txBody>
      </p:sp>
      <p:sp>
        <p:nvSpPr>
          <p:cNvPr id="41" name="txt-1-13"/>
          <p:cNvSpPr txBox="1"/>
          <p:nvPr/>
        </p:nvSpPr>
        <p:spPr>
          <a:xfrm>
            <a:off x="2679319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42" name="txt-1-14"/>
          <p:cNvSpPr txBox="1"/>
          <p:nvPr/>
        </p:nvSpPr>
        <p:spPr>
          <a:xfrm>
            <a:off x="4749038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txt-1-15"/>
          <p:cNvSpPr txBox="1"/>
          <p:nvPr/>
        </p:nvSpPr>
        <p:spPr>
          <a:xfrm>
            <a:off x="1261364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44" name="txt-1-16"/>
          <p:cNvSpPr txBox="1"/>
          <p:nvPr/>
        </p:nvSpPr>
        <p:spPr>
          <a:xfrm>
            <a:off x="3331083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45" name="txt-1-17"/>
          <p:cNvSpPr txBox="1"/>
          <p:nvPr/>
        </p:nvSpPr>
        <p:spPr>
          <a:xfrm>
            <a:off x="5400802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46" name="txt-1-18"/>
          <p:cNvSpPr txBox="1"/>
          <p:nvPr/>
        </p:nvSpPr>
        <p:spPr>
          <a:xfrm>
            <a:off x="381000" y="63516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7" name="txt-1-19"/>
          <p:cNvSpPr txBox="1"/>
          <p:nvPr/>
        </p:nvSpPr>
        <p:spPr>
          <a:xfrm>
            <a:off x="381000" y="67483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48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49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50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26,924권</a:t>
            </a:r>
            <a:endParaRPr lang="en-US" sz="2400" dirty="0"/>
          </a:p>
        </p:txBody>
      </p:sp>
      <p:sp>
        <p:nvSpPr>
          <p:cNvPr id="51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52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53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54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55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56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57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58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* Kreijkes 외(2026), Computers &amp; Education 243, 105514.</a:t>
            </a:r>
            <a:endParaRPr lang="en-US" sz="650" dirty="0"/>
          </a:p>
        </p:txBody>
      </p:sp>
      <p:sp>
        <p:nvSpPr>
          <p:cNvPr id="59" name="txt-S-title"/>
          <p:cNvSpPr txBox="1"/>
          <p:nvPr/>
        </p:nvSpPr>
        <p:spPr>
          <a:xfrm>
            <a:off x="381000" y="186690"/>
            <a:ext cx="3004185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독서수업 프로그램 부기 기반 독서교육 위탁운영</a:t>
            </a:r>
            <a:endParaRPr lang="en-US" sz="1100" dirty="0"/>
          </a:p>
        </p:txBody>
      </p:sp>
      <p:sp>
        <p:nvSpPr>
          <p:cNvPr id="60" name="txt-S-g0a"/>
          <p:cNvSpPr txBox="1"/>
          <p:nvPr/>
        </p:nvSpPr>
        <p:spPr>
          <a:xfrm>
            <a:off x="317500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명작 300권 같이 끝까지 읽기</a:t>
            </a:r>
            <a:endParaRPr lang="en-US" sz="1250" dirty="0"/>
          </a:p>
        </p:txBody>
      </p:sp>
      <p:sp>
        <p:nvSpPr>
          <p:cNvPr id="61" name="txt-S-g0b"/>
          <p:cNvSpPr txBox="1"/>
          <p:nvPr/>
        </p:nvSpPr>
        <p:spPr>
          <a:xfrm>
            <a:off x="317500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교실용으로 다시 만든 학년별 50권</a:t>
            </a:r>
            <a:endParaRPr lang="en-US" sz="920" dirty="0"/>
          </a:p>
        </p:txBody>
      </p:sp>
      <p:sp>
        <p:nvSpPr>
          <p:cNvPr id="62" name="txt-S-g1a"/>
          <p:cNvSpPr txBox="1"/>
          <p:nvPr/>
        </p:nvSpPr>
        <p:spPr>
          <a:xfrm>
            <a:off x="2651252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깊이 있게 읽기(캐릭터 대화)</a:t>
            </a:r>
            <a:endParaRPr lang="en-US" sz="1250" dirty="0"/>
          </a:p>
        </p:txBody>
      </p:sp>
      <p:sp>
        <p:nvSpPr>
          <p:cNvPr id="63" name="txt-S-g1b"/>
          <p:cNvSpPr txBox="1"/>
          <p:nvPr/>
        </p:nvSpPr>
        <p:spPr>
          <a:xfrm>
            <a:off x="2651252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인물의 자리에서 까닭을 들어 답하기</a:t>
            </a:r>
            <a:endParaRPr lang="en-US" sz="920" dirty="0"/>
          </a:p>
        </p:txBody>
      </p:sp>
      <p:sp>
        <p:nvSpPr>
          <p:cNvPr id="64" name="txt-S-g2a"/>
          <p:cNvSpPr txBox="1"/>
          <p:nvPr/>
        </p:nvSpPr>
        <p:spPr>
          <a:xfrm>
            <a:off x="4985004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강력한 독후활동</a:t>
            </a:r>
            <a:endParaRPr lang="en-US" sz="1250" dirty="0"/>
          </a:p>
        </p:txBody>
      </p:sp>
      <p:sp>
        <p:nvSpPr>
          <p:cNvPr id="65" name="txt-S-g2b"/>
          <p:cNvSpPr txBox="1"/>
          <p:nvPr/>
        </p:nvSpPr>
        <p:spPr>
          <a:xfrm>
            <a:off x="4985004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단계별 활동 카드 9가지</a:t>
            </a:r>
            <a:endParaRPr lang="en-US" sz="920" dirty="0"/>
          </a:p>
        </p:txBody>
      </p:sp>
      <p:sp>
        <p:nvSpPr>
          <p:cNvPr id="66" name="txt-S-g3a"/>
          <p:cNvSpPr txBox="1"/>
          <p:nvPr/>
        </p:nvSpPr>
        <p:spPr>
          <a:xfrm>
            <a:off x="317500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 포트폴리오</a:t>
            </a:r>
            <a:endParaRPr lang="en-US" sz="1250" dirty="0"/>
          </a:p>
        </p:txBody>
      </p:sp>
      <p:sp>
        <p:nvSpPr>
          <p:cNvPr id="67" name="txt-S-g3b"/>
          <p:cNvSpPr txBox="1"/>
          <p:nvPr/>
        </p:nvSpPr>
        <p:spPr>
          <a:xfrm>
            <a:off x="317500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숙제 없이 모이는 6년 독서 기록</a:t>
            </a:r>
            <a:endParaRPr lang="en-US" sz="920" dirty="0"/>
          </a:p>
        </p:txBody>
      </p:sp>
      <p:sp>
        <p:nvSpPr>
          <p:cNvPr id="68" name="txt-S-g4a"/>
          <p:cNvSpPr txBox="1"/>
          <p:nvPr/>
        </p:nvSpPr>
        <p:spPr>
          <a:xfrm>
            <a:off x="2651252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교사 맞춤형 지원</a:t>
            </a:r>
            <a:endParaRPr lang="en-US" sz="1250" dirty="0"/>
          </a:p>
        </p:txBody>
      </p:sp>
      <p:sp>
        <p:nvSpPr>
          <p:cNvPr id="69" name="txt-S-g4b"/>
          <p:cNvSpPr txBox="1"/>
          <p:nvPr/>
        </p:nvSpPr>
        <p:spPr>
          <a:xfrm>
            <a:off x="2651252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수업 만들기 두 길: 책 고르기, 고민 적기</a:t>
            </a:r>
            <a:endParaRPr lang="en-US" sz="920" dirty="0"/>
          </a:p>
        </p:txBody>
      </p:sp>
      <p:sp>
        <p:nvSpPr>
          <p:cNvPr id="70" name="txt-S-g5a"/>
          <p:cNvSpPr txBox="1"/>
          <p:nvPr/>
        </p:nvSpPr>
        <p:spPr>
          <a:xfrm>
            <a:off x="4985004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성과 및 운영관리</a:t>
            </a:r>
            <a:endParaRPr lang="en-US" sz="1250" dirty="0"/>
          </a:p>
        </p:txBody>
      </p:sp>
      <p:sp>
        <p:nvSpPr>
          <p:cNvPr id="71" name="txt-S-g5b"/>
          <p:cNvSpPr txBox="1"/>
          <p:nvPr/>
        </p:nvSpPr>
        <p:spPr>
          <a:xfrm>
            <a:off x="4985004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연수부터 성과 보고까지 10개 항목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2026-10-29T04:02:00Z</dcterms:created>
  <dcterms:modified xsi:type="dcterms:W3CDTF">2026-10-29T04:02:00Z</dcterms:modified>
</cp:coreProperties>
</file>