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9.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0.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charts/chart11.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읽기 점수</c:v>
                </c:pt>
              </c:strCache>
            </c:strRef>
          </c:tx>
          <c:spPr>
            <a:solidFill>
              <a:srgbClr val="B5482F"/>
            </a:solidFill>
            <a:ln w="38100" cap="flat">
              <a:solidFill>
                <a:srgbClr val="B5482F"/>
              </a:solidFill>
              <a:prstDash val="solid"/>
              <a:round/>
            </a:ln>
            <a:effectLst/>
          </c:spPr>
          <c:invertIfNegative val="0"/>
          <c:dLbls>
            <c:numFmt formatCode="#,##0" sourceLinked="0"/>
            <c:txPr>
              <a:bodyPr/>
              <a:lstStyle/>
              <a:p>
                <a:pPr>
                  <a:defRPr b="1" i="0" strike="noStrike" sz="1300" u="none">
                    <a:solidFill>
                      <a:srgbClr val="1F2B20"/>
                    </a:solidFill>
                    <a:latin typeface="Freesentation 5 Medium"/>
                  </a:defRPr>
                </a:pPr>
              </a:p>
            </c:txPr>
            <c:dLblPos val="t"/>
            <c:showLegendKey val="0"/>
            <c:showVal val="1"/>
            <c:showCatName val="0"/>
            <c:showSerName val="0"/>
            <c:showPercent val="0"/>
            <c:showBubbleSize val="0"/>
            <c:showLeaderLines val="0"/>
          </c:dLbls>
          <c:marker>
            <c:symbol val="circle"/>
            <c:size val="8"/>
            <c:spPr>
              <a:solidFill>
                <a:srgbClr val="B5482F"/>
              </a:solidFill>
              <a:ln w="9525" cap="flat">
                <a:solidFill>
                  <a:srgbClr val="B5482F"/>
                </a:solidFill>
                <a:prstDash val="solid"/>
                <a:round/>
              </a:ln>
              <a:effectLst/>
            </c:spPr>
          </c:marker>
          <c:cat>
            <c:multiLvlStrRef>
              <c:f>Sheet1!$A$2:$A$8</c:f>
              <c:multiLvlStrCache>
                <c:ptCount val="7"/>
                <c:lvl>
                  <c:pt idx="0">
                    <c:v>2006</c:v>
                  </c:pt>
                  <c:pt idx="1">
                    <c:v>2009</c:v>
                  </c:pt>
                  <c:pt idx="2">
                    <c:v>2012</c:v>
                  </c:pt>
                  <c:pt idx="3">
                    <c:v>2015</c:v>
                  </c:pt>
                  <c:pt idx="4">
                    <c:v>2018</c:v>
                  </c:pt>
                  <c:pt idx="5">
                    <c:v>2022</c:v>
                  </c:pt>
                  <c:pt idx="6">
                    <c:v>2025</c:v>
                  </c:pt>
                </c:lvl>
              </c:multiLvlStrCache>
            </c:multiLvlStrRef>
          </c:cat>
          <c:val>
            <c:numRef>
              <c:f>Sheet1!$B$2:$B$8</c:f>
              <c:numCache>
                <c:formatCode>General</c:formatCode>
                <c:ptCount val="7"/>
                <c:pt idx="0">
                  <c:v>556</c:v>
                </c:pt>
                <c:pt idx="1">
                  <c:v>539</c:v>
                </c:pt>
                <c:pt idx="2">
                  <c:v>536</c:v>
                </c:pt>
                <c:pt idx="3">
                  <c:v>517</c:v>
                </c:pt>
                <c:pt idx="4">
                  <c:v>514</c:v>
                </c:pt>
                <c:pt idx="5">
                  <c:v>515</c:v>
                </c:pt>
                <c:pt idx="6">
                  <c:v>501</c:v>
                </c:pt>
              </c:numCache>
            </c:numRef>
          </c:val>
          <c:smooth val="0"/>
        </c:ser>
        <c:dLbls>
          <c:numFmt formatCode="#,##0" sourceLinked="0"/>
          <c:txPr>
            <a:bodyPr/>
            <a:lstStyle/>
            <a:p>
              <a:pPr>
                <a:defRPr b="1" i="0" strike="noStrike" sz="1300" u="none">
                  <a:solidFill>
                    <a:srgbClr val="1F2B20"/>
                  </a:solidFill>
                  <a:latin typeface="Freesentation 5 Medium"/>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580"/>
          <c:min val="47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2019년</c:v>
                </c:pt>
              </c:strCache>
            </c:strRef>
          </c:tx>
          <c:spPr>
            <a:solidFill>
              <a:srgbClr val="CFC4A6"/>
            </a:solidFill>
            <a:effectLst/>
          </c:spPr>
          <c:invertIfNegative val="0"/>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cat>
            <c:multiLvlStrRef>
              <c:f>Sheet1!$A$2:$A$4</c:f>
              <c:multiLvlStrCache>
                <c:ptCount val="3"/>
                <c:lvl>
                  <c:pt idx="0">
                    <c:v>초등학생</c:v>
                  </c:pt>
                  <c:pt idx="1">
                    <c:v>중학생</c:v>
                  </c:pt>
                  <c:pt idx="2">
                    <c:v>고등학생</c:v>
                  </c:pt>
                </c:lvl>
              </c:multiLvlStrCache>
            </c:multiLvlStrRef>
          </c:cat>
          <c:val>
            <c:numRef>
              <c:f>Sheet1!$B$2:$B$4</c:f>
              <c:numCache>
                <c:formatCode>General</c:formatCode>
                <c:ptCount val="3"/>
                <c:pt idx="0">
                  <c:v>51.3</c:v>
                </c:pt>
                <c:pt idx="1">
                  <c:v>40.4</c:v>
                </c:pt>
                <c:pt idx="2">
                  <c:v>37.7</c:v>
                </c:pt>
              </c:numCache>
            </c:numRef>
          </c:val>
        </c:ser>
        <c:ser>
          <c:idx val="1"/>
          <c:order val="1"/>
          <c:tx>
            <c:strRef>
              <c:f>Sheet1!$C$1</c:f>
              <c:strCache>
                <c:ptCount val="1"/>
                <c:pt idx="0">
                  <c:v>2023년</c:v>
                </c:pt>
              </c:strCache>
            </c:strRef>
          </c:tx>
          <c:spPr>
            <a:solidFill>
              <a:srgbClr val="2F7D4F"/>
            </a:solidFill>
            <a:effectLst/>
          </c:spPr>
          <c:invertIfNegative val="0"/>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cat>
            <c:multiLvlStrRef>
              <c:f>Sheet1!$A$2:$A$4</c:f>
              <c:multiLvlStrCache>
                <c:ptCount val="3"/>
                <c:lvl>
                  <c:pt idx="0">
                    <c:v>초등학생</c:v>
                  </c:pt>
                  <c:pt idx="1">
                    <c:v>중학생</c:v>
                  </c:pt>
                  <c:pt idx="2">
                    <c:v>고등학생</c:v>
                  </c:pt>
                </c:lvl>
              </c:multiLvlStrCache>
            </c:multiLvlStrRef>
          </c:cat>
          <c:val>
            <c:numRef>
              <c:f>Sheet1!$C$2:$C$4</c:f>
              <c:numCache>
                <c:formatCode>General</c:formatCode>
                <c:ptCount val="3"/>
                <c:pt idx="0">
                  <c:v>44.4</c:v>
                </c:pt>
                <c:pt idx="1">
                  <c:v>39.8</c:v>
                </c:pt>
                <c:pt idx="2">
                  <c:v>35.3</c:v>
                </c:pt>
              </c:numCache>
            </c:numRef>
          </c:val>
        </c:ser>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5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4A564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filled"/>
        <c:varyColors val="0"/>
        <c:ser>
          <c:idx val="0"/>
          <c:order val="0"/>
          <c:tx>
            <c:strRef>
              <c:f>Sheet1!$B$1</c:f>
              <c:strCache>
                <c:ptCount val="1"/>
                <c:pt idx="0">
                  <c:v>3월</c:v>
                </c:pt>
              </c:strCache>
            </c:strRef>
          </c:tx>
          <c:spPr>
            <a:solidFill>
              <a:srgbClr val="D9B45A">
                <a:alpha val="40000"/>
              </a:srgbClr>
            </a:solidFill>
            <a:ln w="25400" cap="flat">
              <a:solidFill>
                <a:srgbClr val="D9B45A"/>
              </a:solidFill>
              <a:prstDash val="solid"/>
              <a:round/>
            </a:ln>
            <a:effectLst/>
          </c:spPr>
          <c:invertIfNegative val="0"/>
          <c:marker>
            <c:symbol val="circle"/>
            <c:size val="6"/>
            <c:spPr>
              <a:solidFill>
                <a:srgbClr val="D9B45A"/>
              </a:solidFill>
              <a:ln w="9525" cap="flat">
                <a:solidFill>
                  <a:srgbClr val="D9B45A"/>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Sheet1!$B$2:$B$7</c:f>
              <c:numCache>
                <c:formatCode>General</c:formatCode>
                <c:ptCount val="6"/>
                <c:pt idx="0">
                  <c:v>52</c:v>
                </c:pt>
                <c:pt idx="1">
                  <c:v>58</c:v>
                </c:pt>
                <c:pt idx="2">
                  <c:v>45</c:v>
                </c:pt>
                <c:pt idx="3">
                  <c:v>50</c:v>
                </c:pt>
                <c:pt idx="4">
                  <c:v>40</c:v>
                </c:pt>
                <c:pt idx="5">
                  <c:v>48</c:v>
                </c:pt>
              </c:numCache>
            </c:numRef>
          </c:val>
        </c:ser>
        <c:ser>
          <c:idx val="1"/>
          <c:order val="1"/>
          <c:tx>
            <c:strRef>
              <c:f>Sheet1!$C$1</c:f>
              <c:strCache>
                <c:ptCount val="1"/>
                <c:pt idx="0">
                  <c:v>7월</c:v>
                </c:pt>
              </c:strCache>
            </c:strRef>
          </c:tx>
          <c:spPr>
            <a:solidFill>
              <a:srgbClr val="2F7D4F">
                <a:alpha val="40000"/>
              </a:srgbClr>
            </a:solidFill>
            <a:ln w="25400" cap="flat">
              <a:solidFill>
                <a:srgbClr val="2F7D4F"/>
              </a:solidFill>
              <a:prstDash val="solid"/>
              <a:round/>
            </a:ln>
            <a:effectLst/>
          </c:spPr>
          <c:invertIfNegative val="0"/>
          <c:marker>
            <c:symbol val="circle"/>
            <c:size val="6"/>
            <c:spPr>
              <a:solidFill>
                <a:srgbClr val="2F7D4F"/>
              </a:solidFill>
              <a:ln w="9525" cap="flat">
                <a:solidFill>
                  <a:srgbClr val="2F7D4F"/>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Sheet1!$C$2:$C$7</c:f>
              <c:numCache>
                <c:formatCode>General</c:formatCode>
                <c:ptCount val="6"/>
                <c:pt idx="0">
                  <c:v>70</c:v>
                </c:pt>
                <c:pt idx="1">
                  <c:v>78</c:v>
                </c:pt>
                <c:pt idx="2">
                  <c:v>66</c:v>
                </c:pt>
                <c:pt idx="3">
                  <c:v>72</c:v>
                </c:pt>
                <c:pt idx="4">
                  <c:v>74</c:v>
                </c:pt>
                <c:pt idx="5">
                  <c:v>80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100"/>
          <c:min val="0"/>
        </c:scaling>
        <c:delete val="1"/>
        <c:axPos val="l"/>
        <c:majorGridlines>
          <c:spPr>
            <a:ln w="9525" cap="flat">
              <a:solidFill>
                <a:srgbClr val="DDD5C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완독</c:v>
                </c:pt>
              </c:strCache>
            </c:strRef>
          </c:tx>
          <c:spPr>
            <a:solidFill>
              <a:srgbClr val="2F7D4F"/>
            </a:solidFill>
            <a:effectLst/>
          </c:spPr>
          <c:invertIfNegative val="0"/>
          <c:dLbls>
            <c:numFmt formatCode="#,##0" sourceLinked="0"/>
            <c:txPr>
              <a:bodyPr/>
              <a:lstStyle/>
              <a:p>
                <a:pPr>
                  <a:defRPr b="0" i="0" strike="noStrike" sz="1250" u="none">
                    <a:solidFill>
                      <a:srgbClr val="1F2B20"/>
                    </a:solidFill>
                    <a:latin typeface="Freesentation 5 Medium"/>
                  </a:defRPr>
                </a:pPr>
              </a:p>
            </c:txPr>
            <c:showLegendKey val="0"/>
            <c:showVal val="1"/>
            <c:showCatName val="0"/>
            <c:showSerName val="0"/>
            <c:showPercent val="0"/>
            <c:showBubbleSize val="0"/>
            <c:showLeaderLines val="0"/>
          </c:dLbls>
          <c:cat>
            <c:multiLvlStrRef>
              <c:f>Sheet1!$A$2:$A$10</c:f>
              <c:multiLvlStrCache>
                <c:ptCount val="9"/>
                <c:lvl>
                  <c:pt idx="0">
                    <c:v>3월</c:v>
                  </c:pt>
                  <c:pt idx="1">
                    <c:v>4월</c:v>
                  </c:pt>
                  <c:pt idx="2">
                    <c:v>5월</c:v>
                  </c:pt>
                  <c:pt idx="3">
                    <c:v>6월</c:v>
                  </c:pt>
                  <c:pt idx="4">
                    <c:v>7월</c:v>
                  </c:pt>
                  <c:pt idx="5">
                    <c:v>9월</c:v>
                  </c:pt>
                  <c:pt idx="6">
                    <c:v>10월</c:v>
                  </c:pt>
                  <c:pt idx="7">
                    <c:v>11월</c:v>
                  </c:pt>
                  <c:pt idx="8">
                    <c:v>12월</c:v>
                  </c:pt>
                </c:lvl>
              </c:multiLvlStrCache>
            </c:multiLvlStrRef>
          </c:cat>
          <c:val>
            <c:numRef>
              <c:f>Sheet1!$B$2:$B$10</c:f>
              <c:numCache>
                <c:formatCode>General</c:formatCode>
                <c:ptCount val="9"/>
                <c:pt idx="0">
                  <c:v>2</c:v>
                </c:pt>
                <c:pt idx="1">
                  <c:v>3</c:v>
                </c:pt>
                <c:pt idx="2">
                  <c:v>3</c:v>
                </c:pt>
                <c:pt idx="3">
                  <c:v>4</c:v>
                </c:pt>
                <c:pt idx="4">
                  <c:v>5</c:v>
                </c:pt>
                <c:pt idx="5">
                  <c:v>5</c:v>
                </c:pt>
                <c:pt idx="6">
                  <c:v>6</c:v>
                </c:pt>
                <c:pt idx="7">
                  <c:v>6</c:v>
                </c:pt>
                <c:pt idx="8">
                  <c:v>7</c:v>
                </c:pt>
              </c:numCache>
            </c:numRef>
          </c:val>
        </c:ser>
        <c:dLbls>
          <c:numFmt formatCode="#,##0" sourceLinked="0"/>
          <c:txPr>
            <a:bodyPr/>
            <a:lstStyle/>
            <a:p>
              <a:pPr>
                <a:defRPr b="0" i="0" strike="noStrike" sz="1250" u="none">
                  <a:solidFill>
                    <a:srgbClr val="1F2B20"/>
                  </a:solidFill>
                  <a:latin typeface="Freesentation 5 Medium"/>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64B"/>
                </a:solidFill>
                <a:latin typeface="Freesentation 5 Medium"/>
              </a:defRPr>
            </a:pPr>
            <a:endParaRPr lang="en-US"/>
          </a:p>
        </c:txPr>
        <c:crossAx val="2094734552"/>
        <c:crosses val="autoZero"/>
        <c:auto val="1"/>
        <c:lblAlgn val="ctr"/>
        <c:noMultiLvlLbl val="1"/>
      </c:catAx>
      <c:valAx>
        <c:axId val="2094734552"/>
        <c:scaling>
          <c:orientation val="minMax"/>
          <c:max val="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독후활동</c:v>
                </c:pt>
              </c:strCache>
            </c:strRef>
          </c:tx>
          <c:spPr>
            <a:solidFill>
              <a:schemeClr val="accent1"/>
            </a:solidFill>
            <a:ln w="9525" cap="flat">
              <a:solidFill>
                <a:srgbClr val="F9F9F9"/>
              </a:solidFill>
              <a:prstDash val="solid"/>
              <a:round/>
            </a:ln>
            <a:effectLst/>
          </c:spPr>
          <c:dPt>
            <c:idx val="0"/>
            <c:bubble3D val="0"/>
            <c:spPr>
              <a:solidFill>
                <a:srgbClr val="20342A"/>
              </a:solidFill>
              <a:effectLst/>
            </c:spPr>
          </c:dPt>
          <c:dPt>
            <c:idx val="1"/>
            <c:bubble3D val="0"/>
            <c:spPr>
              <a:solidFill>
                <a:srgbClr val="2F7D4F"/>
              </a:solidFill>
              <a:effectLst/>
            </c:spPr>
          </c:dPt>
          <c:dPt>
            <c:idx val="2"/>
            <c:bubble3D val="0"/>
            <c:spPr>
              <a:solidFill>
                <a:srgbClr val="5E9B6E"/>
              </a:solidFill>
              <a:effectLst/>
            </c:spPr>
          </c:dPt>
          <c:dPt>
            <c:idx val="3"/>
            <c:bubble3D val="0"/>
            <c:spPr>
              <a:solidFill>
                <a:srgbClr val="C08A1E"/>
              </a:solidFill>
              <a:effectLst/>
            </c:spPr>
          </c:dPt>
          <c:dPt>
            <c:idx val="4"/>
            <c:bubble3D val="0"/>
            <c:spPr>
              <a:solidFill>
                <a:srgbClr val="D9B45A"/>
              </a:solidFill>
              <a:effectLst/>
            </c:spPr>
          </c:dPt>
          <c:dLbls>
            <c:dLbl>
              <c:idx val="0"/>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1"/>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2"/>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3"/>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4"/>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별점과 까닭</c:v>
                </c:pt>
                <c:pt idx="1">
                  <c:v>마음에 남은 장면</c:v>
                </c:pt>
                <c:pt idx="2">
                  <c:v>인물에게 편지</c:v>
                </c:pt>
                <c:pt idx="3">
                  <c:v>함께 쓰는 교실</c:v>
                </c:pt>
                <c:pt idx="4">
                  <c:v>그림으로 표현</c:v>
                </c:pt>
              </c:strCache>
            </c:strRef>
          </c:cat>
          <c:val>
            <c:numRef>
              <c:f>Sheet1!$B$2:$B$6</c:f>
              <c:numCache>
                <c:ptCount val="5"/>
                <c:pt idx="0">
                  <c:v>8</c:v>
                </c:pt>
                <c:pt idx="1">
                  <c:v>7</c:v>
                </c:pt>
                <c:pt idx="2">
                  <c:v>6</c:v>
                </c:pt>
                <c:pt idx="3">
                  <c:v>6</c:v>
                </c:pt>
                <c:pt idx="4">
                  <c:v>5</c:v>
                </c:pt>
              </c:numCache>
            </c:numRef>
          </c:val>
        </c:ser>
        <c:firstSliceAng val="0"/>
        <c:holeSize val="52"/>
      </c:doughnutChart>
      <c:spPr>
        <a:noFill/>
        <a:ln>
          <a:noFill/>
        </a:ln>
        <a:effectLst/>
      </c:spPr>
    </c:plotArea>
    <c:legend>
      <c:legendPos val="b"/>
      <c:overlay val="0"/>
      <c:txPr>
        <a:bodyPr/>
        <a:lstStyle/>
        <a:p>
          <a:pPr>
            <a:defRPr sz="125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filled"/>
        <c:varyColors val="0"/>
        <c:ser>
          <c:idx val="0"/>
          <c:order val="0"/>
          <c:tx>
            <c:strRef>
              <c:f>Sheet1!$B$1</c:f>
              <c:strCache>
                <c:ptCount val="1"/>
                <c:pt idx="0">
                  <c:v>학교 평균</c:v>
                </c:pt>
              </c:strCache>
            </c:strRef>
          </c:tx>
          <c:spPr>
            <a:solidFill>
              <a:srgbClr val="D9B45A">
                <a:alpha val="40000"/>
              </a:srgbClr>
            </a:solidFill>
            <a:ln w="25400" cap="flat">
              <a:solidFill>
                <a:srgbClr val="D9B45A"/>
              </a:solidFill>
              <a:prstDash val="solid"/>
              <a:round/>
            </a:ln>
            <a:effectLst/>
          </c:spPr>
          <c:invertIfNegative val="0"/>
          <c:marker>
            <c:symbol val="circle"/>
            <c:size val="6"/>
            <c:spPr>
              <a:solidFill>
                <a:srgbClr val="D9B45A"/>
              </a:solidFill>
              <a:ln w="9525" cap="flat">
                <a:solidFill>
                  <a:srgbClr val="D9B45A"/>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Sheet1!$B$2:$B$7</c:f>
              <c:numCache>
                <c:formatCode>General</c:formatCode>
                <c:ptCount val="6"/>
                <c:pt idx="0">
                  <c:v>62</c:v>
                </c:pt>
                <c:pt idx="1">
                  <c:v>68</c:v>
                </c:pt>
                <c:pt idx="2">
                  <c:v>58</c:v>
                </c:pt>
                <c:pt idx="3">
                  <c:v>60</c:v>
                </c:pt>
                <c:pt idx="4">
                  <c:v>64</c:v>
                </c:pt>
                <c:pt idx="5">
                  <c:v>70</c:v>
                </c:pt>
              </c:numCache>
            </c:numRef>
          </c:val>
        </c:ser>
        <c:ser>
          <c:idx val="1"/>
          <c:order val="1"/>
          <c:tx>
            <c:strRef>
              <c:f>Sheet1!$C$1</c:f>
              <c:strCache>
                <c:ptCount val="1"/>
                <c:pt idx="0">
                  <c:v>우리 반</c:v>
                </c:pt>
              </c:strCache>
            </c:strRef>
          </c:tx>
          <c:spPr>
            <a:solidFill>
              <a:srgbClr val="2F7D4F">
                <a:alpha val="40000"/>
              </a:srgbClr>
            </a:solidFill>
            <a:ln w="25400" cap="flat">
              <a:solidFill>
                <a:srgbClr val="2F7D4F"/>
              </a:solidFill>
              <a:prstDash val="solid"/>
              <a:round/>
            </a:ln>
            <a:effectLst/>
          </c:spPr>
          <c:invertIfNegative val="0"/>
          <c:marker>
            <c:symbol val="circle"/>
            <c:size val="6"/>
            <c:spPr>
              <a:solidFill>
                <a:srgbClr val="2F7D4F"/>
              </a:solidFill>
              <a:ln w="9525" cap="flat">
                <a:solidFill>
                  <a:srgbClr val="2F7D4F"/>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Sheet1!$C$2:$C$7</c:f>
              <c:numCache>
                <c:formatCode>General</c:formatCode>
                <c:ptCount val="6"/>
                <c:pt idx="0">
                  <c:v>70</c:v>
                </c:pt>
                <c:pt idx="1">
                  <c:v>76</c:v>
                </c:pt>
                <c:pt idx="2">
                  <c:v>66</c:v>
                </c:pt>
                <c:pt idx="3">
                  <c:v>68</c:v>
                </c:pt>
                <c:pt idx="4">
                  <c:v>74</c:v>
                </c:pt>
                <c:pt idx="5">
                  <c:v>80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100"/>
          <c:min val="0"/>
        </c:scaling>
        <c:delete val="1"/>
        <c:axPos val="l"/>
        <c:majorGridlines>
          <c:spPr>
            <a:ln w="9525" cap="flat">
              <a:solidFill>
                <a:srgbClr val="DDD5C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percentStacked"/>
        <c:varyColors val="0"/>
        <c:ser>
          <c:idx val="0"/>
          <c:order val="0"/>
          <c:tx>
            <c:strRef>
              <c:f>Sheet1!$B$1</c:f>
              <c:strCache>
                <c:ptCount val="1"/>
                <c:pt idx="0">
                  <c:v>천천히 다지기</c:v>
                </c:pt>
              </c:strCache>
            </c:strRef>
          </c:tx>
          <c:spPr>
            <a:solidFill>
              <a:srgbClr val="B5482F"/>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Sheet1!$B$2:$B$5</c:f>
              <c:numCache>
                <c:formatCode>General</c:formatCode>
                <c:ptCount val="4"/>
                <c:pt idx="0">
                  <c:v>7</c:v>
                </c:pt>
                <c:pt idx="1">
                  <c:v>4</c:v>
                </c:pt>
                <c:pt idx="2">
                  <c:v>1</c:v>
                </c:pt>
                <c:pt idx="3">
                  <c:v>1</c:v>
                </c:pt>
              </c:numCache>
            </c:numRef>
          </c:val>
        </c:ser>
        <c:ser>
          <c:idx val="1"/>
          <c:order val="1"/>
          <c:tx>
            <c:strRef>
              <c:f>Sheet1!$C$1</c:f>
              <c:strCache>
                <c:ptCount val="1"/>
                <c:pt idx="0">
                  <c:v>내 학년 그대로</c:v>
                </c:pt>
              </c:strCache>
            </c:strRef>
          </c:tx>
          <c:spPr>
            <a:solidFill>
              <a:srgbClr val="D9B45A"/>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Sheet1!$C$2:$C$5</c:f>
              <c:numCache>
                <c:formatCode>General</c:formatCode>
                <c:ptCount val="4"/>
                <c:pt idx="0">
                  <c:v>15</c:v>
                </c:pt>
                <c:pt idx="1">
                  <c:v>20</c:v>
                </c:pt>
                <c:pt idx="2">
                  <c:v>18</c:v>
                </c:pt>
                <c:pt idx="3">
                  <c:v>18</c:v>
                </c:pt>
              </c:numCache>
            </c:numRef>
          </c:val>
        </c:ser>
        <c:ser>
          <c:idx val="2"/>
          <c:order val="2"/>
          <c:tx>
            <c:strRef>
              <c:f>Sheet1!$D$1</c:f>
              <c:strCache>
                <c:ptCount val="1"/>
                <c:pt idx="0">
                  <c:v>한 걸음 더</c:v>
                </c:pt>
              </c:strCache>
            </c:strRef>
          </c:tx>
          <c:spPr>
            <a:solidFill>
              <a:srgbClr val="2F7D4F"/>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Sheet1!$D$2:$D$5</c:f>
              <c:numCache>
                <c:formatCode>General</c:formatCode>
                <c:ptCount val="4"/>
                <c:pt idx="0">
                  <c:v>1</c:v>
                </c:pt>
                <c:pt idx="1">
                  <c:v>2</c:v>
                </c:pt>
                <c:pt idx="2">
                  <c:v>5</c:v>
                </c:pt>
                <c:pt idx="3">
                  <c:v>7</c:v>
                </c:pt>
              </c:numCache>
            </c:numRef>
          </c:val>
        </c:ser>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5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반 평균</c:v>
                </c:pt>
              </c:strCache>
            </c:strRef>
          </c:tx>
          <c:spPr>
            <a:solidFill>
              <a:srgbClr val="2F7D4F"/>
            </a:solidFill>
            <a:ln w="38100" cap="flat">
              <a:solidFill>
                <a:srgbClr val="2F7D4F"/>
              </a:solidFill>
              <a:prstDash val="solid"/>
              <a:round/>
            </a:ln>
            <a:effectLst/>
          </c:spPr>
          <c:invertIfNegative val="0"/>
          <c:dLbls>
            <c:numFmt formatCode="0.0" sourceLinked="0"/>
            <c:txPr>
              <a:bodyPr/>
              <a:lstStyle/>
              <a:p>
                <a:pPr>
                  <a:defRPr b="1" i="0" strike="noStrike" sz="1200" u="none">
                    <a:solidFill>
                      <a:srgbClr val="2F7D4F"/>
                    </a:solidFill>
                    <a:latin typeface="Freesentation 5 Medium"/>
                  </a:defRPr>
                </a:pPr>
              </a:p>
            </c:txPr>
            <c:dLblPos val="t"/>
            <c:showLegendKey val="0"/>
            <c:showVal val="1"/>
            <c:showCatName val="0"/>
            <c:showSerName val="0"/>
            <c:showPercent val="0"/>
            <c:showBubbleSize val="0"/>
            <c:showLeaderLines val="0"/>
          </c:dLbls>
          <c:marker>
            <c:symbol val="circle"/>
            <c:size val="7"/>
            <c:spPr>
              <a:solidFill>
                <a:srgbClr val="2F7D4F"/>
              </a:solidFill>
              <a:ln w="9525" cap="flat">
                <a:solidFill>
                  <a:srgbClr val="2F7D4F"/>
                </a:solidFill>
                <a:prstDash val="solid"/>
                <a:round/>
              </a:ln>
              <a:effectLst/>
            </c:spPr>
          </c:marker>
          <c:cat>
            <c:multiLvlStrRef>
              <c:f>Sheet1!$A$2:$A$5</c:f>
              <c:multiLvlStrCache>
                <c:ptCount val="4"/>
                <c:lvl>
                  <c:pt idx="0">
                    <c:v>7. 10.</c:v>
                  </c:pt>
                  <c:pt idx="1">
                    <c:v>9. 1.</c:v>
                  </c:pt>
                  <c:pt idx="2">
                    <c:v>9. 8.</c:v>
                  </c:pt>
                  <c:pt idx="3">
                    <c:v>9. 14.</c:v>
                  </c:pt>
                </c:lvl>
              </c:multiLvlStrCache>
            </c:multiLvlStrRef>
          </c:cat>
          <c:val>
            <c:numRef>
              <c:f>Sheet1!$B$2:$B$5</c:f>
              <c:numCache>
                <c:formatCode>General</c:formatCode>
                <c:ptCount val="4"/>
                <c:pt idx="0">
                  <c:v>60.9</c:v>
                </c:pt>
                <c:pt idx="1">
                  <c:v>66</c:v>
                </c:pt>
                <c:pt idx="2">
                  <c:v>69.6</c:v>
                </c:pt>
                <c:pt idx="3">
                  <c:v>74.2</c:v>
                </c:pt>
              </c:numCache>
            </c:numRef>
          </c:val>
          <c:smooth val="0"/>
        </c:ser>
        <c:dLbls>
          <c:numFmt formatCode="0.0" sourceLinked="0"/>
          <c:txPr>
            <a:bodyPr/>
            <a:lstStyle/>
            <a:p>
              <a:pPr>
                <a:defRPr b="1" i="0" strike="noStrike" sz="1200" u="none">
                  <a:solidFill>
                    <a:srgbClr val="2F7D4F"/>
                  </a:solidFill>
                  <a:latin typeface="Freesentation 5 Medium"/>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64B"/>
                </a:solidFill>
                <a:latin typeface="Freesentation 5 Medium"/>
              </a:defRPr>
            </a:pPr>
            <a:endParaRPr lang="en-US"/>
          </a:p>
        </c:txPr>
        <c:crossAx val="2094734552"/>
        <c:crosses val="autoZero"/>
        <c:auto val="1"/>
        <c:lblAlgn val="ctr"/>
        <c:noMultiLvlLbl val="1"/>
      </c:catAx>
      <c:valAx>
        <c:axId val="2094734552"/>
        <c:scaling>
          <c:orientation val="minMax"/>
          <c:max val="85"/>
          <c:min val="4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이주배경학생</c:v>
                </c:pt>
              </c:strCache>
            </c:strRef>
          </c:tx>
          <c:spPr>
            <a:solidFill>
              <a:srgbClr val="2F7D4F"/>
            </a:solidFill>
            <a:effectLst/>
          </c:spPr>
          <c:invertIfNegative val="0"/>
          <c:dLbls>
            <c:numFmt formatCode="#,##0" sourceLinked="0"/>
            <c:txPr>
              <a:bodyPr/>
              <a:lstStyle/>
              <a:p>
                <a:pPr>
                  <a:defRPr b="0" i="0" strike="noStrike" sz="1200" u="none">
                    <a:solidFill>
                      <a:srgbClr val="1F2B20"/>
                    </a:solidFill>
                    <a:latin typeface="Arial"/>
                  </a:defRPr>
                </a:pPr>
              </a:p>
            </c:txPr>
            <c:showLegendKey val="0"/>
            <c:showVal val="1"/>
            <c:showCatName val="0"/>
            <c:showSerName val="0"/>
            <c:showPercent val="0"/>
            <c:showBubbleSize val="0"/>
            <c:showLeaderLines val="0"/>
          </c:dLbls>
          <c:cat>
            <c:multiLvlStrRef>
              <c:f>Sheet1!$A$2:$A$7</c:f>
              <c:multiLvlStrCache>
                <c:ptCount val="6"/>
                <c:lvl>
                  <c:pt idx="0">
                    <c:v>2012</c:v>
                  </c:pt>
                  <c:pt idx="1">
                    <c:v>2022</c:v>
                  </c:pt>
                  <c:pt idx="2">
                    <c:v>2023</c:v>
                  </c:pt>
                  <c:pt idx="3">
                    <c:v>2024</c:v>
                  </c:pt>
                  <c:pt idx="4">
                    <c:v>2025</c:v>
                  </c:pt>
                  <c:pt idx="5">
                    <c:v>2026</c:v>
                  </c:pt>
                </c:lvl>
              </c:multiLvlStrCache>
            </c:multiLvlStrRef>
          </c:cat>
          <c:val>
            <c:numRef>
              <c:f>Sheet1!$B$2:$B$7</c:f>
              <c:numCache>
                <c:formatCode>General</c:formatCode>
                <c:ptCount val="6"/>
                <c:pt idx="0">
                  <c:v>46954</c:v>
                </c:pt>
                <c:pt idx="1">
                  <c:v>168645</c:v>
                </c:pt>
                <c:pt idx="2">
                  <c:v>181178</c:v>
                </c:pt>
                <c:pt idx="3">
                  <c:v>193814</c:v>
                </c:pt>
                <c:pt idx="4">
                  <c:v>202208</c:v>
                </c:pt>
                <c:pt idx="5">
                  <c:v>210838</c:v>
                </c:pt>
              </c:numCache>
            </c:numRef>
          </c:val>
        </c:ser>
        <c:dLbls>
          <c:numFmt formatCode="#,##0" sourceLinked="0"/>
          <c:txPr>
            <a:bodyPr/>
            <a:lstStyle/>
            <a:p>
              <a:pPr>
                <a:defRPr b="0" i="0" strike="noStrike" sz="1200" u="none">
                  <a:solidFill>
                    <a:srgbClr val="1F2B2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max val="260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발주기관</c:v>
                </c:pt>
              </c:strCache>
            </c:strRef>
          </c:tx>
          <c:spPr>
            <a:solidFill>
              <a:srgbClr val="2F7D4F"/>
            </a:solidFill>
            <a:effectLst/>
          </c:spPr>
          <c:invertIfNegative val="0"/>
          <c:dLbls>
            <c:numFmt formatCode="#,##0" sourceLinked="0"/>
            <c:txPr>
              <a:bodyPr/>
              <a:lstStyle/>
              <a:p>
                <a:pPr>
                  <a:defRPr b="1" i="0" strike="noStrike" sz="1250" u="none">
                    <a:solidFill>
                      <a:srgbClr val="1F2B20"/>
                    </a:solidFill>
                    <a:latin typeface="Freesentation 5 Medium"/>
                  </a:defRPr>
                </a:pPr>
              </a:p>
            </c:txPr>
            <c:showLegendKey val="0"/>
            <c:showVal val="1"/>
            <c:showCatName val="0"/>
            <c:showSerName val="0"/>
            <c:showPercent val="0"/>
            <c:showBubbleSize val="0"/>
            <c:showLeaderLines val="0"/>
          </c:dLbls>
          <c:cat>
            <c:multiLvlStrRef>
              <c:f>Sheet1!$A$2:$A$8</c:f>
              <c:multiLvlStrCache>
                <c:ptCount val="7"/>
                <c:lvl>
                  <c:pt idx="0">
                    <c:v>경남</c:v>
                  </c:pt>
                  <c:pt idx="1">
                    <c:v>충북, 충남</c:v>
                  </c:pt>
                  <c:pt idx="2">
                    <c:v>서울, 인천</c:v>
                  </c:pt>
                  <c:pt idx="3">
                    <c:v>경북, 전남, 제주, 대전</c:v>
                  </c:pt>
                  <c:pt idx="4">
                    <c:v>부산, 대구, 울산</c:v>
                  </c:pt>
                  <c:pt idx="5">
                    <c:v>경기</c:v>
                  </c:pt>
                  <c:pt idx="6">
                    <c:v>중앙부처</c:v>
                  </c:pt>
                </c:lvl>
              </c:multiLvlStrCache>
            </c:multiLvlStrRef>
          </c:cat>
          <c:val>
            <c:numRef>
              <c:f>Sheet1!$B$2:$B$8</c:f>
              <c:numCache>
                <c:formatCode>General</c:formatCode>
                <c:ptCount val="7"/>
                <c:pt idx="0">
                  <c:v>23</c:v>
                </c:pt>
                <c:pt idx="1">
                  <c:v>12</c:v>
                </c:pt>
                <c:pt idx="2">
                  <c:v>10</c:v>
                </c:pt>
                <c:pt idx="3">
                  <c:v>8</c:v>
                </c:pt>
                <c:pt idx="4">
                  <c:v>6</c:v>
                </c:pt>
                <c:pt idx="5">
                  <c:v>4</c:v>
                </c:pt>
                <c:pt idx="6">
                  <c:v>2</c:v>
                </c:pt>
              </c:numCache>
            </c:numRef>
          </c:val>
        </c:ser>
        <c:dLbls>
          <c:numFmt formatCode="#,##0" sourceLinked="0"/>
          <c:txPr>
            <a:bodyPr/>
            <a:lstStyle/>
            <a:p>
              <a:pPr>
                <a:defRPr b="1" i="0" strike="noStrike" sz="1250" u="none">
                  <a:solidFill>
                    <a:srgbClr val="1F2B20"/>
                  </a:solidFill>
                  <a:latin typeface="Freesentation 5 Medium"/>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2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월평균 완독 권수</c:v>
                </c:pt>
              </c:strCache>
            </c:strRef>
          </c:tx>
          <c:spPr>
            <a:solidFill>
              <a:srgbClr val="2F7D4F"/>
            </a:solidFill>
            <a:ln w="38100" cap="flat">
              <a:solidFill>
                <a:srgbClr val="2F7D4F"/>
              </a:solidFill>
              <a:prstDash val="solid"/>
              <a:round/>
            </a:ln>
            <a:effectLst/>
          </c:spPr>
          <c:invertIfNegative val="0"/>
          <c:dLbls>
            <c:numFmt formatCode="#,##0" sourceLinked="0"/>
            <c:txPr>
              <a:bodyPr/>
              <a:lstStyle/>
              <a:p>
                <a:pPr>
                  <a:defRPr b="1" i="0" strike="noStrike" sz="1100" u="none">
                    <a:solidFill>
                      <a:srgbClr val="2F7D4F"/>
                    </a:solidFill>
                    <a:latin typeface="Arial"/>
                  </a:defRPr>
                </a:pPr>
              </a:p>
            </c:txPr>
            <c:dLblPos val="t"/>
            <c:showLegendKey val="0"/>
            <c:showVal val="1"/>
            <c:showCatName val="0"/>
            <c:showSerName val="0"/>
            <c:showPercent val="0"/>
            <c:showBubbleSize val="0"/>
            <c:showLeaderLines val="0"/>
          </c:dLbls>
          <c:marker>
            <c:symbol val="circle"/>
            <c:size val="8"/>
            <c:spPr>
              <a:solidFill>
                <a:srgbClr val="2F7D4F"/>
              </a:solidFill>
              <a:ln w="9525" cap="flat">
                <a:solidFill>
                  <a:srgbClr val="2F7D4F"/>
                </a:solidFill>
                <a:prstDash val="solid"/>
                <a:round/>
              </a:ln>
              <a:effectLst/>
            </c:spPr>
          </c:marker>
          <c:cat>
            <c:multiLvlStrRef>
              <c:f>Sheet1!$A$2:$A$5</c:f>
              <c:multiLvlStrCache>
                <c:ptCount val="4"/>
                <c:lvl>
                  <c:pt idx="0">
                    <c:v>시작</c:v>
                  </c:pt>
                  <c:pt idx="1">
                    <c:v>1년차</c:v>
                  </c:pt>
                  <c:pt idx="2">
                    <c:v>3년차</c:v>
                  </c:pt>
                  <c:pt idx="3">
                    <c:v>6년차</c:v>
                  </c:pt>
                </c:lvl>
              </c:multiLvlStrCache>
            </c:multiLvlStrRef>
          </c:cat>
          <c:val>
            <c:numRef>
              <c:f>Sheet1!$B$2:$B$5</c:f>
              <c:numCache>
                <c:formatCode>General</c:formatCode>
                <c:ptCount val="4"/>
                <c:pt idx="0">
                  <c:v>100</c:v>
                </c:pt>
                <c:pt idx="1">
                  <c:v>120</c:v>
                </c:pt>
                <c:pt idx="2">
                  <c:v>150</c:v>
                </c:pt>
                <c:pt idx="3">
                  <c:v>200</c:v>
                </c:pt>
              </c:numCache>
            </c:numRef>
          </c:val>
          <c:smooth val="0"/>
        </c:ser>
        <c:dLbls>
          <c:numFmt formatCode="#,##0" sourceLinked="0"/>
          <c:txPr>
            <a:bodyPr/>
            <a:lstStyle/>
            <a:p>
              <a:pPr>
                <a:defRPr b="1" i="0" strike="noStrike" sz="1100" u="none">
                  <a:solidFill>
                    <a:srgbClr val="2F7D4F"/>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「천천히 다지기」 학생</c:v>
                </c:pt>
              </c:strCache>
            </c:strRef>
          </c:tx>
          <c:spPr>
            <a:solidFill>
              <a:srgbClr val="B5482F"/>
            </a:solidFill>
            <a:ln w="38100" cap="flat">
              <a:solidFill>
                <a:srgbClr val="B5482F"/>
              </a:solidFill>
              <a:prstDash val="solid"/>
              <a:round/>
            </a:ln>
            <a:effectLst/>
          </c:spPr>
          <c:invertIfNegative val="0"/>
          <c:dLbls>
            <c:numFmt formatCode="#,##0" sourceLinked="0"/>
            <c:txPr>
              <a:bodyPr/>
              <a:lstStyle/>
              <a:p>
                <a:pPr>
                  <a:defRPr b="1" i="0" strike="noStrike" sz="1100" u="none">
                    <a:solidFill>
                      <a:srgbClr val="B5482F"/>
                    </a:solidFill>
                    <a:latin typeface="Arial"/>
                  </a:defRPr>
                </a:pPr>
              </a:p>
            </c:txPr>
            <c:dLblPos val="b"/>
            <c:showLegendKey val="0"/>
            <c:showVal val="1"/>
            <c:showCatName val="0"/>
            <c:showSerName val="0"/>
            <c:showPercent val="0"/>
            <c:showBubbleSize val="0"/>
            <c:showLeaderLines val="0"/>
          </c:dLbls>
          <c:marker>
            <c:symbol val="circle"/>
            <c:size val="8"/>
            <c:spPr>
              <a:solidFill>
                <a:srgbClr val="B5482F"/>
              </a:solidFill>
              <a:ln w="9525" cap="flat">
                <a:solidFill>
                  <a:srgbClr val="B5482F"/>
                </a:solidFill>
                <a:prstDash val="solid"/>
                <a:round/>
              </a:ln>
              <a:effectLst/>
            </c:spPr>
          </c:marker>
          <c:cat>
            <c:multiLvlStrRef>
              <c:f>Sheet1!$A$2:$A$5</c:f>
              <c:multiLvlStrCache>
                <c:ptCount val="4"/>
                <c:lvl>
                  <c:pt idx="0">
                    <c:v>시작</c:v>
                  </c:pt>
                  <c:pt idx="1">
                    <c:v>1년차</c:v>
                  </c:pt>
                  <c:pt idx="2">
                    <c:v>3년차</c:v>
                  </c:pt>
                  <c:pt idx="3">
                    <c:v>6년차</c:v>
                  </c:pt>
                </c:lvl>
              </c:multiLvlStrCache>
            </c:multiLvlStrRef>
          </c:cat>
          <c:val>
            <c:numRef>
              <c:f>Sheet1!$C$2:$C$5</c:f>
              <c:numCache>
                <c:formatCode>General</c:formatCode>
                <c:ptCount val="4"/>
                <c:pt idx="0">
                  <c:v>100</c:v>
                </c:pt>
                <c:pt idx="1">
                  <c:v>80</c:v>
                </c:pt>
                <c:pt idx="2">
                  <c:v>60</c:v>
                </c:pt>
                <c:pt idx="3">
                  <c:v>50</c:v>
                </c:pt>
              </c:numCache>
            </c:numRef>
          </c:val>
          <c:smooth val="0"/>
        </c:ser>
        <c:dLbls>
          <c:numFmt formatCode="#,##0" sourceLinked="0"/>
          <c:txPr>
            <a:bodyPr/>
            <a:lstStyle/>
            <a:p>
              <a:pPr>
                <a:defRPr b="1" i="0" strike="noStrike" sz="1100" u="none">
                  <a:solidFill>
                    <a:srgbClr val="B5482F"/>
                  </a:solidFill>
                  <a:latin typeface="Arial"/>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max val="230"/>
          <c:min val="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64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1" Type="http://schemas.openxmlformats.org/officeDocument/2006/relationships/image" Target="../media/image-6-1.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eg"/><Relationship Id="rId3" Type="http://schemas.openxmlformats.org/officeDocument/2006/relationships/image" Target="../media/image-10-3.jpeg"/><Relationship Id="rId4" Type="http://schemas.openxmlformats.org/officeDocument/2006/relationships/image" Target="../media/image-10-4.jpeg"/><Relationship Id="rId5" Type="http://schemas.openxmlformats.org/officeDocument/2006/relationships/image" Target="../media/image-10-5.jpe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chart" Target="/ppt/charts/chart5.xml"/><Relationship Id="rId1" Type="http://schemas.openxmlformats.org/officeDocument/2006/relationships/image" Target="../media/image-11-1.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eg"/><Relationship Id="rId3" Type="http://schemas.openxmlformats.org/officeDocument/2006/relationships/image" Target="../media/image-12-3.jpeg"/><Relationship Id="rId4" Type="http://schemas.openxmlformats.org/officeDocument/2006/relationships/image" Target="../media/image-12-4.jpeg"/><Relationship Id="rId5" Type="http://schemas.openxmlformats.org/officeDocument/2006/relationships/image" Target="../media/image-12-5.jpeg"/><Relationship Id="rId6" Type="http://schemas.openxmlformats.org/officeDocument/2006/relationships/image" Target="../media/image-12-6.jpe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jpe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jpeg"/><Relationship Id="rId7" Type="http://schemas.openxmlformats.org/officeDocument/2006/relationships/image" Target="../media/image-15-7.jpe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jpeg"/><Relationship Id="rId3" Type="http://schemas.openxmlformats.org/officeDocument/2006/relationships/image" Target="../media/image-16-3.jpeg"/><Relationship Id="rId4" Type="http://schemas.openxmlformats.org/officeDocument/2006/relationships/image" Target="../media/image-16-4.jpe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jpeg"/><Relationship Id="rId3" Type="http://schemas.openxmlformats.org/officeDocument/2006/relationships/image" Target="../media/image-17-3.jpeg"/><Relationship Id="rId4" Type="http://schemas.openxmlformats.org/officeDocument/2006/relationships/image" Target="../media/image-17-4.jpeg"/><Relationship Id="rId5" Type="http://schemas.openxmlformats.org/officeDocument/2006/relationships/image" Target="../media/image-17-5.jpe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jpeg"/><Relationship Id="rId3" Type="http://schemas.openxmlformats.org/officeDocument/2006/relationships/image" Target="../media/image-18-3.jpeg"/><Relationship Id="rId4" Type="http://schemas.openxmlformats.org/officeDocument/2006/relationships/image" Target="../media/image-18-4.jpeg"/><Relationship Id="rId5" Type="http://schemas.openxmlformats.org/officeDocument/2006/relationships/image" Target="../media/image-18-5.jpeg"/><Relationship Id="rId6" Type="http://schemas.openxmlformats.org/officeDocument/2006/relationships/image" Target="../media/image-18-6.jpeg"/><Relationship Id="rId7" Type="http://schemas.openxmlformats.org/officeDocument/2006/relationships/image" Target="../media/image-18-7.jpeg"/><Relationship Id="rId8" Type="http://schemas.openxmlformats.org/officeDocument/2006/relationships/image" Target="../media/image-18-8.jpeg"/><Relationship Id="rId9" Type="http://schemas.openxmlformats.org/officeDocument/2006/relationships/image" Target="../media/image-18-9.jpeg"/><Relationship Id="rId10" Type="http://schemas.openxmlformats.org/officeDocument/2006/relationships/image" Target="../media/image-18-10.jpeg"/><Relationship Id="rId11" Type="http://schemas.openxmlformats.org/officeDocument/2006/relationships/slideLayout" Target="../slideLayouts/slideLayout1.xml"/><Relationship Id="rId1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chart" Target="/ppt/charts/chart6.xml"/><Relationship Id="rId3" Type="http://schemas.openxmlformats.org/officeDocument/2006/relationships/chart" Target="/ppt/charts/chart7.xml"/><Relationship Id="rId4" Type="http://schemas.openxmlformats.org/officeDocument/2006/relationships/chart" Target="/ppt/charts/chart8.xml"/><Relationship Id="rId1" Type="http://schemas.openxmlformats.org/officeDocument/2006/relationships/image" Target="../media/image-20-1.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jpeg"/><Relationship Id="rId3" Type="http://schemas.openxmlformats.org/officeDocument/2006/relationships/image" Target="../media/image-21-3.jpe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jpe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jpeg"/><Relationship Id="rId11" Type="http://schemas.openxmlformats.org/officeDocument/2006/relationships/image" Target="../media/image-23-11.png"/><Relationship Id="rId12" Type="http://schemas.openxmlformats.org/officeDocument/2006/relationships/image" Target="../media/image-23-12.png"/><Relationship Id="rId13" Type="http://schemas.openxmlformats.org/officeDocument/2006/relationships/image" Target="../media/image-23-13.png"/><Relationship Id="rId14" Type="http://schemas.openxmlformats.org/officeDocument/2006/relationships/slideLayout" Target="../slideLayouts/slideLayout1.xml"/><Relationship Id="rId1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jpe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chart" Target="/ppt/charts/chart9.xml"/><Relationship Id="rId1" Type="http://schemas.openxmlformats.org/officeDocument/2006/relationships/image" Target="../media/image-25-1.png"/><Relationship Id="rId3" Type="http://schemas.openxmlformats.org/officeDocument/2006/relationships/image" Target="../media/image-25-2.jpeg"/><Relationship Id="rId4" Type="http://schemas.openxmlformats.org/officeDocument/2006/relationships/image" Target="../media/image-25-3.jpe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jpeg"/><Relationship Id="rId3" Type="http://schemas.openxmlformats.org/officeDocument/2006/relationships/image" Target="../media/image-26-3.jpeg"/><Relationship Id="rId4" Type="http://schemas.openxmlformats.org/officeDocument/2006/relationships/image" Target="../media/image-26-4.jpeg"/><Relationship Id="rId5" Type="http://schemas.openxmlformats.org/officeDocument/2006/relationships/image" Target="../media/image-26-5.jpe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jpeg"/><Relationship Id="rId3" Type="http://schemas.openxmlformats.org/officeDocument/2006/relationships/image" Target="../media/image-27-3.jpeg"/><Relationship Id="rId4" Type="http://schemas.openxmlformats.org/officeDocument/2006/relationships/image" Target="../media/image-27-4.jpeg"/><Relationship Id="rId5" Type="http://schemas.openxmlformats.org/officeDocument/2006/relationships/image" Target="../media/image-27-5.jpe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image" Target="../media/image-28-11.png"/><Relationship Id="rId12" Type="http://schemas.openxmlformats.org/officeDocument/2006/relationships/image" Target="../media/image-28-12.png"/><Relationship Id="rId13" Type="http://schemas.openxmlformats.org/officeDocument/2006/relationships/image" Target="../media/image-28-13.png"/><Relationship Id="rId14" Type="http://schemas.openxmlformats.org/officeDocument/2006/relationships/slideLayout" Target="../slideLayouts/slideLayout1.xml"/><Relationship Id="rId1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jpg"/><Relationship Id="rId4" Type="http://schemas.openxmlformats.org/officeDocument/2006/relationships/image" Target="../media/image-31-4.jpg"/><Relationship Id="rId5" Type="http://schemas.openxmlformats.org/officeDocument/2006/relationships/image" Target="../media/image-31-5.png"/><Relationship Id="rId6" Type="http://schemas.openxmlformats.org/officeDocument/2006/relationships/image" Target="../media/image-31-6.jpg"/><Relationship Id="rId7" Type="http://schemas.openxmlformats.org/officeDocument/2006/relationships/image" Target="../media/image-31-7.jpg"/><Relationship Id="rId8" Type="http://schemas.openxmlformats.org/officeDocument/2006/relationships/image" Target="../media/image-31-8.png"/><Relationship Id="rId9" Type="http://schemas.openxmlformats.org/officeDocument/2006/relationships/image" Target="../media/image-31-9.jpg"/><Relationship Id="rId10" Type="http://schemas.openxmlformats.org/officeDocument/2006/relationships/image" Target="../media/image-31-10.jpg"/><Relationship Id="rId11" Type="http://schemas.openxmlformats.org/officeDocument/2006/relationships/image" Target="../media/image-31-11.png"/><Relationship Id="rId12" Type="http://schemas.openxmlformats.org/officeDocument/2006/relationships/image" Target="../media/image-31-12.jpg"/><Relationship Id="rId13" Type="http://schemas.openxmlformats.org/officeDocument/2006/relationships/image" Target="../media/image-31-13.jpg"/><Relationship Id="rId14" Type="http://schemas.openxmlformats.org/officeDocument/2006/relationships/slideLayout" Target="../slideLayouts/slideLayout1.xml"/><Relationship Id="rId1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1.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slideLayout" Target="../slideLayouts/slideLayout1.xml"/><Relationship Id="rId11"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chart" Target="/ppt/charts/chart10.xml"/><Relationship Id="rId1" Type="http://schemas.openxmlformats.org/officeDocument/2006/relationships/image" Target="../media/image-34-1.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2" Type="http://schemas.openxmlformats.org/officeDocument/2006/relationships/chart" Target="/ppt/charts/chart11.xml"/><Relationship Id="rId1" Type="http://schemas.openxmlformats.org/officeDocument/2006/relationships/image" Target="../media/image-35-1.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jpeg"/><Relationship Id="rId3" Type="http://schemas.openxmlformats.org/officeDocument/2006/relationships/image" Target="../media/image-39-3.jpeg"/><Relationship Id="rId4" Type="http://schemas.openxmlformats.org/officeDocument/2006/relationships/image" Target="../media/image-39-4.jpeg"/><Relationship Id="rId5" Type="http://schemas.openxmlformats.org/officeDocument/2006/relationships/image" Target="../media/image-39-5.jpeg"/><Relationship Id="rId6" Type="http://schemas.openxmlformats.org/officeDocument/2006/relationships/image" Target="../media/image-39-6.jpeg"/><Relationship Id="rId7" Type="http://schemas.openxmlformats.org/officeDocument/2006/relationships/image" Target="../media/image-39-7.jpeg"/><Relationship Id="rId8" Type="http://schemas.openxmlformats.org/officeDocument/2006/relationships/slideLayout" Target="../slideLayouts/slideLayout1.xml"/><Relationship Id="rId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jpeg"/><Relationship Id="rId3" Type="http://schemas.openxmlformats.org/officeDocument/2006/relationships/image" Target="../media/image-40-3.jpeg"/><Relationship Id="rId4" Type="http://schemas.openxmlformats.org/officeDocument/2006/relationships/image" Target="../media/image-40-4.jpe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slideLayout" Target="../slideLayouts/slideLayout1.xml"/><Relationship Id="rId10"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image" Target="../media/image-41-2.jpeg"/><Relationship Id="rId3" Type="http://schemas.openxmlformats.org/officeDocument/2006/relationships/image" Target="../media/image-41-3.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jpe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jpeg"/><Relationship Id="rId3" Type="http://schemas.openxmlformats.org/officeDocument/2006/relationships/image" Target="../media/image-43-3.jpeg"/><Relationship Id="rId4" Type="http://schemas.openxmlformats.org/officeDocument/2006/relationships/image" Target="../media/image-43-4.jpeg"/><Relationship Id="rId5" Type="http://schemas.openxmlformats.org/officeDocument/2006/relationships/image" Target="../media/image-43-5.jpeg"/><Relationship Id="rId6" Type="http://schemas.openxmlformats.org/officeDocument/2006/relationships/slideLayout" Target="../slideLayouts/slideLayout1.xml"/><Relationship Id="rId7"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6EA"/>
        </a:solidFill>
      </p:bgPr>
    </p:bg>
    <p:spTree>
      <p:nvGrpSpPr>
        <p:cNvPr id="1" name=""/>
        <p:cNvGrpSpPr/>
        <p:nvPr/>
      </p:nvGrpSpPr>
      <p:grpSpPr>
        <a:xfrm>
          <a:off x="0" y="0"/>
          <a:ext cx="0" cy="0"/>
          <a:chOff x="0" y="0"/>
          <a:chExt cx="0" cy="0"/>
        </a:xfrm>
      </p:grpSpPr>
      <p:pic>
        <p:nvPicPr>
          <p:cNvPr id="2" name="Image 0" descr="삽화">    </p:cNvPr>
          <p:cNvPicPr>
            <a:picLocks noChangeAspect="1"/>
          </p:cNvPicPr>
          <p:nvPr/>
        </p:nvPicPr>
        <p:blipFill>
          <a:blip r:embed="rId1"/>
          <a:stretch>
            <a:fillRect/>
          </a:stretch>
        </p:blipFill>
        <p:spPr>
          <a:xfrm>
            <a:off x="6172200" y="3123456"/>
            <a:ext cx="5760720" cy="2531328"/>
          </a:xfrm>
          <a:prstGeom prst="rect">
            <a:avLst/>
          </a:prstGeom>
        </p:spPr>
      </p:pic>
      <p:pic>
        <p:nvPicPr>
          <p:cNvPr id="3" name="Image 1" descr="부기">    </p:cNvPr>
          <p:cNvPicPr>
            <a:picLocks noChangeAspect="1"/>
          </p:cNvPicPr>
          <p:nvPr/>
        </p:nvPicPr>
        <p:blipFill>
          <a:blip r:embed="rId2"/>
          <a:stretch>
            <a:fillRect/>
          </a:stretch>
        </p:blipFill>
        <p:spPr>
          <a:xfrm>
            <a:off x="502920" y="932688"/>
            <a:ext cx="548640" cy="548640"/>
          </a:xfrm>
          <a:prstGeom prst="rect">
            <a:avLst/>
          </a:prstGeom>
        </p:spPr>
      </p:pic>
      <p:sp>
        <p:nvSpPr>
          <p:cNvPr id="4" name="Text 0"/>
          <p:cNvSpPr txBox="1"/>
          <p:nvPr/>
        </p:nvSpPr>
        <p:spPr>
          <a:xfrm>
            <a:off x="1143000" y="905256"/>
            <a:ext cx="3657600" cy="585216"/>
          </a:xfrm>
          <a:prstGeom prst="rect">
            <a:avLst/>
          </a:prstGeom>
          <a:noFill/>
          <a:ln/>
        </p:spPr>
        <p:txBody>
          <a:bodyPr wrap="square" lIns="0" tIns="0" rIns="0" bIns="0" rtlCol="0" anchor="ctr"/>
          <a:lstStyle/>
          <a:p>
            <a:pPr indent="0" marL="0">
              <a:buNone/>
            </a:pPr>
            <a:r>
              <a:rPr lang="en-US" sz="3000" dirty="0">
                <a:solidFill>
                  <a:srgbClr val="20342A"/>
                </a:solidFill>
                <a:latin typeface="Noto Serif KR Black" pitchFamily="34" charset="0"/>
                <a:ea typeface="Noto Serif KR Black" pitchFamily="34" charset="-122"/>
                <a:cs typeface="Noto Serif KR Black" pitchFamily="34" charset="-120"/>
              </a:rPr>
              <a:t>부기</a:t>
            </a:r>
            <a:pPr indent="0" marL="0">
              <a:buNone/>
            </a:pPr>
            <a:r>
              <a:rPr lang="en-US" sz="1800" dirty="0">
                <a:solidFill>
                  <a:srgbClr val="7B857B"/>
                </a:solidFill>
                <a:latin typeface="Noto Serif KR Medium" pitchFamily="34" charset="0"/>
                <a:ea typeface="Noto Serif KR Medium" pitchFamily="34" charset="-122"/>
                <a:cs typeface="Noto Serif KR Medium" pitchFamily="34" charset="-120"/>
              </a:rPr>
              <a:t>  bookie</a:t>
            </a:r>
            <a:endParaRPr lang="en-US" sz="3000" dirty="0"/>
          </a:p>
        </p:txBody>
      </p:sp>
      <p:sp>
        <p:nvSpPr>
          <p:cNvPr id="5" name="Text 1"/>
          <p:cNvSpPr txBox="1"/>
          <p:nvPr/>
        </p:nvSpPr>
        <p:spPr>
          <a:xfrm>
            <a:off x="502920" y="1645920"/>
            <a:ext cx="7863840" cy="1417320"/>
          </a:xfrm>
          <a:prstGeom prst="rect">
            <a:avLst/>
          </a:prstGeom>
          <a:noFill/>
          <a:ln/>
        </p:spPr>
        <p:txBody>
          <a:bodyPr wrap="square" lIns="0" tIns="0" rIns="0" bIns="0" rtlCol="0" anchor="t"/>
          <a:lstStyle/>
          <a:p>
            <a:pPr indent="0" marL="0">
              <a:lnSpc>
                <a:spcPct val="110000"/>
              </a:lnSpc>
              <a:buNone/>
            </a:pPr>
            <a:r>
              <a:rPr lang="en-US" sz="4100" dirty="0">
                <a:solidFill>
                  <a:srgbClr val="20342A"/>
                </a:solidFill>
                <a:latin typeface="Noto Serif KR Black" pitchFamily="34" charset="0"/>
                <a:ea typeface="Noto Serif KR Black" pitchFamily="34" charset="-122"/>
                <a:cs typeface="Noto Serif KR Black" pitchFamily="34" charset="-120"/>
              </a:rPr>
              <a:t>책과 이야기하며</a:t>
            </a:r>
            <a:endParaRPr lang="en-US" sz="4100" dirty="0"/>
          </a:p>
          <a:p>
            <a:pPr indent="0" marL="0">
              <a:lnSpc>
                <a:spcPct val="110000"/>
              </a:lnSpc>
              <a:buNone/>
            </a:pPr>
            <a:r>
              <a:rPr lang="en-US" sz="4100" dirty="0">
                <a:solidFill>
                  <a:srgbClr val="C08A1E"/>
                </a:solidFill>
                <a:latin typeface="Noto Serif KR Black" pitchFamily="34" charset="0"/>
                <a:ea typeface="Noto Serif KR Black" pitchFamily="34" charset="-122"/>
                <a:cs typeface="Noto Serif KR Black" pitchFamily="34" charset="-120"/>
              </a:rPr>
              <a:t>스스로 생각하는 아이로</a:t>
            </a:r>
            <a:endParaRPr lang="en-US" sz="4100" dirty="0"/>
          </a:p>
        </p:txBody>
      </p:sp>
      <p:sp>
        <p:nvSpPr>
          <p:cNvPr id="6" name="Text 2"/>
          <p:cNvSpPr txBox="1"/>
          <p:nvPr/>
        </p:nvSpPr>
        <p:spPr>
          <a:xfrm>
            <a:off x="502920" y="3127248"/>
            <a:ext cx="5669280" cy="786384"/>
          </a:xfrm>
          <a:prstGeom prst="rect">
            <a:avLst/>
          </a:prstGeom>
          <a:noFill/>
          <a:ln/>
        </p:spPr>
        <p:txBody>
          <a:bodyPr wrap="square" lIns="0" tIns="0" rIns="0" bIns="0" rtlCol="0" anchor="t"/>
          <a:lstStyle/>
          <a:p>
            <a:pPr indent="0" marL="0">
              <a:lnSpc>
                <a:spcPct val="120000"/>
              </a:lnSpc>
              <a:buNone/>
            </a:pPr>
            <a:r>
              <a:rPr lang="en-US" sz="2150" dirty="0">
                <a:solidFill>
                  <a:srgbClr val="1F2B20"/>
                </a:solidFill>
                <a:latin typeface="Freesentation 6 SemiBold" pitchFamily="34" charset="0"/>
                <a:ea typeface="Freesentation 6 SemiBold" pitchFamily="34" charset="-122"/>
                <a:cs typeface="Freesentation 6 SemiBold" pitchFamily="34" charset="-120"/>
              </a:rPr>
              <a:t>독서로 교실의 문제를 풀고
</a:t>
            </a:r>
            <a:pPr indent="0" marL="0">
              <a:lnSpc>
                <a:spcPct val="120000"/>
              </a:lnSpc>
              <a:buNone/>
            </a:pPr>
            <a:r>
              <a:rPr lang="en-US" sz="2150" dirty="0">
                <a:solidFill>
                  <a:srgbClr val="2F7D4F"/>
                </a:solidFill>
                <a:latin typeface="Freesentation 7 Bold" pitchFamily="34" charset="0"/>
                <a:ea typeface="Freesentation 7 Bold" pitchFamily="34" charset="-122"/>
                <a:cs typeface="Freesentation 7 Bold" pitchFamily="34" charset="-120"/>
              </a:rPr>
              <a:t>문해력, 사고력, 공감</a:t>
            </a:r>
            <a:pPr indent="0" marL="0">
              <a:lnSpc>
                <a:spcPct val="120000"/>
              </a:lnSpc>
              <a:buNone/>
            </a:pPr>
            <a:r>
              <a:rPr lang="en-US" sz="2150" dirty="0">
                <a:solidFill>
                  <a:srgbClr val="1F2B20"/>
                </a:solidFill>
                <a:latin typeface="Freesentation 6 SemiBold" pitchFamily="34" charset="0"/>
                <a:ea typeface="Freesentation 6 SemiBold" pitchFamily="34" charset="-122"/>
                <a:cs typeface="Freesentation 6 SemiBold" pitchFamily="34" charset="-120"/>
              </a:rPr>
              <a:t>을 키우는 독서교육</a:t>
            </a:r>
            <a:endParaRPr lang="en-US" sz="2150" dirty="0"/>
          </a:p>
        </p:txBody>
      </p:sp>
      <p:sp>
        <p:nvSpPr>
          <p:cNvPr id="7" name="Text 3"/>
          <p:cNvSpPr txBox="1"/>
          <p:nvPr/>
        </p:nvSpPr>
        <p:spPr>
          <a:xfrm>
            <a:off x="502920" y="3986784"/>
            <a:ext cx="5486400" cy="548640"/>
          </a:xfrm>
          <a:prstGeom prst="rect">
            <a:avLst/>
          </a:prstGeom>
          <a:noFill/>
          <a:ln/>
        </p:spPr>
        <p:txBody>
          <a:bodyPr wrap="square" lIns="0" tIns="0" rIns="0" bIns="0" rtlCol="0" anchor="t"/>
          <a:lstStyle/>
          <a:p>
            <a:pPr indent="0" marL="0">
              <a:lnSpc>
                <a:spcPct val="120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초등 독서교육 플랫폼 부기(BOOKIE) 기반</a:t>
            </a:r>
            <a:endParaRPr lang="en-US" sz="1500" dirty="0"/>
          </a:p>
          <a:p>
            <a:pPr indent="0" marL="0">
              <a:lnSpc>
                <a:spcPct val="120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통합운영 제안서</a:t>
            </a:r>
            <a:endParaRPr lang="en-US" sz="1500" dirty="0"/>
          </a:p>
        </p:txBody>
      </p:sp>
      <p:sp>
        <p:nvSpPr>
          <p:cNvPr id="8" name="Shape 4"/>
          <p:cNvSpPr/>
          <p:nvPr/>
        </p:nvSpPr>
        <p:spPr>
          <a:xfrm>
            <a:off x="502920" y="4681728"/>
            <a:ext cx="1340739" cy="457200"/>
          </a:xfrm>
          <a:prstGeom prst="roundRect">
            <a:avLst>
              <a:gd name="adj" fmla="val 50000"/>
            </a:avLst>
          </a:prstGeom>
          <a:solidFill>
            <a:srgbClr val="20342A"/>
          </a:solidFill>
          <a:ln/>
        </p:spPr>
      </p:sp>
      <p:sp>
        <p:nvSpPr>
          <p:cNvPr id="9" name="Text 5"/>
          <p:cNvSpPr txBox="1"/>
          <p:nvPr/>
        </p:nvSpPr>
        <p:spPr>
          <a:xfrm>
            <a:off x="502920" y="4681728"/>
            <a:ext cx="1340739" cy="457200"/>
          </a:xfrm>
          <a:prstGeom prst="rect">
            <a:avLst/>
          </a:prstGeom>
          <a:noFill/>
          <a:ln/>
        </p:spPr>
        <p:txBody>
          <a:bodyPr wrap="square" lIns="0" tIns="0" rIns="0" bIns="0" rtlCol="0" anchor="ctr"/>
          <a:lstStyle/>
          <a:p>
            <a:pPr algn="ctr" indent="0" marL="0">
              <a:lnSpc>
                <a:spcPct val="112000"/>
              </a:lnSpc>
              <a:buNone/>
            </a:pPr>
            <a:r>
              <a:rPr lang="en-US" sz="1500" dirty="0">
                <a:solidFill>
                  <a:srgbClr val="F6ECD2"/>
                </a:solidFill>
                <a:latin typeface="Freesentation 7 Bold" pitchFamily="34" charset="0"/>
                <a:ea typeface="Freesentation 7 Bold" pitchFamily="34" charset="-122"/>
                <a:cs typeface="Freesentation 7 Bold" pitchFamily="34" charset="-120"/>
              </a:rPr>
              <a:t>명작 300권</a:t>
            </a:r>
            <a:endParaRPr lang="en-US" sz="1500" dirty="0"/>
          </a:p>
        </p:txBody>
      </p:sp>
      <p:sp>
        <p:nvSpPr>
          <p:cNvPr id="10" name="Shape 6"/>
          <p:cNvSpPr/>
          <p:nvPr/>
        </p:nvSpPr>
        <p:spPr>
          <a:xfrm>
            <a:off x="1953387" y="4681728"/>
            <a:ext cx="1363599" cy="457200"/>
          </a:xfrm>
          <a:prstGeom prst="roundRect">
            <a:avLst>
              <a:gd name="adj" fmla="val 50000"/>
            </a:avLst>
          </a:prstGeom>
          <a:solidFill>
            <a:srgbClr val="FFFFFF"/>
          </a:solidFill>
          <a:ln w="12700">
            <a:solidFill>
              <a:srgbClr val="D6CDB6"/>
            </a:solidFill>
            <a:prstDash val="solid"/>
          </a:ln>
        </p:spPr>
      </p:sp>
      <p:sp>
        <p:nvSpPr>
          <p:cNvPr id="11" name="Text 7"/>
          <p:cNvSpPr txBox="1"/>
          <p:nvPr/>
        </p:nvSpPr>
        <p:spPr>
          <a:xfrm>
            <a:off x="1953387" y="4681728"/>
            <a:ext cx="1363599" cy="457200"/>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다국어 지원</a:t>
            </a:r>
            <a:endParaRPr lang="en-US" sz="1500" dirty="0"/>
          </a:p>
        </p:txBody>
      </p:sp>
      <p:sp>
        <p:nvSpPr>
          <p:cNvPr id="12" name="Shape 8"/>
          <p:cNvSpPr/>
          <p:nvPr/>
        </p:nvSpPr>
        <p:spPr>
          <a:xfrm>
            <a:off x="3426714" y="4681728"/>
            <a:ext cx="2173224" cy="457200"/>
          </a:xfrm>
          <a:prstGeom prst="roundRect">
            <a:avLst>
              <a:gd name="adj" fmla="val 50000"/>
            </a:avLst>
          </a:prstGeom>
          <a:solidFill>
            <a:srgbClr val="FFFFFF"/>
          </a:solidFill>
          <a:ln w="12700">
            <a:solidFill>
              <a:srgbClr val="D6CDB6"/>
            </a:solidFill>
            <a:prstDash val="solid"/>
          </a:ln>
        </p:spPr>
      </p:sp>
      <p:sp>
        <p:nvSpPr>
          <p:cNvPr id="13" name="Text 9"/>
          <p:cNvSpPr txBox="1"/>
          <p:nvPr/>
        </p:nvSpPr>
        <p:spPr>
          <a:xfrm>
            <a:off x="3426714" y="4681728"/>
            <a:ext cx="2173224" cy="457200"/>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다양한 독후활동 40종</a:t>
            </a:r>
            <a:endParaRPr lang="en-US" sz="1500" dirty="0"/>
          </a:p>
        </p:txBody>
      </p:sp>
      <p:sp>
        <p:nvSpPr>
          <p:cNvPr id="14" name="Shape 10"/>
          <p:cNvSpPr/>
          <p:nvPr/>
        </p:nvSpPr>
        <p:spPr>
          <a:xfrm>
            <a:off x="502920" y="5248656"/>
            <a:ext cx="1717929" cy="457200"/>
          </a:xfrm>
          <a:prstGeom prst="roundRect">
            <a:avLst>
              <a:gd name="adj" fmla="val 50000"/>
            </a:avLst>
          </a:prstGeom>
          <a:solidFill>
            <a:srgbClr val="FFFFFF"/>
          </a:solidFill>
          <a:ln w="12700">
            <a:solidFill>
              <a:srgbClr val="D6CDB6"/>
            </a:solidFill>
            <a:prstDash val="solid"/>
          </a:ln>
        </p:spPr>
      </p:sp>
      <p:sp>
        <p:nvSpPr>
          <p:cNvPr id="15" name="Text 11"/>
          <p:cNvSpPr txBox="1"/>
          <p:nvPr/>
        </p:nvSpPr>
        <p:spPr>
          <a:xfrm>
            <a:off x="502920" y="5248656"/>
            <a:ext cx="1717929" cy="457200"/>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독서 포트폴리오</a:t>
            </a:r>
            <a:endParaRPr lang="en-US" sz="1500" dirty="0"/>
          </a:p>
        </p:txBody>
      </p:sp>
      <p:sp>
        <p:nvSpPr>
          <p:cNvPr id="16" name="Shape 12"/>
          <p:cNvSpPr/>
          <p:nvPr/>
        </p:nvSpPr>
        <p:spPr>
          <a:xfrm>
            <a:off x="2330577" y="5248656"/>
            <a:ext cx="1540764" cy="457200"/>
          </a:xfrm>
          <a:prstGeom prst="roundRect">
            <a:avLst>
              <a:gd name="adj" fmla="val 50000"/>
            </a:avLst>
          </a:prstGeom>
          <a:solidFill>
            <a:srgbClr val="FFFFFF"/>
          </a:solidFill>
          <a:ln w="12700">
            <a:solidFill>
              <a:srgbClr val="D6CDB6"/>
            </a:solidFill>
            <a:prstDash val="solid"/>
          </a:ln>
        </p:spPr>
      </p:sp>
      <p:sp>
        <p:nvSpPr>
          <p:cNvPr id="17" name="Text 13"/>
          <p:cNvSpPr txBox="1"/>
          <p:nvPr/>
        </p:nvSpPr>
        <p:spPr>
          <a:xfrm>
            <a:off x="2330577" y="5248656"/>
            <a:ext cx="1540764" cy="457200"/>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캐릭터와 대화</a:t>
            </a:r>
            <a:endParaRPr lang="en-US" sz="1500" dirty="0"/>
          </a:p>
        </p:txBody>
      </p:sp>
      <p:sp>
        <p:nvSpPr>
          <p:cNvPr id="18" name="Shape 14"/>
          <p:cNvSpPr/>
          <p:nvPr/>
        </p:nvSpPr>
        <p:spPr>
          <a:xfrm>
            <a:off x="3981069" y="5248656"/>
            <a:ext cx="1363599" cy="457200"/>
          </a:xfrm>
          <a:prstGeom prst="roundRect">
            <a:avLst>
              <a:gd name="adj" fmla="val 50000"/>
            </a:avLst>
          </a:prstGeom>
          <a:solidFill>
            <a:srgbClr val="FFFFFF"/>
          </a:solidFill>
          <a:ln w="12700">
            <a:solidFill>
              <a:srgbClr val="D6CDB6"/>
            </a:solidFill>
            <a:prstDash val="solid"/>
          </a:ln>
        </p:spPr>
      </p:sp>
      <p:sp>
        <p:nvSpPr>
          <p:cNvPr id="19" name="Text 15"/>
          <p:cNvSpPr txBox="1"/>
          <p:nvPr/>
        </p:nvSpPr>
        <p:spPr>
          <a:xfrm>
            <a:off x="3981069" y="5248656"/>
            <a:ext cx="1363599" cy="457200"/>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어휘력 진단</a:t>
            </a:r>
            <a:endParaRPr lang="en-US" sz="1500" dirty="0"/>
          </a:p>
        </p:txBody>
      </p:sp>
      <p:pic>
        <p:nvPicPr>
          <p:cNvPr id="20" name="Image 2" descr="MSECM">    </p:cNvPr>
          <p:cNvPicPr>
            <a:picLocks noChangeAspect="1"/>
          </p:cNvPicPr>
          <p:nvPr/>
        </p:nvPicPr>
        <p:blipFill>
          <a:blip r:embed="rId3"/>
          <a:stretch>
            <a:fillRect/>
          </a:stretch>
        </p:blipFill>
        <p:spPr>
          <a:xfrm>
            <a:off x="502920" y="6172200"/>
            <a:ext cx="1371600" cy="383528"/>
          </a:xfrm>
          <a:prstGeom prst="rect">
            <a:avLst/>
          </a:prstGeom>
        </p:spPr>
      </p:pic>
      <p:sp>
        <p:nvSpPr>
          <p:cNvPr id="21" name="Text 16"/>
          <p:cNvSpPr txBox="1"/>
          <p:nvPr/>
        </p:nvSpPr>
        <p:spPr>
          <a:xfrm>
            <a:off x="2057400" y="6153912"/>
            <a:ext cx="5029200" cy="384048"/>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5 Medium" pitchFamily="34" charset="0"/>
                <a:ea typeface="Freesentation 5 Medium" pitchFamily="34" charset="-122"/>
                <a:cs typeface="Freesentation 5 Medium" pitchFamily="34" charset="-120"/>
              </a:rPr>
              <a:t>주식회사 엠에스이씨엠   bookie.io.kr   2026. 10.</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0342A"/>
          </a:solidFill>
          <a:ln/>
        </p:spPr>
      </p:sp>
      <p:sp>
        <p:nvSpPr>
          <p:cNvPr id="3" name="Text 1"/>
          <p:cNvSpPr txBox="1"/>
          <p:nvPr/>
        </p:nvSpPr>
        <p:spPr>
          <a:xfrm>
            <a:off x="640080" y="731520"/>
            <a:ext cx="2743200" cy="640080"/>
          </a:xfrm>
          <a:prstGeom prst="rect">
            <a:avLst/>
          </a:prstGeom>
          <a:noFill/>
          <a:ln/>
        </p:spPr>
        <p:txBody>
          <a:bodyPr wrap="square" lIns="0" tIns="0" rIns="0" bIns="0" rtlCol="0" anchor="t"/>
          <a:lstStyle/>
          <a:p>
            <a:pPr indent="0" marL="0">
              <a:lnSpc>
                <a:spcPct val="112000"/>
              </a:lnSpc>
              <a:buNone/>
            </a:pPr>
            <a:r>
              <a:rPr lang="en-US" sz="3650" dirty="0">
                <a:solidFill>
                  <a:srgbClr val="FFFFFF"/>
                </a:solidFill>
                <a:latin typeface="Noto Serif KR Black" pitchFamily="34" charset="0"/>
                <a:ea typeface="Noto Serif KR Black" pitchFamily="34" charset="-122"/>
                <a:cs typeface="Noto Serif KR Black" pitchFamily="34" charset="-120"/>
              </a:rPr>
              <a:t>차례</a:t>
            </a:r>
            <a:endParaRPr lang="en-US" sz="3650" dirty="0"/>
          </a:p>
        </p:txBody>
      </p:sp>
      <p:sp>
        <p:nvSpPr>
          <p:cNvPr id="4" name="Text 2"/>
          <p:cNvSpPr txBox="1"/>
          <p:nvPr/>
        </p:nvSpPr>
        <p:spPr>
          <a:xfrm>
            <a:off x="640080" y="1463040"/>
            <a:ext cx="2651760" cy="1188720"/>
          </a:xfrm>
          <a:prstGeom prst="rect">
            <a:avLst/>
          </a:prstGeom>
          <a:noFill/>
          <a:ln/>
        </p:spPr>
        <p:txBody>
          <a:bodyPr wrap="square" lIns="0" tIns="0" rIns="0" bIns="0" rtlCol="0" anchor="t"/>
          <a:lstStyle/>
          <a:p>
            <a:pPr indent="0" marL="0">
              <a:lnSpc>
                <a:spcPct val="135000"/>
              </a:lnSpc>
              <a:buNone/>
            </a:pPr>
            <a:r>
              <a:rPr lang="en-US" sz="1550" dirty="0">
                <a:solidFill>
                  <a:srgbClr val="DCE6DD"/>
                </a:solidFill>
                <a:latin typeface="Freesentation 4 Regular" pitchFamily="34" charset="0"/>
                <a:ea typeface="Freesentation 4 Regular" pitchFamily="34" charset="-122"/>
                <a:cs typeface="Freesentation 4 Regular" pitchFamily="34" charset="-120"/>
              </a:rPr>
              <a:t>선도교사단 72학급 운영 결과를</a:t>
            </a:r>
            <a:endParaRPr lang="en-US" sz="1550" dirty="0"/>
          </a:p>
          <a:p>
            <a:pPr indent="0" marL="0">
              <a:lnSpc>
                <a:spcPct val="135000"/>
              </a:lnSpc>
              <a:buNone/>
            </a:pPr>
            <a:r>
              <a:rPr lang="en-US" sz="1550" dirty="0">
                <a:solidFill>
                  <a:srgbClr val="DCE6DD"/>
                </a:solidFill>
                <a:latin typeface="Freesentation 4 Regular" pitchFamily="34" charset="0"/>
                <a:ea typeface="Freesentation 4 Regular" pitchFamily="34" charset="-122"/>
                <a:cs typeface="Freesentation 4 Regular" pitchFamily="34" charset="-120"/>
              </a:rPr>
              <a:t>바탕으로 구성했습니다.</a:t>
            </a:r>
            <a:endParaRPr lang="en-US" sz="1550" dirty="0"/>
          </a:p>
        </p:txBody>
      </p:sp>
      <p:pic>
        <p:nvPicPr>
          <p:cNvPr id="5" name="Image 0" descr="삽화">    </p:cNvPr>
          <p:cNvPicPr>
            <a:picLocks noChangeAspect="1"/>
          </p:cNvPicPr>
          <p:nvPr/>
        </p:nvPicPr>
        <p:blipFill>
          <a:blip r:embed="rId1"/>
          <a:stretch>
            <a:fillRect/>
          </a:stretch>
        </p:blipFill>
        <p:spPr>
          <a:xfrm>
            <a:off x="228600" y="4005072"/>
            <a:ext cx="3291840" cy="1316736"/>
          </a:xfrm>
          <a:prstGeom prst="rect">
            <a:avLst/>
          </a:prstGeom>
        </p:spPr>
      </p:pic>
      <p:sp>
        <p:nvSpPr>
          <p:cNvPr id="6" name="Text 3"/>
          <p:cNvSpPr txBox="1"/>
          <p:nvPr/>
        </p:nvSpPr>
        <p:spPr>
          <a:xfrm>
            <a:off x="4343400" y="41148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Ⅰ</a:t>
            </a:r>
            <a:endParaRPr lang="en-US" sz="2800" dirty="0"/>
          </a:p>
        </p:txBody>
      </p:sp>
      <p:sp>
        <p:nvSpPr>
          <p:cNvPr id="7" name="Text 4"/>
          <p:cNvSpPr txBox="1"/>
          <p:nvPr/>
        </p:nvSpPr>
        <p:spPr>
          <a:xfrm>
            <a:off x="4910328" y="411480"/>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제안 배경</a:t>
            </a:r>
            <a:endParaRPr lang="en-US" sz="2150" dirty="0"/>
          </a:p>
        </p:txBody>
      </p:sp>
      <p:sp>
        <p:nvSpPr>
          <p:cNvPr id="8" name="Text 5"/>
          <p:cNvSpPr txBox="1"/>
          <p:nvPr/>
        </p:nvSpPr>
        <p:spPr>
          <a:xfrm>
            <a:off x="7360920" y="41148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1쪽</a:t>
            </a:r>
            <a:endParaRPr lang="en-US" sz="1400" dirty="0"/>
          </a:p>
        </p:txBody>
      </p:sp>
      <p:sp>
        <p:nvSpPr>
          <p:cNvPr id="9" name="Shape 6"/>
          <p:cNvSpPr/>
          <p:nvPr/>
        </p:nvSpPr>
        <p:spPr>
          <a:xfrm>
            <a:off x="4343400" y="978408"/>
            <a:ext cx="3566160" cy="0"/>
          </a:xfrm>
          <a:prstGeom prst="line">
            <a:avLst/>
          </a:prstGeom>
          <a:noFill/>
          <a:ln w="9525">
            <a:solidFill>
              <a:srgbClr val="D6CDB6"/>
            </a:solidFill>
            <a:prstDash val="solid"/>
          </a:ln>
        </p:spPr>
      </p:sp>
      <p:sp>
        <p:nvSpPr>
          <p:cNvPr id="10" name="Text 7"/>
          <p:cNvSpPr txBox="1"/>
          <p:nvPr/>
        </p:nvSpPr>
        <p:spPr>
          <a:xfrm>
            <a:off x="4416552" y="108813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AI 시대, 학생에게 남아야 할 읽는 힘</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우리 반의 문제와 학교 독서수업</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읽기가 멈추는 원인과 근거</a:t>
            </a:r>
            <a:endParaRPr lang="en-US" sz="1650" dirty="0"/>
          </a:p>
        </p:txBody>
      </p:sp>
      <p:sp>
        <p:nvSpPr>
          <p:cNvPr id="11" name="Text 8"/>
          <p:cNvSpPr txBox="1"/>
          <p:nvPr/>
        </p:nvSpPr>
        <p:spPr>
          <a:xfrm>
            <a:off x="8092440" y="41148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Ⅱ</a:t>
            </a:r>
            <a:endParaRPr lang="en-US" sz="2800" dirty="0"/>
          </a:p>
        </p:txBody>
      </p:sp>
      <p:sp>
        <p:nvSpPr>
          <p:cNvPr id="12" name="Text 9"/>
          <p:cNvSpPr txBox="1"/>
          <p:nvPr/>
        </p:nvSpPr>
        <p:spPr>
          <a:xfrm>
            <a:off x="8659368" y="411480"/>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제안 개요</a:t>
            </a:r>
            <a:endParaRPr lang="en-US" sz="2150" dirty="0"/>
          </a:p>
        </p:txBody>
      </p:sp>
      <p:sp>
        <p:nvSpPr>
          <p:cNvPr id="13" name="Text 10"/>
          <p:cNvSpPr txBox="1"/>
          <p:nvPr/>
        </p:nvSpPr>
        <p:spPr>
          <a:xfrm>
            <a:off x="11109960" y="41148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5쪽</a:t>
            </a:r>
            <a:endParaRPr lang="en-US" sz="1400" dirty="0"/>
          </a:p>
        </p:txBody>
      </p:sp>
      <p:sp>
        <p:nvSpPr>
          <p:cNvPr id="14" name="Shape 11"/>
          <p:cNvSpPr/>
          <p:nvPr/>
        </p:nvSpPr>
        <p:spPr>
          <a:xfrm>
            <a:off x="8092440" y="978408"/>
            <a:ext cx="3566160" cy="0"/>
          </a:xfrm>
          <a:prstGeom prst="line">
            <a:avLst/>
          </a:prstGeom>
          <a:noFill/>
          <a:ln w="9525">
            <a:solidFill>
              <a:srgbClr val="D6CDB6"/>
            </a:solidFill>
            <a:prstDash val="solid"/>
          </a:ln>
        </p:spPr>
      </p:sp>
      <p:sp>
        <p:nvSpPr>
          <p:cNvPr id="15" name="Text 12"/>
          <p:cNvSpPr txBox="1"/>
          <p:nvPr/>
        </p:nvSpPr>
        <p:spPr>
          <a:xfrm>
            <a:off x="8165592" y="108813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읽기의 어려움과 부기의 지원</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독서교육 정책과 연결</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사업 개요와 역할</a:t>
            </a:r>
            <a:endParaRPr lang="en-US" sz="1650" dirty="0"/>
          </a:p>
        </p:txBody>
      </p:sp>
      <p:sp>
        <p:nvSpPr>
          <p:cNvPr id="16" name="Text 13"/>
          <p:cNvSpPr txBox="1"/>
          <p:nvPr/>
        </p:nvSpPr>
        <p:spPr>
          <a:xfrm>
            <a:off x="4343400" y="2212848"/>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Ⅲ</a:t>
            </a:r>
            <a:endParaRPr lang="en-US" sz="2800" dirty="0"/>
          </a:p>
        </p:txBody>
      </p:sp>
      <p:sp>
        <p:nvSpPr>
          <p:cNvPr id="17" name="Text 14"/>
          <p:cNvSpPr txBox="1"/>
          <p:nvPr/>
        </p:nvSpPr>
        <p:spPr>
          <a:xfrm>
            <a:off x="4910328" y="2212848"/>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부기 도입 효과</a:t>
            </a:r>
            <a:endParaRPr lang="en-US" sz="2150" dirty="0"/>
          </a:p>
        </p:txBody>
      </p:sp>
      <p:sp>
        <p:nvSpPr>
          <p:cNvPr id="18" name="Text 15"/>
          <p:cNvSpPr txBox="1"/>
          <p:nvPr/>
        </p:nvSpPr>
        <p:spPr>
          <a:xfrm>
            <a:off x="7360920" y="2212848"/>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8쪽</a:t>
            </a:r>
            <a:endParaRPr lang="en-US" sz="1400" dirty="0"/>
          </a:p>
        </p:txBody>
      </p:sp>
      <p:sp>
        <p:nvSpPr>
          <p:cNvPr id="19" name="Shape 16"/>
          <p:cNvSpPr/>
          <p:nvPr/>
        </p:nvSpPr>
        <p:spPr>
          <a:xfrm>
            <a:off x="4343400" y="2779776"/>
            <a:ext cx="3566160" cy="0"/>
          </a:xfrm>
          <a:prstGeom prst="line">
            <a:avLst/>
          </a:prstGeom>
          <a:noFill/>
          <a:ln w="9525">
            <a:solidFill>
              <a:srgbClr val="D6CDB6"/>
            </a:solidFill>
            <a:prstDash val="solid"/>
          </a:ln>
        </p:spPr>
      </p:sp>
      <p:sp>
        <p:nvSpPr>
          <p:cNvPr id="20" name="Text 17"/>
          <p:cNvSpPr txBox="1"/>
          <p:nvPr/>
        </p:nvSpPr>
        <p:spPr>
          <a:xfrm>
            <a:off x="4416552" y="2889504"/>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학생 독서 역량과 독서 포트폴리오</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등장인물 되어 보기, 사회정서 역량</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교사 수업 설계, 고민 책방 수업</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우리 반 현황, 성과 관리와 6년 전망</a:t>
            </a:r>
            <a:endParaRPr lang="en-US" sz="1650" dirty="0"/>
          </a:p>
        </p:txBody>
      </p:sp>
      <p:sp>
        <p:nvSpPr>
          <p:cNvPr id="21" name="Text 18"/>
          <p:cNvSpPr txBox="1"/>
          <p:nvPr/>
        </p:nvSpPr>
        <p:spPr>
          <a:xfrm>
            <a:off x="8092440" y="2212848"/>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Ⅳ</a:t>
            </a:r>
            <a:endParaRPr lang="en-US" sz="2800" dirty="0"/>
          </a:p>
        </p:txBody>
      </p:sp>
      <p:sp>
        <p:nvSpPr>
          <p:cNvPr id="22" name="Text 19"/>
          <p:cNvSpPr txBox="1"/>
          <p:nvPr/>
        </p:nvSpPr>
        <p:spPr>
          <a:xfrm>
            <a:off x="8659368" y="2212848"/>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부기 플랫폼 소개</a:t>
            </a:r>
            <a:endParaRPr lang="en-US" sz="2150" dirty="0"/>
          </a:p>
        </p:txBody>
      </p:sp>
      <p:sp>
        <p:nvSpPr>
          <p:cNvPr id="23" name="Text 20"/>
          <p:cNvSpPr txBox="1"/>
          <p:nvPr/>
        </p:nvSpPr>
        <p:spPr>
          <a:xfrm>
            <a:off x="11109960" y="2212848"/>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21쪽</a:t>
            </a:r>
            <a:endParaRPr lang="en-US" sz="1400" dirty="0"/>
          </a:p>
        </p:txBody>
      </p:sp>
      <p:sp>
        <p:nvSpPr>
          <p:cNvPr id="24" name="Shape 21"/>
          <p:cNvSpPr/>
          <p:nvPr/>
        </p:nvSpPr>
        <p:spPr>
          <a:xfrm>
            <a:off x="8092440" y="2779776"/>
            <a:ext cx="3566160" cy="0"/>
          </a:xfrm>
          <a:prstGeom prst="line">
            <a:avLst/>
          </a:prstGeom>
          <a:noFill/>
          <a:ln w="9525">
            <a:solidFill>
              <a:srgbClr val="D6CDB6"/>
            </a:solidFill>
            <a:prstDash val="solid"/>
          </a:ln>
        </p:spPr>
      </p:sp>
      <p:sp>
        <p:nvSpPr>
          <p:cNvPr id="25" name="Text 22"/>
          <p:cNvSpPr txBox="1"/>
          <p:nvPr/>
        </p:nvSpPr>
        <p:spPr>
          <a:xfrm>
            <a:off x="8165592" y="2889504"/>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서비스 특징, 학년별 300권</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다국어 읽기와 교실 활용 장면</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정보 보호와 안정 운영</a:t>
            </a:r>
            <a:endParaRPr lang="en-US" sz="1650" dirty="0"/>
          </a:p>
        </p:txBody>
      </p:sp>
      <p:sp>
        <p:nvSpPr>
          <p:cNvPr id="26" name="Text 23"/>
          <p:cNvSpPr txBox="1"/>
          <p:nvPr/>
        </p:nvSpPr>
        <p:spPr>
          <a:xfrm>
            <a:off x="4343400" y="411480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Ⅴ</a:t>
            </a:r>
            <a:endParaRPr lang="en-US" sz="2800" dirty="0"/>
          </a:p>
        </p:txBody>
      </p:sp>
      <p:sp>
        <p:nvSpPr>
          <p:cNvPr id="27" name="Text 24"/>
          <p:cNvSpPr txBox="1"/>
          <p:nvPr/>
        </p:nvSpPr>
        <p:spPr>
          <a:xfrm>
            <a:off x="4910328" y="4114800"/>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사업 추진 방안</a:t>
            </a:r>
            <a:endParaRPr lang="en-US" sz="2150" dirty="0"/>
          </a:p>
        </p:txBody>
      </p:sp>
      <p:sp>
        <p:nvSpPr>
          <p:cNvPr id="28" name="Text 25"/>
          <p:cNvSpPr txBox="1"/>
          <p:nvPr/>
        </p:nvSpPr>
        <p:spPr>
          <a:xfrm>
            <a:off x="7360920" y="411480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27쪽</a:t>
            </a:r>
            <a:endParaRPr lang="en-US" sz="1400" dirty="0"/>
          </a:p>
        </p:txBody>
      </p:sp>
      <p:sp>
        <p:nvSpPr>
          <p:cNvPr id="29" name="Shape 26"/>
          <p:cNvSpPr/>
          <p:nvPr/>
        </p:nvSpPr>
        <p:spPr>
          <a:xfrm>
            <a:off x="4343400" y="4681728"/>
            <a:ext cx="3566160" cy="0"/>
          </a:xfrm>
          <a:prstGeom prst="line">
            <a:avLst/>
          </a:prstGeom>
          <a:noFill/>
          <a:ln w="9525">
            <a:solidFill>
              <a:srgbClr val="D6CDB6"/>
            </a:solidFill>
            <a:prstDash val="solid"/>
          </a:ln>
        </p:spPr>
      </p:sp>
      <p:sp>
        <p:nvSpPr>
          <p:cNvPr id="30" name="Text 27"/>
          <p:cNvSpPr txBox="1"/>
          <p:nvPr/>
        </p:nvSpPr>
        <p:spPr>
          <a:xfrm>
            <a:off x="4416552" y="479145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추진 일정, 연수와 운영지원</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대상별 홍보와 독서교육 브로슈어</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공모전과 박람회, 사업비, 수행 기관</a:t>
            </a:r>
            <a:endParaRPr lang="en-US" sz="1650" dirty="0"/>
          </a:p>
        </p:txBody>
      </p:sp>
      <p:sp>
        <p:nvSpPr>
          <p:cNvPr id="31" name="Text 28"/>
          <p:cNvSpPr txBox="1"/>
          <p:nvPr/>
        </p:nvSpPr>
        <p:spPr>
          <a:xfrm>
            <a:off x="8092440" y="411480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Ⅵ</a:t>
            </a:r>
            <a:endParaRPr lang="en-US" sz="2800" dirty="0"/>
          </a:p>
        </p:txBody>
      </p:sp>
      <p:sp>
        <p:nvSpPr>
          <p:cNvPr id="32" name="Text 29"/>
          <p:cNvSpPr txBox="1"/>
          <p:nvPr/>
        </p:nvSpPr>
        <p:spPr>
          <a:xfrm>
            <a:off x="8659368" y="4114800"/>
            <a:ext cx="2651760" cy="502920"/>
          </a:xfrm>
          <a:prstGeom prst="rect">
            <a:avLst/>
          </a:prstGeom>
          <a:noFill/>
          <a:ln/>
        </p:spPr>
        <p:txBody>
          <a:bodyPr wrap="square" lIns="0" tIns="0" rIns="0" bIns="0" rtlCol="0" anchor="ctr"/>
          <a:lstStyle/>
          <a:p>
            <a:pPr indent="0" marL="0">
              <a:lnSpc>
                <a:spcPct val="112000"/>
              </a:lnSpc>
              <a:buNone/>
            </a:pPr>
            <a:r>
              <a:rPr lang="en-US" sz="1950" dirty="0">
                <a:solidFill>
                  <a:srgbClr val="20342A"/>
                </a:solidFill>
                <a:latin typeface="Noto Serif KR Black" pitchFamily="34" charset="0"/>
                <a:ea typeface="Noto Serif KR Black" pitchFamily="34" charset="-122"/>
                <a:cs typeface="Noto Serif KR Black" pitchFamily="34" charset="-120"/>
              </a:rPr>
              <a:t>성과 검증과 현장 적용</a:t>
            </a:r>
            <a:endParaRPr lang="en-US" sz="1950" dirty="0"/>
          </a:p>
        </p:txBody>
      </p:sp>
      <p:sp>
        <p:nvSpPr>
          <p:cNvPr id="33" name="Text 30"/>
          <p:cNvSpPr txBox="1"/>
          <p:nvPr/>
        </p:nvSpPr>
        <p:spPr>
          <a:xfrm>
            <a:off x="11109960" y="411480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33쪽</a:t>
            </a:r>
            <a:endParaRPr lang="en-US" sz="1400" dirty="0"/>
          </a:p>
        </p:txBody>
      </p:sp>
      <p:sp>
        <p:nvSpPr>
          <p:cNvPr id="34" name="Shape 31"/>
          <p:cNvSpPr/>
          <p:nvPr/>
        </p:nvSpPr>
        <p:spPr>
          <a:xfrm>
            <a:off x="8092440" y="4681728"/>
            <a:ext cx="3566160" cy="0"/>
          </a:xfrm>
          <a:prstGeom prst="line">
            <a:avLst/>
          </a:prstGeom>
          <a:noFill/>
          <a:ln w="9525">
            <a:solidFill>
              <a:srgbClr val="D6CDB6"/>
            </a:solidFill>
            <a:prstDash val="solid"/>
          </a:ln>
        </p:spPr>
      </p:sp>
      <p:sp>
        <p:nvSpPr>
          <p:cNvPr id="35" name="Text 32"/>
          <p:cNvSpPr txBox="1"/>
          <p:nvPr/>
        </p:nvSpPr>
        <p:spPr>
          <a:xfrm>
            <a:off x="8165592" y="479145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성과 목표와 연구 용역(안)</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선도교사단 운영 현황과 결과</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선도 학교 수업 현장과 사례</a:t>
            </a:r>
            <a:endParaRPr lang="en-US" sz="1650" dirty="0"/>
          </a:p>
        </p:txBody>
      </p:sp>
      <p:sp>
        <p:nvSpPr>
          <p:cNvPr id="36" name="Text 33"/>
          <p:cNvSpPr txBox="1"/>
          <p:nvPr/>
        </p:nvSpPr>
        <p:spPr>
          <a:xfrm>
            <a:off x="4343400" y="6419088"/>
            <a:ext cx="7315200" cy="274320"/>
          </a:xfrm>
          <a:prstGeom prst="rect">
            <a:avLst/>
          </a:prstGeom>
          <a:noFill/>
          <a:ln/>
        </p:spPr>
        <p:txBody>
          <a:bodyPr wrap="square" lIns="0" tIns="0" rIns="0" bIns="0" rtlCol="0" anchor="ctr"/>
          <a:lstStyle/>
          <a:p>
            <a:pPr indent="0" marL="0">
              <a:lnSpc>
                <a:spcPct val="112000"/>
              </a:lnSpc>
              <a:buNone/>
            </a:pPr>
            <a:r>
              <a:rPr lang="en-US" sz="1450" dirty="0">
                <a:solidFill>
                  <a:srgbClr val="7B857B"/>
                </a:solidFill>
                <a:latin typeface="Freesentation 6 SemiBold" pitchFamily="34" charset="0"/>
                <a:ea typeface="Freesentation 6 SemiBold" pitchFamily="34" charset="-122"/>
                <a:cs typeface="Freesentation 6 SemiBold" pitchFamily="34" charset="-120"/>
              </a:rPr>
              <a:t>부록  어휘력 진단과 수준별 추천(A1), 책 밖 독서 활동 자료(A2)</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배경</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AI 시대, 학생에게 남아야 할 읽는 힘</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AI가 답을 내놓아도,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읽고 이해하고 판단하는 힘</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은 학생 안에 쌓여야 합니다</a:t>
            </a:r>
            <a:endParaRPr lang="en-US" sz="1400" dirty="0"/>
          </a:p>
        </p:txBody>
      </p:sp>
      <p:sp>
        <p:nvSpPr>
          <p:cNvPr id="10" name="Text 7"/>
          <p:cNvSpPr txBox="1"/>
          <p:nvPr/>
        </p:nvSpPr>
        <p:spPr>
          <a:xfrm>
            <a:off x="212387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7130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Kreijkes 외(2026), Computers &amp; Education 243, 105514. DOI: 10.1016/j.compedu.2025.105514</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6214223"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답을 얻는 동안, 생각하는 연습은 남는가?</a:t>
            </a:r>
            <a:endParaRPr lang="en-US" sz="1650" dirty="0"/>
          </a:p>
        </p:txBody>
      </p:sp>
      <p:sp>
        <p:nvSpPr>
          <p:cNvPr id="16" name="Text 13"/>
          <p:cNvSpPr txBox="1"/>
          <p:nvPr/>
        </p:nvSpPr>
        <p:spPr>
          <a:xfrm>
            <a:off x="502920" y="2423160"/>
            <a:ext cx="6214223" cy="960120"/>
          </a:xfrm>
          <a:prstGeom prst="rect">
            <a:avLst/>
          </a:prstGeom>
          <a:noFill/>
          <a:ln/>
        </p:spPr>
        <p:txBody>
          <a:bodyPr wrap="square" lIns="0" tIns="0" rIns="0" bIns="0" rtlCol="0" anchor="t"/>
          <a:lstStyle/>
          <a:p>
            <a:pPr indent="0" marL="0">
              <a:lnSpc>
                <a:spcPct val="120000"/>
              </a:lnSpc>
              <a:buNone/>
            </a:pPr>
            <a:r>
              <a:rPr lang="en-US" sz="1650" dirty="0">
                <a:solidFill>
                  <a:srgbClr val="1F2B20"/>
                </a:solidFill>
                <a:latin typeface="Freesentation 4 Regular" pitchFamily="34" charset="0"/>
                <a:ea typeface="Freesentation 4 Regular" pitchFamily="34" charset="-122"/>
                <a:cs typeface="Freesentation 4 Regular" pitchFamily="34" charset="-120"/>
              </a:rPr>
              <a:t>요약과 답안을 AI에 맡기면 글의 흐름을 따라 읽고,</a:t>
            </a:r>
            <a:endParaRPr lang="en-US" sz="1650" dirty="0"/>
          </a:p>
          <a:p>
            <a:pPr indent="0" marL="0">
              <a:lnSpc>
                <a:spcPct val="120000"/>
              </a:lnSpc>
              <a:buNone/>
            </a:pPr>
            <a:r>
              <a:rPr lang="en-US" sz="1650" dirty="0">
                <a:solidFill>
                  <a:srgbClr val="1F2B20"/>
                </a:solidFill>
                <a:latin typeface="Freesentation 4 Regular" pitchFamily="34" charset="0"/>
                <a:ea typeface="Freesentation 4 Regular" pitchFamily="34" charset="-122"/>
                <a:cs typeface="Freesentation 4 Regular" pitchFamily="34" charset="-120"/>
              </a:rPr>
              <a:t>근거를 찾고, 자기 말로 정리하는 연습을 건너뛸 수 있습니다.</a:t>
            </a:r>
            <a:endParaRPr lang="en-US" sz="1650" dirty="0"/>
          </a:p>
          <a:p>
            <a:pPr indent="0" marL="0">
              <a:lnSpc>
                <a:spcPct val="120000"/>
              </a:lnSpc>
              <a:buNone/>
            </a:pPr>
            <a:r>
              <a:rPr lang="en-US" sz="1650" dirty="0">
                <a:solidFill>
                  <a:srgbClr val="1F2B20"/>
                </a:solidFill>
                <a:latin typeface="Freesentation 4 Regular" pitchFamily="34" charset="0"/>
                <a:ea typeface="Freesentation 4 Regular" pitchFamily="34" charset="-122"/>
                <a:cs typeface="Freesentation 4 Regular" pitchFamily="34" charset="-120"/>
              </a:rPr>
              <a:t>인지 외주화는 생각할 일을 바깥 도구에 맡기는 현상입니다.</a:t>
            </a:r>
            <a:endParaRPr lang="en-US" sz="1650" dirty="0"/>
          </a:p>
        </p:txBody>
      </p:sp>
      <p:sp>
        <p:nvSpPr>
          <p:cNvPr id="17" name="Shape 14"/>
          <p:cNvSpPr/>
          <p:nvPr/>
        </p:nvSpPr>
        <p:spPr>
          <a:xfrm>
            <a:off x="502920" y="3712464"/>
            <a:ext cx="118872" cy="118872"/>
          </a:xfrm>
          <a:prstGeom prst="ellipse">
            <a:avLst/>
          </a:prstGeom>
          <a:solidFill>
            <a:srgbClr val="2F7D4F"/>
          </a:solidFill>
          <a:ln/>
        </p:spPr>
      </p:sp>
      <p:sp>
        <p:nvSpPr>
          <p:cNvPr id="18" name="Text 15"/>
          <p:cNvSpPr txBox="1"/>
          <p:nvPr/>
        </p:nvSpPr>
        <p:spPr>
          <a:xfrm>
            <a:off x="722376" y="3575304"/>
            <a:ext cx="6214223"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독서수업에서 학생이 직접 하는 일</a:t>
            </a:r>
            <a:endParaRPr lang="en-US" sz="1650" dirty="0"/>
          </a:p>
        </p:txBody>
      </p:sp>
      <p:sp>
        <p:nvSpPr>
          <p:cNvPr id="19" name="Text 16"/>
          <p:cNvSpPr txBox="1"/>
          <p:nvPr/>
        </p:nvSpPr>
        <p:spPr>
          <a:xfrm>
            <a:off x="502920" y="4114800"/>
            <a:ext cx="6214223" cy="150876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문맥에서 낱말을 익히고 새 내용을 배경지식과 연결하기</a:t>
            </a:r>
            <a:endParaRPr lang="en-US" sz="1650" dirty="0"/>
          </a:p>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인물의 다른 삶과 선택을 읽고 내 경험과 비교하기</a:t>
            </a:r>
            <a:endParaRPr lang="en-US" sz="1650" dirty="0"/>
          </a:p>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책에서 근거를 찾아 친구와 생각을 나누기</a:t>
            </a:r>
            <a:endParaRPr lang="en-US" sz="1650" dirty="0"/>
          </a:p>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AI의 답도 책과 견주고 받아들일 까닭을 설명하기</a:t>
            </a:r>
            <a:endParaRPr lang="en-US" sz="1650" dirty="0"/>
          </a:p>
        </p:txBody>
      </p:sp>
      <p:sp>
        <p:nvSpPr>
          <p:cNvPr id="20" name="Shape 17"/>
          <p:cNvSpPr/>
          <p:nvPr/>
        </p:nvSpPr>
        <p:spPr>
          <a:xfrm>
            <a:off x="7082903" y="1920240"/>
            <a:ext cx="4603129" cy="3566160"/>
          </a:xfrm>
          <a:prstGeom prst="roundRect">
            <a:avLst>
              <a:gd name="adj" fmla="val 2051"/>
            </a:avLst>
          </a:prstGeom>
          <a:solidFill>
            <a:srgbClr val="FBF5E6"/>
          </a:solidFill>
          <a:ln w="9525">
            <a:solidFill>
              <a:srgbClr val="E2DCCB"/>
            </a:solidFill>
            <a:prstDash val="solid"/>
          </a:ln>
        </p:spPr>
      </p:sp>
      <p:sp>
        <p:nvSpPr>
          <p:cNvPr id="21" name="Text 18"/>
          <p:cNvSpPr txBox="1"/>
          <p:nvPr/>
        </p:nvSpPr>
        <p:spPr>
          <a:xfrm>
            <a:off x="7311503" y="2121408"/>
            <a:ext cx="4145929" cy="365760"/>
          </a:xfrm>
          <a:prstGeom prst="rect">
            <a:avLst/>
          </a:prstGeom>
          <a:noFill/>
          <a:ln/>
        </p:spPr>
        <p:txBody>
          <a:bodyPr wrap="square" lIns="0" tIns="0" rIns="0" bIns="0" rtlCol="0" anchor="t"/>
          <a:lstStyle/>
          <a:p>
            <a:pPr indent="0" marL="0">
              <a:lnSpc>
                <a:spcPct val="112000"/>
              </a:lnSpc>
              <a:buNone/>
            </a:pPr>
            <a:r>
              <a:rPr lang="en-US" sz="2050" dirty="0">
                <a:solidFill>
                  <a:srgbClr val="2E3A30"/>
                </a:solidFill>
                <a:latin typeface="Freesentation 7 Bold" pitchFamily="34" charset="0"/>
                <a:ea typeface="Freesentation 7 Bold" pitchFamily="34" charset="-122"/>
                <a:cs typeface="Freesentation 7 Bold" pitchFamily="34" charset="-120"/>
              </a:rPr>
              <a:t>읽기 뒤 이해 점수 비교</a:t>
            </a:r>
            <a:endParaRPr lang="en-US" sz="2050" dirty="0"/>
          </a:p>
        </p:txBody>
      </p:sp>
      <p:sp>
        <p:nvSpPr>
          <p:cNvPr id="22" name="Text 19"/>
          <p:cNvSpPr txBox="1"/>
          <p:nvPr/>
        </p:nvSpPr>
        <p:spPr>
          <a:xfrm>
            <a:off x="7357223" y="2761488"/>
            <a:ext cx="4054489" cy="1097280"/>
          </a:xfrm>
          <a:prstGeom prst="rect">
            <a:avLst/>
          </a:prstGeom>
          <a:noFill/>
          <a:ln/>
        </p:spPr>
        <p:txBody>
          <a:bodyPr wrap="square" lIns="0" tIns="0" rIns="0" bIns="0" rtlCol="0" anchor="t"/>
          <a:lstStyle/>
          <a:p>
            <a:pPr indent="0" marL="0">
              <a:lnSpc>
                <a:spcPct val="140000"/>
              </a:lnSpc>
              <a:buNone/>
            </a:pPr>
            <a:r>
              <a:rPr lang="en-US" sz="2500" dirty="0">
                <a:solidFill>
                  <a:srgbClr val="2F7D4F"/>
                </a:solidFill>
                <a:latin typeface="Freesentation 9 Black" pitchFamily="34" charset="0"/>
                <a:ea typeface="Freesentation 9 Black" pitchFamily="34" charset="-122"/>
                <a:cs typeface="Freesentation 9 Black" pitchFamily="34" charset="-120"/>
              </a:rPr>
              <a:t>LLM만 사용  4.00점</a:t>
            </a:r>
            <a:endParaRPr lang="en-US" sz="2500" dirty="0"/>
          </a:p>
          <a:p>
            <a:pPr indent="0" marL="0">
              <a:lnSpc>
                <a:spcPct val="140000"/>
              </a:lnSpc>
              <a:buNone/>
            </a:pPr>
            <a:r>
              <a:rPr lang="en-US" sz="2500" dirty="0">
                <a:solidFill>
                  <a:srgbClr val="2F7D4F"/>
                </a:solidFill>
                <a:latin typeface="Freesentation 9 Black" pitchFamily="34" charset="0"/>
                <a:ea typeface="Freesentation 9 Black" pitchFamily="34" charset="-122"/>
                <a:cs typeface="Freesentation 9 Black" pitchFamily="34" charset="-120"/>
              </a:rPr>
              <a:t>직접 필기      4.89점</a:t>
            </a:r>
            <a:endParaRPr lang="en-US" sz="2500" dirty="0"/>
          </a:p>
        </p:txBody>
      </p:sp>
      <p:sp>
        <p:nvSpPr>
          <p:cNvPr id="23" name="Text 20"/>
          <p:cNvSpPr txBox="1"/>
          <p:nvPr/>
        </p:nvSpPr>
        <p:spPr>
          <a:xfrm>
            <a:off x="7357223" y="4160520"/>
            <a:ext cx="4054489" cy="1097280"/>
          </a:xfrm>
          <a:prstGeom prst="rect">
            <a:avLst/>
          </a:prstGeom>
          <a:noFill/>
          <a:ln/>
        </p:spPr>
        <p:txBody>
          <a:bodyPr wrap="square" lIns="0" tIns="0" rIns="0" bIns="0" rtlCol="0" anchor="t"/>
          <a:lstStyle/>
          <a:p>
            <a:pPr indent="0" marL="0">
              <a:lnSpc>
                <a:spcPct val="120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12점 만점, 학습 3일 뒤 측정</a:t>
            </a:r>
            <a:endParaRPr lang="en-US" sz="1500" dirty="0"/>
          </a:p>
          <a:p>
            <a:pPr indent="0" marL="0">
              <a:lnSpc>
                <a:spcPct val="120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AI 사용 자체보다 학습자가 무엇을 직접</a:t>
            </a:r>
            <a:endParaRPr lang="en-US" sz="1500" dirty="0"/>
          </a:p>
          <a:p>
            <a:pPr indent="0" marL="0">
              <a:lnSpc>
                <a:spcPct val="120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읽고 정리하는지에 주목합니다.</a:t>
            </a:r>
            <a:endParaRPr lang="en-US" sz="1500" dirty="0"/>
          </a:p>
        </p:txBody>
      </p:sp>
      <p:sp>
        <p:nvSpPr>
          <p:cNvPr id="24" name="Shape 21"/>
          <p:cNvSpPr/>
          <p:nvPr/>
        </p:nvSpPr>
        <p:spPr>
          <a:xfrm>
            <a:off x="502920" y="5751576"/>
            <a:ext cx="11183112" cy="521208"/>
          </a:xfrm>
          <a:prstGeom prst="roundRect">
            <a:avLst>
              <a:gd name="adj" fmla="val 14035"/>
            </a:avLst>
          </a:prstGeom>
          <a:solidFill>
            <a:srgbClr val="20342A"/>
          </a:solidFill>
          <a:ln/>
        </p:spPr>
      </p:sp>
      <p:pic>
        <p:nvPicPr>
          <p:cNvPr id="25" name="Image 1" descr="book-2">    </p:cNvPr>
          <p:cNvPicPr>
            <a:picLocks noChangeAspect="1"/>
          </p:cNvPicPr>
          <p:nvPr/>
        </p:nvPicPr>
        <p:blipFill>
          <a:blip r:embed="rId2"/>
          <a:stretch>
            <a:fillRect/>
          </a:stretch>
        </p:blipFill>
        <p:spPr>
          <a:xfrm>
            <a:off x="685800" y="5865876"/>
            <a:ext cx="292608" cy="292608"/>
          </a:xfrm>
          <a:prstGeom prst="rect">
            <a:avLst/>
          </a:prstGeom>
        </p:spPr>
      </p:pic>
      <p:sp>
        <p:nvSpPr>
          <p:cNvPr id="26" name="Text 22"/>
          <p:cNvSpPr txBox="1"/>
          <p:nvPr/>
        </p:nvSpPr>
        <p:spPr>
          <a:xfrm>
            <a:off x="1106424" y="5751576"/>
            <a:ext cx="10396728" cy="521208"/>
          </a:xfrm>
          <a:prstGeom prst="rect">
            <a:avLst/>
          </a:prstGeom>
          <a:noFill/>
          <a:ln/>
        </p:spPr>
        <p:txBody>
          <a:bodyPr wrap="square" lIns="0" tIns="0" rIns="0" bIns="0" rtlCol="0" anchor="ct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부기는 학생이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직접 읽고, 질문하고, 표현할 시간</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을 교실에 마련하려고 시작했습니다.</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배경</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학급 고민을 다루는 독서 수업</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친구의 말을 끝까지 듣고 마음을 헤아리는 연습을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함께 읽고 대화하는 수업</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으로 이어 갑니다</a:t>
            </a:r>
            <a:endParaRPr lang="en-US" sz="1400" dirty="0"/>
          </a:p>
        </p:txBody>
      </p:sp>
      <p:sp>
        <p:nvSpPr>
          <p:cNvPr id="10" name="Text 7"/>
          <p:cNvSpPr txBox="1"/>
          <p:nvPr/>
        </p:nvSpPr>
        <p:spPr>
          <a:xfrm>
            <a:off x="145945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23571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인물의 관점과 자기 삶을 연결하는 설계 근거: Bishop(1990), Shrodes(1949). 실제 변화는 학생의 말과 글, 교사 관찰 기록으로 살핌.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a:t>
            </a:r>
            <a:endParaRPr lang="en-US" sz="1250" dirty="0"/>
          </a:p>
        </p:txBody>
      </p:sp>
      <p:sp>
        <p:nvSpPr>
          <p:cNvPr id="14" name="Shape 11"/>
          <p:cNvSpPr/>
          <p:nvPr/>
        </p:nvSpPr>
        <p:spPr>
          <a:xfrm>
            <a:off x="502920" y="1920240"/>
            <a:ext cx="2788920" cy="393192"/>
          </a:xfrm>
          <a:prstGeom prst="roundRect">
            <a:avLst>
              <a:gd name="adj" fmla="val 18605"/>
            </a:avLst>
          </a:prstGeom>
          <a:solidFill>
            <a:srgbClr val="20342A"/>
          </a:solidFill>
          <a:ln/>
        </p:spPr>
      </p:sp>
      <p:sp>
        <p:nvSpPr>
          <p:cNvPr id="15" name="Text 12"/>
          <p:cNvSpPr txBox="1"/>
          <p:nvPr/>
        </p:nvSpPr>
        <p:spPr>
          <a:xfrm>
            <a:off x="630936" y="1920240"/>
            <a:ext cx="2532888" cy="393192"/>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교실에서 마주하는 장면</a:t>
            </a:r>
            <a:endParaRPr lang="en-US" sz="1550" dirty="0"/>
          </a:p>
        </p:txBody>
      </p:sp>
      <p:sp>
        <p:nvSpPr>
          <p:cNvPr id="16" name="Shape 13"/>
          <p:cNvSpPr/>
          <p:nvPr/>
        </p:nvSpPr>
        <p:spPr>
          <a:xfrm>
            <a:off x="3438144" y="1920240"/>
            <a:ext cx="4160520" cy="393192"/>
          </a:xfrm>
          <a:prstGeom prst="roundRect">
            <a:avLst>
              <a:gd name="adj" fmla="val 18605"/>
            </a:avLst>
          </a:prstGeom>
          <a:solidFill>
            <a:srgbClr val="2F7D4F"/>
          </a:solidFill>
          <a:ln/>
        </p:spPr>
      </p:sp>
      <p:sp>
        <p:nvSpPr>
          <p:cNvPr id="17" name="Text 14"/>
          <p:cNvSpPr txBox="1"/>
          <p:nvPr/>
        </p:nvSpPr>
        <p:spPr>
          <a:xfrm>
            <a:off x="3566160" y="1920240"/>
            <a:ext cx="3904488" cy="393192"/>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책을 읽고 함께 하는 일</a:t>
            </a:r>
            <a:endParaRPr lang="en-US" sz="1550" dirty="0"/>
          </a:p>
        </p:txBody>
      </p:sp>
      <p:sp>
        <p:nvSpPr>
          <p:cNvPr id="18" name="Shape 15"/>
          <p:cNvSpPr/>
          <p:nvPr/>
        </p:nvSpPr>
        <p:spPr>
          <a:xfrm>
            <a:off x="7744968" y="1920240"/>
            <a:ext cx="3941064" cy="393192"/>
          </a:xfrm>
          <a:prstGeom prst="roundRect">
            <a:avLst>
              <a:gd name="adj" fmla="val 18605"/>
            </a:avLst>
          </a:prstGeom>
          <a:solidFill>
            <a:srgbClr val="2F7D4F"/>
          </a:solidFill>
          <a:ln/>
        </p:spPr>
      </p:sp>
      <p:sp>
        <p:nvSpPr>
          <p:cNvPr id="19" name="Text 16"/>
          <p:cNvSpPr txBox="1"/>
          <p:nvPr/>
        </p:nvSpPr>
        <p:spPr>
          <a:xfrm>
            <a:off x="7872984" y="1920240"/>
            <a:ext cx="3685032" cy="393192"/>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교사가 돌아볼 질문</a:t>
            </a:r>
            <a:endParaRPr lang="en-US" sz="1550" dirty="0"/>
          </a:p>
        </p:txBody>
      </p:sp>
      <p:sp>
        <p:nvSpPr>
          <p:cNvPr id="20" name="Shape 17"/>
          <p:cNvSpPr/>
          <p:nvPr/>
        </p:nvSpPr>
        <p:spPr>
          <a:xfrm>
            <a:off x="502920" y="2395728"/>
            <a:ext cx="2788920" cy="749808"/>
          </a:xfrm>
          <a:prstGeom prst="roundRect">
            <a:avLst>
              <a:gd name="adj" fmla="val 9756"/>
            </a:avLst>
          </a:prstGeom>
          <a:solidFill>
            <a:srgbClr val="FBF5E6"/>
          </a:solidFill>
          <a:ln w="9525">
            <a:solidFill>
              <a:srgbClr val="E2DCCB"/>
            </a:solidFill>
            <a:prstDash val="solid"/>
          </a:ln>
        </p:spPr>
      </p:sp>
      <p:sp>
        <p:nvSpPr>
          <p:cNvPr id="21" name="Text 18"/>
          <p:cNvSpPr txBox="1"/>
          <p:nvPr/>
        </p:nvSpPr>
        <p:spPr>
          <a:xfrm>
            <a:off x="649224" y="2441448"/>
            <a:ext cx="2496312"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친구 말이 끝나기 전에</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자기 말부터 합니다.</a:t>
            </a:r>
            <a:endParaRPr lang="en-US" sz="1500" dirty="0"/>
          </a:p>
        </p:txBody>
      </p:sp>
      <p:sp>
        <p:nvSpPr>
          <p:cNvPr id="22" name="Shape 19"/>
          <p:cNvSpPr/>
          <p:nvPr/>
        </p:nvSpPr>
        <p:spPr>
          <a:xfrm>
            <a:off x="3438144" y="2395728"/>
            <a:ext cx="4160520" cy="749808"/>
          </a:xfrm>
          <a:prstGeom prst="roundRect">
            <a:avLst>
              <a:gd name="adj" fmla="val 9756"/>
            </a:avLst>
          </a:prstGeom>
          <a:solidFill>
            <a:srgbClr val="E6F0E7"/>
          </a:solidFill>
          <a:ln w="9525">
            <a:solidFill>
              <a:srgbClr val="E2DCCB"/>
            </a:solidFill>
            <a:prstDash val="solid"/>
          </a:ln>
        </p:spPr>
      </p:sp>
      <p:sp>
        <p:nvSpPr>
          <p:cNvPr id="23" name="Text 20"/>
          <p:cNvSpPr txBox="1"/>
          <p:nvPr/>
        </p:nvSpPr>
        <p:spPr>
          <a:xfrm>
            <a:off x="3584448" y="2441448"/>
            <a:ext cx="3867912" cy="658368"/>
          </a:xfrm>
          <a:prstGeom prst="rect">
            <a:avLst/>
          </a:prstGeom>
          <a:noFill/>
          <a:ln/>
        </p:spPr>
        <p:txBody>
          <a:bodyPr wrap="square" lIns="0" tIns="0" rIns="0" bIns="0" rtlCol="0" anchor="ct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짝이 읽은 장면과 해석을 듣고,</a:t>
            </a:r>
            <a:endParaRPr lang="en-US" sz="1550" dirty="0"/>
          </a:p>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친구의 생각을 한 문장으로 다시 말합니다.</a:t>
            </a:r>
            <a:endParaRPr lang="en-US" sz="1550" dirty="0"/>
          </a:p>
        </p:txBody>
      </p:sp>
      <p:sp>
        <p:nvSpPr>
          <p:cNvPr id="24" name="Shape 21"/>
          <p:cNvSpPr/>
          <p:nvPr/>
        </p:nvSpPr>
        <p:spPr>
          <a:xfrm>
            <a:off x="7744968" y="2395728"/>
            <a:ext cx="3941064" cy="749808"/>
          </a:xfrm>
          <a:prstGeom prst="roundRect">
            <a:avLst>
              <a:gd name="adj" fmla="val 9756"/>
            </a:avLst>
          </a:prstGeom>
          <a:solidFill>
            <a:srgbClr val="FFFFFF"/>
          </a:solidFill>
          <a:ln w="9525">
            <a:solidFill>
              <a:srgbClr val="E2DCCB"/>
            </a:solidFill>
            <a:prstDash val="solid"/>
          </a:ln>
        </p:spPr>
      </p:sp>
      <p:sp>
        <p:nvSpPr>
          <p:cNvPr id="25" name="Text 22"/>
          <p:cNvSpPr txBox="1"/>
          <p:nvPr/>
        </p:nvSpPr>
        <p:spPr>
          <a:xfrm>
            <a:off x="7891272" y="2441448"/>
            <a:ext cx="3648456"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친구의 말을 끝까지 듣고</a:t>
            </a:r>
            <a:endParaRPr lang="en-US" sz="1500" dirty="0"/>
          </a:p>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뜻을 정확히 되짚었는가?</a:t>
            </a:r>
            <a:endParaRPr lang="en-US" sz="1500" dirty="0"/>
          </a:p>
        </p:txBody>
      </p:sp>
      <p:sp>
        <p:nvSpPr>
          <p:cNvPr id="26" name="Shape 23"/>
          <p:cNvSpPr/>
          <p:nvPr/>
        </p:nvSpPr>
        <p:spPr>
          <a:xfrm>
            <a:off x="502920" y="3218688"/>
            <a:ext cx="2788920" cy="749808"/>
          </a:xfrm>
          <a:prstGeom prst="roundRect">
            <a:avLst>
              <a:gd name="adj" fmla="val 9756"/>
            </a:avLst>
          </a:prstGeom>
          <a:solidFill>
            <a:srgbClr val="FBF5E6"/>
          </a:solidFill>
          <a:ln w="9525">
            <a:solidFill>
              <a:srgbClr val="E2DCCB"/>
            </a:solidFill>
            <a:prstDash val="solid"/>
          </a:ln>
        </p:spPr>
      </p:sp>
      <p:sp>
        <p:nvSpPr>
          <p:cNvPr id="27" name="Text 24"/>
          <p:cNvSpPr txBox="1"/>
          <p:nvPr/>
        </p:nvSpPr>
        <p:spPr>
          <a:xfrm>
            <a:off x="649224" y="3264408"/>
            <a:ext cx="2496312"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친구가 왜 속상한지</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헤아리기 어렵습니다.</a:t>
            </a:r>
            <a:endParaRPr lang="en-US" sz="1500" dirty="0"/>
          </a:p>
        </p:txBody>
      </p:sp>
      <p:sp>
        <p:nvSpPr>
          <p:cNvPr id="28" name="Shape 25"/>
          <p:cNvSpPr/>
          <p:nvPr/>
        </p:nvSpPr>
        <p:spPr>
          <a:xfrm>
            <a:off x="3438144" y="3218688"/>
            <a:ext cx="4160520" cy="749808"/>
          </a:xfrm>
          <a:prstGeom prst="roundRect">
            <a:avLst>
              <a:gd name="adj" fmla="val 9756"/>
            </a:avLst>
          </a:prstGeom>
          <a:solidFill>
            <a:srgbClr val="E6F0E7"/>
          </a:solidFill>
          <a:ln w="9525">
            <a:solidFill>
              <a:srgbClr val="E2DCCB"/>
            </a:solidFill>
            <a:prstDash val="solid"/>
          </a:ln>
        </p:spPr>
      </p:sp>
      <p:sp>
        <p:nvSpPr>
          <p:cNvPr id="29" name="Text 26"/>
          <p:cNvSpPr txBox="1"/>
          <p:nvPr/>
        </p:nvSpPr>
        <p:spPr>
          <a:xfrm>
            <a:off x="3584448" y="3264408"/>
            <a:ext cx="3867912" cy="658368"/>
          </a:xfrm>
          <a:prstGeom prst="rect">
            <a:avLst/>
          </a:prstGeom>
          <a:noFill/>
          <a:ln/>
        </p:spPr>
        <p:txBody>
          <a:bodyPr wrap="square" lIns="0" tIns="0" rIns="0" bIns="0" rtlCol="0" anchor="ct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인물의 말과 행동에서 감정의 단서를 찾고,</a:t>
            </a:r>
            <a:endParaRPr lang="en-US" sz="1550" dirty="0"/>
          </a:p>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같은 장면을 다른 인물의 입장에서 읽습니다.</a:t>
            </a:r>
            <a:endParaRPr lang="en-US" sz="1550" dirty="0"/>
          </a:p>
        </p:txBody>
      </p:sp>
      <p:sp>
        <p:nvSpPr>
          <p:cNvPr id="30" name="Shape 27"/>
          <p:cNvSpPr/>
          <p:nvPr/>
        </p:nvSpPr>
        <p:spPr>
          <a:xfrm>
            <a:off x="7744968" y="3218688"/>
            <a:ext cx="3941064" cy="749808"/>
          </a:xfrm>
          <a:prstGeom prst="roundRect">
            <a:avLst>
              <a:gd name="adj" fmla="val 9756"/>
            </a:avLst>
          </a:prstGeom>
          <a:solidFill>
            <a:srgbClr val="FFFFFF"/>
          </a:solidFill>
          <a:ln w="9525">
            <a:solidFill>
              <a:srgbClr val="E2DCCB"/>
            </a:solidFill>
            <a:prstDash val="solid"/>
          </a:ln>
        </p:spPr>
      </p:sp>
      <p:sp>
        <p:nvSpPr>
          <p:cNvPr id="31" name="Text 28"/>
          <p:cNvSpPr txBox="1"/>
          <p:nvPr/>
        </p:nvSpPr>
        <p:spPr>
          <a:xfrm>
            <a:off x="7891272" y="3264408"/>
            <a:ext cx="3648456"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감정을 짐작한 까닭을</a:t>
            </a:r>
            <a:endParaRPr lang="en-US" sz="1500" dirty="0"/>
          </a:p>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책 속 장면에서 찾았는가?</a:t>
            </a:r>
            <a:endParaRPr lang="en-US" sz="1500" dirty="0"/>
          </a:p>
        </p:txBody>
      </p:sp>
      <p:sp>
        <p:nvSpPr>
          <p:cNvPr id="32" name="Shape 29"/>
          <p:cNvSpPr/>
          <p:nvPr/>
        </p:nvSpPr>
        <p:spPr>
          <a:xfrm>
            <a:off x="502920" y="4041648"/>
            <a:ext cx="2788920" cy="749808"/>
          </a:xfrm>
          <a:prstGeom prst="roundRect">
            <a:avLst>
              <a:gd name="adj" fmla="val 9756"/>
            </a:avLst>
          </a:prstGeom>
          <a:solidFill>
            <a:srgbClr val="FBF5E6"/>
          </a:solidFill>
          <a:ln w="9525">
            <a:solidFill>
              <a:srgbClr val="E2DCCB"/>
            </a:solidFill>
            <a:prstDash val="solid"/>
          </a:ln>
        </p:spPr>
      </p:sp>
      <p:sp>
        <p:nvSpPr>
          <p:cNvPr id="33" name="Text 30"/>
          <p:cNvSpPr txBox="1"/>
          <p:nvPr/>
        </p:nvSpPr>
        <p:spPr>
          <a:xfrm>
            <a:off x="649224" y="4087368"/>
            <a:ext cx="2496312"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생각이 다르면 다투거나</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“그냥요”로 답합니다.</a:t>
            </a:r>
            <a:endParaRPr lang="en-US" sz="1500" dirty="0"/>
          </a:p>
        </p:txBody>
      </p:sp>
      <p:sp>
        <p:nvSpPr>
          <p:cNvPr id="34" name="Shape 31"/>
          <p:cNvSpPr/>
          <p:nvPr/>
        </p:nvSpPr>
        <p:spPr>
          <a:xfrm>
            <a:off x="3438144" y="4041648"/>
            <a:ext cx="4160520" cy="749808"/>
          </a:xfrm>
          <a:prstGeom prst="roundRect">
            <a:avLst>
              <a:gd name="adj" fmla="val 9756"/>
            </a:avLst>
          </a:prstGeom>
          <a:solidFill>
            <a:srgbClr val="E6F0E7"/>
          </a:solidFill>
          <a:ln w="9525">
            <a:solidFill>
              <a:srgbClr val="E2DCCB"/>
            </a:solidFill>
            <a:prstDash val="solid"/>
          </a:ln>
        </p:spPr>
      </p:sp>
      <p:sp>
        <p:nvSpPr>
          <p:cNvPr id="35" name="Text 32"/>
          <p:cNvSpPr txBox="1"/>
          <p:nvPr/>
        </p:nvSpPr>
        <p:spPr>
          <a:xfrm>
            <a:off x="3584448" y="4087368"/>
            <a:ext cx="3867912" cy="658368"/>
          </a:xfrm>
          <a:prstGeom prst="rect">
            <a:avLst/>
          </a:prstGeom>
          <a:noFill/>
          <a:ln/>
        </p:spPr>
        <p:txBody>
          <a:bodyPr wrap="square" lIns="0" tIns="0" rIns="0" bIns="0" rtlCol="0" anchor="ct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해석이 다른 대목을 찾아 까닭을 묻습니다.</a:t>
            </a:r>
            <a:endParaRPr lang="en-US" sz="1550" dirty="0"/>
          </a:p>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친구 말을 들은 뒤 내 생각을 고쳐 써 봅니다.</a:t>
            </a:r>
            <a:endParaRPr lang="en-US" sz="1550" dirty="0"/>
          </a:p>
        </p:txBody>
      </p:sp>
      <p:sp>
        <p:nvSpPr>
          <p:cNvPr id="36" name="Shape 33"/>
          <p:cNvSpPr/>
          <p:nvPr/>
        </p:nvSpPr>
        <p:spPr>
          <a:xfrm>
            <a:off x="7744968" y="4041648"/>
            <a:ext cx="3941064" cy="749808"/>
          </a:xfrm>
          <a:prstGeom prst="roundRect">
            <a:avLst>
              <a:gd name="adj" fmla="val 9756"/>
            </a:avLst>
          </a:prstGeom>
          <a:solidFill>
            <a:srgbClr val="FFFFFF"/>
          </a:solidFill>
          <a:ln w="9525">
            <a:solidFill>
              <a:srgbClr val="E2DCCB"/>
            </a:solidFill>
            <a:prstDash val="solid"/>
          </a:ln>
        </p:spPr>
      </p:sp>
      <p:sp>
        <p:nvSpPr>
          <p:cNvPr id="37" name="Text 34"/>
          <p:cNvSpPr txBox="1"/>
          <p:nvPr/>
        </p:nvSpPr>
        <p:spPr>
          <a:xfrm>
            <a:off x="7891272" y="4087368"/>
            <a:ext cx="3648456"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다른 생각을 듣고</a:t>
            </a:r>
            <a:endParaRPr lang="en-US" sz="1500" dirty="0"/>
          </a:p>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자기 말로 응답했는가?</a:t>
            </a:r>
            <a:endParaRPr lang="en-US" sz="1500" dirty="0"/>
          </a:p>
        </p:txBody>
      </p:sp>
      <p:sp>
        <p:nvSpPr>
          <p:cNvPr id="38" name="Shape 35"/>
          <p:cNvSpPr/>
          <p:nvPr/>
        </p:nvSpPr>
        <p:spPr>
          <a:xfrm>
            <a:off x="502920" y="4864608"/>
            <a:ext cx="2788920" cy="749808"/>
          </a:xfrm>
          <a:prstGeom prst="roundRect">
            <a:avLst>
              <a:gd name="adj" fmla="val 9756"/>
            </a:avLst>
          </a:prstGeom>
          <a:solidFill>
            <a:srgbClr val="FBF5E6"/>
          </a:solidFill>
          <a:ln w="9525">
            <a:solidFill>
              <a:srgbClr val="E2DCCB"/>
            </a:solidFill>
            <a:prstDash val="solid"/>
          </a:ln>
        </p:spPr>
      </p:sp>
      <p:sp>
        <p:nvSpPr>
          <p:cNvPr id="39" name="Text 36"/>
          <p:cNvSpPr txBox="1"/>
          <p:nvPr/>
        </p:nvSpPr>
        <p:spPr>
          <a:xfrm>
            <a:off x="649224" y="4910328"/>
            <a:ext cx="2496312"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모둠에서 역할을 미루고</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실수를 숨기기도 합니다.</a:t>
            </a:r>
            <a:endParaRPr lang="en-US" sz="1500" dirty="0"/>
          </a:p>
        </p:txBody>
      </p:sp>
      <p:sp>
        <p:nvSpPr>
          <p:cNvPr id="40" name="Shape 37"/>
          <p:cNvSpPr/>
          <p:nvPr/>
        </p:nvSpPr>
        <p:spPr>
          <a:xfrm>
            <a:off x="3438144" y="4864608"/>
            <a:ext cx="4160520" cy="749808"/>
          </a:xfrm>
          <a:prstGeom prst="roundRect">
            <a:avLst>
              <a:gd name="adj" fmla="val 9756"/>
            </a:avLst>
          </a:prstGeom>
          <a:solidFill>
            <a:srgbClr val="E6F0E7"/>
          </a:solidFill>
          <a:ln w="9525">
            <a:solidFill>
              <a:srgbClr val="E2DCCB"/>
            </a:solidFill>
            <a:prstDash val="solid"/>
          </a:ln>
        </p:spPr>
      </p:sp>
      <p:sp>
        <p:nvSpPr>
          <p:cNvPr id="41" name="Text 38"/>
          <p:cNvSpPr txBox="1"/>
          <p:nvPr/>
        </p:nvSpPr>
        <p:spPr>
          <a:xfrm>
            <a:off x="3584448" y="4910328"/>
            <a:ext cx="3867912" cy="658368"/>
          </a:xfrm>
          <a:prstGeom prst="rect">
            <a:avLst/>
          </a:prstGeom>
          <a:noFill/>
          <a:ln/>
        </p:spPr>
        <p:txBody>
          <a:bodyPr wrap="square" lIns="0" tIns="0" rIns="0" bIns="0" rtlCol="0" anchor="ct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인물의 선택과 결과를 함께 읽고,</a:t>
            </a:r>
            <a:endParaRPr lang="en-US" sz="1550" dirty="0"/>
          </a:p>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우리 반에서 해 볼 행동을 정합니다.</a:t>
            </a:r>
            <a:endParaRPr lang="en-US" sz="1550" dirty="0"/>
          </a:p>
        </p:txBody>
      </p:sp>
      <p:sp>
        <p:nvSpPr>
          <p:cNvPr id="42" name="Shape 39"/>
          <p:cNvSpPr/>
          <p:nvPr/>
        </p:nvSpPr>
        <p:spPr>
          <a:xfrm>
            <a:off x="7744968" y="4864608"/>
            <a:ext cx="3941064" cy="749808"/>
          </a:xfrm>
          <a:prstGeom prst="roundRect">
            <a:avLst>
              <a:gd name="adj" fmla="val 9756"/>
            </a:avLst>
          </a:prstGeom>
          <a:solidFill>
            <a:srgbClr val="FFFFFF"/>
          </a:solidFill>
          <a:ln w="9525">
            <a:solidFill>
              <a:srgbClr val="E2DCCB"/>
            </a:solidFill>
            <a:prstDash val="solid"/>
          </a:ln>
        </p:spPr>
      </p:sp>
      <p:sp>
        <p:nvSpPr>
          <p:cNvPr id="43" name="Text 40"/>
          <p:cNvSpPr txBox="1"/>
          <p:nvPr/>
        </p:nvSpPr>
        <p:spPr>
          <a:xfrm>
            <a:off x="7891272" y="4910328"/>
            <a:ext cx="3648456"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정한 행동을 실천했는가?</a:t>
            </a:r>
            <a:endParaRPr lang="en-US" sz="1500" dirty="0"/>
          </a:p>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다음 수업에서 무엇을 바꿀까?</a:t>
            </a:r>
            <a:endParaRPr lang="en-US" sz="1500" dirty="0"/>
          </a:p>
        </p:txBody>
      </p:sp>
      <p:sp>
        <p:nvSpPr>
          <p:cNvPr id="44" name="Shape 41"/>
          <p:cNvSpPr/>
          <p:nvPr/>
        </p:nvSpPr>
        <p:spPr>
          <a:xfrm>
            <a:off x="502920" y="5705856"/>
            <a:ext cx="11183112" cy="566928"/>
          </a:xfrm>
          <a:prstGeom prst="roundRect">
            <a:avLst>
              <a:gd name="adj" fmla="val 12903"/>
            </a:avLst>
          </a:prstGeom>
          <a:solidFill>
            <a:srgbClr val="20342A"/>
          </a:solidFill>
          <a:ln/>
        </p:spPr>
      </p:sp>
      <p:pic>
        <p:nvPicPr>
          <p:cNvPr id="45" name="Image 1" descr="school">    </p:cNvPr>
          <p:cNvPicPr>
            <a:picLocks noChangeAspect="1"/>
          </p:cNvPicPr>
          <p:nvPr/>
        </p:nvPicPr>
        <p:blipFill>
          <a:blip r:embed="rId2"/>
          <a:stretch>
            <a:fillRect/>
          </a:stretch>
        </p:blipFill>
        <p:spPr>
          <a:xfrm>
            <a:off x="685800" y="5843016"/>
            <a:ext cx="292608" cy="292608"/>
          </a:xfrm>
          <a:prstGeom prst="rect">
            <a:avLst/>
          </a:prstGeom>
        </p:spPr>
      </p:pic>
      <p:sp>
        <p:nvSpPr>
          <p:cNvPr id="46" name="Text 42"/>
          <p:cNvSpPr txBox="1"/>
          <p:nvPr/>
        </p:nvSpPr>
        <p:spPr>
          <a:xfrm>
            <a:off x="1106424" y="5705856"/>
            <a:ext cx="10396728" cy="566928"/>
          </a:xfrm>
          <a:prstGeom prst="rect">
            <a:avLst/>
          </a:prstGeom>
          <a:noFill/>
          <a:ln/>
        </p:spPr>
        <p:txBody>
          <a:bodyPr wrap="square" lIns="0" tIns="0" rIns="0" bIns="0" rtlCol="0" anchor="ctr"/>
          <a:lstStyle/>
          <a:p>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책의 장면을 함께 읽고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듣기, 감정 헤아리기, 까닭 말하기</a:t>
            </a:r>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를 연습합니다. 교사는 학생의 반응을 보고 다음 수업을 고칩니다.</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배경</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책을 제공해도 읽기가 이어지지 않는 이유</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모르는 낱말 때문에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책 읽기를 포기하지 않도록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읽던 자리에서 뜻을 보여 줍니다</a:t>
            </a:r>
            <a:endParaRPr lang="en-US" sz="1400" dirty="0"/>
          </a:p>
        </p:txBody>
      </p:sp>
      <p:sp>
        <p:nvSpPr>
          <p:cNvPr id="10" name="Text 7"/>
          <p:cNvSpPr txBox="1"/>
          <p:nvPr/>
        </p:nvSpPr>
        <p:spPr>
          <a:xfrm>
            <a:off x="197495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2022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Hu, M. &amp; Nation, P. (2000). Unknown vocabulary density and reading comprehension. Reading in a Foreign Language, 13(1). 영어를 제2언어로 읽는 대학생 66명 대상. 본문과 뜻풀이는 부기 3학년 「은혜 갚은 까치」에서 옮김.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a:t>
            </a:r>
            <a:endParaRPr lang="en-US" sz="1250" dirty="0"/>
          </a:p>
        </p:txBody>
      </p:sp>
      <p:pic>
        <p:nvPicPr>
          <p:cNvPr id="14" name="Image 1" descr="삽화">    </p:cNvPr>
          <p:cNvPicPr>
            <a:picLocks noChangeAspect="1"/>
          </p:cNvPicPr>
          <p:nvPr/>
        </p:nvPicPr>
        <p:blipFill>
          <a:blip r:embed="rId2"/>
          <a:stretch>
            <a:fillRect/>
          </a:stretch>
        </p:blipFill>
        <p:spPr>
          <a:xfrm>
            <a:off x="502920" y="1927015"/>
            <a:ext cx="6402106" cy="2135291"/>
          </a:xfrm>
          <a:prstGeom prst="rect">
            <a:avLst/>
          </a:prstGeom>
        </p:spPr>
      </p:pic>
      <p:sp>
        <p:nvSpPr>
          <p:cNvPr id="15" name="Shape 11"/>
          <p:cNvSpPr/>
          <p:nvPr/>
        </p:nvSpPr>
        <p:spPr>
          <a:xfrm>
            <a:off x="502920" y="4206240"/>
            <a:ext cx="3086753" cy="1051560"/>
          </a:xfrm>
          <a:prstGeom prst="roundRect">
            <a:avLst>
              <a:gd name="adj" fmla="val 8696"/>
            </a:avLst>
          </a:prstGeom>
          <a:solidFill>
            <a:srgbClr val="FBEFEA"/>
          </a:solidFill>
          <a:ln/>
        </p:spPr>
      </p:sp>
      <p:sp>
        <p:nvSpPr>
          <p:cNvPr id="16" name="Text 12"/>
          <p:cNvSpPr txBox="1"/>
          <p:nvPr/>
        </p:nvSpPr>
        <p:spPr>
          <a:xfrm>
            <a:off x="667512" y="4279392"/>
            <a:ext cx="2812433" cy="292608"/>
          </a:xfrm>
          <a:prstGeom prst="rect">
            <a:avLst/>
          </a:prstGeom>
          <a:noFill/>
          <a:ln/>
        </p:spPr>
        <p:txBody>
          <a:bodyPr wrap="square" lIns="0" tIns="0" rIns="0" bIns="0" rtlCol="0" anchor="t"/>
          <a:lstStyle/>
          <a:p>
            <a:pPr indent="0" marL="0">
              <a:lnSpc>
                <a:spcPct val="112000"/>
              </a:lnSpc>
              <a:buNone/>
            </a:pPr>
            <a:r>
              <a:rPr lang="en-US" sz="1650" dirty="0">
                <a:solidFill>
                  <a:srgbClr val="B5482F"/>
                </a:solidFill>
                <a:latin typeface="Freesentation 7 Bold" pitchFamily="34" charset="0"/>
                <a:ea typeface="Freesentation 7 Bold" pitchFamily="34" charset="-122"/>
                <a:cs typeface="Freesentation 7 Bold" pitchFamily="34" charset="-120"/>
              </a:rPr>
              <a:t>낱말에서 멈춘 학생</a:t>
            </a:r>
            <a:endParaRPr lang="en-US" sz="1650" dirty="0"/>
          </a:p>
        </p:txBody>
      </p:sp>
      <p:sp>
        <p:nvSpPr>
          <p:cNvPr id="17" name="Text 13"/>
          <p:cNvSpPr txBox="1"/>
          <p:nvPr/>
        </p:nvSpPr>
        <p:spPr>
          <a:xfrm>
            <a:off x="667512" y="4590288"/>
            <a:ext cx="2812433" cy="6400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붉은 낱말 4개에서 막혀 다음 줄로 넘어가지 못합니다.</a:t>
            </a:r>
            <a:endParaRPr lang="en-US" sz="1550" dirty="0"/>
          </a:p>
        </p:txBody>
      </p:sp>
      <p:sp>
        <p:nvSpPr>
          <p:cNvPr id="18" name="Shape 14"/>
          <p:cNvSpPr/>
          <p:nvPr/>
        </p:nvSpPr>
        <p:spPr>
          <a:xfrm>
            <a:off x="3818273" y="4206240"/>
            <a:ext cx="3086753" cy="1051560"/>
          </a:xfrm>
          <a:prstGeom prst="roundRect">
            <a:avLst>
              <a:gd name="adj" fmla="val 8696"/>
            </a:avLst>
          </a:prstGeom>
          <a:solidFill>
            <a:srgbClr val="E6F0E7"/>
          </a:solidFill>
          <a:ln/>
        </p:spPr>
      </p:sp>
      <p:sp>
        <p:nvSpPr>
          <p:cNvPr id="19" name="Text 15"/>
          <p:cNvSpPr txBox="1"/>
          <p:nvPr/>
        </p:nvSpPr>
        <p:spPr>
          <a:xfrm>
            <a:off x="3982865" y="4279392"/>
            <a:ext cx="2812433" cy="292608"/>
          </a:xfrm>
          <a:prstGeom prst="rect">
            <a:avLst/>
          </a:prstGeom>
          <a:noFill/>
          <a:ln/>
        </p:spPr>
        <p:txBody>
          <a:bodyPr wrap="square" lIns="0" tIns="0" rIns="0" bIns="0" rtlCol="0" anchor="t"/>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부기로 읽는 학생</a:t>
            </a:r>
            <a:endParaRPr lang="en-US" sz="1650" dirty="0"/>
          </a:p>
        </p:txBody>
      </p:sp>
      <p:sp>
        <p:nvSpPr>
          <p:cNvPr id="20" name="Text 16"/>
          <p:cNvSpPr txBox="1"/>
          <p:nvPr/>
        </p:nvSpPr>
        <p:spPr>
          <a:xfrm>
            <a:off x="3982865" y="4590288"/>
            <a:ext cx="2812433" cy="6400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「뛰어난」을 누르면 뜻이 뜨고 다음 줄로 넘어갑니다.</a:t>
            </a:r>
            <a:endParaRPr lang="en-US" sz="1550" dirty="0"/>
          </a:p>
        </p:txBody>
      </p:sp>
      <p:sp>
        <p:nvSpPr>
          <p:cNvPr id="21" name="Text 17"/>
          <p:cNvSpPr txBox="1"/>
          <p:nvPr/>
        </p:nvSpPr>
        <p:spPr>
          <a:xfrm>
            <a:off x="502920" y="5440680"/>
            <a:ext cx="6402106" cy="868680"/>
          </a:xfrm>
          <a:prstGeom prst="rect">
            <a:avLst/>
          </a:prstGeom>
          <a:noFill/>
          <a:ln/>
        </p:spPr>
        <p:txBody>
          <a:bodyPr wrap="square" lIns="0" tIns="0" rIns="0" bIns="0" rtlCol="0" anchor="t"/>
          <a:lstStyle/>
          <a:p>
            <a:pPr marL="241300" indent="-241300">
              <a:lnSpc>
                <a:spcPct val="125000"/>
              </a:lnSpc>
              <a:spcAft>
                <a:spcPts val="200"/>
              </a:spcAft>
              <a:buSzPct val="100000"/>
              <a:buChar char="○"/>
            </a:pPr>
            <a:r>
              <a:rPr lang="en-US" sz="1750" dirty="0">
                <a:solidFill>
                  <a:srgbClr val="2E3A30"/>
                </a:solidFill>
                <a:latin typeface="Freesentation 4 Regular" pitchFamily="34" charset="0"/>
                <a:ea typeface="Freesentation 4 Regular" pitchFamily="34" charset="-122"/>
                <a:cs typeface="Freesentation 4 Regular" pitchFamily="34" charset="-120"/>
              </a:rPr>
              <a:t>한 쪽에 모르는 낱말이 서너 개 나오면 학생은 그 자리에서 멈춥니다.</a:t>
            </a:r>
            <a:endParaRPr lang="en-US" sz="1650" dirty="0"/>
          </a:p>
          <a:p>
            <a:pPr lvl="1" marL="330200" indent="-165100">
              <a:lnSpc>
                <a:spcPct val="125000"/>
              </a:lnSpc>
              <a:spcAft>
                <a:spcPts val="200"/>
              </a:spcAft>
              <a:buSzPct val="100000"/>
              <a:buChar char="-"/>
            </a:pPr>
            <a:r>
              <a:rPr lang="en-US" sz="1650" dirty="0">
                <a:solidFill>
                  <a:srgbClr val="4A564B"/>
                </a:solidFill>
                <a:latin typeface="Freesentation 4 Regular" pitchFamily="34" charset="0"/>
                <a:ea typeface="Freesentation 4 Regular" pitchFamily="34" charset="-122"/>
                <a:cs typeface="Freesentation 4 Regular" pitchFamily="34" charset="-120"/>
              </a:rPr>
              <a:t>뜻을 모르니 장면이 그려지지 않고, 재미를 잃은 학생은 책 읽기를 그만둡니다.</a:t>
            </a:r>
            <a:endParaRPr lang="en-US" sz="1650" dirty="0"/>
          </a:p>
        </p:txBody>
      </p:sp>
      <p:sp>
        <p:nvSpPr>
          <p:cNvPr id="22" name="Shape 18"/>
          <p:cNvSpPr/>
          <p:nvPr/>
        </p:nvSpPr>
        <p:spPr>
          <a:xfrm>
            <a:off x="7270786" y="2020824"/>
            <a:ext cx="118872" cy="118872"/>
          </a:xfrm>
          <a:prstGeom prst="ellipse">
            <a:avLst/>
          </a:prstGeom>
          <a:solidFill>
            <a:srgbClr val="2F7D4F"/>
          </a:solidFill>
          <a:ln/>
        </p:spPr>
      </p:sp>
      <p:sp>
        <p:nvSpPr>
          <p:cNvPr id="23" name="Text 19"/>
          <p:cNvSpPr txBox="1"/>
          <p:nvPr/>
        </p:nvSpPr>
        <p:spPr>
          <a:xfrm>
            <a:off x="7490242"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글 속 낱말을 얼마나 알아야 할까</a:t>
            </a:r>
            <a:endParaRPr lang="en-US" sz="1650" dirty="0"/>
          </a:p>
        </p:txBody>
      </p:sp>
      <p:sp>
        <p:nvSpPr>
          <p:cNvPr id="24" name="Text 20"/>
          <p:cNvSpPr txBox="1"/>
          <p:nvPr/>
        </p:nvSpPr>
        <p:spPr>
          <a:xfrm>
            <a:off x="7270786" y="2450592"/>
            <a:ext cx="914400"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80%</a:t>
            </a:r>
            <a:endParaRPr lang="en-US" sz="1650" dirty="0"/>
          </a:p>
        </p:txBody>
      </p:sp>
      <p:sp>
        <p:nvSpPr>
          <p:cNvPr id="25" name="Shape 21"/>
          <p:cNvSpPr/>
          <p:nvPr/>
        </p:nvSpPr>
        <p:spPr>
          <a:xfrm>
            <a:off x="8276626" y="2505456"/>
            <a:ext cx="2174966" cy="219456"/>
          </a:xfrm>
          <a:prstGeom prst="roundRect">
            <a:avLst>
              <a:gd name="adj" fmla="val 50000"/>
            </a:avLst>
          </a:prstGeom>
          <a:solidFill>
            <a:srgbClr val="EFEADC"/>
          </a:solidFill>
          <a:ln/>
        </p:spPr>
      </p:sp>
      <p:sp>
        <p:nvSpPr>
          <p:cNvPr id="26" name="Shape 22"/>
          <p:cNvSpPr/>
          <p:nvPr/>
        </p:nvSpPr>
        <p:spPr>
          <a:xfrm>
            <a:off x="8276626" y="2505456"/>
            <a:ext cx="724989" cy="219456"/>
          </a:xfrm>
          <a:prstGeom prst="roundRect">
            <a:avLst>
              <a:gd name="adj" fmla="val 50000"/>
            </a:avLst>
          </a:prstGeom>
          <a:solidFill>
            <a:srgbClr val="D9A08C"/>
          </a:solidFill>
          <a:ln/>
        </p:spPr>
      </p:sp>
      <p:sp>
        <p:nvSpPr>
          <p:cNvPr id="27" name="Text 23"/>
          <p:cNvSpPr txBox="1"/>
          <p:nvPr/>
        </p:nvSpPr>
        <p:spPr>
          <a:xfrm>
            <a:off x="10561320" y="2450592"/>
            <a:ext cx="1143000" cy="329184"/>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이해 어려움</a:t>
            </a:r>
            <a:endParaRPr lang="en-US" sz="1500" dirty="0"/>
          </a:p>
        </p:txBody>
      </p:sp>
      <p:sp>
        <p:nvSpPr>
          <p:cNvPr id="28" name="Text 24"/>
          <p:cNvSpPr txBox="1"/>
          <p:nvPr/>
        </p:nvSpPr>
        <p:spPr>
          <a:xfrm>
            <a:off x="7270786" y="2907792"/>
            <a:ext cx="914400"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90~95%</a:t>
            </a:r>
            <a:endParaRPr lang="en-US" sz="1650" dirty="0"/>
          </a:p>
        </p:txBody>
      </p:sp>
      <p:sp>
        <p:nvSpPr>
          <p:cNvPr id="29" name="Shape 25"/>
          <p:cNvSpPr/>
          <p:nvPr/>
        </p:nvSpPr>
        <p:spPr>
          <a:xfrm>
            <a:off x="8276626" y="2962656"/>
            <a:ext cx="2174966" cy="219456"/>
          </a:xfrm>
          <a:prstGeom prst="roundRect">
            <a:avLst>
              <a:gd name="adj" fmla="val 50000"/>
            </a:avLst>
          </a:prstGeom>
          <a:solidFill>
            <a:srgbClr val="EFEADC"/>
          </a:solidFill>
          <a:ln/>
        </p:spPr>
      </p:sp>
      <p:sp>
        <p:nvSpPr>
          <p:cNvPr id="30" name="Shape 26"/>
          <p:cNvSpPr/>
          <p:nvPr/>
        </p:nvSpPr>
        <p:spPr>
          <a:xfrm>
            <a:off x="8276626" y="2962656"/>
            <a:ext cx="1631224" cy="219456"/>
          </a:xfrm>
          <a:prstGeom prst="roundRect">
            <a:avLst>
              <a:gd name="adj" fmla="val 50000"/>
            </a:avLst>
          </a:prstGeom>
          <a:solidFill>
            <a:srgbClr val="D9B66A"/>
          </a:solidFill>
          <a:ln/>
        </p:spPr>
      </p:sp>
      <p:sp>
        <p:nvSpPr>
          <p:cNvPr id="31" name="Text 27"/>
          <p:cNvSpPr txBox="1"/>
          <p:nvPr/>
        </p:nvSpPr>
        <p:spPr>
          <a:xfrm>
            <a:off x="10561320" y="2907792"/>
            <a:ext cx="1143000" cy="329184"/>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일부만 이해</a:t>
            </a:r>
            <a:endParaRPr lang="en-US" sz="1500" dirty="0"/>
          </a:p>
        </p:txBody>
      </p:sp>
      <p:sp>
        <p:nvSpPr>
          <p:cNvPr id="32" name="Text 28"/>
          <p:cNvSpPr txBox="1"/>
          <p:nvPr/>
        </p:nvSpPr>
        <p:spPr>
          <a:xfrm>
            <a:off x="7270786" y="3364992"/>
            <a:ext cx="914400"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98%</a:t>
            </a:r>
            <a:endParaRPr lang="en-US" sz="1650" dirty="0"/>
          </a:p>
        </p:txBody>
      </p:sp>
      <p:sp>
        <p:nvSpPr>
          <p:cNvPr id="33" name="Shape 29"/>
          <p:cNvSpPr/>
          <p:nvPr/>
        </p:nvSpPr>
        <p:spPr>
          <a:xfrm>
            <a:off x="8276626" y="3419856"/>
            <a:ext cx="2174966" cy="219456"/>
          </a:xfrm>
          <a:prstGeom prst="roundRect">
            <a:avLst>
              <a:gd name="adj" fmla="val 50000"/>
            </a:avLst>
          </a:prstGeom>
          <a:solidFill>
            <a:srgbClr val="EFEADC"/>
          </a:solidFill>
          <a:ln/>
        </p:spPr>
      </p:sp>
      <p:sp>
        <p:nvSpPr>
          <p:cNvPr id="34" name="Shape 30"/>
          <p:cNvSpPr/>
          <p:nvPr/>
        </p:nvSpPr>
        <p:spPr>
          <a:xfrm>
            <a:off x="8276626" y="3419856"/>
            <a:ext cx="2029968" cy="219456"/>
          </a:xfrm>
          <a:prstGeom prst="roundRect">
            <a:avLst>
              <a:gd name="adj" fmla="val 50000"/>
            </a:avLst>
          </a:prstGeom>
          <a:solidFill>
            <a:srgbClr val="2F7D4F"/>
          </a:solidFill>
          <a:ln/>
        </p:spPr>
      </p:sp>
      <p:sp>
        <p:nvSpPr>
          <p:cNvPr id="35" name="Text 31"/>
          <p:cNvSpPr txBox="1"/>
          <p:nvPr/>
        </p:nvSpPr>
        <p:spPr>
          <a:xfrm>
            <a:off x="10561320" y="3364992"/>
            <a:ext cx="1143000" cy="329184"/>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혼자 읽어 냄</a:t>
            </a:r>
            <a:endParaRPr lang="en-US" sz="1500" dirty="0"/>
          </a:p>
        </p:txBody>
      </p:sp>
      <p:pic>
        <p:nvPicPr>
          <p:cNvPr id="36" name="Image 2" descr="삽화">    </p:cNvPr>
          <p:cNvPicPr>
            <a:picLocks noChangeAspect="1"/>
          </p:cNvPicPr>
          <p:nvPr/>
        </p:nvPicPr>
        <p:blipFill>
          <a:blip r:embed="rId3"/>
          <a:stretch>
            <a:fillRect/>
          </a:stretch>
        </p:blipFill>
        <p:spPr>
          <a:xfrm>
            <a:off x="7702458" y="3767328"/>
            <a:ext cx="3551903" cy="1554480"/>
          </a:xfrm>
          <a:prstGeom prst="rect">
            <a:avLst/>
          </a:prstGeom>
        </p:spPr>
      </p:pic>
      <p:sp>
        <p:nvSpPr>
          <p:cNvPr id="37" name="Shape 32"/>
          <p:cNvSpPr/>
          <p:nvPr/>
        </p:nvSpPr>
        <p:spPr>
          <a:xfrm>
            <a:off x="7270786" y="5413248"/>
            <a:ext cx="4415246" cy="859536"/>
          </a:xfrm>
          <a:prstGeom prst="roundRect">
            <a:avLst>
              <a:gd name="adj" fmla="val 10638"/>
            </a:avLst>
          </a:prstGeom>
          <a:solidFill>
            <a:srgbClr val="FBF5E6"/>
          </a:solidFill>
          <a:ln/>
        </p:spPr>
      </p:sp>
      <p:sp>
        <p:nvSpPr>
          <p:cNvPr id="38" name="Text 33"/>
          <p:cNvSpPr txBox="1"/>
          <p:nvPr/>
        </p:nvSpPr>
        <p:spPr>
          <a:xfrm>
            <a:off x="7453666" y="5486400"/>
            <a:ext cx="4049486" cy="713232"/>
          </a:xfrm>
          <a:prstGeom prst="rect">
            <a:avLst/>
          </a:prstGeom>
          <a:noFill/>
          <a:ln/>
        </p:spPr>
        <p:txBody>
          <a:bodyPr wrap="square" lIns="0" tIns="0" rIns="0" bIns="0" rtlCol="0" anchor="ctr"/>
          <a:lstStyle/>
          <a:p>
            <a:pPr indent="0" marL="0">
              <a:lnSpc>
                <a:spcPct val="128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모르는 낱말은 빠진 징검돌과 같습니다. 부기는 낱말을 누르면 그 학년 말로 쓴 뜻을 보여 줍니다.</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배경</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숫자로 보는 읽기 위기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읽기 기초 수준 미달 17.8%, 초등 독서 긍정 인식 44.4%.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끝까지 읽는 경험</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부터 다시 쌓아야 합니다</a:t>
            </a:r>
            <a:endParaRPr lang="en-US" sz="1400" dirty="0"/>
          </a:p>
        </p:txBody>
      </p:sp>
      <p:sp>
        <p:nvSpPr>
          <p:cNvPr id="10" name="Text 7"/>
          <p:cNvSpPr txBox="1"/>
          <p:nvPr/>
        </p:nvSpPr>
        <p:spPr>
          <a:xfrm>
            <a:off x="107830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61687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OECD PISA 2025 결과 보도(한국경제 2026. 9. 8., 인사이트 2026. 9. 9.), 2022년 값은 교육부, 한국교육과정평가원 「OECD PISA 2022 결과」(2023. 12. 5.) / 한국교총 「학생 문해력 실태 교원 인식조사」(2024. 10. 7., 교원 5,848명) / 문화체육관광부 「2023년 국민 독서실태 조사」(경상남도교육청 계획 수록), 「2025년 국민 독서실태 조사」(2026. 3. 6.) / 사실과 의견 식별: 교육부 방안 별첨(OECD PISA 읽기 영역)</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4</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08676"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한국 학생 PISA 읽기 점수</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만 15세, 2006~2025</a:t>
            </a:r>
            <a:endParaRPr lang="en-US" sz="1650" dirty="0"/>
          </a:p>
        </p:txBody>
      </p:sp>
      <p:graphicFrame>
        <p:nvGraphicFramePr>
          <p:cNvPr id="16" name="Chart 0" descr=""/>
          <p:cNvGraphicFramePr/>
          <p:nvPr/>
        </p:nvGraphicFramePr>
        <p:xfrm>
          <a:off x="502920" y="2267712"/>
          <a:ext cx="5408676" cy="2331720"/>
        </p:xfrm>
        <a:graphic xmlns:a="http://schemas.openxmlformats.org/drawingml/2006/main">
          <a:graphicData uri="http://schemas.openxmlformats.org/drawingml/2006/chart">
            <c:chart xmlns:c="http://schemas.openxmlformats.org/drawingml/2006/chart" r:id="rId2"/>
          </a:graphicData>
        </a:graphic>
      </p:graphicFrame>
      <p:sp>
        <p:nvSpPr>
          <p:cNvPr id="17" name="Shape 13"/>
          <p:cNvSpPr/>
          <p:nvPr/>
        </p:nvSpPr>
        <p:spPr>
          <a:xfrm>
            <a:off x="6277356" y="2020824"/>
            <a:ext cx="118872" cy="118872"/>
          </a:xfrm>
          <a:prstGeom prst="ellipse">
            <a:avLst/>
          </a:prstGeom>
          <a:solidFill>
            <a:srgbClr val="2F7D4F"/>
          </a:solidFill>
          <a:ln/>
        </p:spPr>
      </p:sp>
      <p:sp>
        <p:nvSpPr>
          <p:cNvPr id="18" name="Text 14"/>
          <p:cNvSpPr txBox="1"/>
          <p:nvPr/>
        </p:nvSpPr>
        <p:spPr>
          <a:xfrm>
            <a:off x="6496812" y="1883664"/>
            <a:ext cx="5408676"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학교급별 독서 긍정 인식</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2019년과 2023년, 단위: %</a:t>
            </a:r>
            <a:endParaRPr lang="en-US" sz="1650" dirty="0"/>
          </a:p>
        </p:txBody>
      </p:sp>
      <p:graphicFrame>
        <p:nvGraphicFramePr>
          <p:cNvPr id="19" name="Chart 1" descr=""/>
          <p:cNvGraphicFramePr/>
          <p:nvPr/>
        </p:nvGraphicFramePr>
        <p:xfrm>
          <a:off x="6277356" y="2267712"/>
          <a:ext cx="5408676" cy="2331720"/>
        </p:xfrm>
        <a:graphic xmlns:a="http://schemas.openxmlformats.org/drawingml/2006/main">
          <a:graphicData uri="http://schemas.openxmlformats.org/drawingml/2006/chart">
            <c:chart xmlns:c="http://schemas.openxmlformats.org/drawingml/2006/chart" r:id="rId3"/>
          </a:graphicData>
        </a:graphic>
      </p:graphicFrame>
      <p:sp>
        <p:nvSpPr>
          <p:cNvPr id="20" name="Shape 15"/>
          <p:cNvSpPr/>
          <p:nvPr/>
        </p:nvSpPr>
        <p:spPr>
          <a:xfrm>
            <a:off x="502920" y="4764024"/>
            <a:ext cx="2134210" cy="1508760"/>
          </a:xfrm>
          <a:prstGeom prst="roundRect">
            <a:avLst>
              <a:gd name="adj" fmla="val 6061"/>
            </a:avLst>
          </a:prstGeom>
          <a:solidFill>
            <a:srgbClr val="FBF5E6"/>
          </a:solidFill>
          <a:ln w="9525">
            <a:solidFill>
              <a:srgbClr val="E2DCCB"/>
            </a:solidFill>
            <a:prstDash val="solid"/>
          </a:ln>
        </p:spPr>
      </p:sp>
      <p:sp>
        <p:nvSpPr>
          <p:cNvPr id="21" name="Text 16"/>
          <p:cNvSpPr txBox="1"/>
          <p:nvPr/>
        </p:nvSpPr>
        <p:spPr>
          <a:xfrm>
            <a:off x="649224" y="4837176"/>
            <a:ext cx="1905610" cy="512064"/>
          </a:xfrm>
          <a:prstGeom prst="rect">
            <a:avLst/>
          </a:prstGeom>
          <a:noFill/>
          <a:ln/>
        </p:spPr>
        <p:txBody>
          <a:bodyPr wrap="square" lIns="0" tIns="0" rIns="0" bIns="0" rtlCol="0" anchor="ct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17.8</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a:t>
            </a:r>
            <a:endParaRPr lang="en-US" sz="2600" dirty="0"/>
          </a:p>
        </p:txBody>
      </p:sp>
      <p:sp>
        <p:nvSpPr>
          <p:cNvPr id="22" name="Text 17"/>
          <p:cNvSpPr txBox="1"/>
          <p:nvPr/>
        </p:nvSpPr>
        <p:spPr>
          <a:xfrm>
            <a:off x="649224"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읽기 기초 수준 미달</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(2022년 14.7%)</a:t>
            </a:r>
            <a:endParaRPr lang="en-US" sz="1300" dirty="0"/>
          </a:p>
        </p:txBody>
      </p:sp>
      <p:sp>
        <p:nvSpPr>
          <p:cNvPr id="23" name="Shape 18"/>
          <p:cNvSpPr/>
          <p:nvPr/>
        </p:nvSpPr>
        <p:spPr>
          <a:xfrm>
            <a:off x="2765146" y="4764024"/>
            <a:ext cx="2134210" cy="1508760"/>
          </a:xfrm>
          <a:prstGeom prst="roundRect">
            <a:avLst>
              <a:gd name="adj" fmla="val 6061"/>
            </a:avLst>
          </a:prstGeom>
          <a:solidFill>
            <a:srgbClr val="FBF5E6"/>
          </a:solidFill>
          <a:ln w="9525">
            <a:solidFill>
              <a:srgbClr val="E2DCCB"/>
            </a:solidFill>
            <a:prstDash val="solid"/>
          </a:ln>
        </p:spPr>
      </p:sp>
      <p:sp>
        <p:nvSpPr>
          <p:cNvPr id="24" name="Text 19"/>
          <p:cNvSpPr txBox="1"/>
          <p:nvPr/>
        </p:nvSpPr>
        <p:spPr>
          <a:xfrm>
            <a:off x="2911450" y="4837176"/>
            <a:ext cx="1905610" cy="512064"/>
          </a:xfrm>
          <a:prstGeom prst="rect">
            <a:avLst/>
          </a:prstGeom>
          <a:noFill/>
          <a:ln/>
        </p:spPr>
        <p:txBody>
          <a:bodyPr wrap="square" lIns="0" tIns="0" rIns="0" bIns="0" rtlCol="0" anchor="ct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91.8</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a:t>
            </a:r>
            <a:endParaRPr lang="en-US" sz="2600" dirty="0"/>
          </a:p>
        </p:txBody>
      </p:sp>
      <p:sp>
        <p:nvSpPr>
          <p:cNvPr id="25" name="Text 20"/>
          <p:cNvSpPr txBox="1"/>
          <p:nvPr/>
        </p:nvSpPr>
        <p:spPr>
          <a:xfrm>
            <a:off x="2911450"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 문해력이 떨어졌다고</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답한 교원</a:t>
            </a:r>
            <a:endParaRPr lang="en-US" sz="1300" dirty="0"/>
          </a:p>
        </p:txBody>
      </p:sp>
      <p:sp>
        <p:nvSpPr>
          <p:cNvPr id="26" name="Shape 21"/>
          <p:cNvSpPr/>
          <p:nvPr/>
        </p:nvSpPr>
        <p:spPr>
          <a:xfrm>
            <a:off x="5027371" y="4764024"/>
            <a:ext cx="2134210" cy="1508760"/>
          </a:xfrm>
          <a:prstGeom prst="roundRect">
            <a:avLst>
              <a:gd name="adj" fmla="val 6061"/>
            </a:avLst>
          </a:prstGeom>
          <a:solidFill>
            <a:srgbClr val="FBF5E6"/>
          </a:solidFill>
          <a:ln w="9525">
            <a:solidFill>
              <a:srgbClr val="E2DCCB"/>
            </a:solidFill>
            <a:prstDash val="solid"/>
          </a:ln>
        </p:spPr>
      </p:sp>
      <p:sp>
        <p:nvSpPr>
          <p:cNvPr id="27" name="Text 22"/>
          <p:cNvSpPr txBox="1"/>
          <p:nvPr/>
        </p:nvSpPr>
        <p:spPr>
          <a:xfrm>
            <a:off x="5173675" y="4837176"/>
            <a:ext cx="1905610" cy="512064"/>
          </a:xfrm>
          <a:prstGeom prst="rect">
            <a:avLst/>
          </a:prstGeom>
          <a:noFill/>
          <a:ln/>
        </p:spPr>
        <p:txBody>
          <a:bodyPr wrap="square" lIns="0" tIns="0" rIns="0" bIns="0" rtlCol="0" anchor="ct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-6.9</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%p</a:t>
            </a:r>
            <a:endParaRPr lang="en-US" sz="2600" dirty="0"/>
          </a:p>
        </p:txBody>
      </p:sp>
      <p:sp>
        <p:nvSpPr>
          <p:cNvPr id="28" name="Text 23"/>
          <p:cNvSpPr txBox="1"/>
          <p:nvPr/>
        </p:nvSpPr>
        <p:spPr>
          <a:xfrm>
            <a:off x="5173675"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초등 독서 긍정 인식</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4년 사이 하락</a:t>
            </a:r>
            <a:endParaRPr lang="en-US" sz="1300" dirty="0"/>
          </a:p>
        </p:txBody>
      </p:sp>
      <p:sp>
        <p:nvSpPr>
          <p:cNvPr id="29" name="Shape 24"/>
          <p:cNvSpPr/>
          <p:nvPr/>
        </p:nvSpPr>
        <p:spPr>
          <a:xfrm>
            <a:off x="7289597" y="4764024"/>
            <a:ext cx="2134210" cy="1508760"/>
          </a:xfrm>
          <a:prstGeom prst="roundRect">
            <a:avLst>
              <a:gd name="adj" fmla="val 6061"/>
            </a:avLst>
          </a:prstGeom>
          <a:solidFill>
            <a:srgbClr val="FFFFFF"/>
          </a:solidFill>
          <a:ln w="9525">
            <a:solidFill>
              <a:srgbClr val="E2DCCB"/>
            </a:solidFill>
            <a:prstDash val="solid"/>
          </a:ln>
        </p:spPr>
      </p:sp>
      <p:sp>
        <p:nvSpPr>
          <p:cNvPr id="30" name="Text 25"/>
          <p:cNvSpPr txBox="1"/>
          <p:nvPr/>
        </p:nvSpPr>
        <p:spPr>
          <a:xfrm>
            <a:off x="7435901" y="4837176"/>
            <a:ext cx="1905610" cy="512064"/>
          </a:xfrm>
          <a:prstGeom prst="rect">
            <a:avLst/>
          </a:prstGeom>
          <a:noFill/>
          <a:ln/>
        </p:spPr>
        <p:txBody>
          <a:bodyPr wrap="square" lIns="0" tIns="0" rIns="0" bIns="0" rtlCol="0" anchor="ctr"/>
          <a:lstStyle/>
          <a:p>
            <a:pPr indent="0" marL="0">
              <a:buNone/>
            </a:pPr>
            <a:r>
              <a:rPr lang="en-US" sz="2600" dirty="0">
                <a:solidFill>
                  <a:srgbClr val="20342A"/>
                </a:solidFill>
                <a:latin typeface="Freesentation 9 Black" pitchFamily="34" charset="0"/>
                <a:ea typeface="Freesentation 9 Black" pitchFamily="34" charset="-122"/>
                <a:cs typeface="Freesentation 9 Black" pitchFamily="34" charset="-120"/>
              </a:rPr>
              <a:t>25.6</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a:t>
            </a:r>
            <a:endParaRPr lang="en-US" sz="2600" dirty="0"/>
          </a:p>
        </p:txBody>
      </p:sp>
      <p:sp>
        <p:nvSpPr>
          <p:cNvPr id="31" name="Text 26"/>
          <p:cNvSpPr txBox="1"/>
          <p:nvPr/>
        </p:nvSpPr>
        <p:spPr>
          <a:xfrm>
            <a:off x="7435901"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글 속 사실과 의견 구별</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(OECD 평균 47.4%)</a:t>
            </a:r>
            <a:endParaRPr lang="en-US" sz="1300" dirty="0"/>
          </a:p>
        </p:txBody>
      </p:sp>
      <p:sp>
        <p:nvSpPr>
          <p:cNvPr id="32" name="Shape 27"/>
          <p:cNvSpPr/>
          <p:nvPr/>
        </p:nvSpPr>
        <p:spPr>
          <a:xfrm>
            <a:off x="9551822" y="4764024"/>
            <a:ext cx="2134210" cy="1508760"/>
          </a:xfrm>
          <a:prstGeom prst="roundRect">
            <a:avLst>
              <a:gd name="adj" fmla="val 6061"/>
            </a:avLst>
          </a:prstGeom>
          <a:solidFill>
            <a:srgbClr val="FFFFFF"/>
          </a:solidFill>
          <a:ln w="9525">
            <a:solidFill>
              <a:srgbClr val="E2DCCB"/>
            </a:solidFill>
            <a:prstDash val="solid"/>
          </a:ln>
        </p:spPr>
      </p:sp>
      <p:sp>
        <p:nvSpPr>
          <p:cNvPr id="33" name="Text 28"/>
          <p:cNvSpPr txBox="1"/>
          <p:nvPr/>
        </p:nvSpPr>
        <p:spPr>
          <a:xfrm>
            <a:off x="9698126" y="4837176"/>
            <a:ext cx="1905610" cy="512064"/>
          </a:xfrm>
          <a:prstGeom prst="rect">
            <a:avLst/>
          </a:prstGeom>
          <a:noFill/>
          <a:ln/>
        </p:spPr>
        <p:txBody>
          <a:bodyPr wrap="square" lIns="0" tIns="0" rIns="0" bIns="0" rtlCol="0" anchor="ctr"/>
          <a:lstStyle/>
          <a:p>
            <a:pPr indent="0" marL="0">
              <a:buNone/>
            </a:pPr>
            <a:r>
              <a:rPr lang="en-US" sz="2600" dirty="0">
                <a:solidFill>
                  <a:srgbClr val="20342A"/>
                </a:solidFill>
                <a:latin typeface="Freesentation 9 Black" pitchFamily="34" charset="0"/>
                <a:ea typeface="Freesentation 9 Black" pitchFamily="34" charset="-122"/>
                <a:cs typeface="Freesentation 9 Black" pitchFamily="34" charset="-120"/>
              </a:rPr>
              <a:t>38.5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a:t>
            </a:r>
            <a:endParaRPr lang="en-US" sz="2600" dirty="0"/>
          </a:p>
        </p:txBody>
      </p:sp>
      <p:sp>
        <p:nvSpPr>
          <p:cNvPr id="34" name="Text 29"/>
          <p:cNvSpPr txBox="1"/>
          <p:nvPr/>
        </p:nvSpPr>
        <p:spPr>
          <a:xfrm>
            <a:off x="9698126"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한 해 책을 읽은 성인</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(학생은 94.6%)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읽기가 멈추는 지점별 부기 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낱말에서 막힌 학생이 한 권을 읽고,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자기 생각을 말과 글로 남기도록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연결합니다</a:t>
            </a:r>
            <a:endParaRPr lang="en-US" sz="1400" dirty="0"/>
          </a:p>
        </p:txBody>
      </p:sp>
      <p:sp>
        <p:nvSpPr>
          <p:cNvPr id="10" name="Text 7"/>
          <p:cNvSpPr txBox="1"/>
          <p:nvPr/>
        </p:nvSpPr>
        <p:spPr>
          <a:xfrm>
            <a:off x="192288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7229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부기 읽기 화면과 교사 수업 설계 자료. 선도교사단 72학급 온오프라인 운영 결과 종합(2026. 9. 20.~10. 21.).</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5</a:t>
            </a:r>
            <a:endParaRPr lang="en-US" sz="1250" dirty="0"/>
          </a:p>
        </p:txBody>
      </p:sp>
      <p:sp>
        <p:nvSpPr>
          <p:cNvPr id="14" name="Shape 11"/>
          <p:cNvSpPr/>
          <p:nvPr/>
        </p:nvSpPr>
        <p:spPr>
          <a:xfrm>
            <a:off x="502920" y="1920240"/>
            <a:ext cx="2644902" cy="2011680"/>
          </a:xfrm>
          <a:prstGeom prst="roundRect">
            <a:avLst>
              <a:gd name="adj" fmla="val 3636"/>
            </a:avLst>
          </a:prstGeom>
          <a:solidFill>
            <a:srgbClr val="FBF5E6"/>
          </a:solidFill>
          <a:ln w="9525">
            <a:solidFill>
              <a:srgbClr val="E2DCCB"/>
            </a:solidFill>
            <a:prstDash val="solid"/>
          </a:ln>
        </p:spPr>
      </p:sp>
      <p:sp>
        <p:nvSpPr>
          <p:cNvPr id="15" name="Shape 12"/>
          <p:cNvSpPr/>
          <p:nvPr/>
        </p:nvSpPr>
        <p:spPr>
          <a:xfrm>
            <a:off x="685800" y="2103120"/>
            <a:ext cx="365760" cy="365760"/>
          </a:xfrm>
          <a:prstGeom prst="ellipse">
            <a:avLst/>
          </a:prstGeom>
          <a:solidFill>
            <a:srgbClr val="2F7D4F"/>
          </a:solidFill>
          <a:ln/>
        </p:spPr>
      </p:sp>
      <p:sp>
        <p:nvSpPr>
          <p:cNvPr id="16" name="Text 13"/>
          <p:cNvSpPr txBox="1"/>
          <p:nvPr/>
        </p:nvSpPr>
        <p:spPr>
          <a:xfrm>
            <a:off x="68580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1</a:t>
            </a:r>
            <a:endParaRPr lang="en-US" sz="1500" dirty="0"/>
          </a:p>
        </p:txBody>
      </p:sp>
      <p:sp>
        <p:nvSpPr>
          <p:cNvPr id="17" name="Text 14"/>
          <p:cNvSpPr txBox="1"/>
          <p:nvPr/>
        </p:nvSpPr>
        <p:spPr>
          <a:xfrm>
            <a:off x="68580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낱말과 문장</a:t>
            </a:r>
            <a:endParaRPr lang="en-US" sz="2150" dirty="0"/>
          </a:p>
        </p:txBody>
      </p:sp>
      <p:sp>
        <p:nvSpPr>
          <p:cNvPr id="18" name="Text 15"/>
          <p:cNvSpPr txBox="1"/>
          <p:nvPr/>
        </p:nvSpPr>
        <p:spPr>
          <a:xfrm>
            <a:off x="68580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읽던 자리에서 뜻 확인</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수준별 책과 다국어 읽기</a:t>
            </a:r>
            <a:endParaRPr lang="en-US" sz="1500" dirty="0"/>
          </a:p>
        </p:txBody>
      </p:sp>
      <p:sp>
        <p:nvSpPr>
          <p:cNvPr id="19" name="Shape 16"/>
          <p:cNvSpPr/>
          <p:nvPr/>
        </p:nvSpPr>
        <p:spPr>
          <a:xfrm>
            <a:off x="3348990" y="1920240"/>
            <a:ext cx="2644902" cy="2011680"/>
          </a:xfrm>
          <a:prstGeom prst="roundRect">
            <a:avLst>
              <a:gd name="adj" fmla="val 3636"/>
            </a:avLst>
          </a:prstGeom>
          <a:solidFill>
            <a:srgbClr val="E6F0E7"/>
          </a:solidFill>
          <a:ln w="9525">
            <a:solidFill>
              <a:srgbClr val="E2DCCB"/>
            </a:solidFill>
            <a:prstDash val="solid"/>
          </a:ln>
        </p:spPr>
      </p:sp>
      <p:sp>
        <p:nvSpPr>
          <p:cNvPr id="20" name="Shape 17"/>
          <p:cNvSpPr/>
          <p:nvPr/>
        </p:nvSpPr>
        <p:spPr>
          <a:xfrm>
            <a:off x="3531870" y="2103120"/>
            <a:ext cx="365760" cy="365760"/>
          </a:xfrm>
          <a:prstGeom prst="ellipse">
            <a:avLst/>
          </a:prstGeom>
          <a:solidFill>
            <a:srgbClr val="2F7D4F"/>
          </a:solidFill>
          <a:ln/>
        </p:spPr>
      </p:sp>
      <p:sp>
        <p:nvSpPr>
          <p:cNvPr id="21" name="Text 18"/>
          <p:cNvSpPr txBox="1"/>
          <p:nvPr/>
        </p:nvSpPr>
        <p:spPr>
          <a:xfrm>
            <a:off x="353187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2</a:t>
            </a:r>
            <a:endParaRPr lang="en-US" sz="1500" dirty="0"/>
          </a:p>
        </p:txBody>
      </p:sp>
      <p:sp>
        <p:nvSpPr>
          <p:cNvPr id="22" name="Text 19"/>
          <p:cNvSpPr txBox="1"/>
          <p:nvPr/>
        </p:nvSpPr>
        <p:spPr>
          <a:xfrm>
            <a:off x="353187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한 권 읽기</a:t>
            </a:r>
            <a:endParaRPr lang="en-US" sz="2150" dirty="0"/>
          </a:p>
        </p:txBody>
      </p:sp>
      <p:sp>
        <p:nvSpPr>
          <p:cNvPr id="23" name="Text 20"/>
          <p:cNvSpPr txBox="1"/>
          <p:nvPr/>
        </p:nvSpPr>
        <p:spPr>
          <a:xfrm>
            <a:off x="353187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장면과 사건을 따라 읽기</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밑줄과 메모로 생각 남기기</a:t>
            </a:r>
            <a:endParaRPr lang="en-US" sz="1500" dirty="0"/>
          </a:p>
        </p:txBody>
      </p:sp>
      <p:sp>
        <p:nvSpPr>
          <p:cNvPr id="24" name="Shape 21"/>
          <p:cNvSpPr/>
          <p:nvPr/>
        </p:nvSpPr>
        <p:spPr>
          <a:xfrm>
            <a:off x="6195060" y="1920240"/>
            <a:ext cx="2644902" cy="2011680"/>
          </a:xfrm>
          <a:prstGeom prst="roundRect">
            <a:avLst>
              <a:gd name="adj" fmla="val 3636"/>
            </a:avLst>
          </a:prstGeom>
          <a:solidFill>
            <a:srgbClr val="FBF5E6"/>
          </a:solidFill>
          <a:ln w="9525">
            <a:solidFill>
              <a:srgbClr val="E2DCCB"/>
            </a:solidFill>
            <a:prstDash val="solid"/>
          </a:ln>
        </p:spPr>
      </p:sp>
      <p:sp>
        <p:nvSpPr>
          <p:cNvPr id="25" name="Shape 22"/>
          <p:cNvSpPr/>
          <p:nvPr/>
        </p:nvSpPr>
        <p:spPr>
          <a:xfrm>
            <a:off x="6377940" y="2103120"/>
            <a:ext cx="365760" cy="365760"/>
          </a:xfrm>
          <a:prstGeom prst="ellipse">
            <a:avLst/>
          </a:prstGeom>
          <a:solidFill>
            <a:srgbClr val="2F7D4F"/>
          </a:solidFill>
          <a:ln/>
        </p:spPr>
      </p:sp>
      <p:sp>
        <p:nvSpPr>
          <p:cNvPr id="26" name="Text 23"/>
          <p:cNvSpPr txBox="1"/>
          <p:nvPr/>
        </p:nvSpPr>
        <p:spPr>
          <a:xfrm>
            <a:off x="637794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3</a:t>
            </a:r>
            <a:endParaRPr lang="en-US" sz="1500" dirty="0"/>
          </a:p>
        </p:txBody>
      </p:sp>
      <p:sp>
        <p:nvSpPr>
          <p:cNvPr id="27" name="Text 24"/>
          <p:cNvSpPr txBox="1"/>
          <p:nvPr/>
        </p:nvSpPr>
        <p:spPr>
          <a:xfrm>
            <a:off x="637794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인물과 질문</a:t>
            </a:r>
            <a:endParaRPr lang="en-US" sz="2150" dirty="0"/>
          </a:p>
        </p:txBody>
      </p:sp>
      <p:sp>
        <p:nvSpPr>
          <p:cNvPr id="28" name="Text 25"/>
          <p:cNvSpPr txBox="1"/>
          <p:nvPr/>
        </p:nvSpPr>
        <p:spPr>
          <a:xfrm>
            <a:off x="637794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다른 삶과 선택 비교</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그렇게 생각한 까닭 말하기</a:t>
            </a:r>
            <a:endParaRPr lang="en-US" sz="1500" dirty="0"/>
          </a:p>
        </p:txBody>
      </p:sp>
      <p:sp>
        <p:nvSpPr>
          <p:cNvPr id="29" name="Shape 26"/>
          <p:cNvSpPr/>
          <p:nvPr/>
        </p:nvSpPr>
        <p:spPr>
          <a:xfrm>
            <a:off x="9041130" y="1920240"/>
            <a:ext cx="2644902" cy="2011680"/>
          </a:xfrm>
          <a:prstGeom prst="roundRect">
            <a:avLst>
              <a:gd name="adj" fmla="val 3636"/>
            </a:avLst>
          </a:prstGeom>
          <a:solidFill>
            <a:srgbClr val="E6F0E7"/>
          </a:solidFill>
          <a:ln w="9525">
            <a:solidFill>
              <a:srgbClr val="E2DCCB"/>
            </a:solidFill>
            <a:prstDash val="solid"/>
          </a:ln>
        </p:spPr>
      </p:sp>
      <p:sp>
        <p:nvSpPr>
          <p:cNvPr id="30" name="Shape 27"/>
          <p:cNvSpPr/>
          <p:nvPr/>
        </p:nvSpPr>
        <p:spPr>
          <a:xfrm>
            <a:off x="9224010" y="2103120"/>
            <a:ext cx="365760" cy="365760"/>
          </a:xfrm>
          <a:prstGeom prst="ellipse">
            <a:avLst/>
          </a:prstGeom>
          <a:solidFill>
            <a:srgbClr val="2F7D4F"/>
          </a:solidFill>
          <a:ln/>
        </p:spPr>
      </p:sp>
      <p:sp>
        <p:nvSpPr>
          <p:cNvPr id="31" name="Text 28"/>
          <p:cNvSpPr txBox="1"/>
          <p:nvPr/>
        </p:nvSpPr>
        <p:spPr>
          <a:xfrm>
            <a:off x="922401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4</a:t>
            </a:r>
            <a:endParaRPr lang="en-US" sz="1500" dirty="0"/>
          </a:p>
        </p:txBody>
      </p:sp>
      <p:sp>
        <p:nvSpPr>
          <p:cNvPr id="32" name="Text 29"/>
          <p:cNvSpPr txBox="1"/>
          <p:nvPr/>
        </p:nvSpPr>
        <p:spPr>
          <a:xfrm>
            <a:off x="922401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표현과 기록</a:t>
            </a:r>
            <a:endParaRPr lang="en-US" sz="2150" dirty="0"/>
          </a:p>
        </p:txBody>
      </p:sp>
      <p:sp>
        <p:nvSpPr>
          <p:cNvPr id="33" name="Text 30"/>
          <p:cNvSpPr txBox="1"/>
          <p:nvPr/>
        </p:nvSpPr>
        <p:spPr>
          <a:xfrm>
            <a:off x="922401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글, 그림, 편지로 표현</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포트폴리오와 교사 피드백</a:t>
            </a:r>
            <a:endParaRPr lang="en-US" sz="1500" dirty="0"/>
          </a:p>
        </p:txBody>
      </p:sp>
      <p:sp>
        <p:nvSpPr>
          <p:cNvPr id="34" name="Shape 31"/>
          <p:cNvSpPr/>
          <p:nvPr/>
        </p:nvSpPr>
        <p:spPr>
          <a:xfrm>
            <a:off x="502920" y="4352544"/>
            <a:ext cx="118872" cy="118872"/>
          </a:xfrm>
          <a:prstGeom prst="ellipse">
            <a:avLst/>
          </a:prstGeom>
          <a:solidFill>
            <a:srgbClr val="2F7D4F"/>
          </a:solidFill>
          <a:ln/>
        </p:spPr>
      </p:sp>
      <p:sp>
        <p:nvSpPr>
          <p:cNvPr id="35" name="Text 32"/>
          <p:cNvSpPr txBox="1"/>
          <p:nvPr/>
        </p:nvSpPr>
        <p:spPr>
          <a:xfrm>
            <a:off x="722376" y="4215384"/>
            <a:ext cx="11183112"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교사는 학급의 문제에 맞춰 같은 책과 질문을 고릅니다</a:t>
            </a:r>
            <a:endParaRPr lang="en-US" sz="1650" dirty="0"/>
          </a:p>
        </p:txBody>
      </p:sp>
      <p:sp>
        <p:nvSpPr>
          <p:cNvPr id="36" name="Text 33"/>
          <p:cNvSpPr txBox="1"/>
          <p:nvPr/>
        </p:nvSpPr>
        <p:spPr>
          <a:xfrm>
            <a:off x="502920" y="4709160"/>
            <a:ext cx="11183112" cy="914400"/>
          </a:xfrm>
          <a:prstGeom prst="rect">
            <a:avLst/>
          </a:prstGeom>
          <a:noFill/>
          <a:ln/>
        </p:spPr>
        <p:txBody>
          <a:bodyPr wrap="square" lIns="0" tIns="0" rIns="0" bIns="0" rtlCol="0" anchor="t"/>
          <a:lstStyle/>
          <a:p>
            <a:pPr indent="0" marL="0">
              <a:lnSpc>
                <a:spcPct val="120000"/>
              </a:lnSpc>
              <a:buNone/>
            </a:pPr>
            <a:r>
              <a:rPr lang="en-US" sz="1800" dirty="0">
                <a:solidFill>
                  <a:srgbClr val="2E3A30"/>
                </a:solidFill>
                <a:latin typeface="Freesentation 4 Regular" pitchFamily="34" charset="0"/>
                <a:ea typeface="Freesentation 4 Regular" pitchFamily="34" charset="-122"/>
                <a:cs typeface="Freesentation 4 Regular" pitchFamily="34" charset="-120"/>
              </a:rPr>
              <a:t>온라인에서는 학생이 화면에 답하고 기록을 모읍니다. 오프라인에서는 같은 활동지를 인쇄해</a:t>
            </a:r>
            <a:endParaRPr lang="en-US" sz="1800" dirty="0"/>
          </a:p>
          <a:p>
            <a:pPr indent="0" marL="0">
              <a:lnSpc>
                <a:spcPct val="120000"/>
              </a:lnSpc>
              <a:buNone/>
            </a:pPr>
            <a:r>
              <a:rPr lang="en-US" sz="1800" dirty="0">
                <a:solidFill>
                  <a:srgbClr val="2E3A30"/>
                </a:solidFill>
                <a:latin typeface="Freesentation 4 Regular" pitchFamily="34" charset="0"/>
                <a:ea typeface="Freesentation 4 Regular" pitchFamily="34" charset="-122"/>
                <a:cs typeface="Freesentation 4 Regular" pitchFamily="34" charset="-120"/>
              </a:rPr>
              <a:t>손글씨, 그림, 역할극으로 수업합니다. 교사가 결과물을 보며 다음 질문과 피드백을 정합니다.</a:t>
            </a:r>
            <a:endParaRPr lang="en-US" sz="1800" dirty="0"/>
          </a:p>
        </p:txBody>
      </p:sp>
      <p:sp>
        <p:nvSpPr>
          <p:cNvPr id="37" name="Shape 34"/>
          <p:cNvSpPr/>
          <p:nvPr/>
        </p:nvSpPr>
        <p:spPr>
          <a:xfrm>
            <a:off x="502920" y="5751576"/>
            <a:ext cx="11183112" cy="521208"/>
          </a:xfrm>
          <a:prstGeom prst="roundRect">
            <a:avLst>
              <a:gd name="adj" fmla="val 14035"/>
            </a:avLst>
          </a:prstGeom>
          <a:solidFill>
            <a:srgbClr val="20342A"/>
          </a:solidFill>
          <a:ln/>
        </p:spPr>
      </p:sp>
      <p:pic>
        <p:nvPicPr>
          <p:cNvPr id="38" name="Image 1" descr="school">    </p:cNvPr>
          <p:cNvPicPr>
            <a:picLocks noChangeAspect="1"/>
          </p:cNvPicPr>
          <p:nvPr/>
        </p:nvPicPr>
        <p:blipFill>
          <a:blip r:embed="rId2"/>
          <a:stretch>
            <a:fillRect/>
          </a:stretch>
        </p:blipFill>
        <p:spPr>
          <a:xfrm>
            <a:off x="685800" y="5865876"/>
            <a:ext cx="292608" cy="292608"/>
          </a:xfrm>
          <a:prstGeom prst="rect">
            <a:avLst/>
          </a:prstGeom>
        </p:spPr>
      </p:pic>
      <p:sp>
        <p:nvSpPr>
          <p:cNvPr id="39" name="Text 35"/>
          <p:cNvSpPr txBox="1"/>
          <p:nvPr/>
        </p:nvSpPr>
        <p:spPr>
          <a:xfrm>
            <a:off x="1106424" y="5751576"/>
            <a:ext cx="10396728" cy="521208"/>
          </a:xfrm>
          <a:prstGeom prst="rect">
            <a:avLst/>
          </a:prstGeom>
          <a:noFill/>
          <a:ln/>
        </p:spPr>
        <p:txBody>
          <a:bodyPr wrap="square" lIns="0" tIns="0" rIns="0" bIns="0" rtlCol="0" anchor="ctr"/>
          <a:lstStyle/>
          <a:p>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선도교사단 운영 종합: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72학급, 사용 학생 1,196명, 완독 26,924권, 독후활동 1,816건</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독서교육 정책 동향과 과제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독서수업, 맞춤형 읽기, 교원 지원을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학교에서 이어 가는 운영</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으로 연결합니다</a:t>
            </a:r>
            <a:endParaRPr lang="en-US" sz="1400" dirty="0"/>
          </a:p>
        </p:txBody>
      </p:sp>
      <p:sp>
        <p:nvSpPr>
          <p:cNvPr id="10" name="Text 7"/>
          <p:cNvSpPr txBox="1"/>
          <p:nvPr/>
        </p:nvSpPr>
        <p:spPr>
          <a:xfrm>
            <a:off x="203014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66503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보도자료 「모든 학생을 주도적 독자(讀者)로 키우기 위한 ‘학교 독서교육 활성화 방안’ 발표」(2026. 7. 2.)와 별첨. 정책 과제는 같은 방안과 경상남도교육청 「2026학년도 독서인문교육 추진 계획」(2026. 2.)의 추진 과제를 시도 공통 과제로 묶음.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6</a:t>
            </a:r>
            <a:endParaRPr lang="en-US" sz="1250" dirty="0"/>
          </a:p>
        </p:txBody>
      </p:sp>
      <p:sp>
        <p:nvSpPr>
          <p:cNvPr id="14" name="Shape 11"/>
          <p:cNvSpPr/>
          <p:nvPr/>
        </p:nvSpPr>
        <p:spPr>
          <a:xfrm>
            <a:off x="502920" y="1920240"/>
            <a:ext cx="4807712" cy="2103120"/>
          </a:xfrm>
          <a:prstGeom prst="roundRect">
            <a:avLst>
              <a:gd name="adj" fmla="val 4348"/>
            </a:avLst>
          </a:prstGeom>
          <a:solidFill>
            <a:srgbClr val="FBF5E6"/>
          </a:solidFill>
          <a:ln w="9525">
            <a:solidFill>
              <a:srgbClr val="E2DCCB"/>
            </a:solidFill>
            <a:prstDash val="solid"/>
          </a:ln>
        </p:spPr>
      </p:sp>
      <p:sp>
        <p:nvSpPr>
          <p:cNvPr id="15" name="Text 12"/>
          <p:cNvSpPr txBox="1"/>
          <p:nvPr/>
        </p:nvSpPr>
        <p:spPr>
          <a:xfrm>
            <a:off x="704088" y="2084832"/>
            <a:ext cx="4405376" cy="411480"/>
          </a:xfrm>
          <a:prstGeom prst="rect">
            <a:avLst/>
          </a:prstGeom>
          <a:noFill/>
          <a:ln/>
        </p:spPr>
        <p:txBody>
          <a:bodyPr wrap="square" lIns="0" tIns="0" rIns="0" bIns="0" rtlCol="0" anchor="t"/>
          <a:lstStyle/>
          <a:p>
            <a:pPr indent="0" marL="0">
              <a:lnSpc>
                <a:spcPct val="112000"/>
              </a:lnSpc>
              <a:buNone/>
            </a:pPr>
            <a:r>
              <a:rPr lang="en-US" sz="2150" dirty="0">
                <a:solidFill>
                  <a:srgbClr val="20342A"/>
                </a:solidFill>
                <a:latin typeface="Freesentation 7 Bold" pitchFamily="34" charset="0"/>
                <a:ea typeface="Freesentation 7 Bold" pitchFamily="34" charset="-122"/>
                <a:cs typeface="Freesentation 7 Bold" pitchFamily="34" charset="-120"/>
              </a:rPr>
              <a:t>학교 독서교육의 실행 과제</a:t>
            </a:r>
            <a:endParaRPr lang="en-US" sz="2150" dirty="0"/>
          </a:p>
        </p:txBody>
      </p:sp>
      <p:sp>
        <p:nvSpPr>
          <p:cNvPr id="16" name="Text 13"/>
          <p:cNvSpPr txBox="1"/>
          <p:nvPr/>
        </p:nvSpPr>
        <p:spPr>
          <a:xfrm>
            <a:off x="704088" y="2670048"/>
            <a:ext cx="4405376" cy="1115568"/>
          </a:xfrm>
          <a:prstGeom prst="rect">
            <a:avLst/>
          </a:prstGeom>
          <a:noFill/>
          <a:ln/>
        </p:spPr>
        <p:txBody>
          <a:bodyPr wrap="square" lIns="0" tIns="0" rIns="0" bIns="0" rtlCol="0" anchor="t"/>
          <a:lstStyle/>
          <a:p>
            <a:pPr indent="0" marL="0">
              <a:lnSpc>
                <a:spcPct val="120000"/>
              </a:lnSpc>
              <a:buNone/>
            </a:pPr>
            <a:r>
              <a:rPr lang="en-US" sz="1650" dirty="0">
                <a:solidFill>
                  <a:srgbClr val="4A564B"/>
                </a:solidFill>
                <a:latin typeface="Freesentation 4 Regular" pitchFamily="34" charset="0"/>
                <a:ea typeface="Freesentation 4 Regular" pitchFamily="34" charset="-122"/>
                <a:cs typeface="Freesentation 4 Regular" pitchFamily="34" charset="-120"/>
              </a:rPr>
              <a:t>책을 제공한 뒤의 수업까지 지원합니다.</a:t>
            </a:r>
            <a:endParaRPr lang="en-US" sz="1650" dirty="0"/>
          </a:p>
          <a:p>
            <a:pPr indent="0" marL="0">
              <a:lnSpc>
                <a:spcPct val="120000"/>
              </a:lnSpc>
              <a:buNone/>
            </a:pPr>
            <a:endParaRPr lang="en-US" sz="1650" dirty="0"/>
          </a:p>
          <a:p>
            <a:pPr indent="0" marL="0">
              <a:lnSpc>
                <a:spcPct val="120000"/>
              </a:lnSpc>
              <a:buNone/>
            </a:pPr>
            <a:r>
              <a:rPr lang="en-US" sz="1650" dirty="0">
                <a:solidFill>
                  <a:srgbClr val="4A564B"/>
                </a:solidFill>
                <a:latin typeface="Freesentation 4 Regular" pitchFamily="34" charset="0"/>
                <a:ea typeface="Freesentation 4 Regular" pitchFamily="34" charset="-122"/>
                <a:cs typeface="Freesentation 4 Regular" pitchFamily="34" charset="-120"/>
              </a:rPr>
              <a:t>읽기 수준에 맞는 도움, 교사가 고치는 차시 자료,</a:t>
            </a:r>
            <a:endParaRPr lang="en-US" sz="1650" dirty="0"/>
          </a:p>
          <a:p>
            <a:pPr indent="0" marL="0">
              <a:lnSpc>
                <a:spcPct val="120000"/>
              </a:lnSpc>
              <a:buNone/>
            </a:pPr>
            <a:r>
              <a:rPr lang="en-US" sz="1650" dirty="0">
                <a:solidFill>
                  <a:srgbClr val="4A564B"/>
                </a:solidFill>
                <a:latin typeface="Freesentation 4 Regular" pitchFamily="34" charset="0"/>
                <a:ea typeface="Freesentation 4 Regular" pitchFamily="34" charset="-122"/>
                <a:cs typeface="Freesentation 4 Regular" pitchFamily="34" charset="-120"/>
              </a:rPr>
              <a:t>학생의 표현과 성장 기록을 함께 갖춥니다.</a:t>
            </a:r>
            <a:endParaRPr lang="en-US" sz="1650" dirty="0"/>
          </a:p>
        </p:txBody>
      </p:sp>
      <p:sp>
        <p:nvSpPr>
          <p:cNvPr id="17" name="Shape 14"/>
          <p:cNvSpPr/>
          <p:nvPr/>
        </p:nvSpPr>
        <p:spPr>
          <a:xfrm>
            <a:off x="502920" y="4151376"/>
            <a:ext cx="4807712" cy="646176"/>
          </a:xfrm>
          <a:prstGeom prst="roundRect">
            <a:avLst>
              <a:gd name="adj" fmla="val 14151"/>
            </a:avLst>
          </a:prstGeom>
          <a:solidFill>
            <a:srgbClr val="FFFFFF"/>
          </a:solidFill>
          <a:ln w="9525">
            <a:solidFill>
              <a:srgbClr val="E2DCCB"/>
            </a:solidFill>
            <a:prstDash val="solid"/>
          </a:ln>
        </p:spPr>
      </p:sp>
      <p:sp>
        <p:nvSpPr>
          <p:cNvPr id="18" name="Text 15"/>
          <p:cNvSpPr txBox="1"/>
          <p:nvPr/>
        </p:nvSpPr>
        <p:spPr>
          <a:xfrm>
            <a:off x="704088" y="4151376"/>
            <a:ext cx="1737360" cy="646176"/>
          </a:xfrm>
          <a:prstGeom prst="rect">
            <a:avLst/>
          </a:prstGeom>
          <a:noFill/>
          <a:ln/>
        </p:spPr>
        <p:txBody>
          <a:bodyPr wrap="square" lIns="0" tIns="0" rIns="0" bIns="0" rtlCol="0" anchor="ct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초3~4</a:t>
            </a:r>
            <a:pPr indent="0" marL="0">
              <a:buNone/>
            </a:pPr>
            <a:endParaRPr lang="en-US" sz="2250" dirty="0"/>
          </a:p>
        </p:txBody>
      </p:sp>
      <p:sp>
        <p:nvSpPr>
          <p:cNvPr id="19" name="Text 16"/>
          <p:cNvSpPr txBox="1"/>
          <p:nvPr/>
        </p:nvSpPr>
        <p:spPr>
          <a:xfrm>
            <a:off x="2468880" y="4151376"/>
            <a:ext cx="2704592" cy="64617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집중 학년, 2027년부터 맞춤 지원</a:t>
            </a:r>
            <a:endParaRPr lang="en-US" sz="1500" dirty="0"/>
          </a:p>
        </p:txBody>
      </p:sp>
      <p:sp>
        <p:nvSpPr>
          <p:cNvPr id="20" name="Shape 17"/>
          <p:cNvSpPr/>
          <p:nvPr/>
        </p:nvSpPr>
        <p:spPr>
          <a:xfrm>
            <a:off x="502920" y="4888992"/>
            <a:ext cx="4807712" cy="646176"/>
          </a:xfrm>
          <a:prstGeom prst="roundRect">
            <a:avLst>
              <a:gd name="adj" fmla="val 14151"/>
            </a:avLst>
          </a:prstGeom>
          <a:solidFill>
            <a:srgbClr val="FBF5E6"/>
          </a:solidFill>
          <a:ln w="9525">
            <a:solidFill>
              <a:srgbClr val="E2DCCB"/>
            </a:solidFill>
            <a:prstDash val="solid"/>
          </a:ln>
        </p:spPr>
      </p:sp>
      <p:sp>
        <p:nvSpPr>
          <p:cNvPr id="21" name="Text 18"/>
          <p:cNvSpPr txBox="1"/>
          <p:nvPr/>
        </p:nvSpPr>
        <p:spPr>
          <a:xfrm>
            <a:off x="704088" y="4888992"/>
            <a:ext cx="1737360" cy="646176"/>
          </a:xfrm>
          <a:prstGeom prst="rect">
            <a:avLst/>
          </a:prstGeom>
          <a:noFill/>
          <a:ln/>
        </p:spPr>
        <p:txBody>
          <a:bodyPr wrap="square" lIns="0" tIns="0" rIns="0" bIns="0" rtlCol="0" anchor="ct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1,000</a:t>
            </a:r>
            <a:pP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 개교</a:t>
            </a:r>
            <a:endParaRPr lang="en-US" sz="2250" dirty="0"/>
          </a:p>
        </p:txBody>
      </p:sp>
      <p:sp>
        <p:nvSpPr>
          <p:cNvPr id="22" name="Text 19"/>
          <p:cNvSpPr txBox="1"/>
          <p:nvPr/>
        </p:nvSpPr>
        <p:spPr>
          <a:xfrm>
            <a:off x="2468880" y="4888992"/>
            <a:ext cx="2704592" cy="64617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책 읽는 학교 문화 지원, 2030년 전체 학교로</a:t>
            </a:r>
            <a:endParaRPr lang="en-US" sz="1500" dirty="0"/>
          </a:p>
        </p:txBody>
      </p:sp>
      <p:sp>
        <p:nvSpPr>
          <p:cNvPr id="23" name="Shape 20"/>
          <p:cNvSpPr/>
          <p:nvPr/>
        </p:nvSpPr>
        <p:spPr>
          <a:xfrm>
            <a:off x="502920" y="5626608"/>
            <a:ext cx="4807712" cy="646176"/>
          </a:xfrm>
          <a:prstGeom prst="roundRect">
            <a:avLst>
              <a:gd name="adj" fmla="val 14151"/>
            </a:avLst>
          </a:prstGeom>
          <a:solidFill>
            <a:srgbClr val="FFFFFF"/>
          </a:solidFill>
          <a:ln w="9525">
            <a:solidFill>
              <a:srgbClr val="E2DCCB"/>
            </a:solidFill>
            <a:prstDash val="solid"/>
          </a:ln>
        </p:spPr>
      </p:sp>
      <p:sp>
        <p:nvSpPr>
          <p:cNvPr id="24" name="Text 21"/>
          <p:cNvSpPr txBox="1"/>
          <p:nvPr/>
        </p:nvSpPr>
        <p:spPr>
          <a:xfrm>
            <a:off x="704088" y="5626608"/>
            <a:ext cx="1737360" cy="646176"/>
          </a:xfrm>
          <a:prstGeom prst="rect">
            <a:avLst/>
          </a:prstGeom>
          <a:noFill/>
          <a:ln/>
        </p:spPr>
        <p:txBody>
          <a:bodyPr wrap="square" lIns="0" tIns="0" rIns="0" bIns="0" rtlCol="0" anchor="ct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2028</a:t>
            </a:r>
            <a:pP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 년</a:t>
            </a:r>
            <a:endParaRPr lang="en-US" sz="2250" dirty="0"/>
          </a:p>
        </p:txBody>
      </p:sp>
      <p:sp>
        <p:nvSpPr>
          <p:cNvPr id="25" name="Text 22"/>
          <p:cNvSpPr txBox="1"/>
          <p:nvPr/>
        </p:nvSpPr>
        <p:spPr>
          <a:xfrm>
            <a:off x="2468880" y="5626608"/>
            <a:ext cx="2704592" cy="64617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독서역량 진단 도구 본격 활용</a:t>
            </a:r>
            <a:endParaRPr lang="en-US" sz="1500" dirty="0"/>
          </a:p>
        </p:txBody>
      </p:sp>
      <p:sp>
        <p:nvSpPr>
          <p:cNvPr id="26" name="Shape 23"/>
          <p:cNvSpPr/>
          <p:nvPr/>
        </p:nvSpPr>
        <p:spPr>
          <a:xfrm>
            <a:off x="5676392" y="2020824"/>
            <a:ext cx="118872" cy="118872"/>
          </a:xfrm>
          <a:prstGeom prst="ellipse">
            <a:avLst/>
          </a:prstGeom>
          <a:solidFill>
            <a:srgbClr val="2F7D4F"/>
          </a:solidFill>
          <a:ln/>
        </p:spPr>
      </p:sp>
      <p:sp>
        <p:nvSpPr>
          <p:cNvPr id="27" name="Text 24"/>
          <p:cNvSpPr txBox="1"/>
          <p:nvPr/>
        </p:nvSpPr>
        <p:spPr>
          <a:xfrm>
            <a:off x="5895848" y="1883664"/>
            <a:ext cx="600964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7개 정책 과제와 부기 대응</a:t>
            </a:r>
            <a:endParaRPr lang="en-US" sz="1650" dirty="0"/>
          </a:p>
        </p:txBody>
      </p:sp>
      <p:sp>
        <p:nvSpPr>
          <p:cNvPr id="28" name="Shape 25"/>
          <p:cNvSpPr/>
          <p:nvPr/>
        </p:nvSpPr>
        <p:spPr>
          <a:xfrm>
            <a:off x="5676392" y="2340864"/>
            <a:ext cx="6009640" cy="514677"/>
          </a:xfrm>
          <a:prstGeom prst="roundRect">
            <a:avLst>
              <a:gd name="adj" fmla="val 14213"/>
            </a:avLst>
          </a:prstGeom>
          <a:solidFill>
            <a:srgbClr val="E6F0E7"/>
          </a:solidFill>
          <a:ln w="9525">
            <a:solidFill>
              <a:srgbClr val="D3E6D6"/>
            </a:solidFill>
            <a:prstDash val="solid"/>
          </a:ln>
        </p:spPr>
      </p:sp>
      <p:pic>
        <p:nvPicPr>
          <p:cNvPr id="29" name="Image 1" descr="book">    </p:cNvPr>
          <p:cNvPicPr>
            <a:picLocks noChangeAspect="1"/>
          </p:cNvPicPr>
          <p:nvPr/>
        </p:nvPicPr>
        <p:blipFill>
          <a:blip r:embed="rId2"/>
          <a:stretch>
            <a:fillRect/>
          </a:stretch>
        </p:blipFill>
        <p:spPr>
          <a:xfrm>
            <a:off x="5804408" y="2461042"/>
            <a:ext cx="274320" cy="274320"/>
          </a:xfrm>
          <a:prstGeom prst="rect">
            <a:avLst/>
          </a:prstGeom>
        </p:spPr>
      </p:pic>
      <p:sp>
        <p:nvSpPr>
          <p:cNvPr id="30" name="Text 26"/>
          <p:cNvSpPr txBox="1"/>
          <p:nvPr/>
        </p:nvSpPr>
        <p:spPr>
          <a:xfrm>
            <a:off x="6188456" y="2340864"/>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책 읽는 학교 문화</a:t>
            </a:r>
            <a:endParaRPr lang="en-US" sz="1550" dirty="0"/>
          </a:p>
        </p:txBody>
      </p:sp>
      <p:sp>
        <p:nvSpPr>
          <p:cNvPr id="31" name="Text 27"/>
          <p:cNvSpPr txBox="1"/>
          <p:nvPr/>
        </p:nvSpPr>
        <p:spPr>
          <a:xfrm>
            <a:off x="8465312" y="2340864"/>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아침활동 5차시, 읽던 쪽에서 「이어 읽기」</a:t>
            </a:r>
            <a:endParaRPr lang="en-US" sz="1500" dirty="0"/>
          </a:p>
        </p:txBody>
      </p:sp>
      <p:sp>
        <p:nvSpPr>
          <p:cNvPr id="32" name="Shape 28"/>
          <p:cNvSpPr/>
          <p:nvPr/>
        </p:nvSpPr>
        <p:spPr>
          <a:xfrm>
            <a:off x="5676392" y="2910405"/>
            <a:ext cx="6009640" cy="514677"/>
          </a:xfrm>
          <a:prstGeom prst="roundRect">
            <a:avLst>
              <a:gd name="adj" fmla="val 14213"/>
            </a:avLst>
          </a:prstGeom>
          <a:solidFill>
            <a:srgbClr val="FFFFFF"/>
          </a:solidFill>
          <a:ln w="9525">
            <a:solidFill>
              <a:srgbClr val="D3E6D6"/>
            </a:solidFill>
            <a:prstDash val="solid"/>
          </a:ln>
        </p:spPr>
      </p:sp>
      <p:pic>
        <p:nvPicPr>
          <p:cNvPr id="33" name="Image 2" descr="presentation">    </p:cNvPr>
          <p:cNvPicPr>
            <a:picLocks noChangeAspect="1"/>
          </p:cNvPicPr>
          <p:nvPr/>
        </p:nvPicPr>
        <p:blipFill>
          <a:blip r:embed="rId3"/>
          <a:stretch>
            <a:fillRect/>
          </a:stretch>
        </p:blipFill>
        <p:spPr>
          <a:xfrm>
            <a:off x="5804408" y="3030583"/>
            <a:ext cx="274320" cy="274320"/>
          </a:xfrm>
          <a:prstGeom prst="rect">
            <a:avLst/>
          </a:prstGeom>
        </p:spPr>
      </p:pic>
      <p:sp>
        <p:nvSpPr>
          <p:cNvPr id="34" name="Text 29"/>
          <p:cNvSpPr txBox="1"/>
          <p:nvPr/>
        </p:nvSpPr>
        <p:spPr>
          <a:xfrm>
            <a:off x="6188456" y="2910405"/>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독서 연계 교과수업</a:t>
            </a:r>
            <a:endParaRPr lang="en-US" sz="1550" dirty="0"/>
          </a:p>
        </p:txBody>
      </p:sp>
      <p:sp>
        <p:nvSpPr>
          <p:cNvPr id="35" name="Text 30"/>
          <p:cNvSpPr txBox="1"/>
          <p:nvPr/>
        </p:nvSpPr>
        <p:spPr>
          <a:xfrm>
            <a:off x="8465312" y="2910405"/>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온책읽기 10차시, 국어 4차시, 차시 PPT</a:t>
            </a:r>
            <a:endParaRPr lang="en-US" sz="1500" dirty="0"/>
          </a:p>
        </p:txBody>
      </p:sp>
      <p:sp>
        <p:nvSpPr>
          <p:cNvPr id="36" name="Shape 31"/>
          <p:cNvSpPr/>
          <p:nvPr/>
        </p:nvSpPr>
        <p:spPr>
          <a:xfrm>
            <a:off x="5676392" y="3479945"/>
            <a:ext cx="6009640" cy="514677"/>
          </a:xfrm>
          <a:prstGeom prst="roundRect">
            <a:avLst>
              <a:gd name="adj" fmla="val 14213"/>
            </a:avLst>
          </a:prstGeom>
          <a:solidFill>
            <a:srgbClr val="E6F0E7"/>
          </a:solidFill>
          <a:ln w="9525">
            <a:solidFill>
              <a:srgbClr val="D3E6D6"/>
            </a:solidFill>
            <a:prstDash val="solid"/>
          </a:ln>
        </p:spPr>
      </p:sp>
      <p:pic>
        <p:nvPicPr>
          <p:cNvPr id="37" name="Image 3" descr="target-arrow">    </p:cNvPr>
          <p:cNvPicPr>
            <a:picLocks noChangeAspect="1"/>
          </p:cNvPicPr>
          <p:nvPr/>
        </p:nvPicPr>
        <p:blipFill>
          <a:blip r:embed="rId4"/>
          <a:stretch>
            <a:fillRect/>
          </a:stretch>
        </p:blipFill>
        <p:spPr>
          <a:xfrm>
            <a:off x="5804408" y="3600123"/>
            <a:ext cx="274320" cy="274320"/>
          </a:xfrm>
          <a:prstGeom prst="rect">
            <a:avLst/>
          </a:prstGeom>
        </p:spPr>
      </p:pic>
      <p:sp>
        <p:nvSpPr>
          <p:cNvPr id="38" name="Text 32"/>
          <p:cNvSpPr txBox="1"/>
          <p:nvPr/>
        </p:nvSpPr>
        <p:spPr>
          <a:xfrm>
            <a:off x="6188456" y="3479945"/>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초3~4 맞춤형 지원</a:t>
            </a:r>
            <a:endParaRPr lang="en-US" sz="1550" dirty="0"/>
          </a:p>
        </p:txBody>
      </p:sp>
      <p:sp>
        <p:nvSpPr>
          <p:cNvPr id="39" name="Text 33"/>
          <p:cNvSpPr txBox="1"/>
          <p:nvPr/>
        </p:nvSpPr>
        <p:spPr>
          <a:xfrm>
            <a:off x="8465312" y="3479945"/>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어휘력 진단, 「부기가 골라 준 책」</a:t>
            </a:r>
            <a:endParaRPr lang="en-US" sz="1500" dirty="0"/>
          </a:p>
        </p:txBody>
      </p:sp>
      <p:sp>
        <p:nvSpPr>
          <p:cNvPr id="40" name="Shape 34"/>
          <p:cNvSpPr/>
          <p:nvPr/>
        </p:nvSpPr>
        <p:spPr>
          <a:xfrm>
            <a:off x="5676392" y="4049486"/>
            <a:ext cx="6009640" cy="514677"/>
          </a:xfrm>
          <a:prstGeom prst="roundRect">
            <a:avLst>
              <a:gd name="adj" fmla="val 14213"/>
            </a:avLst>
          </a:prstGeom>
          <a:solidFill>
            <a:srgbClr val="FFFFFF"/>
          </a:solidFill>
          <a:ln w="9525">
            <a:solidFill>
              <a:srgbClr val="D3E6D6"/>
            </a:solidFill>
            <a:prstDash val="solid"/>
          </a:ln>
        </p:spPr>
      </p:sp>
      <p:pic>
        <p:nvPicPr>
          <p:cNvPr id="41" name="Image 4" descr="chart-line">    </p:cNvPr>
          <p:cNvPicPr>
            <a:picLocks noChangeAspect="1"/>
          </p:cNvPicPr>
          <p:nvPr/>
        </p:nvPicPr>
        <p:blipFill>
          <a:blip r:embed="rId5"/>
          <a:stretch>
            <a:fillRect/>
          </a:stretch>
        </p:blipFill>
        <p:spPr>
          <a:xfrm>
            <a:off x="5804408" y="4169664"/>
            <a:ext cx="274320" cy="274320"/>
          </a:xfrm>
          <a:prstGeom prst="rect">
            <a:avLst/>
          </a:prstGeom>
        </p:spPr>
      </p:pic>
      <p:sp>
        <p:nvSpPr>
          <p:cNvPr id="42" name="Text 35"/>
          <p:cNvSpPr txBox="1"/>
          <p:nvPr/>
        </p:nvSpPr>
        <p:spPr>
          <a:xfrm>
            <a:off x="6188456" y="4049486"/>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학생 독서역량 진단</a:t>
            </a:r>
            <a:endParaRPr lang="en-US" sz="1550" dirty="0"/>
          </a:p>
        </p:txBody>
      </p:sp>
      <p:sp>
        <p:nvSpPr>
          <p:cNvPr id="43" name="Text 36"/>
          <p:cNvSpPr txBox="1"/>
          <p:nvPr/>
        </p:nvSpPr>
        <p:spPr>
          <a:xfrm>
            <a:off x="8465312" y="4049486"/>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진단 20문항, 회차별 반 평균 변화</a:t>
            </a:r>
            <a:endParaRPr lang="en-US" sz="1500" dirty="0"/>
          </a:p>
        </p:txBody>
      </p:sp>
      <p:sp>
        <p:nvSpPr>
          <p:cNvPr id="44" name="Shape 37"/>
          <p:cNvSpPr/>
          <p:nvPr/>
        </p:nvSpPr>
        <p:spPr>
          <a:xfrm>
            <a:off x="5676392" y="4619026"/>
            <a:ext cx="6009640" cy="514677"/>
          </a:xfrm>
          <a:prstGeom prst="roundRect">
            <a:avLst>
              <a:gd name="adj" fmla="val 14213"/>
            </a:avLst>
          </a:prstGeom>
          <a:solidFill>
            <a:srgbClr val="E6F0E7"/>
          </a:solidFill>
          <a:ln w="9525">
            <a:solidFill>
              <a:srgbClr val="D3E6D6"/>
            </a:solidFill>
            <a:prstDash val="solid"/>
          </a:ln>
        </p:spPr>
      </p:sp>
      <p:pic>
        <p:nvPicPr>
          <p:cNvPr id="45" name="Image 5" descr="language">    </p:cNvPr>
          <p:cNvPicPr>
            <a:picLocks noChangeAspect="1"/>
          </p:cNvPicPr>
          <p:nvPr/>
        </p:nvPicPr>
        <p:blipFill>
          <a:blip r:embed="rId6"/>
          <a:stretch>
            <a:fillRect/>
          </a:stretch>
        </p:blipFill>
        <p:spPr>
          <a:xfrm>
            <a:off x="5804408" y="4739205"/>
            <a:ext cx="274320" cy="274320"/>
          </a:xfrm>
          <a:prstGeom prst="rect">
            <a:avLst/>
          </a:prstGeom>
        </p:spPr>
      </p:pic>
      <p:sp>
        <p:nvSpPr>
          <p:cNvPr id="46" name="Text 38"/>
          <p:cNvSpPr txBox="1"/>
          <p:nvPr/>
        </p:nvSpPr>
        <p:spPr>
          <a:xfrm>
            <a:off x="6188456" y="4619026"/>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이주배경학생 포용</a:t>
            </a:r>
            <a:endParaRPr lang="en-US" sz="1550" dirty="0"/>
          </a:p>
        </p:txBody>
      </p:sp>
      <p:sp>
        <p:nvSpPr>
          <p:cNvPr id="47" name="Text 39"/>
          <p:cNvSpPr txBox="1"/>
          <p:nvPr/>
        </p:nvSpPr>
        <p:spPr>
          <a:xfrm>
            <a:off x="8465312" y="4619026"/>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1~4학년 200권 다국어 나란히 읽기</a:t>
            </a:r>
            <a:endParaRPr lang="en-US" sz="1500" dirty="0"/>
          </a:p>
        </p:txBody>
      </p:sp>
      <p:sp>
        <p:nvSpPr>
          <p:cNvPr id="48" name="Shape 40"/>
          <p:cNvSpPr/>
          <p:nvPr/>
        </p:nvSpPr>
        <p:spPr>
          <a:xfrm>
            <a:off x="5676392" y="5188567"/>
            <a:ext cx="6009640" cy="514677"/>
          </a:xfrm>
          <a:prstGeom prst="roundRect">
            <a:avLst>
              <a:gd name="adj" fmla="val 14213"/>
            </a:avLst>
          </a:prstGeom>
          <a:solidFill>
            <a:srgbClr val="FFFFFF"/>
          </a:solidFill>
          <a:ln w="9525">
            <a:solidFill>
              <a:srgbClr val="D3E6D6"/>
            </a:solidFill>
            <a:prstDash val="solid"/>
          </a:ln>
        </p:spPr>
      </p:sp>
      <p:pic>
        <p:nvPicPr>
          <p:cNvPr id="49" name="Image 6" descr="chalkboard">    </p:cNvPr>
          <p:cNvPicPr>
            <a:picLocks noChangeAspect="1"/>
          </p:cNvPicPr>
          <p:nvPr/>
        </p:nvPicPr>
        <p:blipFill>
          <a:blip r:embed="rId7"/>
          <a:stretch>
            <a:fillRect/>
          </a:stretch>
        </p:blipFill>
        <p:spPr>
          <a:xfrm>
            <a:off x="5804408" y="5308745"/>
            <a:ext cx="274320" cy="274320"/>
          </a:xfrm>
          <a:prstGeom prst="rect">
            <a:avLst/>
          </a:prstGeom>
        </p:spPr>
      </p:pic>
      <p:sp>
        <p:nvSpPr>
          <p:cNvPr id="50" name="Text 41"/>
          <p:cNvSpPr txBox="1"/>
          <p:nvPr/>
        </p:nvSpPr>
        <p:spPr>
          <a:xfrm>
            <a:off x="6188456" y="5188567"/>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교원 독서수업 역량</a:t>
            </a:r>
            <a:endParaRPr lang="en-US" sz="1550" dirty="0"/>
          </a:p>
        </p:txBody>
      </p:sp>
      <p:sp>
        <p:nvSpPr>
          <p:cNvPr id="51" name="Text 42"/>
          <p:cNvSpPr txBox="1"/>
          <p:nvPr/>
        </p:nvSpPr>
        <p:spPr>
          <a:xfrm>
            <a:off x="8465312" y="5188567"/>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찾아가는 교원 연수 15시간, 수업 나눔</a:t>
            </a:r>
            <a:endParaRPr lang="en-US" sz="1500" dirty="0"/>
          </a:p>
        </p:txBody>
      </p:sp>
      <p:sp>
        <p:nvSpPr>
          <p:cNvPr id="52" name="Shape 43"/>
          <p:cNvSpPr/>
          <p:nvPr/>
        </p:nvSpPr>
        <p:spPr>
          <a:xfrm>
            <a:off x="5676392" y="5758107"/>
            <a:ext cx="6009640" cy="514677"/>
          </a:xfrm>
          <a:prstGeom prst="roundRect">
            <a:avLst>
              <a:gd name="adj" fmla="val 14213"/>
            </a:avLst>
          </a:prstGeom>
          <a:solidFill>
            <a:srgbClr val="E6F0E7"/>
          </a:solidFill>
          <a:ln w="9525">
            <a:solidFill>
              <a:srgbClr val="D3E6D6"/>
            </a:solidFill>
            <a:prstDash val="solid"/>
          </a:ln>
        </p:spPr>
      </p:sp>
      <p:pic>
        <p:nvPicPr>
          <p:cNvPr id="53" name="Image 7" descr="archive">    </p:cNvPr>
          <p:cNvPicPr>
            <a:picLocks noChangeAspect="1"/>
          </p:cNvPicPr>
          <p:nvPr/>
        </p:nvPicPr>
        <p:blipFill>
          <a:blip r:embed="rId8"/>
          <a:stretch>
            <a:fillRect/>
          </a:stretch>
        </p:blipFill>
        <p:spPr>
          <a:xfrm>
            <a:off x="5804408" y="5878286"/>
            <a:ext cx="274320" cy="274320"/>
          </a:xfrm>
          <a:prstGeom prst="rect">
            <a:avLst/>
          </a:prstGeom>
        </p:spPr>
      </p:pic>
      <p:sp>
        <p:nvSpPr>
          <p:cNvPr id="54" name="Text 44"/>
          <p:cNvSpPr txBox="1"/>
          <p:nvPr/>
        </p:nvSpPr>
        <p:spPr>
          <a:xfrm>
            <a:off x="6188456" y="5758107"/>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독서 기록과 성과 관리</a:t>
            </a:r>
            <a:endParaRPr lang="en-US" sz="1550" dirty="0"/>
          </a:p>
        </p:txBody>
      </p:sp>
      <p:sp>
        <p:nvSpPr>
          <p:cNvPr id="55" name="Text 45"/>
          <p:cNvSpPr txBox="1"/>
          <p:nvPr/>
        </p:nvSpPr>
        <p:spPr>
          <a:xfrm>
            <a:off x="8465312" y="5758107"/>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기록장, 우리 학교 성장, 통합 현황</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사업 개요와 역할</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플랫폼, 연수, 운영지원, 성과보고를 한 사업으로 묶어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 독서수업이 자리 잡도록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돕습니다</a:t>
            </a:r>
            <a:endParaRPr lang="en-US" sz="1400" dirty="0"/>
          </a:p>
        </p:txBody>
      </p:sp>
      <p:sp>
        <p:nvSpPr>
          <p:cNvPr id="10" name="Text 7"/>
          <p:cNvSpPr txBox="1"/>
          <p:nvPr/>
        </p:nvSpPr>
        <p:spPr>
          <a:xfrm>
            <a:off x="133449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36068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사업비는 학교당 연간 표준 예산단가 검토안이며, 항목별 금액은 참여 학교 수와 학급 규모가 정해진 뒤 산출내역서로 제출합니다. 운영 방식은 교육청 여건에 따라 고름.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7</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6240488" cy="914400"/>
        </p:xfrm>
        <a:graphic>
          <a:graphicData uri="http://schemas.openxmlformats.org/drawingml/2006/table">
            <a:tbl>
              <a:tblPr/>
              <a:tblGrid>
                <a:gridCol w="1325880"/>
                <a:gridCol w="4914608"/>
              </a:tblGrid>
              <a:tr h="62179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구분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내용</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사업명</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초등 디지털 독서교육 플랫폼 기반 온라인 독서교육 통합운영 사업</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 대상</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교육청이 선정한 참여 초등학교 1~6학년 학생과 담당 교원</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제공 내용</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부기 300권과 차시 자료, 어휘력 진단, 교원 연수, 원격 운영지원, 성과보고</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운영 방식</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F7D4F"/>
                          </a:solidFill>
                          <a:latin typeface="Freesentation 7 Bold" pitchFamily="34" charset="0"/>
                          <a:ea typeface="Freesentation 7 Bold" pitchFamily="34" charset="-122"/>
                          <a:cs typeface="Freesentation 7 Bold" pitchFamily="34" charset="-120"/>
                        </a:rPr>
                        <a:t>플랫폼 운영형</a:t>
                      </a:r>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 또는 교육 강사가 찾아가는 </a:t>
                      </a:r>
                      <a:pPr algn="l" indent="0" marL="0">
                        <a:buNone/>
                      </a:pPr>
                      <a:r>
                        <a:rPr lang="en-US" sz="1600" dirty="0">
                          <a:solidFill>
                            <a:srgbClr val="2F7D4F"/>
                          </a:solidFill>
                          <a:latin typeface="Freesentation 7 Bold" pitchFamily="34" charset="0"/>
                          <a:ea typeface="Freesentation 7 Bold" pitchFamily="34" charset="-122"/>
                          <a:cs typeface="Freesentation 7 Bold" pitchFamily="34" charset="-120"/>
                        </a:rPr>
                        <a:t>독서교육 위탁 운영형</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사업비</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학급 규모 4개 구간 차등, 학교당 연 500만~2,000만 원(안)</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운영 기관</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주식회사 엠에스이씨엠(MSECM)</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Shape 11"/>
          <p:cNvSpPr/>
          <p:nvPr/>
        </p:nvSpPr>
        <p:spPr>
          <a:xfrm>
            <a:off x="7063448" y="1920240"/>
            <a:ext cx="4622584" cy="1353312"/>
          </a:xfrm>
          <a:prstGeom prst="roundRect">
            <a:avLst>
              <a:gd name="adj" fmla="val 6757"/>
            </a:avLst>
          </a:prstGeom>
          <a:solidFill>
            <a:srgbClr val="FFFFFF"/>
          </a:solidFill>
          <a:ln w="9525">
            <a:solidFill>
              <a:srgbClr val="E2DCCB"/>
            </a:solidFill>
            <a:prstDash val="solid"/>
          </a:ln>
        </p:spPr>
      </p:sp>
      <p:sp>
        <p:nvSpPr>
          <p:cNvPr id="16" name="Shape 12"/>
          <p:cNvSpPr/>
          <p:nvPr/>
        </p:nvSpPr>
        <p:spPr>
          <a:xfrm>
            <a:off x="7063448" y="1920240"/>
            <a:ext cx="1417320" cy="1353312"/>
          </a:xfrm>
          <a:prstGeom prst="roundRect">
            <a:avLst>
              <a:gd name="adj" fmla="val 6757"/>
            </a:avLst>
          </a:prstGeom>
          <a:solidFill>
            <a:srgbClr val="2B4637"/>
          </a:solidFill>
          <a:ln/>
        </p:spPr>
      </p:sp>
      <p:pic>
        <p:nvPicPr>
          <p:cNvPr id="17" name="Image 1" descr="building-bank">    </p:cNvPr>
          <p:cNvPicPr>
            <a:picLocks noChangeAspect="1"/>
          </p:cNvPicPr>
          <p:nvPr/>
        </p:nvPicPr>
        <p:blipFill>
          <a:blip r:embed="rId2"/>
          <a:stretch>
            <a:fillRect/>
          </a:stretch>
        </p:blipFill>
        <p:spPr>
          <a:xfrm>
            <a:off x="7566368" y="2121408"/>
            <a:ext cx="411480" cy="411480"/>
          </a:xfrm>
          <a:prstGeom prst="rect">
            <a:avLst/>
          </a:prstGeom>
        </p:spPr>
      </p:pic>
      <p:sp>
        <p:nvSpPr>
          <p:cNvPr id="18" name="Text 13"/>
          <p:cNvSpPr txBox="1"/>
          <p:nvPr/>
        </p:nvSpPr>
        <p:spPr>
          <a:xfrm>
            <a:off x="7109168" y="2578608"/>
            <a:ext cx="1325880" cy="621792"/>
          </a:xfrm>
          <a:prstGeom prst="rect">
            <a:avLst/>
          </a:prstGeom>
          <a:noFill/>
          <a:ln/>
        </p:spPr>
        <p:txBody>
          <a:bodyPr wrap="square" lIns="0" tIns="0" rIns="0" bIns="0" rtlCol="0" anchor="t"/>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교육청</a:t>
            </a:r>
            <a:endParaRPr lang="en-US" sz="1600" dirty="0"/>
          </a:p>
        </p:txBody>
      </p:sp>
      <p:sp>
        <p:nvSpPr>
          <p:cNvPr id="19" name="Text 14"/>
          <p:cNvSpPr txBox="1"/>
          <p:nvPr/>
        </p:nvSpPr>
        <p:spPr>
          <a:xfrm>
            <a:off x="8636216" y="2029968"/>
            <a:ext cx="2930944" cy="1133856"/>
          </a:xfrm>
          <a:prstGeom prst="rect">
            <a:avLst/>
          </a:prstGeom>
          <a:noFill/>
          <a:ln/>
        </p:spPr>
        <p:txBody>
          <a:bodyPr wrap="square" lIns="0" tIns="0" rIns="0" bIns="0" rtlCol="0" anchor="ct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참여 학교 선정과 사업 총괄</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월간, 분기 보고로 성과 점검</a:t>
            </a:r>
            <a:endParaRPr lang="en-US" sz="1650" dirty="0"/>
          </a:p>
        </p:txBody>
      </p:sp>
      <p:sp>
        <p:nvSpPr>
          <p:cNvPr id="20" name="Shape 15"/>
          <p:cNvSpPr/>
          <p:nvPr/>
        </p:nvSpPr>
        <p:spPr>
          <a:xfrm>
            <a:off x="7666952" y="3255264"/>
            <a:ext cx="219456" cy="182880"/>
          </a:xfrm>
          <a:prstGeom prst="chevron">
            <a:avLst/>
          </a:prstGeom>
          <a:solidFill>
            <a:srgbClr val="C08A1E"/>
          </a:solidFill>
          <a:ln/>
        </p:spPr>
      </p:sp>
      <p:sp>
        <p:nvSpPr>
          <p:cNvPr id="21" name="Shape 16"/>
          <p:cNvSpPr/>
          <p:nvPr/>
        </p:nvSpPr>
        <p:spPr>
          <a:xfrm>
            <a:off x="7063448" y="3419856"/>
            <a:ext cx="4622584" cy="1353312"/>
          </a:xfrm>
          <a:prstGeom prst="roundRect">
            <a:avLst>
              <a:gd name="adj" fmla="val 6757"/>
            </a:avLst>
          </a:prstGeom>
          <a:solidFill>
            <a:srgbClr val="FFFFFF"/>
          </a:solidFill>
          <a:ln w="9525">
            <a:solidFill>
              <a:srgbClr val="E2DCCB"/>
            </a:solidFill>
            <a:prstDash val="solid"/>
          </a:ln>
        </p:spPr>
      </p:sp>
      <p:sp>
        <p:nvSpPr>
          <p:cNvPr id="22" name="Shape 17"/>
          <p:cNvSpPr/>
          <p:nvPr/>
        </p:nvSpPr>
        <p:spPr>
          <a:xfrm>
            <a:off x="7063448" y="3419856"/>
            <a:ext cx="1417320" cy="1353312"/>
          </a:xfrm>
          <a:prstGeom prst="roundRect">
            <a:avLst>
              <a:gd name="adj" fmla="val 6757"/>
            </a:avLst>
          </a:prstGeom>
          <a:solidFill>
            <a:srgbClr val="2B4637"/>
          </a:solidFill>
          <a:ln/>
        </p:spPr>
      </p:sp>
      <p:pic>
        <p:nvPicPr>
          <p:cNvPr id="23" name="Image 2" descr="school">    </p:cNvPr>
          <p:cNvPicPr>
            <a:picLocks noChangeAspect="1"/>
          </p:cNvPicPr>
          <p:nvPr/>
        </p:nvPicPr>
        <p:blipFill>
          <a:blip r:embed="rId3"/>
          <a:stretch>
            <a:fillRect/>
          </a:stretch>
        </p:blipFill>
        <p:spPr>
          <a:xfrm>
            <a:off x="7566368" y="3621024"/>
            <a:ext cx="411480" cy="411480"/>
          </a:xfrm>
          <a:prstGeom prst="rect">
            <a:avLst/>
          </a:prstGeom>
        </p:spPr>
      </p:pic>
      <p:sp>
        <p:nvSpPr>
          <p:cNvPr id="24" name="Text 18"/>
          <p:cNvSpPr txBox="1"/>
          <p:nvPr/>
        </p:nvSpPr>
        <p:spPr>
          <a:xfrm>
            <a:off x="7109168" y="4078224"/>
            <a:ext cx="1325880" cy="621792"/>
          </a:xfrm>
          <a:prstGeom prst="rect">
            <a:avLst/>
          </a:prstGeom>
          <a:noFill/>
          <a:ln/>
        </p:spPr>
        <p:txBody>
          <a:bodyPr wrap="square" lIns="0" tIns="0" rIns="0" bIns="0" rtlCol="0" anchor="t"/>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학교와 교사</a:t>
            </a:r>
            <a:endParaRPr lang="en-US" sz="1600" dirty="0"/>
          </a:p>
        </p:txBody>
      </p:sp>
      <p:sp>
        <p:nvSpPr>
          <p:cNvPr id="25" name="Text 19"/>
          <p:cNvSpPr txBox="1"/>
          <p:nvPr/>
        </p:nvSpPr>
        <p:spPr>
          <a:xfrm>
            <a:off x="8636216" y="3529584"/>
            <a:ext cx="2930944" cy="1133856"/>
          </a:xfrm>
          <a:prstGeom prst="rect">
            <a:avLst/>
          </a:prstGeom>
          <a:noFill/>
          <a:ln/>
        </p:spPr>
        <p:txBody>
          <a:bodyPr wrap="square" lIns="0" tIns="0" rIns="0" bIns="0" rtlCol="0" anchor="ct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학급 개설과 학생 계정 운영</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부기 차시로 독서수업 운영</a:t>
            </a:r>
            <a:endParaRPr lang="en-US" sz="1650" dirty="0"/>
          </a:p>
        </p:txBody>
      </p:sp>
      <p:sp>
        <p:nvSpPr>
          <p:cNvPr id="26" name="Shape 20"/>
          <p:cNvSpPr/>
          <p:nvPr/>
        </p:nvSpPr>
        <p:spPr>
          <a:xfrm>
            <a:off x="7666952" y="4754880"/>
            <a:ext cx="219456" cy="182880"/>
          </a:xfrm>
          <a:prstGeom prst="chevron">
            <a:avLst/>
          </a:prstGeom>
          <a:solidFill>
            <a:srgbClr val="C08A1E"/>
          </a:solidFill>
          <a:ln/>
        </p:spPr>
      </p:sp>
      <p:sp>
        <p:nvSpPr>
          <p:cNvPr id="27" name="Shape 21"/>
          <p:cNvSpPr/>
          <p:nvPr/>
        </p:nvSpPr>
        <p:spPr>
          <a:xfrm>
            <a:off x="7063448" y="4919472"/>
            <a:ext cx="4622584" cy="1353312"/>
          </a:xfrm>
          <a:prstGeom prst="roundRect">
            <a:avLst>
              <a:gd name="adj" fmla="val 6757"/>
            </a:avLst>
          </a:prstGeom>
          <a:solidFill>
            <a:srgbClr val="E6F0E7"/>
          </a:solidFill>
          <a:ln w="9525">
            <a:solidFill>
              <a:srgbClr val="E2DCCB"/>
            </a:solidFill>
            <a:prstDash val="solid"/>
          </a:ln>
        </p:spPr>
      </p:sp>
      <p:sp>
        <p:nvSpPr>
          <p:cNvPr id="28" name="Shape 22"/>
          <p:cNvSpPr/>
          <p:nvPr/>
        </p:nvSpPr>
        <p:spPr>
          <a:xfrm>
            <a:off x="7063448" y="4919472"/>
            <a:ext cx="1417320" cy="1353312"/>
          </a:xfrm>
          <a:prstGeom prst="roundRect">
            <a:avLst>
              <a:gd name="adj" fmla="val 6757"/>
            </a:avLst>
          </a:prstGeom>
          <a:solidFill>
            <a:srgbClr val="2F7D4F"/>
          </a:solidFill>
          <a:ln/>
        </p:spPr>
      </p:sp>
      <p:pic>
        <p:nvPicPr>
          <p:cNvPr id="29" name="Image 3" descr="headset">    </p:cNvPr>
          <p:cNvPicPr>
            <a:picLocks noChangeAspect="1"/>
          </p:cNvPicPr>
          <p:nvPr/>
        </p:nvPicPr>
        <p:blipFill>
          <a:blip r:embed="rId4"/>
          <a:stretch>
            <a:fillRect/>
          </a:stretch>
        </p:blipFill>
        <p:spPr>
          <a:xfrm>
            <a:off x="7566368" y="5120640"/>
            <a:ext cx="411480" cy="411480"/>
          </a:xfrm>
          <a:prstGeom prst="rect">
            <a:avLst/>
          </a:prstGeom>
        </p:spPr>
      </p:pic>
      <p:sp>
        <p:nvSpPr>
          <p:cNvPr id="30" name="Text 23"/>
          <p:cNvSpPr txBox="1"/>
          <p:nvPr/>
        </p:nvSpPr>
        <p:spPr>
          <a:xfrm>
            <a:off x="7109168" y="5577840"/>
            <a:ext cx="1325880" cy="621792"/>
          </a:xfrm>
          <a:prstGeom prst="rect">
            <a:avLst/>
          </a:prstGeom>
          <a:noFill/>
          <a:ln/>
        </p:spPr>
        <p:txBody>
          <a:bodyPr wrap="square" lIns="0" tIns="0" rIns="0" bIns="0" rtlCol="0" anchor="t"/>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제안기관(MSECM)</a:t>
            </a:r>
            <a:endParaRPr lang="en-US" sz="1600" dirty="0"/>
          </a:p>
        </p:txBody>
      </p:sp>
      <p:sp>
        <p:nvSpPr>
          <p:cNvPr id="31" name="Text 24"/>
          <p:cNvSpPr txBox="1"/>
          <p:nvPr/>
        </p:nvSpPr>
        <p:spPr>
          <a:xfrm>
            <a:off x="8636216" y="5029200"/>
            <a:ext cx="2930944" cy="1133856"/>
          </a:xfrm>
          <a:prstGeom prst="rect">
            <a:avLst/>
          </a:prstGeom>
          <a:noFill/>
          <a:ln/>
        </p:spPr>
        <p:txBody>
          <a:bodyPr wrap="square" lIns="0" tIns="0" rIns="0" bIns="0" rtlCol="0" anchor="ct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플랫폼 제공, 찾아가는 연수, 헬프데스크</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미활용 학급 지원과 성과 분석 보고</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학생 독서 역량 향상</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실제로 쓴 학생 1인당 한 달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22.5권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끝까지 읽고 자기 생각을 말하는 학생을 기릅니다</a:t>
            </a:r>
            <a:endParaRPr lang="en-US" sz="1400" dirty="0"/>
          </a:p>
        </p:txBody>
      </p:sp>
      <p:sp>
        <p:nvSpPr>
          <p:cNvPr id="10" name="Text 7"/>
          <p:cNvSpPr txBox="1"/>
          <p:nvPr/>
        </p:nvSpPr>
        <p:spPr>
          <a:xfrm>
            <a:off x="166357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3160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1인당 권수와 독후활동 수는 선도교사단 72학급 온오프라인 운영 결과 종합(2026. 9. 20.~10. 21.). 선도 학교 교사 의견은 「2026. 부기 사용 결과 기록」 가운데 홍보 사용에 동의한 후기 원문. 사진은 석산초 수업 장면(얼굴 모자이크).</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8</a:t>
            </a:r>
            <a:endParaRPr lang="en-US" sz="1250" dirty="0"/>
          </a:p>
        </p:txBody>
      </p:sp>
      <p:sp>
        <p:nvSpPr>
          <p:cNvPr id="14" name="Shape 11"/>
          <p:cNvSpPr/>
          <p:nvPr/>
        </p:nvSpPr>
        <p:spPr>
          <a:xfrm>
            <a:off x="502920" y="1920240"/>
            <a:ext cx="2658618" cy="4352544"/>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594360" y="2011680"/>
            <a:ext cx="2475738" cy="2148840"/>
          </a:xfrm>
          <a:prstGeom prst="roundRect">
            <a:avLst>
              <a:gd name="adj" fmla="val 3404"/>
            </a:avLst>
          </a:prstGeom>
          <a:solidFill>
            <a:srgbClr val="FFFFFF"/>
          </a:solidFill>
          <a:ln w="9525">
            <a:solidFill>
              <a:srgbClr val="E2DCCB"/>
            </a:solidFill>
            <a:prstDash val="solid"/>
          </a:ln>
        </p:spPr>
      </p:sp>
      <p:pic>
        <p:nvPicPr>
          <p:cNvPr id="16" name="Image 1" descr="화면">    </p:cNvPr>
          <p:cNvPicPr>
            <a:picLocks noChangeAspect="1"/>
          </p:cNvPicPr>
          <p:nvPr/>
        </p:nvPicPr>
        <p:blipFill>
          <a:blip r:embed="rId2"/>
          <a:stretch>
            <a:fillRect/>
          </a:stretch>
        </p:blipFill>
        <p:spPr>
          <a:xfrm>
            <a:off x="630936" y="2048256"/>
            <a:ext cx="2402586" cy="2075688"/>
          </a:xfrm>
          <a:prstGeom prst="rect">
            <a:avLst/>
          </a:prstGeom>
        </p:spPr>
      </p:pic>
      <p:sp>
        <p:nvSpPr>
          <p:cNvPr id="17" name="Shape 13"/>
          <p:cNvSpPr/>
          <p:nvPr/>
        </p:nvSpPr>
        <p:spPr>
          <a:xfrm>
            <a:off x="649224" y="3630168"/>
            <a:ext cx="784606"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18" name="Text 14"/>
          <p:cNvSpPr txBox="1"/>
          <p:nvPr/>
        </p:nvSpPr>
        <p:spPr>
          <a:xfrm>
            <a:off x="649224" y="3630168"/>
            <a:ext cx="784606"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98%</a:t>
            </a:r>
            <a:endParaRPr lang="en-US" sz="1900" dirty="0"/>
          </a:p>
        </p:txBody>
      </p:sp>
      <p:sp>
        <p:nvSpPr>
          <p:cNvPr id="19" name="Shape 15"/>
          <p:cNvSpPr/>
          <p:nvPr/>
        </p:nvSpPr>
        <p:spPr>
          <a:xfrm>
            <a:off x="630936" y="4306824"/>
            <a:ext cx="292608" cy="292608"/>
          </a:xfrm>
          <a:prstGeom prst="ellipse">
            <a:avLst/>
          </a:prstGeom>
          <a:solidFill>
            <a:srgbClr val="2F7D4F"/>
          </a:solidFill>
          <a:ln/>
        </p:spPr>
      </p:sp>
      <p:sp>
        <p:nvSpPr>
          <p:cNvPr id="20" name="Text 16"/>
          <p:cNvSpPr txBox="1"/>
          <p:nvPr/>
        </p:nvSpPr>
        <p:spPr>
          <a:xfrm>
            <a:off x="630936"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978408"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완독 경험 확대</a:t>
            </a:r>
            <a:endParaRPr lang="en-US" sz="1750" dirty="0"/>
          </a:p>
        </p:txBody>
      </p:sp>
      <p:sp>
        <p:nvSpPr>
          <p:cNvPr id="22" name="Text 18"/>
          <p:cNvSpPr txBox="1"/>
          <p:nvPr/>
        </p:nvSpPr>
        <p:spPr>
          <a:xfrm>
            <a:off x="649224"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모르는 낱말을 누르면 읽던 자리에서 뜻이 떠 마지막 쪽까지 읽습니다.</a:t>
            </a:r>
            <a:endParaRPr lang="en-US" sz="1550" dirty="0"/>
          </a:p>
        </p:txBody>
      </p:sp>
      <p:sp>
        <p:nvSpPr>
          <p:cNvPr id="23" name="Shape 19"/>
          <p:cNvSpPr/>
          <p:nvPr/>
        </p:nvSpPr>
        <p:spPr>
          <a:xfrm>
            <a:off x="594360" y="5577840"/>
            <a:ext cx="2475738" cy="603504"/>
          </a:xfrm>
          <a:prstGeom prst="roundRect">
            <a:avLst>
              <a:gd name="adj" fmla="val 12121"/>
            </a:avLst>
          </a:prstGeom>
          <a:solidFill>
            <a:srgbClr val="FFFFFF"/>
          </a:solidFill>
          <a:ln w="9525">
            <a:solidFill>
              <a:srgbClr val="D3E6D6"/>
            </a:solidFill>
            <a:prstDash val="solid"/>
          </a:ln>
        </p:spPr>
      </p:sp>
      <p:sp>
        <p:nvSpPr>
          <p:cNvPr id="24" name="Text 20"/>
          <p:cNvSpPr txBox="1"/>
          <p:nvPr/>
        </p:nvSpPr>
        <p:spPr>
          <a:xfrm>
            <a:off x="685800"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글 속 낱말 98%를 알아야 혼자 읽음(Hu &amp; Nation, 2000)</a:t>
            </a:r>
            <a:endParaRPr lang="en-US" sz="1650" dirty="0"/>
          </a:p>
        </p:txBody>
      </p:sp>
      <p:sp>
        <p:nvSpPr>
          <p:cNvPr id="25" name="Shape 21"/>
          <p:cNvSpPr/>
          <p:nvPr/>
        </p:nvSpPr>
        <p:spPr>
          <a:xfrm>
            <a:off x="3344418" y="1920240"/>
            <a:ext cx="2658618" cy="4352544"/>
          </a:xfrm>
          <a:prstGeom prst="roundRect">
            <a:avLst>
              <a:gd name="adj" fmla="val 3439"/>
            </a:avLst>
          </a:prstGeom>
          <a:solidFill>
            <a:srgbClr val="FFFFFF"/>
          </a:solidFill>
          <a:ln w="9525">
            <a:solidFill>
              <a:srgbClr val="E2DCCB"/>
            </a:solidFill>
            <a:prstDash val="solid"/>
          </a:ln>
        </p:spPr>
      </p:sp>
      <p:sp>
        <p:nvSpPr>
          <p:cNvPr id="26" name="Shape 22"/>
          <p:cNvSpPr/>
          <p:nvPr/>
        </p:nvSpPr>
        <p:spPr>
          <a:xfrm>
            <a:off x="3435858" y="2011680"/>
            <a:ext cx="2475738" cy="2148840"/>
          </a:xfrm>
          <a:prstGeom prst="roundRect">
            <a:avLst>
              <a:gd name="adj" fmla="val 3404"/>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72434" y="2048256"/>
            <a:ext cx="2402586" cy="2075688"/>
          </a:xfrm>
          <a:prstGeom prst="rect">
            <a:avLst/>
          </a:prstGeom>
        </p:spPr>
      </p:pic>
      <p:sp>
        <p:nvSpPr>
          <p:cNvPr id="28" name="Shape 23"/>
          <p:cNvSpPr/>
          <p:nvPr/>
        </p:nvSpPr>
        <p:spPr>
          <a:xfrm>
            <a:off x="3490722" y="3630168"/>
            <a:ext cx="1288923"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29" name="Text 24"/>
          <p:cNvSpPr txBox="1"/>
          <p:nvPr/>
        </p:nvSpPr>
        <p:spPr>
          <a:xfrm>
            <a:off x="3490722" y="3630168"/>
            <a:ext cx="1288923"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1,816건</a:t>
            </a:r>
            <a:endParaRPr lang="en-US" sz="1900" dirty="0"/>
          </a:p>
        </p:txBody>
      </p:sp>
      <p:sp>
        <p:nvSpPr>
          <p:cNvPr id="30" name="Shape 25"/>
          <p:cNvSpPr/>
          <p:nvPr/>
        </p:nvSpPr>
        <p:spPr>
          <a:xfrm>
            <a:off x="3472434" y="4306824"/>
            <a:ext cx="292608" cy="292608"/>
          </a:xfrm>
          <a:prstGeom prst="ellipse">
            <a:avLst/>
          </a:prstGeom>
          <a:solidFill>
            <a:srgbClr val="2F7D4F"/>
          </a:solidFill>
          <a:ln/>
        </p:spPr>
      </p:sp>
      <p:sp>
        <p:nvSpPr>
          <p:cNvPr id="31" name="Text 26"/>
          <p:cNvSpPr txBox="1"/>
          <p:nvPr/>
        </p:nvSpPr>
        <p:spPr>
          <a:xfrm>
            <a:off x="3472434"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819906"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자기 생각 표현</a:t>
            </a:r>
            <a:endParaRPr lang="en-US" sz="1750" dirty="0"/>
          </a:p>
        </p:txBody>
      </p:sp>
      <p:sp>
        <p:nvSpPr>
          <p:cNvPr id="33" name="Text 28"/>
          <p:cNvSpPr txBox="1"/>
          <p:nvPr/>
        </p:nvSpPr>
        <p:spPr>
          <a:xfrm>
            <a:off x="3490722"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인물이 된 부기의 질문에 답하고, 독후활동으로 생각을 남깁니다.</a:t>
            </a:r>
            <a:endParaRPr lang="en-US" sz="1550" dirty="0"/>
          </a:p>
        </p:txBody>
      </p:sp>
      <p:sp>
        <p:nvSpPr>
          <p:cNvPr id="34" name="Shape 29"/>
          <p:cNvSpPr/>
          <p:nvPr/>
        </p:nvSpPr>
        <p:spPr>
          <a:xfrm>
            <a:off x="3435858" y="5577840"/>
            <a:ext cx="2475738" cy="603504"/>
          </a:xfrm>
          <a:prstGeom prst="roundRect">
            <a:avLst>
              <a:gd name="adj" fmla="val 12121"/>
            </a:avLst>
          </a:prstGeom>
          <a:solidFill>
            <a:srgbClr val="FFFFFF"/>
          </a:solidFill>
          <a:ln w="9525">
            <a:solidFill>
              <a:srgbClr val="D3E6D6"/>
            </a:solidFill>
            <a:prstDash val="solid"/>
          </a:ln>
        </p:spPr>
      </p:sp>
      <p:sp>
        <p:nvSpPr>
          <p:cNvPr id="35" name="Text 30"/>
          <p:cNvSpPr txBox="1"/>
          <p:nvPr/>
        </p:nvSpPr>
        <p:spPr>
          <a:xfrm>
            <a:off x="3527298"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한 달 독후활동 1,816건, 전시장 작품 160점</a:t>
            </a:r>
            <a:endParaRPr lang="en-US" sz="1650" dirty="0"/>
          </a:p>
        </p:txBody>
      </p:sp>
      <p:sp>
        <p:nvSpPr>
          <p:cNvPr id="36" name="Shape 31"/>
          <p:cNvSpPr/>
          <p:nvPr/>
        </p:nvSpPr>
        <p:spPr>
          <a:xfrm>
            <a:off x="6185916" y="1920240"/>
            <a:ext cx="2658618" cy="4352544"/>
          </a:xfrm>
          <a:prstGeom prst="roundRect">
            <a:avLst>
              <a:gd name="adj" fmla="val 3439"/>
            </a:avLst>
          </a:prstGeom>
          <a:solidFill>
            <a:srgbClr val="FBF5E6"/>
          </a:solidFill>
          <a:ln w="9525">
            <a:solidFill>
              <a:srgbClr val="E2DCCB"/>
            </a:solidFill>
            <a:prstDash val="solid"/>
          </a:ln>
        </p:spPr>
      </p:sp>
      <p:sp>
        <p:nvSpPr>
          <p:cNvPr id="37" name="Shape 32"/>
          <p:cNvSpPr/>
          <p:nvPr/>
        </p:nvSpPr>
        <p:spPr>
          <a:xfrm>
            <a:off x="6277356" y="2011680"/>
            <a:ext cx="2475738" cy="1696020"/>
          </a:xfrm>
          <a:prstGeom prst="roundRect">
            <a:avLst>
              <a:gd name="adj" fmla="val 4313"/>
            </a:avLst>
          </a:prstGeom>
          <a:solidFill>
            <a:srgbClr val="FFFFFF"/>
          </a:solidFill>
          <a:ln w="9525">
            <a:solidFill>
              <a:srgbClr val="E2DCCB"/>
            </a:solidFill>
            <a:prstDash val="solid"/>
          </a:ln>
        </p:spPr>
      </p:sp>
      <p:pic>
        <p:nvPicPr>
          <p:cNvPr id="38" name="Image 3" descr="화면">    </p:cNvPr>
          <p:cNvPicPr>
            <a:picLocks noChangeAspect="1"/>
          </p:cNvPicPr>
          <p:nvPr/>
        </p:nvPicPr>
        <p:blipFill>
          <a:blip r:embed="rId4"/>
          <a:stretch>
            <a:fillRect/>
          </a:stretch>
        </p:blipFill>
        <p:spPr>
          <a:xfrm>
            <a:off x="6341364" y="2075688"/>
            <a:ext cx="2347722" cy="1568004"/>
          </a:xfrm>
          <a:prstGeom prst="rect">
            <a:avLst/>
          </a:prstGeom>
        </p:spPr>
      </p:pic>
      <p:sp>
        <p:nvSpPr>
          <p:cNvPr id="39" name="Shape 33"/>
          <p:cNvSpPr/>
          <p:nvPr/>
        </p:nvSpPr>
        <p:spPr>
          <a:xfrm>
            <a:off x="6332220" y="3630168"/>
            <a:ext cx="1354074"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40" name="Text 34"/>
          <p:cNvSpPr txBox="1"/>
          <p:nvPr/>
        </p:nvSpPr>
        <p:spPr>
          <a:xfrm>
            <a:off x="6332220" y="3630168"/>
            <a:ext cx="1354074"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소품 받기</a:t>
            </a:r>
            <a:endParaRPr lang="en-US" sz="1900" dirty="0"/>
          </a:p>
        </p:txBody>
      </p:sp>
      <p:sp>
        <p:nvSpPr>
          <p:cNvPr id="41" name="Shape 35"/>
          <p:cNvSpPr/>
          <p:nvPr/>
        </p:nvSpPr>
        <p:spPr>
          <a:xfrm>
            <a:off x="6313932" y="4306824"/>
            <a:ext cx="292608" cy="292608"/>
          </a:xfrm>
          <a:prstGeom prst="ellipse">
            <a:avLst/>
          </a:prstGeom>
          <a:solidFill>
            <a:srgbClr val="2F7D4F"/>
          </a:solidFill>
          <a:ln/>
        </p:spPr>
      </p:sp>
      <p:sp>
        <p:nvSpPr>
          <p:cNvPr id="42" name="Text 36"/>
          <p:cNvSpPr txBox="1"/>
          <p:nvPr/>
        </p:nvSpPr>
        <p:spPr>
          <a:xfrm>
            <a:off x="6313932"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43" name="Text 37"/>
          <p:cNvSpPr txBox="1"/>
          <p:nvPr/>
        </p:nvSpPr>
        <p:spPr>
          <a:xfrm>
            <a:off x="6661404"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읽는 동기 유지</a:t>
            </a:r>
            <a:endParaRPr lang="en-US" sz="1750" dirty="0"/>
          </a:p>
        </p:txBody>
      </p:sp>
      <p:sp>
        <p:nvSpPr>
          <p:cNvPr id="44" name="Text 38"/>
          <p:cNvSpPr txBox="1"/>
          <p:nvPr/>
        </p:nvSpPr>
        <p:spPr>
          <a:xfrm>
            <a:off x="6332220"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책을 끝까지 읽으면 캐릭터를 꾸밀 소품을 받습니다. 다음 책도 읽고 싶어집니다.</a:t>
            </a:r>
            <a:endParaRPr lang="en-US" sz="1550" dirty="0"/>
          </a:p>
        </p:txBody>
      </p:sp>
      <p:sp>
        <p:nvSpPr>
          <p:cNvPr id="45" name="Shape 39"/>
          <p:cNvSpPr/>
          <p:nvPr/>
        </p:nvSpPr>
        <p:spPr>
          <a:xfrm>
            <a:off x="6277356" y="5577840"/>
            <a:ext cx="2475738" cy="603504"/>
          </a:xfrm>
          <a:prstGeom prst="roundRect">
            <a:avLst>
              <a:gd name="adj" fmla="val 12121"/>
            </a:avLst>
          </a:prstGeom>
          <a:solidFill>
            <a:srgbClr val="FFFFFF"/>
          </a:solidFill>
          <a:ln w="9525">
            <a:solidFill>
              <a:srgbClr val="D3E6D6"/>
            </a:solidFill>
            <a:prstDash val="solid"/>
          </a:ln>
        </p:spPr>
      </p:sp>
      <p:sp>
        <p:nvSpPr>
          <p:cNvPr id="46" name="Text 40"/>
          <p:cNvSpPr txBox="1"/>
          <p:nvPr/>
        </p:nvSpPr>
        <p:spPr>
          <a:xfrm>
            <a:off x="6368796"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“쉬는시간에도 계속 읽고 있네요.” 선도 학교 4학년 담임</a:t>
            </a:r>
            <a:endParaRPr lang="en-US" sz="1650" dirty="0"/>
          </a:p>
        </p:txBody>
      </p:sp>
      <p:sp>
        <p:nvSpPr>
          <p:cNvPr id="47" name="Shape 41"/>
          <p:cNvSpPr/>
          <p:nvPr/>
        </p:nvSpPr>
        <p:spPr>
          <a:xfrm>
            <a:off x="9027414" y="1920240"/>
            <a:ext cx="2658618" cy="4352544"/>
          </a:xfrm>
          <a:prstGeom prst="roundRect">
            <a:avLst>
              <a:gd name="adj" fmla="val 3439"/>
            </a:avLst>
          </a:prstGeom>
          <a:solidFill>
            <a:srgbClr val="FFFFFF"/>
          </a:solidFill>
          <a:ln w="9525">
            <a:solidFill>
              <a:srgbClr val="E2DCCB"/>
            </a:solidFill>
            <a:prstDash val="solid"/>
          </a:ln>
        </p:spPr>
      </p:sp>
      <p:sp>
        <p:nvSpPr>
          <p:cNvPr id="48" name="Shape 42"/>
          <p:cNvSpPr/>
          <p:nvPr/>
        </p:nvSpPr>
        <p:spPr>
          <a:xfrm>
            <a:off x="9118854" y="2011680"/>
            <a:ext cx="2475738" cy="2140349"/>
          </a:xfrm>
          <a:prstGeom prst="roundRect">
            <a:avLst>
              <a:gd name="adj" fmla="val 3418"/>
            </a:avLst>
          </a:prstGeom>
          <a:solidFill>
            <a:srgbClr val="FFFFFF"/>
          </a:solidFill>
          <a:ln w="9525">
            <a:solidFill>
              <a:srgbClr val="E2DCCB"/>
            </a:solidFill>
            <a:prstDash val="solid"/>
          </a:ln>
        </p:spPr>
      </p:sp>
      <p:pic>
        <p:nvPicPr>
          <p:cNvPr id="49" name="Image 4" descr="화면">    </p:cNvPr>
          <p:cNvPicPr>
            <a:picLocks noChangeAspect="1"/>
          </p:cNvPicPr>
          <p:nvPr/>
        </p:nvPicPr>
        <p:blipFill>
          <a:blip r:embed="rId5"/>
          <a:stretch>
            <a:fillRect/>
          </a:stretch>
        </p:blipFill>
        <p:spPr>
          <a:xfrm>
            <a:off x="9182862" y="2075688"/>
            <a:ext cx="2347722" cy="2012333"/>
          </a:xfrm>
          <a:prstGeom prst="rect">
            <a:avLst/>
          </a:prstGeom>
        </p:spPr>
      </p:pic>
      <p:sp>
        <p:nvSpPr>
          <p:cNvPr id="50" name="Shape 43"/>
          <p:cNvSpPr/>
          <p:nvPr/>
        </p:nvSpPr>
        <p:spPr>
          <a:xfrm>
            <a:off x="9173718" y="3630168"/>
            <a:ext cx="1578483"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51" name="Text 44"/>
          <p:cNvSpPr txBox="1"/>
          <p:nvPr/>
        </p:nvSpPr>
        <p:spPr>
          <a:xfrm>
            <a:off x="9173718" y="3630168"/>
            <a:ext cx="1578483"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다국어 지원</a:t>
            </a:r>
            <a:endParaRPr lang="en-US" sz="1900" dirty="0"/>
          </a:p>
        </p:txBody>
      </p:sp>
      <p:sp>
        <p:nvSpPr>
          <p:cNvPr id="52" name="Shape 45"/>
          <p:cNvSpPr/>
          <p:nvPr/>
        </p:nvSpPr>
        <p:spPr>
          <a:xfrm>
            <a:off x="9155430" y="4306824"/>
            <a:ext cx="292608" cy="292608"/>
          </a:xfrm>
          <a:prstGeom prst="ellipse">
            <a:avLst/>
          </a:prstGeom>
          <a:solidFill>
            <a:srgbClr val="2F7D4F"/>
          </a:solidFill>
          <a:ln/>
        </p:spPr>
      </p:sp>
      <p:sp>
        <p:nvSpPr>
          <p:cNvPr id="53" name="Text 46"/>
          <p:cNvSpPr txBox="1"/>
          <p:nvPr/>
        </p:nvSpPr>
        <p:spPr>
          <a:xfrm>
            <a:off x="9155430"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54" name="Text 47"/>
          <p:cNvSpPr txBox="1"/>
          <p:nvPr/>
        </p:nvSpPr>
        <p:spPr>
          <a:xfrm>
            <a:off x="9502902"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같은 수업 참여</a:t>
            </a:r>
            <a:endParaRPr lang="en-US" sz="1750" dirty="0"/>
          </a:p>
        </p:txBody>
      </p:sp>
      <p:sp>
        <p:nvSpPr>
          <p:cNvPr id="55" name="Text 48"/>
          <p:cNvSpPr txBox="1"/>
          <p:nvPr/>
        </p:nvSpPr>
        <p:spPr>
          <a:xfrm>
            <a:off x="9173718"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학생이 원하는 언어와 한국어로 같은 책을 나란히 봅니다.</a:t>
            </a:r>
            <a:endParaRPr lang="en-US" sz="1550" dirty="0"/>
          </a:p>
        </p:txBody>
      </p:sp>
      <p:sp>
        <p:nvSpPr>
          <p:cNvPr id="56" name="Shape 49"/>
          <p:cNvSpPr/>
          <p:nvPr/>
        </p:nvSpPr>
        <p:spPr>
          <a:xfrm>
            <a:off x="9118854" y="5577840"/>
            <a:ext cx="2475738" cy="603504"/>
          </a:xfrm>
          <a:prstGeom prst="roundRect">
            <a:avLst>
              <a:gd name="adj" fmla="val 12121"/>
            </a:avLst>
          </a:prstGeom>
          <a:solidFill>
            <a:srgbClr val="FFFFFF"/>
          </a:solidFill>
          <a:ln w="9525">
            <a:solidFill>
              <a:srgbClr val="D3E6D6"/>
            </a:solidFill>
            <a:prstDash val="solid"/>
          </a:ln>
        </p:spPr>
      </p:sp>
      <p:sp>
        <p:nvSpPr>
          <p:cNvPr id="57" name="Text 50"/>
          <p:cNvSpPr txBox="1"/>
          <p:nvPr/>
        </p:nvSpPr>
        <p:spPr>
          <a:xfrm>
            <a:off x="9210294"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2026년 초등 이주배경학생 118,655명(교육부)</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학생 독서 포트폴리오</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역량, 완독, 독후활동 기록을 한 장에 모아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학생이 자신의 성장 과정을 돌아봅니다</a:t>
            </a:r>
            <a:endParaRPr lang="en-US" sz="1400" dirty="0"/>
          </a:p>
        </p:txBody>
      </p:sp>
      <p:sp>
        <p:nvSpPr>
          <p:cNvPr id="10" name="Text 7"/>
          <p:cNvSpPr txBox="1"/>
          <p:nvPr/>
        </p:nvSpPr>
        <p:spPr>
          <a:xfrm>
            <a:off x="187081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2436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6각 역량은 부기에 쌓이는 기록(어휘력 진단, 독후 퀴즈, 인물과 대화, 독후활동, 완독 권수, 읽은 날)으로 계산하는 구성안이며 학부모 안내와 학년 말 기록으로도 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9</a:t>
            </a:r>
            <a:endParaRPr lang="en-US" sz="1250" dirty="0"/>
          </a:p>
        </p:txBody>
      </p:sp>
      <p:sp>
        <p:nvSpPr>
          <p:cNvPr id="14" name="Shape 11"/>
          <p:cNvSpPr/>
          <p:nvPr/>
        </p:nvSpPr>
        <p:spPr>
          <a:xfrm>
            <a:off x="502920" y="1920240"/>
            <a:ext cx="3821904" cy="3438144"/>
          </a:xfrm>
          <a:prstGeom prst="roundRect">
            <a:avLst>
              <a:gd name="adj" fmla="val 2660"/>
            </a:avLst>
          </a:prstGeom>
          <a:solidFill>
            <a:srgbClr val="FBF5E6"/>
          </a:solidFill>
          <a:ln w="9525">
            <a:solidFill>
              <a:srgbClr val="E2DCCB"/>
            </a:solidFill>
            <a:prstDash val="solid"/>
          </a:ln>
        </p:spPr>
      </p:sp>
      <p:sp>
        <p:nvSpPr>
          <p:cNvPr id="15" name="Text 12"/>
          <p:cNvSpPr txBox="1"/>
          <p:nvPr/>
        </p:nvSpPr>
        <p:spPr>
          <a:xfrm>
            <a:off x="685800" y="2011680"/>
            <a:ext cx="345614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6각 독서 역량</a:t>
            </a:r>
            <a:endParaRPr lang="en-US" sz="1650" dirty="0"/>
          </a:p>
        </p:txBody>
      </p:sp>
      <p:sp>
        <p:nvSpPr>
          <p:cNvPr id="16" name="Text 13"/>
          <p:cNvSpPr txBox="1"/>
          <p:nvPr/>
        </p:nvSpPr>
        <p:spPr>
          <a:xfrm>
            <a:off x="685800" y="2322576"/>
            <a:ext cx="345614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3학년 학생 A, 3월과 7월</a:t>
            </a:r>
            <a:endParaRPr lang="en-US" sz="1250" dirty="0"/>
          </a:p>
        </p:txBody>
      </p:sp>
      <p:graphicFrame>
        <p:nvGraphicFramePr>
          <p:cNvPr id="17" name="Chart 0" descr=""/>
          <p:cNvGraphicFramePr/>
          <p:nvPr/>
        </p:nvGraphicFramePr>
        <p:xfrm>
          <a:off x="548640" y="2542032"/>
          <a:ext cx="3730464" cy="2761488"/>
        </p:xfrm>
        <a:graphic xmlns:a="http://schemas.openxmlformats.org/drawingml/2006/main">
          <a:graphicData uri="http://schemas.openxmlformats.org/drawingml/2006/chart">
            <c:chart xmlns:c="http://schemas.openxmlformats.org/drawingml/2006/chart" r:id="rId2"/>
          </a:graphicData>
        </a:graphic>
      </p:graphicFrame>
      <p:sp>
        <p:nvSpPr>
          <p:cNvPr id="18" name="Shape 14"/>
          <p:cNvSpPr/>
          <p:nvPr/>
        </p:nvSpPr>
        <p:spPr>
          <a:xfrm>
            <a:off x="4507704" y="1920240"/>
            <a:ext cx="3583035" cy="3438144"/>
          </a:xfrm>
          <a:prstGeom prst="roundRect">
            <a:avLst>
              <a:gd name="adj" fmla="val 2660"/>
            </a:avLst>
          </a:prstGeom>
          <a:solidFill>
            <a:srgbClr val="FFFFFF"/>
          </a:solidFill>
          <a:ln w="9525">
            <a:solidFill>
              <a:srgbClr val="E2DCCB"/>
            </a:solidFill>
            <a:prstDash val="solid"/>
          </a:ln>
        </p:spPr>
      </p:sp>
      <p:sp>
        <p:nvSpPr>
          <p:cNvPr id="19" name="Text 15"/>
          <p:cNvSpPr txBox="1"/>
          <p:nvPr/>
        </p:nvSpPr>
        <p:spPr>
          <a:xfrm>
            <a:off x="4690584" y="2011680"/>
            <a:ext cx="3217275"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월별 완독 권수</a:t>
            </a:r>
            <a:endParaRPr lang="en-US" sz="1650" dirty="0"/>
          </a:p>
        </p:txBody>
      </p:sp>
      <p:sp>
        <p:nvSpPr>
          <p:cNvPr id="20" name="Text 16"/>
          <p:cNvSpPr txBox="1"/>
          <p:nvPr/>
        </p:nvSpPr>
        <p:spPr>
          <a:xfrm>
            <a:off x="4690584" y="2322576"/>
            <a:ext cx="3217275"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올해 41권</a:t>
            </a:r>
            <a:endParaRPr lang="en-US" sz="1250" dirty="0"/>
          </a:p>
        </p:txBody>
      </p:sp>
      <p:graphicFrame>
        <p:nvGraphicFramePr>
          <p:cNvPr id="21" name="Chart 1" descr=""/>
          <p:cNvGraphicFramePr/>
          <p:nvPr/>
        </p:nvGraphicFramePr>
        <p:xfrm>
          <a:off x="4553424" y="2560320"/>
          <a:ext cx="3491595" cy="2020824"/>
        </p:xfrm>
        <a:graphic xmlns:a="http://schemas.openxmlformats.org/drawingml/2006/main">
          <a:graphicData uri="http://schemas.openxmlformats.org/drawingml/2006/chart">
            <c:chart xmlns:c="http://schemas.openxmlformats.org/drawingml/2006/chart" r:id="rId3"/>
          </a:graphicData>
        </a:graphic>
      </p:graphicFrame>
      <p:sp>
        <p:nvSpPr>
          <p:cNvPr id="22" name="Shape 17"/>
          <p:cNvSpPr/>
          <p:nvPr/>
        </p:nvSpPr>
        <p:spPr>
          <a:xfrm>
            <a:off x="4644864" y="4626864"/>
            <a:ext cx="1041945" cy="603504"/>
          </a:xfrm>
          <a:prstGeom prst="roundRect">
            <a:avLst>
              <a:gd name="adj" fmla="val 12121"/>
            </a:avLst>
          </a:prstGeom>
          <a:solidFill>
            <a:srgbClr val="E6F0E7"/>
          </a:solidFill>
          <a:ln/>
        </p:spPr>
      </p:sp>
      <p:sp>
        <p:nvSpPr>
          <p:cNvPr id="23" name="Text 18"/>
          <p:cNvSpPr txBox="1"/>
          <p:nvPr/>
        </p:nvSpPr>
        <p:spPr>
          <a:xfrm>
            <a:off x="4644864" y="4645152"/>
            <a:ext cx="1041945" cy="347472"/>
          </a:xfrm>
          <a:prstGeom prst="rect">
            <a:avLst/>
          </a:prstGeom>
          <a:noFill/>
          <a:ln/>
        </p:spPr>
        <p:txBody>
          <a:bodyPr wrap="square" lIns="0" tIns="0" rIns="0" bIns="0" rtlCol="0" anchor="ct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41</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권</a:t>
            </a:r>
            <a:endParaRPr lang="en-US" sz="1900" dirty="0"/>
          </a:p>
        </p:txBody>
      </p:sp>
      <p:sp>
        <p:nvSpPr>
          <p:cNvPr id="24" name="Text 19"/>
          <p:cNvSpPr txBox="1"/>
          <p:nvPr/>
        </p:nvSpPr>
        <p:spPr>
          <a:xfrm>
            <a:off x="4644864" y="4974336"/>
            <a:ext cx="1041945" cy="219456"/>
          </a:xfrm>
          <a:prstGeom prst="rect">
            <a:avLst/>
          </a:prstGeom>
          <a:noFill/>
          <a:ln/>
        </p:spPr>
        <p:txBody>
          <a:bodyPr wrap="square" lIns="0" tIns="0" rIns="0" bIns="0" rtlCol="0" anchor="ct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완독</a:t>
            </a:r>
            <a:endParaRPr lang="en-US" sz="1200" dirty="0"/>
          </a:p>
        </p:txBody>
      </p:sp>
      <p:sp>
        <p:nvSpPr>
          <p:cNvPr id="25" name="Shape 20"/>
          <p:cNvSpPr/>
          <p:nvPr/>
        </p:nvSpPr>
        <p:spPr>
          <a:xfrm>
            <a:off x="5778248" y="4626864"/>
            <a:ext cx="1041945" cy="603504"/>
          </a:xfrm>
          <a:prstGeom prst="roundRect">
            <a:avLst>
              <a:gd name="adj" fmla="val 12121"/>
            </a:avLst>
          </a:prstGeom>
          <a:solidFill>
            <a:srgbClr val="E6F0E7"/>
          </a:solidFill>
          <a:ln/>
        </p:spPr>
      </p:sp>
      <p:sp>
        <p:nvSpPr>
          <p:cNvPr id="26" name="Text 21"/>
          <p:cNvSpPr txBox="1"/>
          <p:nvPr/>
        </p:nvSpPr>
        <p:spPr>
          <a:xfrm>
            <a:off x="5778248" y="4645152"/>
            <a:ext cx="1041945" cy="347472"/>
          </a:xfrm>
          <a:prstGeom prst="rect">
            <a:avLst/>
          </a:prstGeom>
          <a:noFill/>
          <a:ln/>
        </p:spPr>
        <p:txBody>
          <a:bodyPr wrap="square" lIns="0" tIns="0" rIns="0" bIns="0" rtlCol="0" anchor="ct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128</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일</a:t>
            </a:r>
            <a:endParaRPr lang="en-US" sz="1900" dirty="0"/>
          </a:p>
        </p:txBody>
      </p:sp>
      <p:sp>
        <p:nvSpPr>
          <p:cNvPr id="27" name="Text 22"/>
          <p:cNvSpPr txBox="1"/>
          <p:nvPr/>
        </p:nvSpPr>
        <p:spPr>
          <a:xfrm>
            <a:off x="5778248" y="4974336"/>
            <a:ext cx="1041945" cy="219456"/>
          </a:xfrm>
          <a:prstGeom prst="rect">
            <a:avLst/>
          </a:prstGeom>
          <a:noFill/>
          <a:ln/>
        </p:spPr>
        <p:txBody>
          <a:bodyPr wrap="square" lIns="0" tIns="0" rIns="0" bIns="0" rtlCol="0" anchor="ct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읽은 날</a:t>
            </a:r>
            <a:endParaRPr lang="en-US" sz="1200" dirty="0"/>
          </a:p>
        </p:txBody>
      </p:sp>
      <p:sp>
        <p:nvSpPr>
          <p:cNvPr id="28" name="Shape 23"/>
          <p:cNvSpPr/>
          <p:nvPr/>
        </p:nvSpPr>
        <p:spPr>
          <a:xfrm>
            <a:off x="6911633" y="4626864"/>
            <a:ext cx="1041945" cy="603504"/>
          </a:xfrm>
          <a:prstGeom prst="roundRect">
            <a:avLst>
              <a:gd name="adj" fmla="val 12121"/>
            </a:avLst>
          </a:prstGeom>
          <a:solidFill>
            <a:srgbClr val="E6F0E7"/>
          </a:solidFill>
          <a:ln/>
        </p:spPr>
      </p:sp>
      <p:sp>
        <p:nvSpPr>
          <p:cNvPr id="29" name="Text 24"/>
          <p:cNvSpPr txBox="1"/>
          <p:nvPr/>
        </p:nvSpPr>
        <p:spPr>
          <a:xfrm>
            <a:off x="6911633" y="4645152"/>
            <a:ext cx="1041945" cy="347472"/>
          </a:xfrm>
          <a:prstGeom prst="rect">
            <a:avLst/>
          </a:prstGeom>
          <a:noFill/>
          <a:ln/>
        </p:spPr>
        <p:txBody>
          <a:bodyPr wrap="square" lIns="0" tIns="0" rIns="0" bIns="0" rtlCol="0" anchor="ct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Lv.7</a:t>
            </a:r>
            <a:pPr algn="ctr" indent="0" marL="0">
              <a:buNone/>
            </a:pPr>
            <a:endParaRPr lang="en-US" sz="1900" dirty="0"/>
          </a:p>
        </p:txBody>
      </p:sp>
      <p:sp>
        <p:nvSpPr>
          <p:cNvPr id="30" name="Text 25"/>
          <p:cNvSpPr txBox="1"/>
          <p:nvPr/>
        </p:nvSpPr>
        <p:spPr>
          <a:xfrm>
            <a:off x="6911633" y="4974336"/>
            <a:ext cx="1041945" cy="219456"/>
          </a:xfrm>
          <a:prstGeom prst="rect">
            <a:avLst/>
          </a:prstGeom>
          <a:noFill/>
          <a:ln/>
        </p:spPr>
        <p:txBody>
          <a:bodyPr wrap="square" lIns="0" tIns="0" rIns="0" bIns="0" rtlCol="0" anchor="ct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독서 레벨</a:t>
            </a:r>
            <a:endParaRPr lang="en-US" sz="1200" dirty="0"/>
          </a:p>
        </p:txBody>
      </p:sp>
      <p:sp>
        <p:nvSpPr>
          <p:cNvPr id="31" name="Shape 26"/>
          <p:cNvSpPr/>
          <p:nvPr/>
        </p:nvSpPr>
        <p:spPr>
          <a:xfrm>
            <a:off x="8273618" y="1920240"/>
            <a:ext cx="3412414" cy="3438144"/>
          </a:xfrm>
          <a:prstGeom prst="roundRect">
            <a:avLst>
              <a:gd name="adj" fmla="val 2680"/>
            </a:avLst>
          </a:prstGeom>
          <a:solidFill>
            <a:srgbClr val="FFFFFF"/>
          </a:solidFill>
          <a:ln w="9525">
            <a:solidFill>
              <a:srgbClr val="E2DCCB"/>
            </a:solidFill>
            <a:prstDash val="solid"/>
          </a:ln>
        </p:spPr>
      </p:sp>
      <p:sp>
        <p:nvSpPr>
          <p:cNvPr id="32" name="Text 27"/>
          <p:cNvSpPr txBox="1"/>
          <p:nvPr/>
        </p:nvSpPr>
        <p:spPr>
          <a:xfrm>
            <a:off x="8456498" y="2011680"/>
            <a:ext cx="304665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독후활동 기록</a:t>
            </a:r>
            <a:endParaRPr lang="en-US" sz="1650" dirty="0"/>
          </a:p>
        </p:txBody>
      </p:sp>
      <p:sp>
        <p:nvSpPr>
          <p:cNvPr id="33" name="Text 28"/>
          <p:cNvSpPr txBox="1"/>
          <p:nvPr/>
        </p:nvSpPr>
        <p:spPr>
          <a:xfrm>
            <a:off x="8456498" y="2322576"/>
            <a:ext cx="304665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모두 32개</a:t>
            </a:r>
            <a:endParaRPr lang="en-US" sz="1250" dirty="0"/>
          </a:p>
        </p:txBody>
      </p:sp>
      <p:graphicFrame>
        <p:nvGraphicFramePr>
          <p:cNvPr id="34" name="Chart 2" descr=""/>
          <p:cNvGraphicFramePr/>
          <p:nvPr/>
        </p:nvGraphicFramePr>
        <p:xfrm>
          <a:off x="8319338" y="2560320"/>
          <a:ext cx="3320974" cy="2743200"/>
        </p:xfrm>
        <a:graphic xmlns:a="http://schemas.openxmlformats.org/drawingml/2006/main">
          <a:graphicData uri="http://schemas.openxmlformats.org/drawingml/2006/chart">
            <c:chart xmlns:c="http://schemas.openxmlformats.org/drawingml/2006/chart" r:id="rId4"/>
          </a:graphicData>
        </a:graphic>
      </p:graphicFrame>
      <p:sp>
        <p:nvSpPr>
          <p:cNvPr id="35" name="Shape 29"/>
          <p:cNvSpPr/>
          <p:nvPr/>
        </p:nvSpPr>
        <p:spPr>
          <a:xfrm>
            <a:off x="502920" y="5504688"/>
            <a:ext cx="11183112" cy="768096"/>
          </a:xfrm>
          <a:prstGeom prst="roundRect">
            <a:avLst>
              <a:gd name="adj" fmla="val 11905"/>
            </a:avLst>
          </a:prstGeom>
          <a:solidFill>
            <a:srgbClr val="20342A"/>
          </a:solidFill>
          <a:ln/>
        </p:spPr>
      </p:sp>
      <p:sp>
        <p:nvSpPr>
          <p:cNvPr id="36" name="Text 30"/>
          <p:cNvSpPr txBox="1"/>
          <p:nvPr/>
        </p:nvSpPr>
        <p:spPr>
          <a:xfrm>
            <a:off x="731520" y="5504688"/>
            <a:ext cx="2103120" cy="768096"/>
          </a:xfrm>
          <a:prstGeom prst="rect">
            <a:avLst/>
          </a:prstGeom>
          <a:noFill/>
          <a:ln/>
        </p:spPr>
        <p:txBody>
          <a:bodyPr wrap="square" lIns="0" tIns="0" rIns="0" bIns="0" rtlCol="0" anchor="ct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역량마다 쓰는 기록</a:t>
            </a:r>
            <a:endParaRPr lang="en-US" sz="1550" dirty="0"/>
          </a:p>
        </p:txBody>
      </p:sp>
      <p:sp>
        <p:nvSpPr>
          <p:cNvPr id="37" name="Shape 31"/>
          <p:cNvSpPr/>
          <p:nvPr/>
        </p:nvSpPr>
        <p:spPr>
          <a:xfrm>
            <a:off x="2788920" y="5605272"/>
            <a:ext cx="1345692" cy="566928"/>
          </a:xfrm>
          <a:prstGeom prst="roundRect">
            <a:avLst>
              <a:gd name="adj" fmla="val 19355"/>
            </a:avLst>
          </a:prstGeom>
          <a:solidFill>
            <a:srgbClr val="2E4636"/>
          </a:solidFill>
          <a:ln/>
        </p:spPr>
      </p:sp>
      <p:sp>
        <p:nvSpPr>
          <p:cNvPr id="38" name="Text 32"/>
          <p:cNvSpPr txBox="1"/>
          <p:nvPr/>
        </p:nvSpPr>
        <p:spPr>
          <a:xfrm>
            <a:off x="2843784"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어휘력</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어휘력 진단</a:t>
            </a:r>
            <a:endParaRPr lang="en-US" sz="1400" dirty="0"/>
          </a:p>
        </p:txBody>
      </p:sp>
      <p:sp>
        <p:nvSpPr>
          <p:cNvPr id="39" name="Shape 33"/>
          <p:cNvSpPr/>
          <p:nvPr/>
        </p:nvSpPr>
        <p:spPr>
          <a:xfrm>
            <a:off x="4262628" y="5605272"/>
            <a:ext cx="1345692" cy="566928"/>
          </a:xfrm>
          <a:prstGeom prst="roundRect">
            <a:avLst>
              <a:gd name="adj" fmla="val 19355"/>
            </a:avLst>
          </a:prstGeom>
          <a:solidFill>
            <a:srgbClr val="2E4636"/>
          </a:solidFill>
          <a:ln/>
        </p:spPr>
      </p:sp>
      <p:sp>
        <p:nvSpPr>
          <p:cNvPr id="40" name="Text 34"/>
          <p:cNvSpPr txBox="1"/>
          <p:nvPr/>
        </p:nvSpPr>
        <p:spPr>
          <a:xfrm>
            <a:off x="4317492"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사실 이해</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독후 퀴즈</a:t>
            </a:r>
            <a:endParaRPr lang="en-US" sz="1400" dirty="0"/>
          </a:p>
        </p:txBody>
      </p:sp>
      <p:sp>
        <p:nvSpPr>
          <p:cNvPr id="41" name="Shape 35"/>
          <p:cNvSpPr/>
          <p:nvPr/>
        </p:nvSpPr>
        <p:spPr>
          <a:xfrm>
            <a:off x="5736336" y="5605272"/>
            <a:ext cx="1345692" cy="566928"/>
          </a:xfrm>
          <a:prstGeom prst="roundRect">
            <a:avLst>
              <a:gd name="adj" fmla="val 19355"/>
            </a:avLst>
          </a:prstGeom>
          <a:solidFill>
            <a:srgbClr val="2E4636"/>
          </a:solidFill>
          <a:ln/>
        </p:spPr>
      </p:sp>
      <p:sp>
        <p:nvSpPr>
          <p:cNvPr id="42" name="Text 36"/>
          <p:cNvSpPr txBox="1"/>
          <p:nvPr/>
        </p:nvSpPr>
        <p:spPr>
          <a:xfrm>
            <a:off x="5791200"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추론과 사고</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인물과 대화</a:t>
            </a:r>
            <a:endParaRPr lang="en-US" sz="1400" dirty="0"/>
          </a:p>
        </p:txBody>
      </p:sp>
      <p:sp>
        <p:nvSpPr>
          <p:cNvPr id="43" name="Shape 37"/>
          <p:cNvSpPr/>
          <p:nvPr/>
        </p:nvSpPr>
        <p:spPr>
          <a:xfrm>
            <a:off x="7210044" y="5605272"/>
            <a:ext cx="1345692" cy="566928"/>
          </a:xfrm>
          <a:prstGeom prst="roundRect">
            <a:avLst>
              <a:gd name="adj" fmla="val 19355"/>
            </a:avLst>
          </a:prstGeom>
          <a:solidFill>
            <a:srgbClr val="2E4636"/>
          </a:solidFill>
          <a:ln/>
        </p:spPr>
      </p:sp>
      <p:sp>
        <p:nvSpPr>
          <p:cNvPr id="44" name="Text 38"/>
          <p:cNvSpPr txBox="1"/>
          <p:nvPr/>
        </p:nvSpPr>
        <p:spPr>
          <a:xfrm>
            <a:off x="7264908"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감상과 표현</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독후활동</a:t>
            </a:r>
            <a:endParaRPr lang="en-US" sz="1400" dirty="0"/>
          </a:p>
        </p:txBody>
      </p:sp>
      <p:sp>
        <p:nvSpPr>
          <p:cNvPr id="45" name="Shape 39"/>
          <p:cNvSpPr/>
          <p:nvPr/>
        </p:nvSpPr>
        <p:spPr>
          <a:xfrm>
            <a:off x="8683752" y="5605272"/>
            <a:ext cx="1345692" cy="566928"/>
          </a:xfrm>
          <a:prstGeom prst="roundRect">
            <a:avLst>
              <a:gd name="adj" fmla="val 19355"/>
            </a:avLst>
          </a:prstGeom>
          <a:solidFill>
            <a:srgbClr val="2E4636"/>
          </a:solidFill>
          <a:ln/>
        </p:spPr>
      </p:sp>
      <p:sp>
        <p:nvSpPr>
          <p:cNvPr id="46" name="Text 40"/>
          <p:cNvSpPr txBox="1"/>
          <p:nvPr/>
        </p:nvSpPr>
        <p:spPr>
          <a:xfrm>
            <a:off x="8738616"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독서량</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완독 권수</a:t>
            </a:r>
            <a:endParaRPr lang="en-US" sz="1400" dirty="0"/>
          </a:p>
        </p:txBody>
      </p:sp>
      <p:sp>
        <p:nvSpPr>
          <p:cNvPr id="47" name="Shape 41"/>
          <p:cNvSpPr/>
          <p:nvPr/>
        </p:nvSpPr>
        <p:spPr>
          <a:xfrm>
            <a:off x="10157460" y="5605272"/>
            <a:ext cx="1345692" cy="566928"/>
          </a:xfrm>
          <a:prstGeom prst="roundRect">
            <a:avLst>
              <a:gd name="adj" fmla="val 19355"/>
            </a:avLst>
          </a:prstGeom>
          <a:solidFill>
            <a:srgbClr val="2E4636"/>
          </a:solidFill>
          <a:ln/>
        </p:spPr>
      </p:sp>
      <p:sp>
        <p:nvSpPr>
          <p:cNvPr id="48" name="Text 42"/>
          <p:cNvSpPr txBox="1"/>
          <p:nvPr/>
        </p:nvSpPr>
        <p:spPr>
          <a:xfrm>
            <a:off x="10212324"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꾸준함</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읽은 날</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능동적 읽기로 바뀌는 학생</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한 달 동안 문장 밑줄 1,184개, 짐작하고 묻고 말하며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생각하며 읽는 습관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기릅니다</a:t>
            </a:r>
            <a:endParaRPr lang="en-US" sz="1400" dirty="0"/>
          </a:p>
        </p:txBody>
      </p:sp>
      <p:sp>
        <p:nvSpPr>
          <p:cNvPr id="10" name="Text 7"/>
          <p:cNvSpPr txBox="1"/>
          <p:nvPr/>
        </p:nvSpPr>
        <p:spPr>
          <a:xfrm>
            <a:off x="169481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0036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독해 전략 근거: National Reading Panel(2000) 「Teaching Children to Read」 독해 지도 영역. 화면은 부기 학생 화면.</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10</a:t>
            </a:r>
            <a:endParaRPr lang="en-US" sz="1250" dirty="0"/>
          </a:p>
        </p:txBody>
      </p:sp>
      <p:sp>
        <p:nvSpPr>
          <p:cNvPr id="14" name="Shape 11"/>
          <p:cNvSpPr/>
          <p:nvPr/>
        </p:nvSpPr>
        <p:spPr>
          <a:xfrm>
            <a:off x="502920" y="1920240"/>
            <a:ext cx="2104949" cy="329184"/>
          </a:xfrm>
          <a:prstGeom prst="roundRect">
            <a:avLst>
              <a:gd name="adj" fmla="val 50000"/>
            </a:avLst>
          </a:prstGeom>
          <a:solidFill>
            <a:srgbClr val="5E9B6E"/>
          </a:solidFill>
          <a:ln/>
        </p:spPr>
      </p:sp>
      <p:sp>
        <p:nvSpPr>
          <p:cNvPr id="15" name="Text 12"/>
          <p:cNvSpPr txBox="1"/>
          <p:nvPr/>
        </p:nvSpPr>
        <p:spPr>
          <a:xfrm>
            <a:off x="502920" y="1920240"/>
            <a:ext cx="2104949" cy="329184"/>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전</a:t>
            </a:r>
            <a:endParaRPr lang="en-US" sz="1550" dirty="0"/>
          </a:p>
        </p:txBody>
      </p:sp>
      <p:sp>
        <p:nvSpPr>
          <p:cNvPr id="16" name="Shape 13"/>
          <p:cNvSpPr/>
          <p:nvPr/>
        </p:nvSpPr>
        <p:spPr>
          <a:xfrm>
            <a:off x="2772461" y="1920240"/>
            <a:ext cx="4374490" cy="329184"/>
          </a:xfrm>
          <a:prstGeom prst="roundRect">
            <a:avLst>
              <a:gd name="adj" fmla="val 50000"/>
            </a:avLst>
          </a:prstGeom>
          <a:solidFill>
            <a:srgbClr val="2F7D4F"/>
          </a:solidFill>
          <a:ln/>
        </p:spPr>
      </p:sp>
      <p:sp>
        <p:nvSpPr>
          <p:cNvPr id="17" name="Text 14"/>
          <p:cNvSpPr txBox="1"/>
          <p:nvPr/>
        </p:nvSpPr>
        <p:spPr>
          <a:xfrm>
            <a:off x="2772461" y="1920240"/>
            <a:ext cx="4374490" cy="329184"/>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중</a:t>
            </a:r>
            <a:endParaRPr lang="en-US" sz="1550" dirty="0"/>
          </a:p>
        </p:txBody>
      </p:sp>
      <p:sp>
        <p:nvSpPr>
          <p:cNvPr id="18" name="Shape 15"/>
          <p:cNvSpPr/>
          <p:nvPr/>
        </p:nvSpPr>
        <p:spPr>
          <a:xfrm>
            <a:off x="7311542" y="1920240"/>
            <a:ext cx="4374490" cy="329184"/>
          </a:xfrm>
          <a:prstGeom prst="roundRect">
            <a:avLst>
              <a:gd name="adj" fmla="val 50000"/>
            </a:avLst>
          </a:prstGeom>
          <a:solidFill>
            <a:srgbClr val="2B4637"/>
          </a:solidFill>
          <a:ln/>
        </p:spPr>
      </p:sp>
      <p:sp>
        <p:nvSpPr>
          <p:cNvPr id="19" name="Text 16"/>
          <p:cNvSpPr txBox="1"/>
          <p:nvPr/>
        </p:nvSpPr>
        <p:spPr>
          <a:xfrm>
            <a:off x="7311542" y="1920240"/>
            <a:ext cx="4374490" cy="329184"/>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후</a:t>
            </a:r>
            <a:endParaRPr lang="en-US" sz="1550" dirty="0"/>
          </a:p>
        </p:txBody>
      </p:sp>
      <p:sp>
        <p:nvSpPr>
          <p:cNvPr id="20" name="Shape 17"/>
          <p:cNvSpPr/>
          <p:nvPr/>
        </p:nvSpPr>
        <p:spPr>
          <a:xfrm>
            <a:off x="502920" y="2359152"/>
            <a:ext cx="2104949" cy="2788920"/>
          </a:xfrm>
          <a:prstGeom prst="roundRect">
            <a:avLst>
              <a:gd name="adj" fmla="val 4344"/>
            </a:avLst>
          </a:prstGeom>
          <a:solidFill>
            <a:srgbClr val="FBF5E6"/>
          </a:solidFill>
          <a:ln w="9525">
            <a:solidFill>
              <a:srgbClr val="E2DCCB"/>
            </a:solidFill>
            <a:prstDash val="solid"/>
          </a:ln>
        </p:spPr>
      </p:sp>
      <p:sp>
        <p:nvSpPr>
          <p:cNvPr id="21" name="Shape 18"/>
          <p:cNvSpPr/>
          <p:nvPr/>
        </p:nvSpPr>
        <p:spPr>
          <a:xfrm>
            <a:off x="808634" y="2450592"/>
            <a:ext cx="1493520" cy="1298448"/>
          </a:xfrm>
          <a:prstGeom prst="roundRect">
            <a:avLst>
              <a:gd name="adj" fmla="val 5634"/>
            </a:avLst>
          </a:prstGeom>
          <a:solidFill>
            <a:srgbClr val="FFFFFF"/>
          </a:solidFill>
          <a:ln w="9525">
            <a:solidFill>
              <a:srgbClr val="E2DCCB"/>
            </a:solidFill>
            <a:prstDash val="solid"/>
          </a:ln>
        </p:spPr>
      </p:sp>
      <p:pic>
        <p:nvPicPr>
          <p:cNvPr id="22" name="Image 1" descr="화면">    </p:cNvPr>
          <p:cNvPicPr>
            <a:picLocks noChangeAspect="1"/>
          </p:cNvPicPr>
          <p:nvPr/>
        </p:nvPicPr>
        <p:blipFill>
          <a:blip r:embed="rId2"/>
          <a:stretch>
            <a:fillRect/>
          </a:stretch>
        </p:blipFill>
        <p:spPr>
          <a:xfrm>
            <a:off x="872642" y="2514600"/>
            <a:ext cx="1365504" cy="1170432"/>
          </a:xfrm>
          <a:prstGeom prst="rect">
            <a:avLst/>
          </a:prstGeom>
        </p:spPr>
      </p:pic>
      <p:sp>
        <p:nvSpPr>
          <p:cNvPr id="23" name="Shape 19"/>
          <p:cNvSpPr/>
          <p:nvPr/>
        </p:nvSpPr>
        <p:spPr>
          <a:xfrm>
            <a:off x="612648" y="3840480"/>
            <a:ext cx="292608" cy="292608"/>
          </a:xfrm>
          <a:prstGeom prst="ellipse">
            <a:avLst/>
          </a:prstGeom>
          <a:solidFill>
            <a:srgbClr val="2F7D4F"/>
          </a:solidFill>
          <a:ln/>
        </p:spPr>
      </p:sp>
      <p:sp>
        <p:nvSpPr>
          <p:cNvPr id="24" name="Text 20"/>
          <p:cNvSpPr txBox="1"/>
          <p:nvPr/>
        </p:nvSpPr>
        <p:spPr>
          <a:xfrm>
            <a:off x="612648"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5" name="Text 21"/>
          <p:cNvSpPr txBox="1"/>
          <p:nvPr/>
        </p:nvSpPr>
        <p:spPr>
          <a:xfrm>
            <a:off x="960120"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짐작하기</a:t>
            </a:r>
            <a:endParaRPr lang="en-US" sz="1750" dirty="0"/>
          </a:p>
        </p:txBody>
      </p:sp>
      <p:sp>
        <p:nvSpPr>
          <p:cNvPr id="26" name="Text 22"/>
          <p:cNvSpPr txBox="1"/>
          <p:nvPr/>
        </p:nvSpPr>
        <p:spPr>
          <a:xfrm>
            <a:off x="630936"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표지와 삽화로 이야기를 짐작하고 읽기 시작합니다.</a:t>
            </a:r>
            <a:endParaRPr lang="en-US" sz="1450" dirty="0"/>
          </a:p>
        </p:txBody>
      </p:sp>
      <p:sp>
        <p:nvSpPr>
          <p:cNvPr id="27" name="Shape 23"/>
          <p:cNvSpPr/>
          <p:nvPr/>
        </p:nvSpPr>
        <p:spPr>
          <a:xfrm>
            <a:off x="2772461" y="2359152"/>
            <a:ext cx="2104949" cy="2788920"/>
          </a:xfrm>
          <a:prstGeom prst="roundRect">
            <a:avLst>
              <a:gd name="adj" fmla="val 4344"/>
            </a:avLst>
          </a:prstGeom>
          <a:solidFill>
            <a:srgbClr val="FFFFFF"/>
          </a:solidFill>
          <a:ln w="9525">
            <a:solidFill>
              <a:srgbClr val="E2DCCB"/>
            </a:solidFill>
            <a:prstDash val="solid"/>
          </a:ln>
        </p:spPr>
      </p:sp>
      <p:sp>
        <p:nvSpPr>
          <p:cNvPr id="28" name="Shape 24"/>
          <p:cNvSpPr/>
          <p:nvPr/>
        </p:nvSpPr>
        <p:spPr>
          <a:xfrm>
            <a:off x="3182848" y="2450592"/>
            <a:ext cx="1284174" cy="1298448"/>
          </a:xfrm>
          <a:prstGeom prst="roundRect">
            <a:avLst>
              <a:gd name="adj" fmla="val 5696"/>
            </a:avLst>
          </a:prstGeom>
          <a:solidFill>
            <a:srgbClr val="FFFFFF"/>
          </a:solidFill>
          <a:ln w="9525">
            <a:solidFill>
              <a:srgbClr val="E2DCCB"/>
            </a:solidFill>
            <a:prstDash val="solid"/>
          </a:ln>
        </p:spPr>
      </p:sp>
      <p:pic>
        <p:nvPicPr>
          <p:cNvPr id="29" name="Image 2" descr="화면">    </p:cNvPr>
          <p:cNvPicPr>
            <a:picLocks noChangeAspect="1"/>
          </p:cNvPicPr>
          <p:nvPr/>
        </p:nvPicPr>
        <p:blipFill>
          <a:blip r:embed="rId3"/>
          <a:stretch>
            <a:fillRect/>
          </a:stretch>
        </p:blipFill>
        <p:spPr>
          <a:xfrm>
            <a:off x="3246856" y="2514600"/>
            <a:ext cx="1156158" cy="1170432"/>
          </a:xfrm>
          <a:prstGeom prst="rect">
            <a:avLst/>
          </a:prstGeom>
        </p:spPr>
      </p:pic>
      <p:sp>
        <p:nvSpPr>
          <p:cNvPr id="30" name="Shape 25"/>
          <p:cNvSpPr/>
          <p:nvPr/>
        </p:nvSpPr>
        <p:spPr>
          <a:xfrm>
            <a:off x="2882189" y="3840480"/>
            <a:ext cx="292608" cy="292608"/>
          </a:xfrm>
          <a:prstGeom prst="ellipse">
            <a:avLst/>
          </a:prstGeom>
          <a:solidFill>
            <a:srgbClr val="2F7D4F"/>
          </a:solidFill>
          <a:ln/>
        </p:spPr>
      </p:sp>
      <p:sp>
        <p:nvSpPr>
          <p:cNvPr id="31" name="Text 26"/>
          <p:cNvSpPr txBox="1"/>
          <p:nvPr/>
        </p:nvSpPr>
        <p:spPr>
          <a:xfrm>
            <a:off x="2882189"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229661"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낱말 탐색</a:t>
            </a:r>
            <a:endParaRPr lang="en-US" sz="1750" dirty="0"/>
          </a:p>
        </p:txBody>
      </p:sp>
      <p:sp>
        <p:nvSpPr>
          <p:cNvPr id="33" name="Text 28"/>
          <p:cNvSpPr txBox="1"/>
          <p:nvPr/>
        </p:nvSpPr>
        <p:spPr>
          <a:xfrm>
            <a:off x="2900477"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모르는 낱말을 스스로 눌러 뜻을 찾고 이어 읽습니다.</a:t>
            </a:r>
            <a:endParaRPr lang="en-US" sz="1450" dirty="0"/>
          </a:p>
        </p:txBody>
      </p:sp>
      <p:sp>
        <p:nvSpPr>
          <p:cNvPr id="34" name="Shape 29"/>
          <p:cNvSpPr/>
          <p:nvPr/>
        </p:nvSpPr>
        <p:spPr>
          <a:xfrm>
            <a:off x="5042002" y="2359152"/>
            <a:ext cx="2104949" cy="2788920"/>
          </a:xfrm>
          <a:prstGeom prst="roundRect">
            <a:avLst>
              <a:gd name="adj" fmla="val 4344"/>
            </a:avLst>
          </a:prstGeom>
          <a:solidFill>
            <a:srgbClr val="FBF5E6"/>
          </a:solidFill>
          <a:ln w="9525">
            <a:solidFill>
              <a:srgbClr val="E2DCCB"/>
            </a:solidFill>
            <a:prstDash val="solid"/>
          </a:ln>
        </p:spPr>
      </p:sp>
      <p:sp>
        <p:nvSpPr>
          <p:cNvPr id="35" name="Shape 30"/>
          <p:cNvSpPr/>
          <p:nvPr/>
        </p:nvSpPr>
        <p:spPr>
          <a:xfrm>
            <a:off x="5259525" y="2450592"/>
            <a:ext cx="1669902" cy="1298448"/>
          </a:xfrm>
          <a:prstGeom prst="roundRect">
            <a:avLst>
              <a:gd name="adj" fmla="val 5634"/>
            </a:avLst>
          </a:prstGeom>
          <a:solidFill>
            <a:srgbClr val="FFFFFF"/>
          </a:solidFill>
          <a:ln w="9525">
            <a:solidFill>
              <a:srgbClr val="E2DCCB"/>
            </a:solidFill>
            <a:prstDash val="solid"/>
          </a:ln>
        </p:spPr>
      </p:sp>
      <p:pic>
        <p:nvPicPr>
          <p:cNvPr id="36" name="Image 3" descr="화면">    </p:cNvPr>
          <p:cNvPicPr>
            <a:picLocks noChangeAspect="1"/>
          </p:cNvPicPr>
          <p:nvPr/>
        </p:nvPicPr>
        <p:blipFill>
          <a:blip r:embed="rId4"/>
          <a:stretch>
            <a:fillRect/>
          </a:stretch>
        </p:blipFill>
        <p:spPr>
          <a:xfrm>
            <a:off x="5323533" y="2514600"/>
            <a:ext cx="1541886" cy="1170432"/>
          </a:xfrm>
          <a:prstGeom prst="rect">
            <a:avLst/>
          </a:prstGeom>
        </p:spPr>
      </p:pic>
      <p:sp>
        <p:nvSpPr>
          <p:cNvPr id="37" name="Shape 31"/>
          <p:cNvSpPr/>
          <p:nvPr/>
        </p:nvSpPr>
        <p:spPr>
          <a:xfrm>
            <a:off x="5151730" y="3840480"/>
            <a:ext cx="292608" cy="292608"/>
          </a:xfrm>
          <a:prstGeom prst="ellipse">
            <a:avLst/>
          </a:prstGeom>
          <a:solidFill>
            <a:srgbClr val="2F7D4F"/>
          </a:solidFill>
          <a:ln/>
        </p:spPr>
      </p:sp>
      <p:sp>
        <p:nvSpPr>
          <p:cNvPr id="38" name="Text 32"/>
          <p:cNvSpPr txBox="1"/>
          <p:nvPr/>
        </p:nvSpPr>
        <p:spPr>
          <a:xfrm>
            <a:off x="5151730"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39" name="Text 33"/>
          <p:cNvSpPr txBox="1"/>
          <p:nvPr/>
        </p:nvSpPr>
        <p:spPr>
          <a:xfrm>
            <a:off x="5499202"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이해 점검</a:t>
            </a:r>
            <a:endParaRPr lang="en-US" sz="1750" dirty="0"/>
          </a:p>
        </p:txBody>
      </p:sp>
      <p:sp>
        <p:nvSpPr>
          <p:cNvPr id="40" name="Text 34"/>
          <p:cNvSpPr txBox="1"/>
          <p:nvPr/>
        </p:nvSpPr>
        <p:spPr>
          <a:xfrm>
            <a:off x="5170018"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독후 퀴즈로 읽은 내용을 확인하고 놓친 장면을 다시 봅니다.</a:t>
            </a:r>
            <a:endParaRPr lang="en-US" sz="1450" dirty="0"/>
          </a:p>
        </p:txBody>
      </p:sp>
      <p:sp>
        <p:nvSpPr>
          <p:cNvPr id="41" name="Shape 35"/>
          <p:cNvSpPr/>
          <p:nvPr/>
        </p:nvSpPr>
        <p:spPr>
          <a:xfrm>
            <a:off x="7311542" y="2359152"/>
            <a:ext cx="2104949" cy="2788920"/>
          </a:xfrm>
          <a:prstGeom prst="roundRect">
            <a:avLst>
              <a:gd name="adj" fmla="val 4344"/>
            </a:avLst>
          </a:prstGeom>
          <a:solidFill>
            <a:srgbClr val="FFFFFF"/>
          </a:solidFill>
          <a:ln w="9525">
            <a:solidFill>
              <a:srgbClr val="E2DCCB"/>
            </a:solidFill>
            <a:prstDash val="solid"/>
          </a:ln>
        </p:spPr>
      </p:sp>
      <p:sp>
        <p:nvSpPr>
          <p:cNvPr id="42" name="Shape 36"/>
          <p:cNvSpPr/>
          <p:nvPr/>
        </p:nvSpPr>
        <p:spPr>
          <a:xfrm>
            <a:off x="7604192" y="2450592"/>
            <a:ext cx="1519649" cy="1298448"/>
          </a:xfrm>
          <a:prstGeom prst="roundRect">
            <a:avLst>
              <a:gd name="adj" fmla="val 5634"/>
            </a:avLst>
          </a:prstGeom>
          <a:solidFill>
            <a:srgbClr val="FFFFFF"/>
          </a:solidFill>
          <a:ln w="9525">
            <a:solidFill>
              <a:srgbClr val="E2DCCB"/>
            </a:solidFill>
            <a:prstDash val="solid"/>
          </a:ln>
        </p:spPr>
      </p:sp>
      <p:pic>
        <p:nvPicPr>
          <p:cNvPr id="43" name="Image 4" descr="화면">    </p:cNvPr>
          <p:cNvPicPr>
            <a:picLocks noChangeAspect="1"/>
          </p:cNvPicPr>
          <p:nvPr/>
        </p:nvPicPr>
        <p:blipFill>
          <a:blip r:embed="rId5"/>
          <a:stretch>
            <a:fillRect/>
          </a:stretch>
        </p:blipFill>
        <p:spPr>
          <a:xfrm>
            <a:off x="7668200" y="2514600"/>
            <a:ext cx="1391633" cy="1170432"/>
          </a:xfrm>
          <a:prstGeom prst="rect">
            <a:avLst/>
          </a:prstGeom>
        </p:spPr>
      </p:pic>
      <p:sp>
        <p:nvSpPr>
          <p:cNvPr id="44" name="Shape 37"/>
          <p:cNvSpPr/>
          <p:nvPr/>
        </p:nvSpPr>
        <p:spPr>
          <a:xfrm>
            <a:off x="7421270" y="3840480"/>
            <a:ext cx="292608" cy="292608"/>
          </a:xfrm>
          <a:prstGeom prst="ellipse">
            <a:avLst/>
          </a:prstGeom>
          <a:solidFill>
            <a:srgbClr val="2F7D4F"/>
          </a:solidFill>
          <a:ln/>
        </p:spPr>
      </p:sp>
      <p:sp>
        <p:nvSpPr>
          <p:cNvPr id="45" name="Text 38"/>
          <p:cNvSpPr txBox="1"/>
          <p:nvPr/>
        </p:nvSpPr>
        <p:spPr>
          <a:xfrm>
            <a:off x="7421270"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46" name="Text 39"/>
          <p:cNvSpPr txBox="1"/>
          <p:nvPr/>
        </p:nvSpPr>
        <p:spPr>
          <a:xfrm>
            <a:off x="7768742"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묻고 답하기</a:t>
            </a:r>
            <a:endParaRPr lang="en-US" sz="1750" dirty="0"/>
          </a:p>
        </p:txBody>
      </p:sp>
      <p:sp>
        <p:nvSpPr>
          <p:cNvPr id="47" name="Text 40"/>
          <p:cNvSpPr txBox="1"/>
          <p:nvPr/>
        </p:nvSpPr>
        <p:spPr>
          <a:xfrm>
            <a:off x="7439558"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인물이 된 부기의 질문과 까닭을 되묻는 질문에 답합니다.</a:t>
            </a:r>
            <a:endParaRPr lang="en-US" sz="1450" dirty="0"/>
          </a:p>
        </p:txBody>
      </p:sp>
      <p:sp>
        <p:nvSpPr>
          <p:cNvPr id="48" name="Shape 41"/>
          <p:cNvSpPr/>
          <p:nvPr/>
        </p:nvSpPr>
        <p:spPr>
          <a:xfrm>
            <a:off x="9581083" y="2359152"/>
            <a:ext cx="2104949" cy="2788920"/>
          </a:xfrm>
          <a:prstGeom prst="roundRect">
            <a:avLst>
              <a:gd name="adj" fmla="val 4344"/>
            </a:avLst>
          </a:prstGeom>
          <a:solidFill>
            <a:srgbClr val="FBF5E6"/>
          </a:solidFill>
          <a:ln w="9525">
            <a:solidFill>
              <a:srgbClr val="E2DCCB"/>
            </a:solidFill>
            <a:prstDash val="solid"/>
          </a:ln>
        </p:spPr>
      </p:sp>
      <p:sp>
        <p:nvSpPr>
          <p:cNvPr id="49" name="Shape 42"/>
          <p:cNvSpPr/>
          <p:nvPr/>
        </p:nvSpPr>
        <p:spPr>
          <a:xfrm>
            <a:off x="9984334" y="2450592"/>
            <a:ext cx="1298448" cy="1298448"/>
          </a:xfrm>
          <a:prstGeom prst="roundRect">
            <a:avLst>
              <a:gd name="adj" fmla="val 5634"/>
            </a:avLst>
          </a:prstGeom>
          <a:solidFill>
            <a:srgbClr val="FFFFFF"/>
          </a:solidFill>
          <a:ln w="9525">
            <a:solidFill>
              <a:srgbClr val="E2DCCB"/>
            </a:solidFill>
            <a:prstDash val="solid"/>
          </a:ln>
        </p:spPr>
      </p:sp>
      <p:pic>
        <p:nvPicPr>
          <p:cNvPr id="50" name="Image 5" descr="화면">    </p:cNvPr>
          <p:cNvPicPr>
            <a:picLocks noChangeAspect="1"/>
          </p:cNvPicPr>
          <p:nvPr/>
        </p:nvPicPr>
        <p:blipFill>
          <a:blip r:embed="rId6"/>
          <a:stretch>
            <a:fillRect/>
          </a:stretch>
        </p:blipFill>
        <p:spPr>
          <a:xfrm>
            <a:off x="10048342" y="2514600"/>
            <a:ext cx="1170432" cy="1170432"/>
          </a:xfrm>
          <a:prstGeom prst="rect">
            <a:avLst/>
          </a:prstGeom>
        </p:spPr>
      </p:pic>
      <p:sp>
        <p:nvSpPr>
          <p:cNvPr id="51" name="Shape 43"/>
          <p:cNvSpPr/>
          <p:nvPr/>
        </p:nvSpPr>
        <p:spPr>
          <a:xfrm>
            <a:off x="9690811" y="3840480"/>
            <a:ext cx="292608" cy="292608"/>
          </a:xfrm>
          <a:prstGeom prst="ellipse">
            <a:avLst/>
          </a:prstGeom>
          <a:solidFill>
            <a:srgbClr val="2F7D4F"/>
          </a:solidFill>
          <a:ln/>
        </p:spPr>
      </p:sp>
      <p:sp>
        <p:nvSpPr>
          <p:cNvPr id="52" name="Text 44"/>
          <p:cNvSpPr txBox="1"/>
          <p:nvPr/>
        </p:nvSpPr>
        <p:spPr>
          <a:xfrm>
            <a:off x="9690811"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5</a:t>
            </a:r>
            <a:endParaRPr lang="en-US" sz="1400" dirty="0"/>
          </a:p>
        </p:txBody>
      </p:sp>
      <p:sp>
        <p:nvSpPr>
          <p:cNvPr id="53" name="Text 45"/>
          <p:cNvSpPr txBox="1"/>
          <p:nvPr/>
        </p:nvSpPr>
        <p:spPr>
          <a:xfrm>
            <a:off x="10038283"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내 말로 표현</a:t>
            </a:r>
            <a:endParaRPr lang="en-US" sz="1750" dirty="0"/>
          </a:p>
        </p:txBody>
      </p:sp>
      <p:sp>
        <p:nvSpPr>
          <p:cNvPr id="54" name="Text 46"/>
          <p:cNvSpPr txBox="1"/>
          <p:nvPr/>
        </p:nvSpPr>
        <p:spPr>
          <a:xfrm>
            <a:off x="9709099"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독후활동 40종으로 마음에 남은 장면과 생각을 남깁니다.</a:t>
            </a:r>
            <a:endParaRPr lang="en-US" sz="1450" dirty="0"/>
          </a:p>
        </p:txBody>
      </p:sp>
      <p:sp>
        <p:nvSpPr>
          <p:cNvPr id="55" name="Shape 47"/>
          <p:cNvSpPr/>
          <p:nvPr/>
        </p:nvSpPr>
        <p:spPr>
          <a:xfrm>
            <a:off x="502920" y="5294376"/>
            <a:ext cx="6293018" cy="978408"/>
          </a:xfrm>
          <a:prstGeom prst="roundRect">
            <a:avLst>
              <a:gd name="adj" fmla="val 9346"/>
            </a:avLst>
          </a:prstGeom>
          <a:solidFill>
            <a:srgbClr val="20342A"/>
          </a:solidFill>
          <a:ln/>
        </p:spPr>
      </p:sp>
      <p:sp>
        <p:nvSpPr>
          <p:cNvPr id="56" name="Text 48"/>
          <p:cNvSpPr txBox="1"/>
          <p:nvPr/>
        </p:nvSpPr>
        <p:spPr>
          <a:xfrm>
            <a:off x="731520" y="5367528"/>
            <a:ext cx="2917909" cy="310896"/>
          </a:xfrm>
          <a:prstGeom prst="rect">
            <a:avLst/>
          </a:prstGeom>
          <a:noFill/>
          <a:ln/>
        </p:spPr>
        <p:txBody>
          <a:bodyPr wrap="square" lIns="0" tIns="0" rIns="0" bIns="0" rtlCol="0" anchor="ctr"/>
          <a:lstStyle/>
          <a:p>
            <a:pPr indent="0" marL="0">
              <a:lnSpc>
                <a:spcPct val="112000"/>
              </a:lnSpc>
              <a:buNone/>
            </a:pPr>
            <a:r>
              <a:rPr lang="en-US" sz="1550" dirty="0">
                <a:solidFill>
                  <a:srgbClr val="B9C7BC"/>
                </a:solidFill>
                <a:latin typeface="Freesentation 7 Bold" pitchFamily="34" charset="0"/>
                <a:ea typeface="Freesentation 7 Bold" pitchFamily="34" charset="-122"/>
                <a:cs typeface="Freesentation 7 Bold" pitchFamily="34" charset="-120"/>
              </a:rPr>
              <a:t>따라 읽기만 하는 읽기</a:t>
            </a:r>
            <a:endParaRPr lang="en-US" sz="1550" dirty="0"/>
          </a:p>
        </p:txBody>
      </p:sp>
      <p:sp>
        <p:nvSpPr>
          <p:cNvPr id="57" name="Text 49"/>
          <p:cNvSpPr txBox="1"/>
          <p:nvPr/>
        </p:nvSpPr>
        <p:spPr>
          <a:xfrm>
            <a:off x="731520" y="5696712"/>
            <a:ext cx="2735029" cy="521208"/>
          </a:xfrm>
          <a:prstGeom prst="rect">
            <a:avLst/>
          </a:prstGeom>
          <a:noFill/>
          <a:ln/>
        </p:spPr>
        <p:txBody>
          <a:bodyPr wrap="square" lIns="0" tIns="0" rIns="0" bIns="0" rtlCol="0" anchor="t"/>
          <a:lstStyle/>
          <a:p>
            <a:pPr indent="0" marL="0">
              <a:lnSpc>
                <a:spcPct val="120000"/>
              </a:lnSpc>
              <a:buNone/>
            </a:pPr>
            <a:r>
              <a:rPr lang="en-US" sz="1450" dirty="0">
                <a:solidFill>
                  <a:srgbClr val="B9C7BC"/>
                </a:solidFill>
                <a:latin typeface="Freesentation 4 Regular" pitchFamily="34" charset="0"/>
                <a:ea typeface="Freesentation 4 Regular" pitchFamily="34" charset="-122"/>
                <a:cs typeface="Freesentation 4 Regular" pitchFamily="34" charset="-120"/>
              </a:rPr>
              <a:t>낱말에서 멈추고, 줄거리만 남깁니다.</a:t>
            </a:r>
            <a:endParaRPr lang="en-US" sz="1450" dirty="0"/>
          </a:p>
        </p:txBody>
      </p:sp>
      <p:sp>
        <p:nvSpPr>
          <p:cNvPr id="58" name="Shape 50"/>
          <p:cNvSpPr/>
          <p:nvPr/>
        </p:nvSpPr>
        <p:spPr>
          <a:xfrm>
            <a:off x="3557989" y="5628132"/>
            <a:ext cx="182880" cy="310896"/>
          </a:xfrm>
          <a:prstGeom prst="chevron">
            <a:avLst/>
          </a:prstGeom>
          <a:solidFill>
            <a:srgbClr val="F2D58A"/>
          </a:solidFill>
          <a:ln/>
        </p:spPr>
      </p:sp>
      <p:sp>
        <p:nvSpPr>
          <p:cNvPr id="59" name="Text 51"/>
          <p:cNvSpPr txBox="1"/>
          <p:nvPr/>
        </p:nvSpPr>
        <p:spPr>
          <a:xfrm>
            <a:off x="3878029" y="5367528"/>
            <a:ext cx="2826469" cy="310896"/>
          </a:xfrm>
          <a:prstGeom prst="rect">
            <a:avLst/>
          </a:prstGeom>
          <a:noFill/>
          <a:ln/>
        </p:spPr>
        <p:txBody>
          <a:bodyPr wrap="square" lIns="0" tIns="0" rIns="0" bIns="0" rtlCol="0" anchor="ct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부기로 하는 능동적 읽기</a:t>
            </a:r>
            <a:endParaRPr lang="en-US" sz="1550" dirty="0"/>
          </a:p>
        </p:txBody>
      </p:sp>
      <p:sp>
        <p:nvSpPr>
          <p:cNvPr id="60" name="Text 52"/>
          <p:cNvSpPr txBox="1"/>
          <p:nvPr/>
        </p:nvSpPr>
        <p:spPr>
          <a:xfrm>
            <a:off x="3878029" y="5696712"/>
            <a:ext cx="2826469" cy="521208"/>
          </a:xfrm>
          <a:prstGeom prst="rect">
            <a:avLst/>
          </a:prstGeom>
          <a:noFill/>
          <a:ln/>
        </p:spPr>
        <p:txBody>
          <a:bodyPr wrap="square" lIns="0" tIns="0" rIns="0" bIns="0" rtlCol="0" anchor="t"/>
          <a:lstStyle/>
          <a:p>
            <a:pPr indent="0" marL="0">
              <a:lnSpc>
                <a:spcPct val="120000"/>
              </a:lnSpc>
              <a:buNone/>
            </a:pPr>
            <a:r>
              <a:rPr lang="en-US" sz="1450" dirty="0">
                <a:solidFill>
                  <a:srgbClr val="FFFFFF"/>
                </a:solidFill>
                <a:latin typeface="Freesentation 4 Regular" pitchFamily="34" charset="0"/>
                <a:ea typeface="Freesentation 4 Regular" pitchFamily="34" charset="-122"/>
                <a:cs typeface="Freesentation 4 Regular" pitchFamily="34" charset="-120"/>
              </a:rPr>
              <a:t>짐작하고, 찾고, 묻고, 내 말로 남깁니다.</a:t>
            </a:r>
            <a:endParaRPr lang="en-US" sz="1450" dirty="0"/>
          </a:p>
        </p:txBody>
      </p:sp>
      <p:sp>
        <p:nvSpPr>
          <p:cNvPr id="61" name="Shape 53"/>
          <p:cNvSpPr/>
          <p:nvPr/>
        </p:nvSpPr>
        <p:spPr>
          <a:xfrm>
            <a:off x="7024538" y="5294376"/>
            <a:ext cx="4661494" cy="978408"/>
          </a:xfrm>
          <a:prstGeom prst="roundRect">
            <a:avLst>
              <a:gd name="adj" fmla="val 9346"/>
            </a:avLst>
          </a:prstGeom>
          <a:solidFill>
            <a:srgbClr val="E6F0E7"/>
          </a:solidFill>
          <a:ln/>
        </p:spPr>
      </p:sp>
      <p:sp>
        <p:nvSpPr>
          <p:cNvPr id="62" name="Text 54"/>
          <p:cNvSpPr txBox="1"/>
          <p:nvPr/>
        </p:nvSpPr>
        <p:spPr>
          <a:xfrm>
            <a:off x="7207418" y="5349240"/>
            <a:ext cx="4332310" cy="868680"/>
          </a:xfrm>
          <a:prstGeom prst="rect">
            <a:avLst/>
          </a:prstGeom>
          <a:noFill/>
          <a:ln/>
        </p:spPr>
        <p:txBody>
          <a:bodyPr wrap="square" lIns="0" tIns="0" rIns="0" bIns="0" rtlCol="0" anchor="ctr"/>
          <a:lstStyle/>
          <a:p>
            <a:pPr indent="0" marL="0">
              <a:lnSpc>
                <a:spcPct val="122000"/>
              </a:lnSpc>
              <a:buNone/>
            </a:pPr>
            <a:r>
              <a:rPr lang="en-US" sz="14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2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이해 점검, 질문에 답하기, 질문 만들기, 요약하기는 효과가 확인된 독해 지도 전략입니다(National Reading Panel, 2000).</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등장인물이 되어 보는 독서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한 달 동안 학생들이 책 160권의 인물과 대화하며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다른 삶을 안전하게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겪어 봤습니다</a:t>
            </a:r>
            <a:endParaRPr lang="en-US" sz="1400" dirty="0"/>
          </a:p>
        </p:txBody>
      </p:sp>
      <p:sp>
        <p:nvSpPr>
          <p:cNvPr id="10" name="Text 7"/>
          <p:cNvSpPr txBox="1"/>
          <p:nvPr/>
        </p:nvSpPr>
        <p:spPr>
          <a:xfrm>
            <a:off x="176250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93267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인물과 대화, 인물에게 편지, 속마음 말풍선은 부기 독후활동. 배역 바꾸기와 결말 상상하기는 「부기 만들기 자료실」 종이인형 장면놀이. 인물과 대화는 책마다 미리 쓴 발문으로 묻고 되물음.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11</a:t>
            </a:r>
            <a:endParaRPr lang="en-US" sz="1250" dirty="0"/>
          </a:p>
        </p:txBody>
      </p:sp>
      <p:sp>
        <p:nvSpPr>
          <p:cNvPr id="14" name="Shape 11"/>
          <p:cNvSpPr/>
          <p:nvPr/>
        </p:nvSpPr>
        <p:spPr>
          <a:xfrm>
            <a:off x="502920" y="1920240"/>
            <a:ext cx="2151888" cy="3566160"/>
          </a:xfrm>
          <a:prstGeom prst="roundRect">
            <a:avLst>
              <a:gd name="adj" fmla="val 4249"/>
            </a:avLst>
          </a:prstGeom>
          <a:solidFill>
            <a:srgbClr val="FFFFFF"/>
          </a:solidFill>
          <a:ln w="9525">
            <a:solidFill>
              <a:srgbClr val="E2DCCB"/>
            </a:solidFill>
            <a:prstDash val="solid"/>
          </a:ln>
        </p:spPr>
      </p:sp>
      <p:sp>
        <p:nvSpPr>
          <p:cNvPr id="15" name="Shape 12"/>
          <p:cNvSpPr/>
          <p:nvPr/>
        </p:nvSpPr>
        <p:spPr>
          <a:xfrm>
            <a:off x="649224" y="2066544"/>
            <a:ext cx="365760" cy="365760"/>
          </a:xfrm>
          <a:prstGeom prst="ellipse">
            <a:avLst/>
          </a:prstGeom>
          <a:solidFill>
            <a:srgbClr val="2F7D4F"/>
          </a:solidFill>
          <a:ln/>
        </p:spPr>
      </p:sp>
      <p:sp>
        <p:nvSpPr>
          <p:cNvPr id="16" name="Text 13"/>
          <p:cNvSpPr txBox="1"/>
          <p:nvPr/>
        </p:nvSpPr>
        <p:spPr>
          <a:xfrm>
            <a:off x="649224" y="2066544"/>
            <a:ext cx="365760" cy="365760"/>
          </a:xfrm>
          <a:prstGeom prst="rect">
            <a:avLst/>
          </a:prstGeom>
          <a:noFill/>
          <a:ln/>
        </p:spPr>
        <p:txBody>
          <a:bodyPr wrap="square" lIns="0" tIns="0" rIns="0" bIns="0" rtlCol="0" anchor="ct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1</a:t>
            </a:r>
            <a:endParaRPr lang="en-US" sz="1650" dirty="0"/>
          </a:p>
        </p:txBody>
      </p:sp>
      <p:sp>
        <p:nvSpPr>
          <p:cNvPr id="17" name="Text 14"/>
          <p:cNvSpPr txBox="1"/>
          <p:nvPr/>
        </p:nvSpPr>
        <p:spPr>
          <a:xfrm>
            <a:off x="1106424" y="2011680"/>
            <a:ext cx="1466088" cy="45720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인물을 만나다</a:t>
            </a:r>
            <a:endParaRPr lang="en-US" sz="1800" dirty="0"/>
          </a:p>
        </p:txBody>
      </p:sp>
      <p:sp>
        <p:nvSpPr>
          <p:cNvPr id="18" name="Shape 15"/>
          <p:cNvSpPr/>
          <p:nvPr/>
        </p:nvSpPr>
        <p:spPr>
          <a:xfrm>
            <a:off x="649224" y="2542032"/>
            <a:ext cx="916305" cy="292608"/>
          </a:xfrm>
          <a:prstGeom prst="roundRect">
            <a:avLst>
              <a:gd name="adj" fmla="val 50000"/>
            </a:avLst>
          </a:prstGeom>
          <a:solidFill>
            <a:srgbClr val="2B4637"/>
          </a:solidFill>
          <a:ln/>
        </p:spPr>
      </p:sp>
      <p:sp>
        <p:nvSpPr>
          <p:cNvPr id="19" name="Text 16"/>
          <p:cNvSpPr txBox="1"/>
          <p:nvPr/>
        </p:nvSpPr>
        <p:spPr>
          <a:xfrm>
            <a:off x="649224" y="2542032"/>
            <a:ext cx="916305"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읽는 사람</a:t>
            </a:r>
            <a:endParaRPr lang="en-US" sz="1400" dirty="0"/>
          </a:p>
        </p:txBody>
      </p:sp>
      <p:pic>
        <p:nvPicPr>
          <p:cNvPr id="20" name="Image 1" descr="인물과 대화">    </p:cNvPr>
          <p:cNvPicPr>
            <a:picLocks noChangeAspect="1"/>
          </p:cNvPicPr>
          <p:nvPr/>
        </p:nvPicPr>
        <p:blipFill>
          <a:blip r:embed="rId2"/>
          <a:stretch>
            <a:fillRect/>
          </a:stretch>
        </p:blipFill>
        <p:spPr>
          <a:xfrm>
            <a:off x="649224" y="2999232"/>
            <a:ext cx="658368" cy="658368"/>
          </a:xfrm>
          <a:prstGeom prst="rect">
            <a:avLst/>
          </a:prstGeom>
        </p:spPr>
      </p:pic>
      <p:sp>
        <p:nvSpPr>
          <p:cNvPr id="21" name="Text 17"/>
          <p:cNvSpPr txBox="1"/>
          <p:nvPr/>
        </p:nvSpPr>
        <p:spPr>
          <a:xfrm>
            <a:off x="1380744" y="2999232"/>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인물과 대화</a:t>
            </a:r>
            <a:endParaRPr lang="en-US" sz="1550" dirty="0"/>
          </a:p>
        </p:txBody>
      </p:sp>
      <p:sp>
        <p:nvSpPr>
          <p:cNvPr id="22" name="Text 18"/>
          <p:cNvSpPr txBox="1"/>
          <p:nvPr/>
        </p:nvSpPr>
        <p:spPr>
          <a:xfrm>
            <a:off x="649224" y="3712464"/>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인물이 된 부기와 묻고 답하기</a:t>
            </a:r>
            <a:endParaRPr lang="en-US" sz="1400" dirty="0"/>
          </a:p>
        </p:txBody>
      </p:sp>
      <p:pic>
        <p:nvPicPr>
          <p:cNvPr id="23" name="Image 2" descr="마음에 남은 장면">    </p:cNvPr>
          <p:cNvPicPr>
            <a:picLocks noChangeAspect="1"/>
          </p:cNvPicPr>
          <p:nvPr/>
        </p:nvPicPr>
        <p:blipFill>
          <a:blip r:embed="rId3"/>
          <a:stretch>
            <a:fillRect/>
          </a:stretch>
        </p:blipFill>
        <p:spPr>
          <a:xfrm>
            <a:off x="649224" y="4197096"/>
            <a:ext cx="658368" cy="658368"/>
          </a:xfrm>
          <a:prstGeom prst="rect">
            <a:avLst/>
          </a:prstGeom>
        </p:spPr>
      </p:pic>
      <p:sp>
        <p:nvSpPr>
          <p:cNvPr id="24" name="Text 19"/>
          <p:cNvSpPr txBox="1"/>
          <p:nvPr/>
        </p:nvSpPr>
        <p:spPr>
          <a:xfrm>
            <a:off x="1380744" y="4197096"/>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마음에 남은 장면</a:t>
            </a:r>
            <a:endParaRPr lang="en-US" sz="1550" dirty="0"/>
          </a:p>
        </p:txBody>
      </p:sp>
      <p:sp>
        <p:nvSpPr>
          <p:cNvPr id="25" name="Text 20"/>
          <p:cNvSpPr txBox="1"/>
          <p:nvPr/>
        </p:nvSpPr>
        <p:spPr>
          <a:xfrm>
            <a:off x="649224" y="4910328"/>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장면 하나와 까닭 한 줄</a:t>
            </a:r>
            <a:endParaRPr lang="en-US" sz="1400" dirty="0"/>
          </a:p>
        </p:txBody>
      </p:sp>
      <p:sp>
        <p:nvSpPr>
          <p:cNvPr id="26" name="Shape 21"/>
          <p:cNvSpPr/>
          <p:nvPr/>
        </p:nvSpPr>
        <p:spPr>
          <a:xfrm>
            <a:off x="2700528" y="3566160"/>
            <a:ext cx="137160" cy="274320"/>
          </a:xfrm>
          <a:prstGeom prst="chevron">
            <a:avLst/>
          </a:prstGeom>
          <a:solidFill>
            <a:srgbClr val="C08A1E"/>
          </a:solidFill>
          <a:ln/>
        </p:spPr>
      </p:sp>
      <p:sp>
        <p:nvSpPr>
          <p:cNvPr id="27" name="Shape 22"/>
          <p:cNvSpPr/>
          <p:nvPr/>
        </p:nvSpPr>
        <p:spPr>
          <a:xfrm>
            <a:off x="2883408" y="1920240"/>
            <a:ext cx="2151888" cy="3566160"/>
          </a:xfrm>
          <a:prstGeom prst="roundRect">
            <a:avLst>
              <a:gd name="adj" fmla="val 4249"/>
            </a:avLst>
          </a:prstGeom>
          <a:solidFill>
            <a:srgbClr val="E6F0E7"/>
          </a:solidFill>
          <a:ln w="9525">
            <a:solidFill>
              <a:srgbClr val="E2DCCB"/>
            </a:solidFill>
            <a:prstDash val="solid"/>
          </a:ln>
        </p:spPr>
      </p:sp>
      <p:sp>
        <p:nvSpPr>
          <p:cNvPr id="28" name="Shape 23"/>
          <p:cNvSpPr/>
          <p:nvPr/>
        </p:nvSpPr>
        <p:spPr>
          <a:xfrm>
            <a:off x="3029712" y="2066544"/>
            <a:ext cx="365760" cy="365760"/>
          </a:xfrm>
          <a:prstGeom prst="ellipse">
            <a:avLst/>
          </a:prstGeom>
          <a:solidFill>
            <a:srgbClr val="2F7D4F"/>
          </a:solidFill>
          <a:ln/>
        </p:spPr>
      </p:sp>
      <p:sp>
        <p:nvSpPr>
          <p:cNvPr id="29" name="Text 24"/>
          <p:cNvSpPr txBox="1"/>
          <p:nvPr/>
        </p:nvSpPr>
        <p:spPr>
          <a:xfrm>
            <a:off x="3029712" y="2066544"/>
            <a:ext cx="365760" cy="365760"/>
          </a:xfrm>
          <a:prstGeom prst="rect">
            <a:avLst/>
          </a:prstGeom>
          <a:noFill/>
          <a:ln/>
        </p:spPr>
        <p:txBody>
          <a:bodyPr wrap="square" lIns="0" tIns="0" rIns="0" bIns="0" rtlCol="0" anchor="ct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2</a:t>
            </a:r>
            <a:endParaRPr lang="en-US" sz="1650" dirty="0"/>
          </a:p>
        </p:txBody>
      </p:sp>
      <p:sp>
        <p:nvSpPr>
          <p:cNvPr id="30" name="Text 25"/>
          <p:cNvSpPr txBox="1"/>
          <p:nvPr/>
        </p:nvSpPr>
        <p:spPr>
          <a:xfrm>
            <a:off x="3486912" y="2011680"/>
            <a:ext cx="1466088" cy="45720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인물이 되다</a:t>
            </a:r>
            <a:endParaRPr lang="en-US" sz="1800" dirty="0"/>
          </a:p>
        </p:txBody>
      </p:sp>
      <p:sp>
        <p:nvSpPr>
          <p:cNvPr id="31" name="Shape 26"/>
          <p:cNvSpPr/>
          <p:nvPr/>
        </p:nvSpPr>
        <p:spPr>
          <a:xfrm>
            <a:off x="3029712" y="2542032"/>
            <a:ext cx="1052131" cy="292608"/>
          </a:xfrm>
          <a:prstGeom prst="roundRect">
            <a:avLst>
              <a:gd name="adj" fmla="val 50000"/>
            </a:avLst>
          </a:prstGeom>
          <a:solidFill>
            <a:srgbClr val="2B4637"/>
          </a:solidFill>
          <a:ln/>
        </p:spPr>
      </p:sp>
      <p:sp>
        <p:nvSpPr>
          <p:cNvPr id="32" name="Text 27"/>
          <p:cNvSpPr txBox="1"/>
          <p:nvPr/>
        </p:nvSpPr>
        <p:spPr>
          <a:xfrm>
            <a:off x="3029712" y="2542032"/>
            <a:ext cx="1052131"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말하는 사람</a:t>
            </a:r>
            <a:endParaRPr lang="en-US" sz="1400" dirty="0"/>
          </a:p>
        </p:txBody>
      </p:sp>
      <p:pic>
        <p:nvPicPr>
          <p:cNvPr id="33" name="Image 3" descr="속마음 말풍선">    </p:cNvPr>
          <p:cNvPicPr>
            <a:picLocks noChangeAspect="1"/>
          </p:cNvPicPr>
          <p:nvPr/>
        </p:nvPicPr>
        <p:blipFill>
          <a:blip r:embed="rId4"/>
          <a:stretch>
            <a:fillRect/>
          </a:stretch>
        </p:blipFill>
        <p:spPr>
          <a:xfrm>
            <a:off x="3029712" y="2999232"/>
            <a:ext cx="658368" cy="658368"/>
          </a:xfrm>
          <a:prstGeom prst="rect">
            <a:avLst/>
          </a:prstGeom>
        </p:spPr>
      </p:pic>
      <p:sp>
        <p:nvSpPr>
          <p:cNvPr id="34" name="Text 28"/>
          <p:cNvSpPr txBox="1"/>
          <p:nvPr/>
        </p:nvSpPr>
        <p:spPr>
          <a:xfrm>
            <a:off x="3761232" y="2999232"/>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속마음 말풍선</a:t>
            </a:r>
            <a:endParaRPr lang="en-US" sz="1550" dirty="0"/>
          </a:p>
        </p:txBody>
      </p:sp>
      <p:sp>
        <p:nvSpPr>
          <p:cNvPr id="35" name="Text 29"/>
          <p:cNvSpPr txBox="1"/>
          <p:nvPr/>
        </p:nvSpPr>
        <p:spPr>
          <a:xfrm>
            <a:off x="3029712" y="3712464"/>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인물의 속마음을 대신 씀</a:t>
            </a:r>
            <a:endParaRPr lang="en-US" sz="1400" dirty="0"/>
          </a:p>
        </p:txBody>
      </p:sp>
      <p:pic>
        <p:nvPicPr>
          <p:cNvPr id="36" name="Image 4" descr="인물에게 편지">    </p:cNvPr>
          <p:cNvPicPr>
            <a:picLocks noChangeAspect="1"/>
          </p:cNvPicPr>
          <p:nvPr/>
        </p:nvPicPr>
        <p:blipFill>
          <a:blip r:embed="rId5"/>
          <a:stretch>
            <a:fillRect/>
          </a:stretch>
        </p:blipFill>
        <p:spPr>
          <a:xfrm>
            <a:off x="3029712" y="4197096"/>
            <a:ext cx="658368" cy="658368"/>
          </a:xfrm>
          <a:prstGeom prst="rect">
            <a:avLst/>
          </a:prstGeom>
        </p:spPr>
      </p:pic>
      <p:sp>
        <p:nvSpPr>
          <p:cNvPr id="37" name="Text 30"/>
          <p:cNvSpPr txBox="1"/>
          <p:nvPr/>
        </p:nvSpPr>
        <p:spPr>
          <a:xfrm>
            <a:off x="3761232" y="4197096"/>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인물에게 편지</a:t>
            </a:r>
            <a:endParaRPr lang="en-US" sz="1550" dirty="0"/>
          </a:p>
        </p:txBody>
      </p:sp>
      <p:sp>
        <p:nvSpPr>
          <p:cNvPr id="38" name="Text 31"/>
          <p:cNvSpPr txBox="1"/>
          <p:nvPr/>
        </p:nvSpPr>
        <p:spPr>
          <a:xfrm>
            <a:off x="3029712" y="4910328"/>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인물의 처지에서 하고 싶은 말</a:t>
            </a:r>
            <a:endParaRPr lang="en-US" sz="1400" dirty="0"/>
          </a:p>
        </p:txBody>
      </p:sp>
      <p:sp>
        <p:nvSpPr>
          <p:cNvPr id="39" name="Shape 32"/>
          <p:cNvSpPr/>
          <p:nvPr/>
        </p:nvSpPr>
        <p:spPr>
          <a:xfrm>
            <a:off x="5081016" y="3566160"/>
            <a:ext cx="137160" cy="274320"/>
          </a:xfrm>
          <a:prstGeom prst="chevron">
            <a:avLst/>
          </a:prstGeom>
          <a:solidFill>
            <a:srgbClr val="C08A1E"/>
          </a:solidFill>
          <a:ln/>
        </p:spPr>
      </p:sp>
      <p:sp>
        <p:nvSpPr>
          <p:cNvPr id="40" name="Shape 33"/>
          <p:cNvSpPr/>
          <p:nvPr/>
        </p:nvSpPr>
        <p:spPr>
          <a:xfrm>
            <a:off x="5263896" y="1920240"/>
            <a:ext cx="2151888" cy="3566160"/>
          </a:xfrm>
          <a:prstGeom prst="roundRect">
            <a:avLst>
              <a:gd name="adj" fmla="val 4249"/>
            </a:avLst>
          </a:prstGeom>
          <a:solidFill>
            <a:srgbClr val="FBF5E6"/>
          </a:solidFill>
          <a:ln w="9525">
            <a:solidFill>
              <a:srgbClr val="E2DCCB"/>
            </a:solidFill>
            <a:prstDash val="solid"/>
          </a:ln>
        </p:spPr>
      </p:sp>
      <p:sp>
        <p:nvSpPr>
          <p:cNvPr id="41" name="Shape 34"/>
          <p:cNvSpPr/>
          <p:nvPr/>
        </p:nvSpPr>
        <p:spPr>
          <a:xfrm>
            <a:off x="5410200" y="2066544"/>
            <a:ext cx="365760" cy="365760"/>
          </a:xfrm>
          <a:prstGeom prst="ellipse">
            <a:avLst/>
          </a:prstGeom>
          <a:solidFill>
            <a:srgbClr val="C08A1E"/>
          </a:solidFill>
          <a:ln/>
        </p:spPr>
      </p:sp>
      <p:sp>
        <p:nvSpPr>
          <p:cNvPr id="42" name="Text 35"/>
          <p:cNvSpPr txBox="1"/>
          <p:nvPr/>
        </p:nvSpPr>
        <p:spPr>
          <a:xfrm>
            <a:off x="5410200" y="2066544"/>
            <a:ext cx="365760" cy="365760"/>
          </a:xfrm>
          <a:prstGeom prst="rect">
            <a:avLst/>
          </a:prstGeom>
          <a:noFill/>
          <a:ln/>
        </p:spPr>
        <p:txBody>
          <a:bodyPr wrap="square" lIns="0" tIns="0" rIns="0" bIns="0" rtlCol="0" anchor="ct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3</a:t>
            </a:r>
            <a:endParaRPr lang="en-US" sz="1650" dirty="0"/>
          </a:p>
        </p:txBody>
      </p:sp>
      <p:sp>
        <p:nvSpPr>
          <p:cNvPr id="43" name="Text 36"/>
          <p:cNvSpPr txBox="1"/>
          <p:nvPr/>
        </p:nvSpPr>
        <p:spPr>
          <a:xfrm>
            <a:off x="5867400" y="2011680"/>
            <a:ext cx="1466088" cy="45720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이야기를 바꾸다</a:t>
            </a:r>
            <a:endParaRPr lang="en-US" sz="1800" dirty="0"/>
          </a:p>
        </p:txBody>
      </p:sp>
      <p:sp>
        <p:nvSpPr>
          <p:cNvPr id="44" name="Shape 37"/>
          <p:cNvSpPr/>
          <p:nvPr/>
        </p:nvSpPr>
        <p:spPr>
          <a:xfrm>
            <a:off x="5410200" y="2542032"/>
            <a:ext cx="1052131" cy="292608"/>
          </a:xfrm>
          <a:prstGeom prst="roundRect">
            <a:avLst>
              <a:gd name="adj" fmla="val 50000"/>
            </a:avLst>
          </a:prstGeom>
          <a:solidFill>
            <a:srgbClr val="C08A1E"/>
          </a:solidFill>
          <a:ln/>
        </p:spPr>
      </p:sp>
      <p:sp>
        <p:nvSpPr>
          <p:cNvPr id="45" name="Text 38"/>
          <p:cNvSpPr txBox="1"/>
          <p:nvPr/>
        </p:nvSpPr>
        <p:spPr>
          <a:xfrm>
            <a:off x="5410200" y="2542032"/>
            <a:ext cx="1052131"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만드는 사람</a:t>
            </a:r>
            <a:endParaRPr lang="en-US" sz="1400" dirty="0"/>
          </a:p>
        </p:txBody>
      </p:sp>
      <p:pic>
        <p:nvPicPr>
          <p:cNvPr id="46" name="Image 5" descr="결말 상상하기">    </p:cNvPr>
          <p:cNvPicPr>
            <a:picLocks noChangeAspect="1"/>
          </p:cNvPicPr>
          <p:nvPr/>
        </p:nvPicPr>
        <p:blipFill>
          <a:blip r:embed="rId6"/>
          <a:stretch>
            <a:fillRect/>
          </a:stretch>
        </p:blipFill>
        <p:spPr>
          <a:xfrm>
            <a:off x="5410200" y="2999232"/>
            <a:ext cx="658368" cy="658368"/>
          </a:xfrm>
          <a:prstGeom prst="rect">
            <a:avLst/>
          </a:prstGeom>
        </p:spPr>
      </p:pic>
      <p:sp>
        <p:nvSpPr>
          <p:cNvPr id="47" name="Text 39"/>
          <p:cNvSpPr txBox="1"/>
          <p:nvPr/>
        </p:nvSpPr>
        <p:spPr>
          <a:xfrm>
            <a:off x="6141720" y="2999232"/>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결말 상상하기</a:t>
            </a:r>
            <a:endParaRPr lang="en-US" sz="1550" dirty="0"/>
          </a:p>
        </p:txBody>
      </p:sp>
      <p:sp>
        <p:nvSpPr>
          <p:cNvPr id="48" name="Text 40"/>
          <p:cNvSpPr txBox="1"/>
          <p:nvPr/>
        </p:nvSpPr>
        <p:spPr>
          <a:xfrm>
            <a:off x="5410200" y="3712464"/>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「내가 이 인물이라면?」 새 결말</a:t>
            </a:r>
            <a:endParaRPr lang="en-US" sz="1400" dirty="0"/>
          </a:p>
        </p:txBody>
      </p:sp>
      <p:pic>
        <p:nvPicPr>
          <p:cNvPr id="49" name="Image 6" descr="함께 쓰는 교실">    </p:cNvPr>
          <p:cNvPicPr>
            <a:picLocks noChangeAspect="1"/>
          </p:cNvPicPr>
          <p:nvPr/>
        </p:nvPicPr>
        <p:blipFill>
          <a:blip r:embed="rId7"/>
          <a:stretch>
            <a:fillRect/>
          </a:stretch>
        </p:blipFill>
        <p:spPr>
          <a:xfrm>
            <a:off x="5410200" y="4197096"/>
            <a:ext cx="658368" cy="658368"/>
          </a:xfrm>
          <a:prstGeom prst="rect">
            <a:avLst/>
          </a:prstGeom>
        </p:spPr>
      </p:pic>
      <p:sp>
        <p:nvSpPr>
          <p:cNvPr id="50" name="Text 41"/>
          <p:cNvSpPr txBox="1"/>
          <p:nvPr/>
        </p:nvSpPr>
        <p:spPr>
          <a:xfrm>
            <a:off x="6141720" y="4197096"/>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함께 쓰는 교실</a:t>
            </a:r>
            <a:endParaRPr lang="en-US" sz="1550" dirty="0"/>
          </a:p>
        </p:txBody>
      </p:sp>
      <p:sp>
        <p:nvSpPr>
          <p:cNvPr id="51" name="Text 42"/>
          <p:cNvSpPr txBox="1"/>
          <p:nvPr/>
        </p:nvSpPr>
        <p:spPr>
          <a:xfrm>
            <a:off x="5410200" y="4910328"/>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친구 생각을 읽고 우리 반 문집</a:t>
            </a:r>
            <a:endParaRPr lang="en-US" sz="1400" dirty="0"/>
          </a:p>
        </p:txBody>
      </p:sp>
      <p:sp>
        <p:nvSpPr>
          <p:cNvPr id="52" name="Shape 43"/>
          <p:cNvSpPr/>
          <p:nvPr/>
        </p:nvSpPr>
        <p:spPr>
          <a:xfrm>
            <a:off x="502920" y="5614416"/>
            <a:ext cx="6912864" cy="658368"/>
          </a:xfrm>
          <a:prstGeom prst="roundRect">
            <a:avLst>
              <a:gd name="adj" fmla="val 11111"/>
            </a:avLst>
          </a:prstGeom>
          <a:solidFill>
            <a:srgbClr val="20342A"/>
          </a:solidFill>
          <a:ln/>
        </p:spPr>
      </p:sp>
      <p:pic>
        <p:nvPicPr>
          <p:cNvPr id="53" name="Image 7" descr="message-circle">    </p:cNvPr>
          <p:cNvPicPr>
            <a:picLocks noChangeAspect="1"/>
          </p:cNvPicPr>
          <p:nvPr/>
        </p:nvPicPr>
        <p:blipFill>
          <a:blip r:embed="rId8"/>
          <a:stretch>
            <a:fillRect/>
          </a:stretch>
        </p:blipFill>
        <p:spPr>
          <a:xfrm>
            <a:off x="685800" y="5797296"/>
            <a:ext cx="292608" cy="292608"/>
          </a:xfrm>
          <a:prstGeom prst="rect">
            <a:avLst/>
          </a:prstGeom>
        </p:spPr>
      </p:pic>
      <p:sp>
        <p:nvSpPr>
          <p:cNvPr id="54" name="Text 44"/>
          <p:cNvSpPr txBox="1"/>
          <p:nvPr/>
        </p:nvSpPr>
        <p:spPr>
          <a:xfrm>
            <a:off x="1106424" y="5614416"/>
            <a:ext cx="6126480" cy="658368"/>
          </a:xfrm>
          <a:prstGeom prst="rect">
            <a:avLst/>
          </a:prstGeom>
          <a:noFill/>
          <a:ln/>
        </p:spPr>
        <p:txBody>
          <a:bodyPr wrap="square" lIns="0" tIns="0" rIns="0" bIns="0" rtlCol="0" anchor="ct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말하는 사람이 되어야 </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성장하는 사람</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이 됩니다. 학생은 이야기 속 인물로 살아 보며 그 삶을 닮아 갑니다.</a:t>
            </a:r>
            <a:endParaRPr lang="en-US" sz="1650" dirty="0"/>
          </a:p>
        </p:txBody>
      </p:sp>
      <p:sp>
        <p:nvSpPr>
          <p:cNvPr id="55" name="Shape 45"/>
          <p:cNvSpPr/>
          <p:nvPr/>
        </p:nvSpPr>
        <p:spPr>
          <a:xfrm>
            <a:off x="8445549" y="1920240"/>
            <a:ext cx="2530757" cy="2148840"/>
          </a:xfrm>
          <a:prstGeom prst="roundRect">
            <a:avLst>
              <a:gd name="adj" fmla="val 3404"/>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56" name="Image 8" descr="인물과 대화 화면">    </p:cNvPr>
          <p:cNvPicPr>
            <a:picLocks noChangeAspect="1"/>
          </p:cNvPicPr>
          <p:nvPr/>
        </p:nvPicPr>
        <p:blipFill>
          <a:blip r:embed="rId9"/>
          <a:stretch>
            <a:fillRect/>
          </a:stretch>
        </p:blipFill>
        <p:spPr>
          <a:xfrm>
            <a:off x="8509557" y="1984248"/>
            <a:ext cx="2402741" cy="2020824"/>
          </a:xfrm>
          <a:prstGeom prst="rect">
            <a:avLst/>
          </a:prstGeom>
        </p:spPr>
      </p:pic>
      <p:sp>
        <p:nvSpPr>
          <p:cNvPr id="57" name="Shape 46"/>
          <p:cNvSpPr/>
          <p:nvPr/>
        </p:nvSpPr>
        <p:spPr>
          <a:xfrm>
            <a:off x="8555277" y="3685032"/>
            <a:ext cx="1322451" cy="274320"/>
          </a:xfrm>
          <a:prstGeom prst="roundRect">
            <a:avLst>
              <a:gd name="adj" fmla="val 50000"/>
            </a:avLst>
          </a:prstGeom>
          <a:solidFill>
            <a:srgbClr val="20342A">
              <a:alpha val="92000"/>
            </a:srgbClr>
          </a:solidFill>
          <a:ln/>
        </p:spPr>
      </p:sp>
      <p:sp>
        <p:nvSpPr>
          <p:cNvPr id="58" name="Text 47"/>
          <p:cNvSpPr txBox="1"/>
          <p:nvPr/>
        </p:nvSpPr>
        <p:spPr>
          <a:xfrm>
            <a:off x="8555277" y="3685032"/>
            <a:ext cx="132245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인물과 대화 화면</a:t>
            </a:r>
            <a:endParaRPr lang="en-US" sz="1300" dirty="0"/>
          </a:p>
        </p:txBody>
      </p:sp>
      <p:sp>
        <p:nvSpPr>
          <p:cNvPr id="59" name="Shape 48"/>
          <p:cNvSpPr/>
          <p:nvPr/>
        </p:nvSpPr>
        <p:spPr>
          <a:xfrm>
            <a:off x="7735824" y="4315968"/>
            <a:ext cx="118872" cy="118872"/>
          </a:xfrm>
          <a:prstGeom prst="ellipse">
            <a:avLst/>
          </a:prstGeom>
          <a:solidFill>
            <a:srgbClr val="2F7D4F"/>
          </a:solidFill>
          <a:ln/>
        </p:spPr>
      </p:sp>
      <p:sp>
        <p:nvSpPr>
          <p:cNvPr id="60" name="Text 49"/>
          <p:cNvSpPr txBox="1"/>
          <p:nvPr/>
        </p:nvSpPr>
        <p:spPr>
          <a:xfrm>
            <a:off x="7955280" y="4178808"/>
            <a:ext cx="3950208"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이 경험으로 자라는 힘</a:t>
            </a:r>
            <a:endParaRPr lang="en-US" sz="1650" dirty="0"/>
          </a:p>
        </p:txBody>
      </p:sp>
      <p:sp>
        <p:nvSpPr>
          <p:cNvPr id="61" name="Shape 50"/>
          <p:cNvSpPr/>
          <p:nvPr/>
        </p:nvSpPr>
        <p:spPr>
          <a:xfrm>
            <a:off x="7735824" y="4636008"/>
            <a:ext cx="3950208" cy="368046"/>
          </a:xfrm>
          <a:prstGeom prst="roundRect">
            <a:avLst>
              <a:gd name="adj" fmla="val 19876"/>
            </a:avLst>
          </a:prstGeom>
          <a:solidFill>
            <a:srgbClr val="FBF5E6"/>
          </a:solidFill>
          <a:ln w="9525">
            <a:solidFill>
              <a:srgbClr val="E2DCCB"/>
            </a:solidFill>
            <a:prstDash val="solid"/>
          </a:ln>
        </p:spPr>
      </p:sp>
      <p:sp>
        <p:nvSpPr>
          <p:cNvPr id="62" name="Text 51"/>
          <p:cNvSpPr txBox="1"/>
          <p:nvPr/>
        </p:nvSpPr>
        <p:spPr>
          <a:xfrm>
            <a:off x="7882128" y="463600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공감</a:t>
            </a:r>
            <a:endParaRPr lang="en-US" sz="1500" dirty="0"/>
          </a:p>
        </p:txBody>
      </p:sp>
      <p:sp>
        <p:nvSpPr>
          <p:cNvPr id="63" name="Text 52"/>
          <p:cNvSpPr txBox="1"/>
          <p:nvPr/>
        </p:nvSpPr>
        <p:spPr>
          <a:xfrm>
            <a:off x="9061704" y="463600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다른 사람의 마음과 까닭을 헤아림</a:t>
            </a:r>
            <a:endParaRPr lang="en-US" sz="1400" dirty="0"/>
          </a:p>
        </p:txBody>
      </p:sp>
      <p:sp>
        <p:nvSpPr>
          <p:cNvPr id="64" name="Shape 53"/>
          <p:cNvSpPr/>
          <p:nvPr/>
        </p:nvSpPr>
        <p:spPr>
          <a:xfrm>
            <a:off x="7735824" y="5058918"/>
            <a:ext cx="3950208" cy="368046"/>
          </a:xfrm>
          <a:prstGeom prst="roundRect">
            <a:avLst>
              <a:gd name="adj" fmla="val 19876"/>
            </a:avLst>
          </a:prstGeom>
          <a:solidFill>
            <a:srgbClr val="FFFFFF"/>
          </a:solidFill>
          <a:ln w="9525">
            <a:solidFill>
              <a:srgbClr val="E2DCCB"/>
            </a:solidFill>
            <a:prstDash val="solid"/>
          </a:ln>
        </p:spPr>
      </p:sp>
      <p:sp>
        <p:nvSpPr>
          <p:cNvPr id="65" name="Text 54"/>
          <p:cNvSpPr txBox="1"/>
          <p:nvPr/>
        </p:nvSpPr>
        <p:spPr>
          <a:xfrm>
            <a:off x="7882128" y="505891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자기 이해</a:t>
            </a:r>
            <a:endParaRPr lang="en-US" sz="1500" dirty="0"/>
          </a:p>
        </p:txBody>
      </p:sp>
      <p:sp>
        <p:nvSpPr>
          <p:cNvPr id="66" name="Text 55"/>
          <p:cNvSpPr txBox="1"/>
          <p:nvPr/>
        </p:nvSpPr>
        <p:spPr>
          <a:xfrm>
            <a:off x="9061704" y="505891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「나라면?」을 묻고 내 선택을 말함</a:t>
            </a:r>
            <a:endParaRPr lang="en-US" sz="1400" dirty="0"/>
          </a:p>
        </p:txBody>
      </p:sp>
      <p:sp>
        <p:nvSpPr>
          <p:cNvPr id="67" name="Shape 56"/>
          <p:cNvSpPr/>
          <p:nvPr/>
        </p:nvSpPr>
        <p:spPr>
          <a:xfrm>
            <a:off x="7735824" y="5481828"/>
            <a:ext cx="3950208" cy="368046"/>
          </a:xfrm>
          <a:prstGeom prst="roundRect">
            <a:avLst>
              <a:gd name="adj" fmla="val 19876"/>
            </a:avLst>
          </a:prstGeom>
          <a:solidFill>
            <a:srgbClr val="FBF5E6"/>
          </a:solidFill>
          <a:ln w="9525">
            <a:solidFill>
              <a:srgbClr val="E2DCCB"/>
            </a:solidFill>
            <a:prstDash val="solid"/>
          </a:ln>
        </p:spPr>
      </p:sp>
      <p:sp>
        <p:nvSpPr>
          <p:cNvPr id="68" name="Text 57"/>
          <p:cNvSpPr txBox="1"/>
          <p:nvPr/>
        </p:nvSpPr>
        <p:spPr>
          <a:xfrm>
            <a:off x="7882128" y="548182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사회 이해</a:t>
            </a:r>
            <a:endParaRPr lang="en-US" sz="1500" dirty="0"/>
          </a:p>
        </p:txBody>
      </p:sp>
      <p:sp>
        <p:nvSpPr>
          <p:cNvPr id="69" name="Text 58"/>
          <p:cNvSpPr txBox="1"/>
          <p:nvPr/>
        </p:nvSpPr>
        <p:spPr>
          <a:xfrm>
            <a:off x="9061704" y="548182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규칙, 정의, 공동체를 이야기로 겪음</a:t>
            </a:r>
            <a:endParaRPr lang="en-US" sz="1400" dirty="0"/>
          </a:p>
        </p:txBody>
      </p:sp>
      <p:sp>
        <p:nvSpPr>
          <p:cNvPr id="70" name="Shape 59"/>
          <p:cNvSpPr/>
          <p:nvPr/>
        </p:nvSpPr>
        <p:spPr>
          <a:xfrm>
            <a:off x="7735824" y="5904738"/>
            <a:ext cx="3950208" cy="368046"/>
          </a:xfrm>
          <a:prstGeom prst="roundRect">
            <a:avLst>
              <a:gd name="adj" fmla="val 19876"/>
            </a:avLst>
          </a:prstGeom>
          <a:solidFill>
            <a:srgbClr val="FFFFFF"/>
          </a:solidFill>
          <a:ln w="9525">
            <a:solidFill>
              <a:srgbClr val="E2DCCB"/>
            </a:solidFill>
            <a:prstDash val="solid"/>
          </a:ln>
        </p:spPr>
      </p:sp>
      <p:sp>
        <p:nvSpPr>
          <p:cNvPr id="71" name="Text 60"/>
          <p:cNvSpPr txBox="1"/>
          <p:nvPr/>
        </p:nvSpPr>
        <p:spPr>
          <a:xfrm>
            <a:off x="7882128" y="590473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생각하는 힘</a:t>
            </a:r>
            <a:endParaRPr lang="en-US" sz="1500" dirty="0"/>
          </a:p>
        </p:txBody>
      </p:sp>
      <p:sp>
        <p:nvSpPr>
          <p:cNvPr id="72" name="Text 61"/>
          <p:cNvSpPr txBox="1"/>
          <p:nvPr/>
        </p:nvSpPr>
        <p:spPr>
          <a:xfrm>
            <a:off x="9061704" y="590473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까닭을 찾고 다른 결말을 상상함</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책으로 기르는 사회정서 역량</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사회정서 역량 5가지에 맞춘 대화와 활동으로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나를 알고 친구를 헤아립니다</a:t>
            </a:r>
            <a:endParaRPr lang="en-US" sz="1400" dirty="0"/>
          </a:p>
        </p:txBody>
      </p:sp>
      <p:sp>
        <p:nvSpPr>
          <p:cNvPr id="10" name="Text 7"/>
          <p:cNvSpPr txBox="1"/>
          <p:nvPr/>
        </p:nvSpPr>
        <p:spPr>
          <a:xfrm>
            <a:off x="217073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2444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사회정서교육 확대: 한국교육신문 「신학기 모든 학교에서 사회정서교육 확대」(2026. 1. 27.). 역량 5가지: CASEL 사회정서학습 역량 틀. 캐릭터와 대화는 특허 등록 기술(아바타 기반 도서 등장인물 대화형 독서 활동). 작가와의 대화는 부기에 들어 있는 기능으로 현장 의견을 받아 다듬는 중이며, 작가 페르소나 독서 담화로 특허 출원을 준비 중임.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12</a:t>
            </a:r>
            <a:endParaRPr lang="en-US" sz="1250" dirty="0"/>
          </a:p>
        </p:txBody>
      </p:sp>
      <p:sp>
        <p:nvSpPr>
          <p:cNvPr id="14" name="Shape 11"/>
          <p:cNvSpPr/>
          <p:nvPr/>
        </p:nvSpPr>
        <p:spPr>
          <a:xfrm>
            <a:off x="502920" y="1920240"/>
            <a:ext cx="2514600" cy="658368"/>
          </a:xfrm>
          <a:prstGeom prst="roundRect">
            <a:avLst>
              <a:gd name="adj" fmla="val 11111"/>
            </a:avLst>
          </a:prstGeom>
          <a:solidFill>
            <a:srgbClr val="2B4637"/>
          </a:solidFill>
          <a:ln/>
        </p:spPr>
      </p:sp>
      <p:pic>
        <p:nvPicPr>
          <p:cNvPr id="15" name="Image 1" descr="mood-smile">    </p:cNvPr>
          <p:cNvPicPr>
            <a:picLocks noChangeAspect="1"/>
          </p:cNvPicPr>
          <p:nvPr/>
        </p:nvPicPr>
        <p:blipFill>
          <a:blip r:embed="rId2"/>
          <a:stretch>
            <a:fillRect/>
          </a:stretch>
        </p:blipFill>
        <p:spPr>
          <a:xfrm>
            <a:off x="649224" y="2103120"/>
            <a:ext cx="292608" cy="292608"/>
          </a:xfrm>
          <a:prstGeom prst="rect">
            <a:avLst/>
          </a:prstGeom>
        </p:spPr>
      </p:pic>
      <p:sp>
        <p:nvSpPr>
          <p:cNvPr id="16" name="Text 12"/>
          <p:cNvSpPr txBox="1"/>
          <p:nvPr/>
        </p:nvSpPr>
        <p:spPr>
          <a:xfrm>
            <a:off x="1033272" y="192024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자기 인식</a:t>
            </a:r>
            <a:endParaRPr lang="en-US" sz="1650" dirty="0"/>
          </a:p>
        </p:txBody>
      </p:sp>
      <p:sp>
        <p:nvSpPr>
          <p:cNvPr id="17" name="Shape 13"/>
          <p:cNvSpPr/>
          <p:nvPr/>
        </p:nvSpPr>
        <p:spPr>
          <a:xfrm>
            <a:off x="3108960" y="1920240"/>
            <a:ext cx="3850184" cy="658368"/>
          </a:xfrm>
          <a:prstGeom prst="roundRect">
            <a:avLst>
              <a:gd name="adj" fmla="val 11111"/>
            </a:avLst>
          </a:prstGeom>
          <a:solidFill>
            <a:srgbClr val="E6F0E7"/>
          </a:solidFill>
          <a:ln w="9525">
            <a:solidFill>
              <a:srgbClr val="D3E6D6"/>
            </a:solidFill>
            <a:prstDash val="solid"/>
          </a:ln>
        </p:spPr>
      </p:sp>
      <p:sp>
        <p:nvSpPr>
          <p:cNvPr id="18" name="Text 14"/>
          <p:cNvSpPr txBox="1"/>
          <p:nvPr/>
        </p:nvSpPr>
        <p:spPr>
          <a:xfrm>
            <a:off x="3291840" y="192024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마음에 남은 장면, 속마음 말풍선, 마음 일기</a:t>
            </a:r>
            <a:endParaRPr lang="en-US" sz="1600" dirty="0"/>
          </a:p>
        </p:txBody>
      </p:sp>
      <p:sp>
        <p:nvSpPr>
          <p:cNvPr id="19" name="Shape 15"/>
          <p:cNvSpPr/>
          <p:nvPr/>
        </p:nvSpPr>
        <p:spPr>
          <a:xfrm>
            <a:off x="502920" y="2651760"/>
            <a:ext cx="2514600" cy="658368"/>
          </a:xfrm>
          <a:prstGeom prst="roundRect">
            <a:avLst>
              <a:gd name="adj" fmla="val 11111"/>
            </a:avLst>
          </a:prstGeom>
          <a:solidFill>
            <a:srgbClr val="2B4637"/>
          </a:solidFill>
          <a:ln/>
        </p:spPr>
      </p:sp>
      <p:pic>
        <p:nvPicPr>
          <p:cNvPr id="20" name="Image 2" descr="hourglass">    </p:cNvPr>
          <p:cNvPicPr>
            <a:picLocks noChangeAspect="1"/>
          </p:cNvPicPr>
          <p:nvPr/>
        </p:nvPicPr>
        <p:blipFill>
          <a:blip r:embed="rId3"/>
          <a:stretch>
            <a:fillRect/>
          </a:stretch>
        </p:blipFill>
        <p:spPr>
          <a:xfrm>
            <a:off x="649224" y="2834640"/>
            <a:ext cx="292608" cy="292608"/>
          </a:xfrm>
          <a:prstGeom prst="rect">
            <a:avLst/>
          </a:prstGeom>
        </p:spPr>
      </p:pic>
      <p:sp>
        <p:nvSpPr>
          <p:cNvPr id="21" name="Text 16"/>
          <p:cNvSpPr txBox="1"/>
          <p:nvPr/>
        </p:nvSpPr>
        <p:spPr>
          <a:xfrm>
            <a:off x="1033272" y="265176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자기 관리</a:t>
            </a:r>
            <a:endParaRPr lang="en-US" sz="1650" dirty="0"/>
          </a:p>
        </p:txBody>
      </p:sp>
      <p:sp>
        <p:nvSpPr>
          <p:cNvPr id="22" name="Shape 17"/>
          <p:cNvSpPr/>
          <p:nvPr/>
        </p:nvSpPr>
        <p:spPr>
          <a:xfrm>
            <a:off x="3108960" y="2651760"/>
            <a:ext cx="3850184" cy="658368"/>
          </a:xfrm>
          <a:prstGeom prst="roundRect">
            <a:avLst>
              <a:gd name="adj" fmla="val 11111"/>
            </a:avLst>
          </a:prstGeom>
          <a:solidFill>
            <a:srgbClr val="FFFFFF"/>
          </a:solidFill>
          <a:ln w="9525">
            <a:solidFill>
              <a:srgbClr val="D3E6D6"/>
            </a:solidFill>
            <a:prstDash val="solid"/>
          </a:ln>
        </p:spPr>
      </p:sp>
      <p:sp>
        <p:nvSpPr>
          <p:cNvPr id="23" name="Text 18"/>
          <p:cNvSpPr txBox="1"/>
          <p:nvPr/>
        </p:nvSpPr>
        <p:spPr>
          <a:xfrm>
            <a:off x="3291840" y="265176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「천천히 읽어요」, 나의 책상 4단계</a:t>
            </a:r>
            <a:endParaRPr lang="en-US" sz="1600" dirty="0"/>
          </a:p>
        </p:txBody>
      </p:sp>
      <p:sp>
        <p:nvSpPr>
          <p:cNvPr id="24" name="Shape 19"/>
          <p:cNvSpPr/>
          <p:nvPr/>
        </p:nvSpPr>
        <p:spPr>
          <a:xfrm>
            <a:off x="502920" y="3383280"/>
            <a:ext cx="2514600" cy="658368"/>
          </a:xfrm>
          <a:prstGeom prst="roundRect">
            <a:avLst>
              <a:gd name="adj" fmla="val 11111"/>
            </a:avLst>
          </a:prstGeom>
          <a:solidFill>
            <a:srgbClr val="2B4637"/>
          </a:solidFill>
          <a:ln/>
        </p:spPr>
      </p:sp>
      <p:pic>
        <p:nvPicPr>
          <p:cNvPr id="25" name="Image 3" descr="world">    </p:cNvPr>
          <p:cNvPicPr>
            <a:picLocks noChangeAspect="1"/>
          </p:cNvPicPr>
          <p:nvPr/>
        </p:nvPicPr>
        <p:blipFill>
          <a:blip r:embed="rId4"/>
          <a:stretch>
            <a:fillRect/>
          </a:stretch>
        </p:blipFill>
        <p:spPr>
          <a:xfrm>
            <a:off x="649224" y="3566160"/>
            <a:ext cx="292608" cy="292608"/>
          </a:xfrm>
          <a:prstGeom prst="rect">
            <a:avLst/>
          </a:prstGeom>
        </p:spPr>
      </p:pic>
      <p:sp>
        <p:nvSpPr>
          <p:cNvPr id="26" name="Text 20"/>
          <p:cNvSpPr txBox="1"/>
          <p:nvPr/>
        </p:nvSpPr>
        <p:spPr>
          <a:xfrm>
            <a:off x="1033272" y="338328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사회적 인식</a:t>
            </a:r>
            <a:endParaRPr lang="en-US" sz="1650" dirty="0"/>
          </a:p>
        </p:txBody>
      </p:sp>
      <p:sp>
        <p:nvSpPr>
          <p:cNvPr id="27" name="Shape 21"/>
          <p:cNvSpPr/>
          <p:nvPr/>
        </p:nvSpPr>
        <p:spPr>
          <a:xfrm>
            <a:off x="3108960" y="3383280"/>
            <a:ext cx="3850184" cy="658368"/>
          </a:xfrm>
          <a:prstGeom prst="roundRect">
            <a:avLst>
              <a:gd name="adj" fmla="val 11111"/>
            </a:avLst>
          </a:prstGeom>
          <a:solidFill>
            <a:srgbClr val="E6F0E7"/>
          </a:solidFill>
          <a:ln w="9525">
            <a:solidFill>
              <a:srgbClr val="D3E6D6"/>
            </a:solidFill>
            <a:prstDash val="solid"/>
          </a:ln>
        </p:spPr>
      </p:sp>
      <p:sp>
        <p:nvSpPr>
          <p:cNvPr id="28" name="Text 22"/>
          <p:cNvSpPr txBox="1"/>
          <p:nvPr/>
        </p:nvSpPr>
        <p:spPr>
          <a:xfrm>
            <a:off x="3291840" y="338328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캐릭터와 대화</a:t>
            </a:r>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 </a:t>
            </a:r>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작가와의 대화</a:t>
            </a:r>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 학년별 300권</a:t>
            </a:r>
            <a:endParaRPr lang="en-US" sz="1600" dirty="0"/>
          </a:p>
        </p:txBody>
      </p:sp>
      <p:sp>
        <p:nvSpPr>
          <p:cNvPr id="29" name="Shape 23"/>
          <p:cNvSpPr/>
          <p:nvPr/>
        </p:nvSpPr>
        <p:spPr>
          <a:xfrm>
            <a:off x="502920" y="4114800"/>
            <a:ext cx="2514600" cy="658368"/>
          </a:xfrm>
          <a:prstGeom prst="roundRect">
            <a:avLst>
              <a:gd name="adj" fmla="val 11111"/>
            </a:avLst>
          </a:prstGeom>
          <a:solidFill>
            <a:srgbClr val="2B4637"/>
          </a:solidFill>
          <a:ln/>
        </p:spPr>
      </p:sp>
      <p:pic>
        <p:nvPicPr>
          <p:cNvPr id="30" name="Image 4" descr="users">    </p:cNvPr>
          <p:cNvPicPr>
            <a:picLocks noChangeAspect="1"/>
          </p:cNvPicPr>
          <p:nvPr/>
        </p:nvPicPr>
        <p:blipFill>
          <a:blip r:embed="rId5"/>
          <a:stretch>
            <a:fillRect/>
          </a:stretch>
        </p:blipFill>
        <p:spPr>
          <a:xfrm>
            <a:off x="649224" y="4297680"/>
            <a:ext cx="292608" cy="292608"/>
          </a:xfrm>
          <a:prstGeom prst="rect">
            <a:avLst/>
          </a:prstGeom>
        </p:spPr>
      </p:pic>
      <p:sp>
        <p:nvSpPr>
          <p:cNvPr id="31" name="Text 24"/>
          <p:cNvSpPr txBox="1"/>
          <p:nvPr/>
        </p:nvSpPr>
        <p:spPr>
          <a:xfrm>
            <a:off x="1033272" y="411480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관계 기술</a:t>
            </a:r>
            <a:endParaRPr lang="en-US" sz="1650" dirty="0"/>
          </a:p>
        </p:txBody>
      </p:sp>
      <p:sp>
        <p:nvSpPr>
          <p:cNvPr id="32" name="Shape 25"/>
          <p:cNvSpPr/>
          <p:nvPr/>
        </p:nvSpPr>
        <p:spPr>
          <a:xfrm>
            <a:off x="3108960" y="4114800"/>
            <a:ext cx="3850184" cy="658368"/>
          </a:xfrm>
          <a:prstGeom prst="roundRect">
            <a:avLst>
              <a:gd name="adj" fmla="val 11111"/>
            </a:avLst>
          </a:prstGeom>
          <a:solidFill>
            <a:srgbClr val="FFFFFF"/>
          </a:solidFill>
          <a:ln w="9525">
            <a:solidFill>
              <a:srgbClr val="D3E6D6"/>
            </a:solidFill>
            <a:prstDash val="solid"/>
          </a:ln>
        </p:spPr>
      </p:sp>
      <p:sp>
        <p:nvSpPr>
          <p:cNvPr id="33" name="Text 26"/>
          <p:cNvSpPr txBox="1"/>
          <p:nvPr/>
        </p:nvSpPr>
        <p:spPr>
          <a:xfrm>
            <a:off x="3291840" y="411480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함께 쓰는 교실, 인물에게 편지, 우리 반 전시장</a:t>
            </a:r>
            <a:endParaRPr lang="en-US" sz="1600" dirty="0"/>
          </a:p>
        </p:txBody>
      </p:sp>
      <p:sp>
        <p:nvSpPr>
          <p:cNvPr id="34" name="Shape 27"/>
          <p:cNvSpPr/>
          <p:nvPr/>
        </p:nvSpPr>
        <p:spPr>
          <a:xfrm>
            <a:off x="502920" y="4846320"/>
            <a:ext cx="2514600" cy="658368"/>
          </a:xfrm>
          <a:prstGeom prst="roundRect">
            <a:avLst>
              <a:gd name="adj" fmla="val 11111"/>
            </a:avLst>
          </a:prstGeom>
          <a:solidFill>
            <a:srgbClr val="2B4637"/>
          </a:solidFill>
          <a:ln/>
        </p:spPr>
      </p:sp>
      <p:pic>
        <p:nvPicPr>
          <p:cNvPr id="35" name="Image 5" descr="scale">    </p:cNvPr>
          <p:cNvPicPr>
            <a:picLocks noChangeAspect="1"/>
          </p:cNvPicPr>
          <p:nvPr/>
        </p:nvPicPr>
        <p:blipFill>
          <a:blip r:embed="rId6"/>
          <a:stretch>
            <a:fillRect/>
          </a:stretch>
        </p:blipFill>
        <p:spPr>
          <a:xfrm>
            <a:off x="649224" y="5029200"/>
            <a:ext cx="292608" cy="292608"/>
          </a:xfrm>
          <a:prstGeom prst="rect">
            <a:avLst/>
          </a:prstGeom>
        </p:spPr>
      </p:pic>
      <p:sp>
        <p:nvSpPr>
          <p:cNvPr id="36" name="Text 28"/>
          <p:cNvSpPr txBox="1"/>
          <p:nvPr/>
        </p:nvSpPr>
        <p:spPr>
          <a:xfrm>
            <a:off x="1033272" y="484632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책임 있는 의사결정</a:t>
            </a:r>
            <a:endParaRPr lang="en-US" sz="1650" dirty="0"/>
          </a:p>
        </p:txBody>
      </p:sp>
      <p:sp>
        <p:nvSpPr>
          <p:cNvPr id="37" name="Shape 29"/>
          <p:cNvSpPr/>
          <p:nvPr/>
        </p:nvSpPr>
        <p:spPr>
          <a:xfrm>
            <a:off x="3108960" y="4846320"/>
            <a:ext cx="3850184" cy="658368"/>
          </a:xfrm>
          <a:prstGeom prst="roundRect">
            <a:avLst>
              <a:gd name="adj" fmla="val 11111"/>
            </a:avLst>
          </a:prstGeom>
          <a:solidFill>
            <a:srgbClr val="E6F0E7"/>
          </a:solidFill>
          <a:ln w="9525">
            <a:solidFill>
              <a:srgbClr val="D3E6D6"/>
            </a:solidFill>
            <a:prstDash val="solid"/>
          </a:ln>
        </p:spPr>
      </p:sp>
      <p:sp>
        <p:nvSpPr>
          <p:cNvPr id="38" name="Text 30"/>
          <p:cNvSpPr txBox="1"/>
          <p:nvPr/>
        </p:nvSpPr>
        <p:spPr>
          <a:xfrm>
            <a:off x="3291840" y="484632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인물과 대화, 별점과 까닭, 결말 상상하기</a:t>
            </a:r>
            <a:endParaRPr lang="en-US" sz="1600" dirty="0"/>
          </a:p>
        </p:txBody>
      </p:sp>
      <p:sp>
        <p:nvSpPr>
          <p:cNvPr id="39" name="Shape 31"/>
          <p:cNvSpPr/>
          <p:nvPr/>
        </p:nvSpPr>
        <p:spPr>
          <a:xfrm>
            <a:off x="7233464" y="1920240"/>
            <a:ext cx="4452568" cy="1737360"/>
          </a:xfrm>
          <a:prstGeom prst="roundRect">
            <a:avLst>
              <a:gd name="adj" fmla="val 5263"/>
            </a:avLst>
          </a:prstGeom>
          <a:solidFill>
            <a:srgbClr val="E6F0E7"/>
          </a:solidFill>
          <a:ln w="9525">
            <a:solidFill>
              <a:srgbClr val="E2DCCB"/>
            </a:solidFill>
            <a:prstDash val="solid"/>
          </a:ln>
        </p:spPr>
      </p:sp>
      <p:sp>
        <p:nvSpPr>
          <p:cNvPr id="40" name="Shape 32"/>
          <p:cNvSpPr/>
          <p:nvPr/>
        </p:nvSpPr>
        <p:spPr>
          <a:xfrm>
            <a:off x="7416344" y="2130552"/>
            <a:ext cx="118872" cy="118872"/>
          </a:xfrm>
          <a:prstGeom prst="ellipse">
            <a:avLst/>
          </a:prstGeom>
          <a:solidFill>
            <a:srgbClr val="2F7D4F"/>
          </a:solidFill>
          <a:ln/>
        </p:spPr>
      </p:sp>
      <p:sp>
        <p:nvSpPr>
          <p:cNvPr id="41" name="Text 33"/>
          <p:cNvSpPr txBox="1"/>
          <p:nvPr/>
        </p:nvSpPr>
        <p:spPr>
          <a:xfrm>
            <a:off x="7635800" y="1993392"/>
            <a:ext cx="2440888"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캐릭터와 대화</a:t>
            </a:r>
            <a:endParaRPr lang="en-US" sz="1650" dirty="0"/>
          </a:p>
        </p:txBody>
      </p:sp>
      <p:sp>
        <p:nvSpPr>
          <p:cNvPr id="42" name="Shape 34"/>
          <p:cNvSpPr/>
          <p:nvPr/>
        </p:nvSpPr>
        <p:spPr>
          <a:xfrm>
            <a:off x="10085832" y="2048256"/>
            <a:ext cx="865251" cy="292608"/>
          </a:xfrm>
          <a:prstGeom prst="roundRect">
            <a:avLst>
              <a:gd name="adj" fmla="val 50000"/>
            </a:avLst>
          </a:prstGeom>
          <a:solidFill>
            <a:srgbClr val="20342A"/>
          </a:solidFill>
          <a:ln/>
        </p:spPr>
      </p:sp>
      <p:sp>
        <p:nvSpPr>
          <p:cNvPr id="43" name="Text 35"/>
          <p:cNvSpPr txBox="1"/>
          <p:nvPr/>
        </p:nvSpPr>
        <p:spPr>
          <a:xfrm>
            <a:off x="10085832" y="2048256"/>
            <a:ext cx="8652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특허 등록</a:t>
            </a:r>
            <a:endParaRPr lang="en-US" sz="1250" dirty="0"/>
          </a:p>
        </p:txBody>
      </p:sp>
      <p:sp>
        <p:nvSpPr>
          <p:cNvPr id="44" name="Text 36"/>
          <p:cNvSpPr txBox="1"/>
          <p:nvPr/>
        </p:nvSpPr>
        <p:spPr>
          <a:xfrm>
            <a:off x="7416344" y="2414016"/>
            <a:ext cx="4086808" cy="457200"/>
          </a:xfrm>
          <a:prstGeom prst="rect">
            <a:avLst/>
          </a:prstGeom>
          <a:noFill/>
          <a:ln/>
        </p:spPr>
        <p:txBody>
          <a:bodyPr wrap="square" lIns="0" tIns="0" rIns="0" bIns="0" rtlCol="0" anchor="t"/>
          <a:lstStyle/>
          <a:p>
            <a:pPr indent="0" marL="0">
              <a:lnSpc>
                <a:spcPct val="120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다 읽으면 인물이 된 부기가 묻고, 까닭을 다시 묻습니다.</a:t>
            </a:r>
            <a:endParaRPr lang="en-US" sz="1400" dirty="0"/>
          </a:p>
        </p:txBody>
      </p:sp>
      <p:sp>
        <p:nvSpPr>
          <p:cNvPr id="45" name="Shape 37"/>
          <p:cNvSpPr/>
          <p:nvPr/>
        </p:nvSpPr>
        <p:spPr>
          <a:xfrm>
            <a:off x="7416344" y="2889504"/>
            <a:ext cx="4086808" cy="658368"/>
          </a:xfrm>
          <a:prstGeom prst="roundRect">
            <a:avLst>
              <a:gd name="adj" fmla="val 13889"/>
            </a:avLst>
          </a:prstGeom>
          <a:solidFill>
            <a:srgbClr val="FFFFFF"/>
          </a:solidFill>
          <a:ln w="9525">
            <a:solidFill>
              <a:srgbClr val="E2DCCB"/>
            </a:solidFill>
            <a:prstDash val="solid"/>
          </a:ln>
        </p:spPr>
      </p:sp>
      <p:sp>
        <p:nvSpPr>
          <p:cNvPr id="46" name="Text 38"/>
          <p:cNvSpPr txBox="1"/>
          <p:nvPr/>
        </p:nvSpPr>
        <p:spPr>
          <a:xfrm>
            <a:off x="7544360" y="2889504"/>
            <a:ext cx="3830776" cy="658368"/>
          </a:xfrm>
          <a:prstGeom prst="rect">
            <a:avLst/>
          </a:prstGeom>
          <a:noFill/>
          <a:ln/>
        </p:spPr>
        <p:txBody>
          <a:bodyPr wrap="square" lIns="0" tIns="0" rIns="0" bIns="0" rtlCol="0" anchor="ctr"/>
          <a:lstStyle/>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캐릭터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토끼는 어떤 친구인 것 같아?</a:t>
            </a:r>
            <a:endParaRPr lang="en-US" sz="1200" dirty="0"/>
          </a:p>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캐릭터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그렇게 생각한 까닭은?</a:t>
            </a:r>
            <a:endParaRPr lang="en-US" sz="1200" dirty="0"/>
          </a:p>
        </p:txBody>
      </p:sp>
      <p:sp>
        <p:nvSpPr>
          <p:cNvPr id="47" name="Shape 39"/>
          <p:cNvSpPr/>
          <p:nvPr/>
        </p:nvSpPr>
        <p:spPr>
          <a:xfrm>
            <a:off x="7233464" y="3767328"/>
            <a:ext cx="4452568" cy="1737360"/>
          </a:xfrm>
          <a:prstGeom prst="roundRect">
            <a:avLst>
              <a:gd name="adj" fmla="val 5263"/>
            </a:avLst>
          </a:prstGeom>
          <a:solidFill>
            <a:srgbClr val="FBF5E6"/>
          </a:solidFill>
          <a:ln w="9525">
            <a:solidFill>
              <a:srgbClr val="E2DCCB"/>
            </a:solidFill>
            <a:prstDash val="solid"/>
          </a:ln>
        </p:spPr>
      </p:sp>
      <p:sp>
        <p:nvSpPr>
          <p:cNvPr id="48" name="Shape 40"/>
          <p:cNvSpPr/>
          <p:nvPr/>
        </p:nvSpPr>
        <p:spPr>
          <a:xfrm>
            <a:off x="7416344" y="3977640"/>
            <a:ext cx="118872" cy="118872"/>
          </a:xfrm>
          <a:prstGeom prst="ellipse">
            <a:avLst/>
          </a:prstGeom>
          <a:solidFill>
            <a:srgbClr val="2F7D4F"/>
          </a:solidFill>
          <a:ln/>
        </p:spPr>
      </p:sp>
      <p:sp>
        <p:nvSpPr>
          <p:cNvPr id="49" name="Text 41"/>
          <p:cNvSpPr txBox="1"/>
          <p:nvPr/>
        </p:nvSpPr>
        <p:spPr>
          <a:xfrm>
            <a:off x="7635800" y="3840480"/>
            <a:ext cx="2440888"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작가와의 대화</a:t>
            </a:r>
            <a:endParaRPr lang="en-US" sz="1650" dirty="0"/>
          </a:p>
        </p:txBody>
      </p:sp>
      <p:sp>
        <p:nvSpPr>
          <p:cNvPr id="50" name="Shape 42"/>
          <p:cNvSpPr/>
          <p:nvPr/>
        </p:nvSpPr>
        <p:spPr>
          <a:xfrm>
            <a:off x="10085832" y="3895344"/>
            <a:ext cx="1317307" cy="292608"/>
          </a:xfrm>
          <a:prstGeom prst="roundRect">
            <a:avLst>
              <a:gd name="adj" fmla="val 50000"/>
            </a:avLst>
          </a:prstGeom>
          <a:solidFill>
            <a:srgbClr val="20342A"/>
          </a:solidFill>
          <a:ln/>
        </p:spPr>
      </p:sp>
      <p:sp>
        <p:nvSpPr>
          <p:cNvPr id="51" name="Text 43"/>
          <p:cNvSpPr txBox="1"/>
          <p:nvPr/>
        </p:nvSpPr>
        <p:spPr>
          <a:xfrm>
            <a:off x="10085832" y="3895344"/>
            <a:ext cx="1317307"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특허 출원 준비 중</a:t>
            </a:r>
            <a:endParaRPr lang="en-US" sz="1250" dirty="0"/>
          </a:p>
        </p:txBody>
      </p:sp>
      <p:sp>
        <p:nvSpPr>
          <p:cNvPr id="52" name="Text 44"/>
          <p:cNvSpPr txBox="1"/>
          <p:nvPr/>
        </p:nvSpPr>
        <p:spPr>
          <a:xfrm>
            <a:off x="7416344" y="4261104"/>
            <a:ext cx="4086808" cy="457200"/>
          </a:xfrm>
          <a:prstGeom prst="rect">
            <a:avLst/>
          </a:prstGeom>
          <a:noFill/>
          <a:ln/>
        </p:spPr>
        <p:txBody>
          <a:bodyPr wrap="square" lIns="0" tIns="0" rIns="0" bIns="0" rtlCol="0" anchor="t"/>
          <a:lstStyle/>
          <a:p>
            <a:pPr indent="0" marL="0">
              <a:lnSpc>
                <a:spcPct val="120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캐릭터와 대화 뒤에 작가에게 이야기를 쓴 까닭을 묻습니다.</a:t>
            </a:r>
            <a:endParaRPr lang="en-US" sz="1400" dirty="0"/>
          </a:p>
        </p:txBody>
      </p:sp>
      <p:sp>
        <p:nvSpPr>
          <p:cNvPr id="53" name="Shape 45"/>
          <p:cNvSpPr/>
          <p:nvPr/>
        </p:nvSpPr>
        <p:spPr>
          <a:xfrm>
            <a:off x="7416344" y="4736592"/>
            <a:ext cx="4086808" cy="658368"/>
          </a:xfrm>
          <a:prstGeom prst="roundRect">
            <a:avLst>
              <a:gd name="adj" fmla="val 13889"/>
            </a:avLst>
          </a:prstGeom>
          <a:solidFill>
            <a:srgbClr val="FFFFFF"/>
          </a:solidFill>
          <a:ln w="9525">
            <a:solidFill>
              <a:srgbClr val="E2DCCB"/>
            </a:solidFill>
            <a:prstDash val="solid"/>
          </a:ln>
        </p:spPr>
      </p:sp>
      <p:sp>
        <p:nvSpPr>
          <p:cNvPr id="54" name="Text 46"/>
          <p:cNvSpPr txBox="1"/>
          <p:nvPr/>
        </p:nvSpPr>
        <p:spPr>
          <a:xfrm>
            <a:off x="7544360" y="4736592"/>
            <a:ext cx="3830776" cy="658368"/>
          </a:xfrm>
          <a:prstGeom prst="rect">
            <a:avLst/>
          </a:prstGeom>
          <a:noFill/>
          <a:ln/>
        </p:spPr>
        <p:txBody>
          <a:bodyPr wrap="square" lIns="0" tIns="0" rIns="0" bIns="0" rtlCol="0" anchor="ctr"/>
          <a:lstStyle/>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학생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작가님은 왜 네로를 가난한 아이로 그리셨어요?</a:t>
            </a:r>
            <a:endParaRPr lang="en-US" sz="1200" dirty="0"/>
          </a:p>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작가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너라면 네로에게 어떤 말을 해 주고 싶니?</a:t>
            </a:r>
            <a:endParaRPr lang="en-US" sz="1200" dirty="0"/>
          </a:p>
        </p:txBody>
      </p:sp>
      <p:sp>
        <p:nvSpPr>
          <p:cNvPr id="55" name="Shape 47"/>
          <p:cNvSpPr/>
          <p:nvPr/>
        </p:nvSpPr>
        <p:spPr>
          <a:xfrm>
            <a:off x="502920" y="5705856"/>
            <a:ext cx="11183112" cy="566928"/>
          </a:xfrm>
          <a:prstGeom prst="roundRect">
            <a:avLst>
              <a:gd name="adj" fmla="val 12903"/>
            </a:avLst>
          </a:prstGeom>
          <a:solidFill>
            <a:srgbClr val="20342A"/>
          </a:solidFill>
          <a:ln/>
        </p:spPr>
      </p:sp>
      <p:pic>
        <p:nvPicPr>
          <p:cNvPr id="56" name="Image 6" descr="heart-handshake">    </p:cNvPr>
          <p:cNvPicPr>
            <a:picLocks noChangeAspect="1"/>
          </p:cNvPicPr>
          <p:nvPr/>
        </p:nvPicPr>
        <p:blipFill>
          <a:blip r:embed="rId7"/>
          <a:stretch>
            <a:fillRect/>
          </a:stretch>
        </p:blipFill>
        <p:spPr>
          <a:xfrm>
            <a:off x="685800" y="5843016"/>
            <a:ext cx="292608" cy="292608"/>
          </a:xfrm>
          <a:prstGeom prst="rect">
            <a:avLst/>
          </a:prstGeom>
        </p:spPr>
      </p:pic>
      <p:sp>
        <p:nvSpPr>
          <p:cNvPr id="57" name="Text 48"/>
          <p:cNvSpPr txBox="1"/>
          <p:nvPr/>
        </p:nvSpPr>
        <p:spPr>
          <a:xfrm>
            <a:off x="1106424" y="5705856"/>
            <a:ext cx="10396728" cy="566928"/>
          </a:xfrm>
          <a:prstGeom prst="rect">
            <a:avLst/>
          </a:prstGeom>
          <a:noFill/>
          <a:ln/>
        </p:spPr>
        <p:txBody>
          <a:bodyPr wrap="square" lIns="0" tIns="0" rIns="0" bIns="0" rtlCol="0" anchor="ct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지식은 AI가 빨리 찾아 줍니다.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사람과 어울려 문제를 풀고 함께 자라는 힘</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은 책 속 삶을 살아 본 경험에서 자랍니다.</a:t>
            </a:r>
            <a:endParaRPr lang="en-US" sz="1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고민 책방 수업 설계 흐름</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우리 반 고민으로 시작해, 책과 질문을 고르고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수업 뒤 학생의 반응을 돌아봅니다</a:t>
            </a:r>
            <a:endParaRPr lang="en-US" sz="1400" dirty="0"/>
          </a:p>
        </p:txBody>
      </p:sp>
      <p:sp>
        <p:nvSpPr>
          <p:cNvPr id="10" name="Text 7"/>
          <p:cNvSpPr txBox="1"/>
          <p:nvPr/>
        </p:nvSpPr>
        <p:spPr>
          <a:xfrm>
            <a:off x="192288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7229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화면: 부기 고민 책방 체험판 교사 화면(2026. 10. 24.). 책은 부기 300권 안에서만 추천함. AI 기능은 OpenAI와 Anthropic(Claude) API로 운영하며, 두 사업자 모두 데이터 무보관(ZDR)을 적용해 AI로 보낸 글은 처리 뒤 남지 않고 AI 학습에도 쓰이지 않음. 학생이 인물 대화에 쓴 글은 친구 이름을 ○○로 가리고 이름과 계정 없이 보냄.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13</a:t>
            </a:r>
            <a:endParaRPr lang="en-US" sz="1250" dirty="0"/>
          </a:p>
        </p:txBody>
      </p:sp>
      <p:sp>
        <p:nvSpPr>
          <p:cNvPr id="14" name="Shape 11"/>
          <p:cNvSpPr/>
          <p:nvPr/>
        </p:nvSpPr>
        <p:spPr>
          <a:xfrm>
            <a:off x="502920" y="2002536"/>
            <a:ext cx="118872" cy="118872"/>
          </a:xfrm>
          <a:prstGeom prst="ellipse">
            <a:avLst/>
          </a:prstGeom>
          <a:solidFill>
            <a:srgbClr val="2F7D4F"/>
          </a:solidFill>
          <a:ln/>
        </p:spPr>
      </p:sp>
      <p:sp>
        <p:nvSpPr>
          <p:cNvPr id="15" name="Text 12"/>
          <p:cNvSpPr txBox="1"/>
          <p:nvPr/>
        </p:nvSpPr>
        <p:spPr>
          <a:xfrm>
            <a:off x="722376" y="1865376"/>
            <a:ext cx="73152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교사</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학급 고민 → 책과 질문 → 수업 다듬기 → 수업 돌아보기</a:t>
            </a:r>
            <a:endParaRPr lang="en-US" sz="1650" dirty="0"/>
          </a:p>
        </p:txBody>
      </p:sp>
      <p:sp>
        <p:nvSpPr>
          <p:cNvPr id="16" name="Shape 13"/>
          <p:cNvSpPr/>
          <p:nvPr/>
        </p:nvSpPr>
        <p:spPr>
          <a:xfrm>
            <a:off x="502920" y="2322576"/>
            <a:ext cx="2590038" cy="1298448"/>
          </a:xfrm>
          <a:prstGeom prst="roundRect">
            <a:avLst>
              <a:gd name="adj" fmla="val 7042"/>
            </a:avLst>
          </a:prstGeom>
          <a:solidFill>
            <a:srgbClr val="FBF5E6"/>
          </a:solidFill>
          <a:ln w="9525">
            <a:solidFill>
              <a:srgbClr val="E2DCCB"/>
            </a:solidFill>
            <a:prstDash val="solid"/>
          </a:ln>
        </p:spPr>
      </p:sp>
      <p:sp>
        <p:nvSpPr>
          <p:cNvPr id="17" name="Shape 14"/>
          <p:cNvSpPr/>
          <p:nvPr/>
        </p:nvSpPr>
        <p:spPr>
          <a:xfrm>
            <a:off x="630936" y="2450592"/>
            <a:ext cx="292608" cy="292608"/>
          </a:xfrm>
          <a:prstGeom prst="ellipse">
            <a:avLst/>
          </a:prstGeom>
          <a:solidFill>
            <a:srgbClr val="2F7D4F"/>
          </a:solidFill>
          <a:ln/>
        </p:spPr>
      </p:sp>
      <p:sp>
        <p:nvSpPr>
          <p:cNvPr id="18" name="Text 15"/>
          <p:cNvSpPr txBox="1"/>
          <p:nvPr/>
        </p:nvSpPr>
        <p:spPr>
          <a:xfrm>
            <a:off x="630936"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1</a:t>
            </a:r>
            <a:endParaRPr lang="en-US" sz="1300" dirty="0"/>
          </a:p>
        </p:txBody>
      </p:sp>
      <p:sp>
        <p:nvSpPr>
          <p:cNvPr id="19" name="Text 16"/>
          <p:cNvSpPr txBox="1"/>
          <p:nvPr/>
        </p:nvSpPr>
        <p:spPr>
          <a:xfrm>
            <a:off x="996696"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학급 고민</a:t>
            </a:r>
            <a:endParaRPr lang="en-US" sz="1550" dirty="0"/>
          </a:p>
        </p:txBody>
      </p:sp>
      <p:sp>
        <p:nvSpPr>
          <p:cNvPr id="20" name="Shape 17"/>
          <p:cNvSpPr/>
          <p:nvPr/>
        </p:nvSpPr>
        <p:spPr>
          <a:xfrm>
            <a:off x="2544318" y="2414016"/>
            <a:ext cx="420624" cy="420624"/>
          </a:xfrm>
          <a:prstGeom prst="ellipse">
            <a:avLst/>
          </a:prstGeom>
          <a:solidFill>
            <a:srgbClr val="FFFFFF"/>
          </a:solidFill>
          <a:ln/>
        </p:spPr>
      </p:sp>
      <p:pic>
        <p:nvPicPr>
          <p:cNvPr id="21" name="Image 1" descr="message-2">    </p:cNvPr>
          <p:cNvPicPr>
            <a:picLocks noChangeAspect="1"/>
          </p:cNvPicPr>
          <p:nvPr/>
        </p:nvPicPr>
        <p:blipFill>
          <a:blip r:embed="rId2"/>
          <a:stretch>
            <a:fillRect/>
          </a:stretch>
        </p:blipFill>
        <p:spPr>
          <a:xfrm>
            <a:off x="2632649" y="2502347"/>
            <a:ext cx="243962" cy="243962"/>
          </a:xfrm>
          <a:prstGeom prst="rect">
            <a:avLst/>
          </a:prstGeom>
        </p:spPr>
      </p:pic>
      <p:sp>
        <p:nvSpPr>
          <p:cNvPr id="22" name="Text 18"/>
          <p:cNvSpPr txBox="1"/>
          <p:nvPr/>
        </p:nvSpPr>
        <p:spPr>
          <a:xfrm>
            <a:off x="649224"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교사가 우리 반에서</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풀고 싶은 문제를 적음</a:t>
            </a:r>
            <a:endParaRPr lang="en-US" sz="1250" dirty="0"/>
          </a:p>
        </p:txBody>
      </p:sp>
      <p:sp>
        <p:nvSpPr>
          <p:cNvPr id="23" name="Shape 19"/>
          <p:cNvSpPr/>
          <p:nvPr/>
        </p:nvSpPr>
        <p:spPr>
          <a:xfrm>
            <a:off x="3156966" y="2852928"/>
            <a:ext cx="137160" cy="237744"/>
          </a:xfrm>
          <a:prstGeom prst="chevron">
            <a:avLst/>
          </a:prstGeom>
          <a:solidFill>
            <a:srgbClr val="C08A1E"/>
          </a:solidFill>
          <a:ln/>
        </p:spPr>
      </p:sp>
      <p:sp>
        <p:nvSpPr>
          <p:cNvPr id="24" name="Shape 20"/>
          <p:cNvSpPr/>
          <p:nvPr/>
        </p:nvSpPr>
        <p:spPr>
          <a:xfrm>
            <a:off x="3367278" y="2322576"/>
            <a:ext cx="2590038" cy="1298448"/>
          </a:xfrm>
          <a:prstGeom prst="roundRect">
            <a:avLst>
              <a:gd name="adj" fmla="val 7042"/>
            </a:avLst>
          </a:prstGeom>
          <a:solidFill>
            <a:srgbClr val="FFFFFF"/>
          </a:solidFill>
          <a:ln w="9525">
            <a:solidFill>
              <a:srgbClr val="E2DCCB"/>
            </a:solidFill>
            <a:prstDash val="solid"/>
          </a:ln>
        </p:spPr>
      </p:sp>
      <p:sp>
        <p:nvSpPr>
          <p:cNvPr id="25" name="Shape 21"/>
          <p:cNvSpPr/>
          <p:nvPr/>
        </p:nvSpPr>
        <p:spPr>
          <a:xfrm>
            <a:off x="3495294" y="2450592"/>
            <a:ext cx="292608" cy="292608"/>
          </a:xfrm>
          <a:prstGeom prst="ellipse">
            <a:avLst/>
          </a:prstGeom>
          <a:solidFill>
            <a:srgbClr val="2F7D4F"/>
          </a:solidFill>
          <a:ln/>
        </p:spPr>
      </p:sp>
      <p:sp>
        <p:nvSpPr>
          <p:cNvPr id="26" name="Text 22"/>
          <p:cNvSpPr txBox="1"/>
          <p:nvPr/>
        </p:nvSpPr>
        <p:spPr>
          <a:xfrm>
            <a:off x="3495294"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2</a:t>
            </a:r>
            <a:endParaRPr lang="en-US" sz="1300" dirty="0"/>
          </a:p>
        </p:txBody>
      </p:sp>
      <p:sp>
        <p:nvSpPr>
          <p:cNvPr id="27" name="Text 23"/>
          <p:cNvSpPr txBox="1"/>
          <p:nvPr/>
        </p:nvSpPr>
        <p:spPr>
          <a:xfrm>
            <a:off x="3861054"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수업 질문</a:t>
            </a:r>
            <a:endParaRPr lang="en-US" sz="1550" dirty="0"/>
          </a:p>
        </p:txBody>
      </p:sp>
      <p:sp>
        <p:nvSpPr>
          <p:cNvPr id="28" name="Shape 24"/>
          <p:cNvSpPr/>
          <p:nvPr/>
        </p:nvSpPr>
        <p:spPr>
          <a:xfrm>
            <a:off x="5408676" y="2414016"/>
            <a:ext cx="420624" cy="420624"/>
          </a:xfrm>
          <a:prstGeom prst="ellipse">
            <a:avLst/>
          </a:prstGeom>
          <a:solidFill>
            <a:srgbClr val="E6F0E7"/>
          </a:solidFill>
          <a:ln/>
        </p:spPr>
      </p:sp>
      <p:pic>
        <p:nvPicPr>
          <p:cNvPr id="29" name="Image 2" descr="help-circle">    </p:cNvPr>
          <p:cNvPicPr>
            <a:picLocks noChangeAspect="1"/>
          </p:cNvPicPr>
          <p:nvPr/>
        </p:nvPicPr>
        <p:blipFill>
          <a:blip r:embed="rId3"/>
          <a:stretch>
            <a:fillRect/>
          </a:stretch>
        </p:blipFill>
        <p:spPr>
          <a:xfrm>
            <a:off x="5497007" y="2502347"/>
            <a:ext cx="243962" cy="243962"/>
          </a:xfrm>
          <a:prstGeom prst="rect">
            <a:avLst/>
          </a:prstGeom>
        </p:spPr>
      </p:pic>
      <p:sp>
        <p:nvSpPr>
          <p:cNvPr id="30" name="Text 25"/>
          <p:cNvSpPr txBox="1"/>
          <p:nvPr/>
        </p:nvSpPr>
        <p:spPr>
          <a:xfrm>
            <a:off x="3513582"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고민에 맞는 수업 질문</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초안이 나옴</a:t>
            </a:r>
            <a:endParaRPr lang="en-US" sz="1250" dirty="0"/>
          </a:p>
        </p:txBody>
      </p:sp>
      <p:sp>
        <p:nvSpPr>
          <p:cNvPr id="31" name="Shape 26"/>
          <p:cNvSpPr/>
          <p:nvPr/>
        </p:nvSpPr>
        <p:spPr>
          <a:xfrm>
            <a:off x="6021324" y="2852928"/>
            <a:ext cx="137160" cy="237744"/>
          </a:xfrm>
          <a:prstGeom prst="chevron">
            <a:avLst/>
          </a:prstGeom>
          <a:solidFill>
            <a:srgbClr val="C08A1E"/>
          </a:solidFill>
          <a:ln/>
        </p:spPr>
      </p:sp>
      <p:sp>
        <p:nvSpPr>
          <p:cNvPr id="32" name="Shape 27"/>
          <p:cNvSpPr/>
          <p:nvPr/>
        </p:nvSpPr>
        <p:spPr>
          <a:xfrm>
            <a:off x="6231636" y="2322576"/>
            <a:ext cx="2590038" cy="1298448"/>
          </a:xfrm>
          <a:prstGeom prst="roundRect">
            <a:avLst>
              <a:gd name="adj" fmla="val 7042"/>
            </a:avLst>
          </a:prstGeom>
          <a:solidFill>
            <a:srgbClr val="FBF5E6"/>
          </a:solidFill>
          <a:ln w="9525">
            <a:solidFill>
              <a:srgbClr val="E2DCCB"/>
            </a:solidFill>
            <a:prstDash val="solid"/>
          </a:ln>
        </p:spPr>
      </p:sp>
      <p:sp>
        <p:nvSpPr>
          <p:cNvPr id="33" name="Shape 28"/>
          <p:cNvSpPr/>
          <p:nvPr/>
        </p:nvSpPr>
        <p:spPr>
          <a:xfrm>
            <a:off x="6359652" y="2450592"/>
            <a:ext cx="292608" cy="292608"/>
          </a:xfrm>
          <a:prstGeom prst="ellipse">
            <a:avLst/>
          </a:prstGeom>
          <a:solidFill>
            <a:srgbClr val="2F7D4F"/>
          </a:solidFill>
          <a:ln/>
        </p:spPr>
      </p:sp>
      <p:sp>
        <p:nvSpPr>
          <p:cNvPr id="34" name="Text 29"/>
          <p:cNvSpPr txBox="1"/>
          <p:nvPr/>
        </p:nvSpPr>
        <p:spPr>
          <a:xfrm>
            <a:off x="6359652"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3</a:t>
            </a:r>
            <a:endParaRPr lang="en-US" sz="1300" dirty="0"/>
          </a:p>
        </p:txBody>
      </p:sp>
      <p:sp>
        <p:nvSpPr>
          <p:cNvPr id="35" name="Text 30"/>
          <p:cNvSpPr txBox="1"/>
          <p:nvPr/>
        </p:nvSpPr>
        <p:spPr>
          <a:xfrm>
            <a:off x="6725412"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책 세 권</a:t>
            </a:r>
            <a:endParaRPr lang="en-US" sz="1550" dirty="0"/>
          </a:p>
        </p:txBody>
      </p:sp>
      <p:sp>
        <p:nvSpPr>
          <p:cNvPr id="36" name="Shape 31"/>
          <p:cNvSpPr/>
          <p:nvPr/>
        </p:nvSpPr>
        <p:spPr>
          <a:xfrm>
            <a:off x="8273034" y="2414016"/>
            <a:ext cx="420624" cy="420624"/>
          </a:xfrm>
          <a:prstGeom prst="ellipse">
            <a:avLst/>
          </a:prstGeom>
          <a:solidFill>
            <a:srgbClr val="FFFFFF"/>
          </a:solidFill>
          <a:ln/>
        </p:spPr>
      </p:sp>
      <p:pic>
        <p:nvPicPr>
          <p:cNvPr id="37" name="Image 3" descr="books">    </p:cNvPr>
          <p:cNvPicPr>
            <a:picLocks noChangeAspect="1"/>
          </p:cNvPicPr>
          <p:nvPr/>
        </p:nvPicPr>
        <p:blipFill>
          <a:blip r:embed="rId4"/>
          <a:stretch>
            <a:fillRect/>
          </a:stretch>
        </p:blipFill>
        <p:spPr>
          <a:xfrm>
            <a:off x="8361365" y="2502347"/>
            <a:ext cx="243962" cy="243962"/>
          </a:xfrm>
          <a:prstGeom prst="rect">
            <a:avLst/>
          </a:prstGeom>
        </p:spPr>
      </p:pic>
      <p:sp>
        <p:nvSpPr>
          <p:cNvPr id="38" name="Text 32"/>
          <p:cNvSpPr txBox="1"/>
          <p:nvPr/>
        </p:nvSpPr>
        <p:spPr>
          <a:xfrm>
            <a:off x="6377940"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300권에서 비춰 보는 책,</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닮은 인물을 만나는 책,</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더 넓게 보는 책</a:t>
            </a:r>
            <a:endParaRPr lang="en-US" sz="1250" dirty="0"/>
          </a:p>
        </p:txBody>
      </p:sp>
      <p:sp>
        <p:nvSpPr>
          <p:cNvPr id="39" name="Shape 33"/>
          <p:cNvSpPr/>
          <p:nvPr/>
        </p:nvSpPr>
        <p:spPr>
          <a:xfrm>
            <a:off x="8885682" y="2852928"/>
            <a:ext cx="137160" cy="237744"/>
          </a:xfrm>
          <a:prstGeom prst="chevron">
            <a:avLst/>
          </a:prstGeom>
          <a:solidFill>
            <a:srgbClr val="C08A1E"/>
          </a:solidFill>
          <a:ln/>
        </p:spPr>
      </p:sp>
      <p:sp>
        <p:nvSpPr>
          <p:cNvPr id="40" name="Shape 34"/>
          <p:cNvSpPr/>
          <p:nvPr/>
        </p:nvSpPr>
        <p:spPr>
          <a:xfrm>
            <a:off x="9095994" y="2322576"/>
            <a:ext cx="2590038" cy="1298448"/>
          </a:xfrm>
          <a:prstGeom prst="roundRect">
            <a:avLst>
              <a:gd name="adj" fmla="val 7042"/>
            </a:avLst>
          </a:prstGeom>
          <a:solidFill>
            <a:srgbClr val="FFFFFF"/>
          </a:solidFill>
          <a:ln w="9525">
            <a:solidFill>
              <a:srgbClr val="E2DCCB"/>
            </a:solidFill>
            <a:prstDash val="solid"/>
          </a:ln>
        </p:spPr>
      </p:sp>
      <p:sp>
        <p:nvSpPr>
          <p:cNvPr id="41" name="Shape 35"/>
          <p:cNvSpPr/>
          <p:nvPr/>
        </p:nvSpPr>
        <p:spPr>
          <a:xfrm>
            <a:off x="9224010" y="2450592"/>
            <a:ext cx="292608" cy="292608"/>
          </a:xfrm>
          <a:prstGeom prst="ellipse">
            <a:avLst/>
          </a:prstGeom>
          <a:solidFill>
            <a:srgbClr val="2F7D4F"/>
          </a:solidFill>
          <a:ln/>
        </p:spPr>
      </p:sp>
      <p:sp>
        <p:nvSpPr>
          <p:cNvPr id="42" name="Text 36"/>
          <p:cNvSpPr txBox="1"/>
          <p:nvPr/>
        </p:nvSpPr>
        <p:spPr>
          <a:xfrm>
            <a:off x="9224010"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4</a:t>
            </a:r>
            <a:endParaRPr lang="en-US" sz="1300" dirty="0"/>
          </a:p>
        </p:txBody>
      </p:sp>
      <p:sp>
        <p:nvSpPr>
          <p:cNvPr id="43" name="Text 37"/>
          <p:cNvSpPr txBox="1"/>
          <p:nvPr/>
        </p:nvSpPr>
        <p:spPr>
          <a:xfrm>
            <a:off x="9589770"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2차시 설계안</a:t>
            </a:r>
            <a:endParaRPr lang="en-US" sz="1550" dirty="0"/>
          </a:p>
        </p:txBody>
      </p:sp>
      <p:sp>
        <p:nvSpPr>
          <p:cNvPr id="44" name="Shape 38"/>
          <p:cNvSpPr/>
          <p:nvPr/>
        </p:nvSpPr>
        <p:spPr>
          <a:xfrm>
            <a:off x="11137392" y="2414016"/>
            <a:ext cx="420624" cy="420624"/>
          </a:xfrm>
          <a:prstGeom prst="ellipse">
            <a:avLst/>
          </a:prstGeom>
          <a:solidFill>
            <a:srgbClr val="E6F0E7"/>
          </a:solidFill>
          <a:ln/>
        </p:spPr>
      </p:sp>
      <p:pic>
        <p:nvPicPr>
          <p:cNvPr id="45" name="Image 4" descr="file-text">    </p:cNvPr>
          <p:cNvPicPr>
            <a:picLocks noChangeAspect="1"/>
          </p:cNvPicPr>
          <p:nvPr/>
        </p:nvPicPr>
        <p:blipFill>
          <a:blip r:embed="rId5"/>
          <a:stretch>
            <a:fillRect/>
          </a:stretch>
        </p:blipFill>
        <p:spPr>
          <a:xfrm>
            <a:off x="11225723" y="2502347"/>
            <a:ext cx="243962" cy="243962"/>
          </a:xfrm>
          <a:prstGeom prst="rect">
            <a:avLst/>
          </a:prstGeom>
        </p:spPr>
      </p:pic>
      <p:sp>
        <p:nvSpPr>
          <p:cNvPr id="46" name="Text 39"/>
          <p:cNvSpPr txBox="1"/>
          <p:nvPr/>
        </p:nvSpPr>
        <p:spPr>
          <a:xfrm>
            <a:off x="9242298"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학습 목표, 차시별 활동,</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발문, 학생에게 내줄 카드</a:t>
            </a:r>
            <a:endParaRPr lang="en-US" sz="1250" dirty="0"/>
          </a:p>
        </p:txBody>
      </p:sp>
      <p:sp>
        <p:nvSpPr>
          <p:cNvPr id="47" name="Shape 40"/>
          <p:cNvSpPr/>
          <p:nvPr/>
        </p:nvSpPr>
        <p:spPr>
          <a:xfrm>
            <a:off x="502920" y="3785616"/>
            <a:ext cx="5481828" cy="2487168"/>
          </a:xfrm>
          <a:prstGeom prst="roundRect">
            <a:avLst>
              <a:gd name="adj" fmla="val 3676"/>
            </a:avLst>
          </a:prstGeom>
          <a:solidFill>
            <a:srgbClr val="E6F0E7"/>
          </a:solidFill>
          <a:ln/>
        </p:spPr>
      </p:sp>
      <p:sp>
        <p:nvSpPr>
          <p:cNvPr id="48" name="Shape 41"/>
          <p:cNvSpPr/>
          <p:nvPr/>
        </p:nvSpPr>
        <p:spPr>
          <a:xfrm>
            <a:off x="612648" y="3895344"/>
            <a:ext cx="3246120" cy="2267712"/>
          </a:xfrm>
          <a:prstGeom prst="roundRect">
            <a:avLst>
              <a:gd name="adj" fmla="val 3226"/>
            </a:avLst>
          </a:prstGeom>
          <a:solidFill>
            <a:srgbClr val="FFFFFF"/>
          </a:solidFill>
          <a:ln w="9525">
            <a:solidFill>
              <a:srgbClr val="E2DCCB"/>
            </a:solidFill>
            <a:prstDash val="solid"/>
          </a:ln>
        </p:spPr>
      </p:sp>
      <p:pic>
        <p:nvPicPr>
          <p:cNvPr id="49" name="Image 5" descr="화면">    </p:cNvPr>
          <p:cNvPicPr>
            <a:picLocks noChangeAspect="1"/>
          </p:cNvPicPr>
          <p:nvPr/>
        </p:nvPicPr>
        <p:blipFill>
          <a:blip r:embed="rId6"/>
          <a:stretch>
            <a:fillRect/>
          </a:stretch>
        </p:blipFill>
        <p:spPr>
          <a:xfrm>
            <a:off x="640080" y="3922776"/>
            <a:ext cx="3191256" cy="2212848"/>
          </a:xfrm>
          <a:prstGeom prst="rect">
            <a:avLst/>
          </a:prstGeom>
        </p:spPr>
      </p:pic>
      <p:sp>
        <p:nvSpPr>
          <p:cNvPr id="50" name="Text 42"/>
          <p:cNvSpPr txBox="1"/>
          <p:nvPr/>
        </p:nvSpPr>
        <p:spPr>
          <a:xfrm>
            <a:off x="4023360" y="3895344"/>
            <a:ext cx="1851660" cy="365760"/>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설계안 고치기</a:t>
            </a:r>
            <a:endParaRPr lang="en-US" sz="1550" dirty="0"/>
          </a:p>
        </p:txBody>
      </p:sp>
      <p:sp>
        <p:nvSpPr>
          <p:cNvPr id="51" name="Text 43"/>
          <p:cNvSpPr txBox="1"/>
          <p:nvPr/>
        </p:nvSpPr>
        <p:spPr>
          <a:xfrm>
            <a:off x="4023360" y="4297680"/>
            <a:ext cx="1851660" cy="1847088"/>
          </a:xfrm>
          <a:prstGeom prst="rect">
            <a:avLst/>
          </a:prstGeom>
          <a:noFill/>
          <a:ln/>
        </p:spPr>
        <p:txBody>
          <a:bodyPr wrap="square" lIns="0" tIns="0" rIns="0" bIns="0" rtlCol="0" anchor="t"/>
          <a:lstStyle/>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부기에게 고칠 점을</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말하면 설계안이</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바뀜. 바뀐 줄과</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판 번호가 표시됨</a:t>
            </a:r>
            <a:endParaRPr lang="en-US" sz="1250" dirty="0"/>
          </a:p>
        </p:txBody>
      </p:sp>
      <p:sp>
        <p:nvSpPr>
          <p:cNvPr id="52" name="Shape 44"/>
          <p:cNvSpPr/>
          <p:nvPr/>
        </p:nvSpPr>
        <p:spPr>
          <a:xfrm>
            <a:off x="6204204" y="3785616"/>
            <a:ext cx="5481828" cy="2487168"/>
          </a:xfrm>
          <a:prstGeom prst="roundRect">
            <a:avLst>
              <a:gd name="adj" fmla="val 3676"/>
            </a:avLst>
          </a:prstGeom>
          <a:solidFill>
            <a:srgbClr val="E6F0E7"/>
          </a:solidFill>
          <a:ln/>
        </p:spPr>
      </p:sp>
      <p:sp>
        <p:nvSpPr>
          <p:cNvPr id="53" name="Shape 45"/>
          <p:cNvSpPr/>
          <p:nvPr/>
        </p:nvSpPr>
        <p:spPr>
          <a:xfrm>
            <a:off x="6313932" y="3895344"/>
            <a:ext cx="3246120" cy="2267712"/>
          </a:xfrm>
          <a:prstGeom prst="roundRect">
            <a:avLst>
              <a:gd name="adj" fmla="val 3226"/>
            </a:avLst>
          </a:prstGeom>
          <a:solidFill>
            <a:srgbClr val="FFFFFF"/>
          </a:solidFill>
          <a:ln w="9525">
            <a:solidFill>
              <a:srgbClr val="E2DCCB"/>
            </a:solidFill>
            <a:prstDash val="solid"/>
          </a:ln>
        </p:spPr>
      </p:sp>
      <p:pic>
        <p:nvPicPr>
          <p:cNvPr id="54" name="Image 6" descr="화면">    </p:cNvPr>
          <p:cNvPicPr>
            <a:picLocks noChangeAspect="1"/>
          </p:cNvPicPr>
          <p:nvPr/>
        </p:nvPicPr>
        <p:blipFill>
          <a:blip r:embed="rId7"/>
          <a:stretch>
            <a:fillRect/>
          </a:stretch>
        </p:blipFill>
        <p:spPr>
          <a:xfrm>
            <a:off x="6341364" y="3922776"/>
            <a:ext cx="3191256" cy="2212848"/>
          </a:xfrm>
          <a:prstGeom prst="rect">
            <a:avLst/>
          </a:prstGeom>
        </p:spPr>
      </p:pic>
      <p:sp>
        <p:nvSpPr>
          <p:cNvPr id="55" name="Text 46"/>
          <p:cNvSpPr txBox="1"/>
          <p:nvPr/>
        </p:nvSpPr>
        <p:spPr>
          <a:xfrm>
            <a:off x="9724644" y="3895344"/>
            <a:ext cx="1851660" cy="365760"/>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수업 돌아보기</a:t>
            </a:r>
            <a:endParaRPr lang="en-US" sz="1550" dirty="0"/>
          </a:p>
        </p:txBody>
      </p:sp>
      <p:sp>
        <p:nvSpPr>
          <p:cNvPr id="56" name="Text 47"/>
          <p:cNvSpPr txBox="1"/>
          <p:nvPr/>
        </p:nvSpPr>
        <p:spPr>
          <a:xfrm>
            <a:off x="9724644" y="4297680"/>
            <a:ext cx="1851660" cy="1847088"/>
          </a:xfrm>
          <a:prstGeom prst="rect">
            <a:avLst/>
          </a:prstGeom>
          <a:noFill/>
          <a:ln/>
        </p:spPr>
        <p:txBody>
          <a:bodyPr wrap="square" lIns="0" tIns="0" rIns="0" bIns="0" rtlCol="0" anchor="t"/>
          <a:lstStyle/>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학생 답을 모아</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듣기와 공감이</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어떻게 드러났는지</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살피고, 다음 질문과</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활동을 교사가 고침</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교사 수업 설계 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준비 시간을 줄이고, 우리 반 고민에 맞춰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질문과 활동을 더 내실 있게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다듬습니다</a:t>
            </a:r>
            <a:endParaRPr lang="en-US" sz="1400" dirty="0"/>
          </a:p>
        </p:txBody>
      </p:sp>
      <p:sp>
        <p:nvSpPr>
          <p:cNvPr id="10" name="Text 7"/>
          <p:cNvSpPr txBox="1"/>
          <p:nvPr/>
        </p:nvSpPr>
        <p:spPr>
          <a:xfrm>
            <a:off x="1891640"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03536"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예시 책: 3학년 「은혜 갚은 까치」(온책읽기 10차시). 차시 PPT는 .pptx, 교수학습 과정안은 .hwpx와 PDF로 내려받음.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14</a:t>
            </a:r>
            <a:endParaRPr lang="en-US" sz="1250" dirty="0"/>
          </a:p>
        </p:txBody>
      </p:sp>
      <p:sp>
        <p:nvSpPr>
          <p:cNvPr id="14" name="Shape 11"/>
          <p:cNvSpPr/>
          <p:nvPr/>
        </p:nvSpPr>
        <p:spPr>
          <a:xfrm>
            <a:off x="502920" y="1920240"/>
            <a:ext cx="3471672" cy="3246120"/>
          </a:xfrm>
          <a:prstGeom prst="roundRect">
            <a:avLst>
              <a:gd name="adj" fmla="val 2817"/>
            </a:avLst>
          </a:prstGeom>
          <a:solidFill>
            <a:srgbClr val="FBF5E6"/>
          </a:solidFill>
          <a:ln w="9525">
            <a:solidFill>
              <a:srgbClr val="E2DCCB"/>
            </a:solidFill>
            <a:prstDash val="solid"/>
          </a:ln>
        </p:spPr>
      </p:sp>
      <p:sp>
        <p:nvSpPr>
          <p:cNvPr id="15" name="Shape 12"/>
          <p:cNvSpPr/>
          <p:nvPr/>
        </p:nvSpPr>
        <p:spPr>
          <a:xfrm>
            <a:off x="630936" y="2029968"/>
            <a:ext cx="329184" cy="329184"/>
          </a:xfrm>
          <a:prstGeom prst="ellipse">
            <a:avLst/>
          </a:prstGeom>
          <a:solidFill>
            <a:srgbClr val="2F7D4F"/>
          </a:solidFill>
          <a:ln/>
        </p:spPr>
      </p:sp>
      <p:sp>
        <p:nvSpPr>
          <p:cNvPr id="16" name="Text 13"/>
          <p:cNvSpPr txBox="1"/>
          <p:nvPr/>
        </p:nvSpPr>
        <p:spPr>
          <a:xfrm>
            <a:off x="630936" y="2029968"/>
            <a:ext cx="329184" cy="329184"/>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1</a:t>
            </a:r>
            <a:endParaRPr lang="en-US" sz="1500" dirty="0"/>
          </a:p>
        </p:txBody>
      </p:sp>
      <p:sp>
        <p:nvSpPr>
          <p:cNvPr id="17" name="Text 14"/>
          <p:cNvSpPr txBox="1"/>
          <p:nvPr/>
        </p:nvSpPr>
        <p:spPr>
          <a:xfrm>
            <a:off x="1051560" y="2011680"/>
            <a:ext cx="2831592" cy="36576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고민에 맞는 책</a:t>
            </a:r>
            <a:endParaRPr lang="en-US" sz="1800" dirty="0"/>
          </a:p>
        </p:txBody>
      </p:sp>
      <p:sp>
        <p:nvSpPr>
          <p:cNvPr id="18" name="Shape 15"/>
          <p:cNvSpPr/>
          <p:nvPr/>
        </p:nvSpPr>
        <p:spPr>
          <a:xfrm>
            <a:off x="612648" y="2450592"/>
            <a:ext cx="3252216" cy="2194560"/>
          </a:xfrm>
          <a:prstGeom prst="roundRect">
            <a:avLst>
              <a:gd name="adj" fmla="val 3333"/>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649224" y="2487168"/>
            <a:ext cx="3179064" cy="2121408"/>
          </a:xfrm>
          <a:prstGeom prst="rect">
            <a:avLst/>
          </a:prstGeom>
        </p:spPr>
      </p:pic>
      <p:sp>
        <p:nvSpPr>
          <p:cNvPr id="20" name="Text 16"/>
          <p:cNvSpPr txBox="1"/>
          <p:nvPr/>
        </p:nvSpPr>
        <p:spPr>
          <a:xfrm>
            <a:off x="649224" y="4681728"/>
            <a:ext cx="3197352" cy="448056"/>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학급 고민과 수업 질문에 맞춰 고르기</a:t>
            </a:r>
            <a:endParaRPr lang="en-US" sz="1500" dirty="0"/>
          </a:p>
        </p:txBody>
      </p:sp>
      <p:sp>
        <p:nvSpPr>
          <p:cNvPr id="21" name="Shape 17"/>
          <p:cNvSpPr/>
          <p:nvPr/>
        </p:nvSpPr>
        <p:spPr>
          <a:xfrm>
            <a:off x="4084320" y="3291840"/>
            <a:ext cx="164592" cy="310896"/>
          </a:xfrm>
          <a:prstGeom prst="chevron">
            <a:avLst/>
          </a:prstGeom>
          <a:solidFill>
            <a:srgbClr val="C08A1E"/>
          </a:solidFill>
          <a:ln/>
        </p:spPr>
      </p:sp>
      <p:sp>
        <p:nvSpPr>
          <p:cNvPr id="22" name="Shape 18"/>
          <p:cNvSpPr/>
          <p:nvPr/>
        </p:nvSpPr>
        <p:spPr>
          <a:xfrm>
            <a:off x="4358640" y="1920240"/>
            <a:ext cx="3471672" cy="3246120"/>
          </a:xfrm>
          <a:prstGeom prst="roundRect">
            <a:avLst>
              <a:gd name="adj" fmla="val 2817"/>
            </a:avLst>
          </a:prstGeom>
          <a:solidFill>
            <a:srgbClr val="FFFFFF"/>
          </a:solidFill>
          <a:ln w="9525">
            <a:solidFill>
              <a:srgbClr val="E2DCCB"/>
            </a:solidFill>
            <a:prstDash val="solid"/>
          </a:ln>
        </p:spPr>
      </p:sp>
      <p:sp>
        <p:nvSpPr>
          <p:cNvPr id="23" name="Shape 19"/>
          <p:cNvSpPr/>
          <p:nvPr/>
        </p:nvSpPr>
        <p:spPr>
          <a:xfrm>
            <a:off x="4486656" y="2029968"/>
            <a:ext cx="329184" cy="329184"/>
          </a:xfrm>
          <a:prstGeom prst="ellipse">
            <a:avLst/>
          </a:prstGeom>
          <a:solidFill>
            <a:srgbClr val="2F7D4F"/>
          </a:solidFill>
          <a:ln/>
        </p:spPr>
      </p:sp>
      <p:sp>
        <p:nvSpPr>
          <p:cNvPr id="24" name="Text 20"/>
          <p:cNvSpPr txBox="1"/>
          <p:nvPr/>
        </p:nvSpPr>
        <p:spPr>
          <a:xfrm>
            <a:off x="4486656" y="2029968"/>
            <a:ext cx="329184" cy="329184"/>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2</a:t>
            </a:r>
            <a:endParaRPr lang="en-US" sz="1500" dirty="0"/>
          </a:p>
        </p:txBody>
      </p:sp>
      <p:sp>
        <p:nvSpPr>
          <p:cNvPr id="25" name="Text 21"/>
          <p:cNvSpPr txBox="1"/>
          <p:nvPr/>
        </p:nvSpPr>
        <p:spPr>
          <a:xfrm>
            <a:off x="4907280" y="2011680"/>
            <a:ext cx="2831592" cy="36576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질문과 활동 다듬기</a:t>
            </a:r>
            <a:endParaRPr lang="en-US" sz="1800" dirty="0"/>
          </a:p>
        </p:txBody>
      </p:sp>
      <p:sp>
        <p:nvSpPr>
          <p:cNvPr id="26" name="Shape 22"/>
          <p:cNvSpPr/>
          <p:nvPr/>
        </p:nvSpPr>
        <p:spPr>
          <a:xfrm>
            <a:off x="4468368" y="2450592"/>
            <a:ext cx="3252216" cy="2194560"/>
          </a:xfrm>
          <a:prstGeom prst="roundRect">
            <a:avLst>
              <a:gd name="adj" fmla="val 3333"/>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4504944" y="2487168"/>
            <a:ext cx="3179064" cy="2121408"/>
          </a:xfrm>
          <a:prstGeom prst="rect">
            <a:avLst/>
          </a:prstGeom>
        </p:spPr>
      </p:pic>
      <p:sp>
        <p:nvSpPr>
          <p:cNvPr id="28" name="Text 23"/>
          <p:cNvSpPr txBox="1"/>
          <p:nvPr/>
        </p:nvSpPr>
        <p:spPr>
          <a:xfrm>
            <a:off x="4504944" y="4681728"/>
            <a:ext cx="3197352" cy="448056"/>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학생 수준에 맞게 발문과 활동 고치기</a:t>
            </a:r>
            <a:endParaRPr lang="en-US" sz="1500" dirty="0"/>
          </a:p>
        </p:txBody>
      </p:sp>
      <p:sp>
        <p:nvSpPr>
          <p:cNvPr id="29" name="Shape 24"/>
          <p:cNvSpPr/>
          <p:nvPr/>
        </p:nvSpPr>
        <p:spPr>
          <a:xfrm>
            <a:off x="7940040" y="3291840"/>
            <a:ext cx="164592" cy="310896"/>
          </a:xfrm>
          <a:prstGeom prst="chevron">
            <a:avLst/>
          </a:prstGeom>
          <a:solidFill>
            <a:srgbClr val="C08A1E"/>
          </a:solidFill>
          <a:ln/>
        </p:spPr>
      </p:sp>
      <p:sp>
        <p:nvSpPr>
          <p:cNvPr id="30" name="Shape 25"/>
          <p:cNvSpPr/>
          <p:nvPr/>
        </p:nvSpPr>
        <p:spPr>
          <a:xfrm>
            <a:off x="8214360" y="1920240"/>
            <a:ext cx="3471672" cy="3246120"/>
          </a:xfrm>
          <a:prstGeom prst="roundRect">
            <a:avLst>
              <a:gd name="adj" fmla="val 2817"/>
            </a:avLst>
          </a:prstGeom>
          <a:solidFill>
            <a:srgbClr val="FBF5E6"/>
          </a:solidFill>
          <a:ln w="9525">
            <a:solidFill>
              <a:srgbClr val="E2DCCB"/>
            </a:solidFill>
            <a:prstDash val="solid"/>
          </a:ln>
        </p:spPr>
      </p:sp>
      <p:sp>
        <p:nvSpPr>
          <p:cNvPr id="31" name="Shape 26"/>
          <p:cNvSpPr/>
          <p:nvPr/>
        </p:nvSpPr>
        <p:spPr>
          <a:xfrm>
            <a:off x="8342376" y="2029968"/>
            <a:ext cx="329184" cy="329184"/>
          </a:xfrm>
          <a:prstGeom prst="ellipse">
            <a:avLst/>
          </a:prstGeom>
          <a:solidFill>
            <a:srgbClr val="2F7D4F"/>
          </a:solidFill>
          <a:ln/>
        </p:spPr>
      </p:sp>
      <p:sp>
        <p:nvSpPr>
          <p:cNvPr id="32" name="Text 27"/>
          <p:cNvSpPr txBox="1"/>
          <p:nvPr/>
        </p:nvSpPr>
        <p:spPr>
          <a:xfrm>
            <a:off x="8342376" y="2029968"/>
            <a:ext cx="329184" cy="329184"/>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3</a:t>
            </a:r>
            <a:endParaRPr lang="en-US" sz="1500" dirty="0"/>
          </a:p>
        </p:txBody>
      </p:sp>
      <p:sp>
        <p:nvSpPr>
          <p:cNvPr id="33" name="Text 28"/>
          <p:cNvSpPr txBox="1"/>
          <p:nvPr/>
        </p:nvSpPr>
        <p:spPr>
          <a:xfrm>
            <a:off x="8763000" y="2011680"/>
            <a:ext cx="2831592" cy="36576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차시 자료</a:t>
            </a:r>
            <a:endParaRPr lang="en-US" sz="1800" dirty="0"/>
          </a:p>
        </p:txBody>
      </p:sp>
      <p:sp>
        <p:nvSpPr>
          <p:cNvPr id="34" name="Shape 29"/>
          <p:cNvSpPr/>
          <p:nvPr/>
        </p:nvSpPr>
        <p:spPr>
          <a:xfrm>
            <a:off x="8324088" y="2450592"/>
            <a:ext cx="3252216" cy="2194560"/>
          </a:xfrm>
          <a:prstGeom prst="roundRect">
            <a:avLst>
              <a:gd name="adj" fmla="val 3333"/>
            </a:avLst>
          </a:prstGeom>
          <a:solidFill>
            <a:srgbClr val="FFFFFF"/>
          </a:solidFill>
          <a:ln w="9525">
            <a:solidFill>
              <a:srgbClr val="E2DCCB"/>
            </a:solidFill>
            <a:prstDash val="solid"/>
          </a:ln>
        </p:spPr>
      </p:sp>
      <p:pic>
        <p:nvPicPr>
          <p:cNvPr id="35" name="Image 3" descr="화면">    </p:cNvPr>
          <p:cNvPicPr>
            <a:picLocks noChangeAspect="1"/>
          </p:cNvPicPr>
          <p:nvPr/>
        </p:nvPicPr>
        <p:blipFill>
          <a:blip r:embed="rId4"/>
          <a:stretch>
            <a:fillRect/>
          </a:stretch>
        </p:blipFill>
        <p:spPr>
          <a:xfrm>
            <a:off x="8360664" y="2487168"/>
            <a:ext cx="3179064" cy="2121408"/>
          </a:xfrm>
          <a:prstGeom prst="rect">
            <a:avLst/>
          </a:prstGeom>
        </p:spPr>
      </p:pic>
      <p:sp>
        <p:nvSpPr>
          <p:cNvPr id="36" name="Text 30"/>
          <p:cNvSpPr txBox="1"/>
          <p:nvPr/>
        </p:nvSpPr>
        <p:spPr>
          <a:xfrm>
            <a:off x="8360664" y="4681728"/>
            <a:ext cx="3197352" cy="448056"/>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PPT, 활동지, 지도안 내려받기</a:t>
            </a:r>
            <a:endParaRPr lang="en-US" sz="1500" dirty="0"/>
          </a:p>
        </p:txBody>
      </p:sp>
      <p:sp>
        <p:nvSpPr>
          <p:cNvPr id="37" name="Shape 31"/>
          <p:cNvSpPr/>
          <p:nvPr/>
        </p:nvSpPr>
        <p:spPr>
          <a:xfrm>
            <a:off x="502920" y="5312664"/>
            <a:ext cx="2672334" cy="960120"/>
          </a:xfrm>
          <a:prstGeom prst="roundRect">
            <a:avLst>
              <a:gd name="adj" fmla="val 9524"/>
            </a:avLst>
          </a:prstGeom>
          <a:solidFill>
            <a:srgbClr val="FFFFFF"/>
          </a:solidFill>
          <a:ln w="9525">
            <a:solidFill>
              <a:srgbClr val="E2DCCB"/>
            </a:solidFill>
            <a:prstDash val="solid"/>
          </a:ln>
        </p:spPr>
      </p:sp>
      <p:sp>
        <p:nvSpPr>
          <p:cNvPr id="38" name="Text 32"/>
          <p:cNvSpPr txBox="1"/>
          <p:nvPr/>
        </p:nvSpPr>
        <p:spPr>
          <a:xfrm>
            <a:off x="667512" y="5367528"/>
            <a:ext cx="2398014" cy="480060"/>
          </a:xfrm>
          <a:prstGeom prst="rect">
            <a:avLst/>
          </a:prstGeom>
          <a:noFill/>
          <a:ln/>
        </p:spPr>
        <p:txBody>
          <a:bodyPr wrap="square" lIns="0" tIns="0" rIns="0" bIns="0" rtlCol="0" anchor="ctr"/>
          <a:lstStyle/>
          <a:p>
            <a:pPr indent="0" marL="0">
              <a:buNone/>
            </a:pPr>
            <a:r>
              <a:rPr lang="en-US" sz="2250" dirty="0">
                <a:solidFill>
                  <a:srgbClr val="2F7D4F"/>
                </a:solidFill>
                <a:latin typeface="Freesentation 9 Black" pitchFamily="34" charset="0"/>
                <a:ea typeface="Freesentation 9 Black" pitchFamily="34" charset="-122"/>
                <a:cs typeface="Freesentation 9 Black" pitchFamily="34" charset="-120"/>
              </a:rPr>
              <a:t>300</a:t>
            </a:r>
            <a:pPr indent="0" marL="0">
              <a:buNone/>
            </a:pPr>
            <a:r>
              <a:rPr lang="en-US" sz="1450" dirty="0">
                <a:solidFill>
                  <a:srgbClr val="2F7D4F"/>
                </a:solidFill>
                <a:latin typeface="Freesentation 7 Bold" pitchFamily="34" charset="0"/>
                <a:ea typeface="Freesentation 7 Bold" pitchFamily="34" charset="-122"/>
                <a:cs typeface="Freesentation 7 Bold" pitchFamily="34" charset="-120"/>
              </a:rPr>
              <a:t> 권</a:t>
            </a:r>
            <a:endParaRPr lang="en-US" sz="2250" dirty="0"/>
          </a:p>
        </p:txBody>
      </p:sp>
      <p:sp>
        <p:nvSpPr>
          <p:cNvPr id="39" name="Text 33"/>
          <p:cNvSpPr txBox="1"/>
          <p:nvPr/>
        </p:nvSpPr>
        <p:spPr>
          <a:xfrm>
            <a:off x="667512" y="5792724"/>
            <a:ext cx="2398014" cy="432054"/>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학년별 50권에서 고름</a:t>
            </a:r>
            <a:endParaRPr lang="en-US" sz="1400" dirty="0"/>
          </a:p>
        </p:txBody>
      </p:sp>
      <p:sp>
        <p:nvSpPr>
          <p:cNvPr id="40" name="Shape 34"/>
          <p:cNvSpPr/>
          <p:nvPr/>
        </p:nvSpPr>
        <p:spPr>
          <a:xfrm>
            <a:off x="3339846" y="5312664"/>
            <a:ext cx="2672334" cy="960120"/>
          </a:xfrm>
          <a:prstGeom prst="roundRect">
            <a:avLst>
              <a:gd name="adj" fmla="val 9524"/>
            </a:avLst>
          </a:prstGeom>
          <a:solidFill>
            <a:srgbClr val="FFFFFF"/>
          </a:solidFill>
          <a:ln w="9525">
            <a:solidFill>
              <a:srgbClr val="E2DCCB"/>
            </a:solidFill>
            <a:prstDash val="solid"/>
          </a:ln>
        </p:spPr>
      </p:sp>
      <p:sp>
        <p:nvSpPr>
          <p:cNvPr id="41" name="Text 35"/>
          <p:cNvSpPr txBox="1"/>
          <p:nvPr/>
        </p:nvSpPr>
        <p:spPr>
          <a:xfrm>
            <a:off x="3504438" y="5367528"/>
            <a:ext cx="2398014" cy="480060"/>
          </a:xfrm>
          <a:prstGeom prst="rect">
            <a:avLst/>
          </a:prstGeom>
          <a:noFill/>
          <a:ln/>
        </p:spPr>
        <p:txBody>
          <a:bodyPr wrap="square" lIns="0" tIns="0" rIns="0" bIns="0" rtlCol="0" anchor="ctr"/>
          <a:lstStyle/>
          <a:p>
            <a:pPr indent="0" marL="0">
              <a:buNone/>
            </a:pPr>
            <a:r>
              <a:rPr lang="en-US" sz="2250" dirty="0">
                <a:solidFill>
                  <a:srgbClr val="2F7D4F"/>
                </a:solidFill>
                <a:latin typeface="Freesentation 9 Black" pitchFamily="34" charset="0"/>
                <a:ea typeface="Freesentation 9 Black" pitchFamily="34" charset="-122"/>
                <a:cs typeface="Freesentation 9 Black" pitchFamily="34" charset="-120"/>
              </a:rPr>
              <a:t>10, 4, 5</a:t>
            </a:r>
            <a:pPr indent="0" marL="0">
              <a:buNone/>
            </a:pPr>
            <a:r>
              <a:rPr lang="en-US" sz="1450" dirty="0">
                <a:solidFill>
                  <a:srgbClr val="2F7D4F"/>
                </a:solidFill>
                <a:latin typeface="Freesentation 7 Bold" pitchFamily="34" charset="0"/>
                <a:ea typeface="Freesentation 7 Bold" pitchFamily="34" charset="-122"/>
                <a:cs typeface="Freesentation 7 Bold" pitchFamily="34" charset="-120"/>
              </a:rPr>
              <a:t> 차시</a:t>
            </a:r>
            <a:endParaRPr lang="en-US" sz="2250" dirty="0"/>
          </a:p>
        </p:txBody>
      </p:sp>
      <p:sp>
        <p:nvSpPr>
          <p:cNvPr id="42" name="Text 36"/>
          <p:cNvSpPr txBox="1"/>
          <p:nvPr/>
        </p:nvSpPr>
        <p:spPr>
          <a:xfrm>
            <a:off x="3504438" y="5792724"/>
            <a:ext cx="2398014" cy="432054"/>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온책읽기, 국어, 아침활동</a:t>
            </a:r>
            <a:endParaRPr lang="en-US" sz="1400" dirty="0"/>
          </a:p>
        </p:txBody>
      </p:sp>
      <p:sp>
        <p:nvSpPr>
          <p:cNvPr id="43" name="Shape 37"/>
          <p:cNvSpPr/>
          <p:nvPr/>
        </p:nvSpPr>
        <p:spPr>
          <a:xfrm>
            <a:off x="6176772" y="5312664"/>
            <a:ext cx="2672334" cy="960120"/>
          </a:xfrm>
          <a:prstGeom prst="roundRect">
            <a:avLst>
              <a:gd name="adj" fmla="val 9524"/>
            </a:avLst>
          </a:prstGeom>
          <a:solidFill>
            <a:srgbClr val="FFFFFF"/>
          </a:solidFill>
          <a:ln w="9525">
            <a:solidFill>
              <a:srgbClr val="E2DCCB"/>
            </a:solidFill>
            <a:prstDash val="solid"/>
          </a:ln>
        </p:spPr>
      </p:sp>
      <p:sp>
        <p:nvSpPr>
          <p:cNvPr id="44" name="Text 38"/>
          <p:cNvSpPr txBox="1"/>
          <p:nvPr/>
        </p:nvSpPr>
        <p:spPr>
          <a:xfrm>
            <a:off x="6341364" y="5367528"/>
            <a:ext cx="2398014" cy="480060"/>
          </a:xfrm>
          <a:prstGeom prst="rect">
            <a:avLst/>
          </a:prstGeom>
          <a:noFill/>
          <a:ln/>
        </p:spPr>
        <p:txBody>
          <a:bodyPr wrap="square" lIns="0" tIns="0" rIns="0" bIns="0" rtlCol="0" anchor="ctr"/>
          <a:lstStyle/>
          <a:p>
            <a:pPr indent="0" marL="0">
              <a:buNone/>
            </a:pPr>
            <a:r>
              <a:rPr lang="en-US" sz="2250" dirty="0">
                <a:solidFill>
                  <a:srgbClr val="2F7D4F"/>
                </a:solidFill>
                <a:latin typeface="Freesentation 9 Black" pitchFamily="34" charset="0"/>
                <a:ea typeface="Freesentation 9 Black" pitchFamily="34" charset="-122"/>
                <a:cs typeface="Freesentation 9 Black" pitchFamily="34" charset="-120"/>
              </a:rPr>
              <a:t>4</a:t>
            </a:r>
            <a:pPr indent="0" marL="0">
              <a:buNone/>
            </a:pPr>
            <a:r>
              <a:rPr lang="en-US" sz="1450" dirty="0">
                <a:solidFill>
                  <a:srgbClr val="2F7D4F"/>
                </a:solidFill>
                <a:latin typeface="Freesentation 7 Bold" pitchFamily="34" charset="0"/>
                <a:ea typeface="Freesentation 7 Bold" pitchFamily="34" charset="-122"/>
                <a:cs typeface="Freesentation 7 Bold" pitchFamily="34" charset="-120"/>
              </a:rPr>
              <a:t> 종</a:t>
            </a:r>
            <a:endParaRPr lang="en-US" sz="2250" dirty="0"/>
          </a:p>
        </p:txBody>
      </p:sp>
      <p:sp>
        <p:nvSpPr>
          <p:cNvPr id="45" name="Text 39"/>
          <p:cNvSpPr txBox="1"/>
          <p:nvPr/>
        </p:nvSpPr>
        <p:spPr>
          <a:xfrm>
            <a:off x="6341364" y="5792724"/>
            <a:ext cx="2398014" cy="432054"/>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PPT, 활동지, 지도안, 과정안</a:t>
            </a:r>
            <a:endParaRPr lang="en-US" sz="1400" dirty="0"/>
          </a:p>
        </p:txBody>
      </p:sp>
      <p:sp>
        <p:nvSpPr>
          <p:cNvPr id="46" name="Shape 40"/>
          <p:cNvSpPr/>
          <p:nvPr/>
        </p:nvSpPr>
        <p:spPr>
          <a:xfrm>
            <a:off x="9013698" y="5312664"/>
            <a:ext cx="2672334" cy="960120"/>
          </a:xfrm>
          <a:prstGeom prst="roundRect">
            <a:avLst>
              <a:gd name="adj" fmla="val 9524"/>
            </a:avLst>
          </a:prstGeom>
          <a:solidFill>
            <a:srgbClr val="20342A"/>
          </a:solidFill>
          <a:ln/>
        </p:spPr>
      </p:sp>
      <p:sp>
        <p:nvSpPr>
          <p:cNvPr id="47" name="Text 41"/>
          <p:cNvSpPr txBox="1"/>
          <p:nvPr/>
        </p:nvSpPr>
        <p:spPr>
          <a:xfrm>
            <a:off x="9178290" y="5367528"/>
            <a:ext cx="2398014" cy="480060"/>
          </a:xfrm>
          <a:prstGeom prst="rect">
            <a:avLst/>
          </a:prstGeom>
          <a:noFill/>
          <a:ln/>
        </p:spPr>
        <p:txBody>
          <a:bodyPr wrap="square" lIns="0" tIns="0" rIns="0" bIns="0" rtlCol="0" anchor="ctr"/>
          <a:lstStyle/>
          <a:p>
            <a:pPr indent="0" marL="0">
              <a:buNone/>
            </a:pPr>
            <a:r>
              <a:rPr lang="en-US" sz="2250" dirty="0">
                <a:solidFill>
                  <a:srgbClr val="F2D58A"/>
                </a:solidFill>
                <a:latin typeface="Freesentation 9 Black" pitchFamily="34" charset="0"/>
                <a:ea typeface="Freesentation 9 Black" pitchFamily="34" charset="-122"/>
                <a:cs typeface="Freesentation 9 Black" pitchFamily="34" charset="-120"/>
              </a:rPr>
              <a:t>3</a:t>
            </a:r>
            <a:pPr indent="0" marL="0">
              <a:buNone/>
            </a:pPr>
            <a:r>
              <a:rPr lang="en-US" sz="1450" dirty="0">
                <a:solidFill>
                  <a:srgbClr val="F2D58A"/>
                </a:solidFill>
                <a:latin typeface="Freesentation 7 Bold" pitchFamily="34" charset="0"/>
                <a:ea typeface="Freesentation 7 Bold" pitchFamily="34" charset="-122"/>
                <a:cs typeface="Freesentation 7 Bold" pitchFamily="34" charset="-120"/>
              </a:rPr>
              <a:t> 단계</a:t>
            </a:r>
            <a:endParaRPr lang="en-US" sz="2250" dirty="0"/>
          </a:p>
        </p:txBody>
      </p:sp>
      <p:sp>
        <p:nvSpPr>
          <p:cNvPr id="48" name="Text 42"/>
          <p:cNvSpPr txBox="1"/>
          <p:nvPr/>
        </p:nvSpPr>
        <p:spPr>
          <a:xfrm>
            <a:off x="9178290" y="5792724"/>
            <a:ext cx="2398014" cy="432054"/>
          </a:xfrm>
          <a:prstGeom prst="rect">
            <a:avLst/>
          </a:prstGeom>
          <a:noFill/>
          <a:ln/>
        </p:spPr>
        <p:txBody>
          <a:bodyPr wrap="square" lIns="0" tIns="0" rIns="0" bIns="0" rtlCol="0" anchor="t"/>
          <a:lstStyle/>
          <a:p>
            <a:pPr indent="0" marL="0">
              <a:lnSpc>
                <a:spcPct val="112000"/>
              </a:lnSpc>
              <a:buNone/>
            </a:pPr>
            <a:r>
              <a:rPr lang="en-US" sz="1400" dirty="0">
                <a:solidFill>
                  <a:srgbClr val="DCE6DD"/>
                </a:solidFill>
                <a:latin typeface="Freesentation 4 Regular" pitchFamily="34" charset="0"/>
                <a:ea typeface="Freesentation 4 Regular" pitchFamily="34" charset="-122"/>
                <a:cs typeface="Freesentation 4 Regular" pitchFamily="34" charset="-120"/>
              </a:rPr>
              <a:t>경험 꺼내기, 읽고 이해하기, 표현하기</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수업 운영과 돌아보기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학생의 답과 참여 모습을 살펴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다음 질문과 활동</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고칩니다</a:t>
            </a:r>
            <a:endParaRPr lang="en-US" sz="1400" dirty="0"/>
          </a:p>
        </p:txBody>
      </p:sp>
      <p:sp>
        <p:nvSpPr>
          <p:cNvPr id="10" name="Text 7"/>
          <p:cNvSpPr txBox="1"/>
          <p:nvPr/>
        </p:nvSpPr>
        <p:spPr>
          <a:xfrm>
            <a:off x="284347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885169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선도 학교 수업 활용 장면은 「2026. 부기 사용 결과 기록」 사용 후기에 교사가 적은 내용.</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15</a:t>
            </a:r>
            <a:endParaRPr lang="en-US" sz="1250" dirty="0"/>
          </a:p>
        </p:txBody>
      </p:sp>
      <p:sp>
        <p:nvSpPr>
          <p:cNvPr id="14" name="Shape 11"/>
          <p:cNvSpPr/>
          <p:nvPr/>
        </p:nvSpPr>
        <p:spPr>
          <a:xfrm>
            <a:off x="502920" y="1920240"/>
            <a:ext cx="2658618" cy="2880360"/>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612648" y="2029968"/>
            <a:ext cx="310896" cy="310896"/>
          </a:xfrm>
          <a:prstGeom prst="ellipse">
            <a:avLst/>
          </a:prstGeom>
          <a:solidFill>
            <a:srgbClr val="2F7D4F"/>
          </a:solidFill>
          <a:ln/>
        </p:spPr>
      </p:sp>
      <p:sp>
        <p:nvSpPr>
          <p:cNvPr id="16" name="Text 13"/>
          <p:cNvSpPr txBox="1"/>
          <p:nvPr/>
        </p:nvSpPr>
        <p:spPr>
          <a:xfrm>
            <a:off x="612648"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1</a:t>
            </a:r>
            <a:endParaRPr lang="en-US" sz="1450" dirty="0"/>
          </a:p>
        </p:txBody>
      </p:sp>
      <p:sp>
        <p:nvSpPr>
          <p:cNvPr id="17" name="Text 14"/>
          <p:cNvSpPr txBox="1"/>
          <p:nvPr/>
        </p:nvSpPr>
        <p:spPr>
          <a:xfrm>
            <a:off x="996696"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수업 운영</a:t>
            </a:r>
            <a:endParaRPr lang="en-US" sz="1750" dirty="0"/>
          </a:p>
        </p:txBody>
      </p:sp>
      <p:sp>
        <p:nvSpPr>
          <p:cNvPr id="18" name="Shape 15"/>
          <p:cNvSpPr/>
          <p:nvPr/>
        </p:nvSpPr>
        <p:spPr>
          <a:xfrm>
            <a:off x="594360" y="2432304"/>
            <a:ext cx="2475738" cy="1920240"/>
          </a:xfrm>
          <a:prstGeom prst="roundRect">
            <a:avLst>
              <a:gd name="adj" fmla="val 3810"/>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630936" y="2468880"/>
            <a:ext cx="2402586" cy="1847088"/>
          </a:xfrm>
          <a:prstGeom prst="rect">
            <a:avLst/>
          </a:prstGeom>
        </p:spPr>
      </p:pic>
      <p:sp>
        <p:nvSpPr>
          <p:cNvPr id="20" name="Text 16"/>
          <p:cNvSpPr txBox="1"/>
          <p:nvPr/>
        </p:nvSpPr>
        <p:spPr>
          <a:xfrm>
            <a:off x="630936"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학급 코드로 입장, 차시 띄우기</a:t>
            </a:r>
            <a:endParaRPr lang="en-US" sz="1450" dirty="0"/>
          </a:p>
        </p:txBody>
      </p:sp>
      <p:sp>
        <p:nvSpPr>
          <p:cNvPr id="21" name="Shape 17"/>
          <p:cNvSpPr/>
          <p:nvPr/>
        </p:nvSpPr>
        <p:spPr>
          <a:xfrm>
            <a:off x="3344418" y="1920240"/>
            <a:ext cx="2658618" cy="2880360"/>
          </a:xfrm>
          <a:prstGeom prst="roundRect">
            <a:avLst>
              <a:gd name="adj" fmla="val 3439"/>
            </a:avLst>
          </a:prstGeom>
          <a:solidFill>
            <a:srgbClr val="FFFFFF"/>
          </a:solidFill>
          <a:ln w="9525">
            <a:solidFill>
              <a:srgbClr val="E2DCCB"/>
            </a:solidFill>
            <a:prstDash val="solid"/>
          </a:ln>
        </p:spPr>
      </p:sp>
      <p:sp>
        <p:nvSpPr>
          <p:cNvPr id="22" name="Shape 18"/>
          <p:cNvSpPr/>
          <p:nvPr/>
        </p:nvSpPr>
        <p:spPr>
          <a:xfrm>
            <a:off x="3454146" y="2029968"/>
            <a:ext cx="310896" cy="310896"/>
          </a:xfrm>
          <a:prstGeom prst="ellipse">
            <a:avLst/>
          </a:prstGeom>
          <a:solidFill>
            <a:srgbClr val="2F7D4F"/>
          </a:solidFill>
          <a:ln/>
        </p:spPr>
      </p:sp>
      <p:sp>
        <p:nvSpPr>
          <p:cNvPr id="23" name="Text 19"/>
          <p:cNvSpPr txBox="1"/>
          <p:nvPr/>
        </p:nvSpPr>
        <p:spPr>
          <a:xfrm>
            <a:off x="3454146"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2</a:t>
            </a:r>
            <a:endParaRPr lang="en-US" sz="1450" dirty="0"/>
          </a:p>
        </p:txBody>
      </p:sp>
      <p:sp>
        <p:nvSpPr>
          <p:cNvPr id="24" name="Text 20"/>
          <p:cNvSpPr txBox="1"/>
          <p:nvPr/>
        </p:nvSpPr>
        <p:spPr>
          <a:xfrm>
            <a:off x="3838194"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활동 내주기</a:t>
            </a:r>
            <a:endParaRPr lang="en-US" sz="1750" dirty="0"/>
          </a:p>
        </p:txBody>
      </p:sp>
      <p:sp>
        <p:nvSpPr>
          <p:cNvPr id="25" name="Shape 21"/>
          <p:cNvSpPr/>
          <p:nvPr/>
        </p:nvSpPr>
        <p:spPr>
          <a:xfrm>
            <a:off x="3435858" y="2432304"/>
            <a:ext cx="2475738" cy="1920240"/>
          </a:xfrm>
          <a:prstGeom prst="roundRect">
            <a:avLst>
              <a:gd name="adj" fmla="val 3810"/>
            </a:avLst>
          </a:prstGeom>
          <a:solidFill>
            <a:srgbClr val="FFFFFF"/>
          </a:solidFill>
          <a:ln w="9525">
            <a:solidFill>
              <a:srgbClr val="E2DCCB"/>
            </a:solidFill>
            <a:prstDash val="solid"/>
          </a:ln>
        </p:spPr>
      </p:sp>
      <p:pic>
        <p:nvPicPr>
          <p:cNvPr id="26" name="Image 2" descr="화면">    </p:cNvPr>
          <p:cNvPicPr>
            <a:picLocks noChangeAspect="1"/>
          </p:cNvPicPr>
          <p:nvPr/>
        </p:nvPicPr>
        <p:blipFill>
          <a:blip r:embed="rId3"/>
          <a:stretch>
            <a:fillRect/>
          </a:stretch>
        </p:blipFill>
        <p:spPr>
          <a:xfrm>
            <a:off x="3472434" y="2468880"/>
            <a:ext cx="2402586" cy="1847088"/>
          </a:xfrm>
          <a:prstGeom prst="rect">
            <a:avLst/>
          </a:prstGeom>
        </p:spPr>
      </p:pic>
      <p:sp>
        <p:nvSpPr>
          <p:cNvPr id="27" name="Text 22"/>
          <p:cNvSpPr txBox="1"/>
          <p:nvPr/>
        </p:nvSpPr>
        <p:spPr>
          <a:xfrm>
            <a:off x="3472434"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독후활동 40종에서 골라 내주기</a:t>
            </a:r>
            <a:endParaRPr lang="en-US" sz="1450" dirty="0"/>
          </a:p>
        </p:txBody>
      </p:sp>
      <p:sp>
        <p:nvSpPr>
          <p:cNvPr id="28" name="Shape 23"/>
          <p:cNvSpPr/>
          <p:nvPr/>
        </p:nvSpPr>
        <p:spPr>
          <a:xfrm>
            <a:off x="6185916" y="1920240"/>
            <a:ext cx="2658618" cy="2880360"/>
          </a:xfrm>
          <a:prstGeom prst="roundRect">
            <a:avLst>
              <a:gd name="adj" fmla="val 3439"/>
            </a:avLst>
          </a:prstGeom>
          <a:solidFill>
            <a:srgbClr val="FBF5E6"/>
          </a:solidFill>
          <a:ln w="9525">
            <a:solidFill>
              <a:srgbClr val="E2DCCB"/>
            </a:solidFill>
            <a:prstDash val="solid"/>
          </a:ln>
        </p:spPr>
      </p:sp>
      <p:sp>
        <p:nvSpPr>
          <p:cNvPr id="29" name="Shape 24"/>
          <p:cNvSpPr/>
          <p:nvPr/>
        </p:nvSpPr>
        <p:spPr>
          <a:xfrm>
            <a:off x="6295644" y="2029968"/>
            <a:ext cx="310896" cy="310896"/>
          </a:xfrm>
          <a:prstGeom prst="ellipse">
            <a:avLst/>
          </a:prstGeom>
          <a:solidFill>
            <a:srgbClr val="2F7D4F"/>
          </a:solidFill>
          <a:ln/>
        </p:spPr>
      </p:sp>
      <p:sp>
        <p:nvSpPr>
          <p:cNvPr id="30" name="Text 25"/>
          <p:cNvSpPr txBox="1"/>
          <p:nvPr/>
        </p:nvSpPr>
        <p:spPr>
          <a:xfrm>
            <a:off x="6295644"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3</a:t>
            </a:r>
            <a:endParaRPr lang="en-US" sz="1450" dirty="0"/>
          </a:p>
        </p:txBody>
      </p:sp>
      <p:sp>
        <p:nvSpPr>
          <p:cNvPr id="31" name="Text 26"/>
          <p:cNvSpPr txBox="1"/>
          <p:nvPr/>
        </p:nvSpPr>
        <p:spPr>
          <a:xfrm>
            <a:off x="6679692"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결과 보기</a:t>
            </a:r>
            <a:endParaRPr lang="en-US" sz="1750" dirty="0"/>
          </a:p>
        </p:txBody>
      </p:sp>
      <p:sp>
        <p:nvSpPr>
          <p:cNvPr id="32" name="Shape 27"/>
          <p:cNvSpPr/>
          <p:nvPr/>
        </p:nvSpPr>
        <p:spPr>
          <a:xfrm>
            <a:off x="6277356" y="2432304"/>
            <a:ext cx="2475738" cy="1920240"/>
          </a:xfrm>
          <a:prstGeom prst="roundRect">
            <a:avLst>
              <a:gd name="adj" fmla="val 3810"/>
            </a:avLst>
          </a:prstGeom>
          <a:solidFill>
            <a:srgbClr val="FFFFFF"/>
          </a:solidFill>
          <a:ln w="9525">
            <a:solidFill>
              <a:srgbClr val="E2DCCB"/>
            </a:solidFill>
            <a:prstDash val="solid"/>
          </a:ln>
        </p:spPr>
      </p:sp>
      <p:pic>
        <p:nvPicPr>
          <p:cNvPr id="33" name="Image 3" descr="화면">    </p:cNvPr>
          <p:cNvPicPr>
            <a:picLocks noChangeAspect="1"/>
          </p:cNvPicPr>
          <p:nvPr/>
        </p:nvPicPr>
        <p:blipFill>
          <a:blip r:embed="rId4"/>
          <a:stretch>
            <a:fillRect/>
          </a:stretch>
        </p:blipFill>
        <p:spPr>
          <a:xfrm>
            <a:off x="6313932" y="2468880"/>
            <a:ext cx="2402586" cy="1847088"/>
          </a:xfrm>
          <a:prstGeom prst="rect">
            <a:avLst/>
          </a:prstGeom>
        </p:spPr>
      </p:pic>
      <p:sp>
        <p:nvSpPr>
          <p:cNvPr id="34" name="Text 28"/>
          <p:cNvSpPr txBox="1"/>
          <p:nvPr/>
        </p:nvSpPr>
        <p:spPr>
          <a:xfrm>
            <a:off x="6313932"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도장 4종과 한 줄 피드백</a:t>
            </a:r>
            <a:endParaRPr lang="en-US" sz="1450" dirty="0"/>
          </a:p>
        </p:txBody>
      </p:sp>
      <p:sp>
        <p:nvSpPr>
          <p:cNvPr id="35" name="Shape 29"/>
          <p:cNvSpPr/>
          <p:nvPr/>
        </p:nvSpPr>
        <p:spPr>
          <a:xfrm>
            <a:off x="9027414" y="1920240"/>
            <a:ext cx="2658618" cy="2880360"/>
          </a:xfrm>
          <a:prstGeom prst="roundRect">
            <a:avLst>
              <a:gd name="adj" fmla="val 3439"/>
            </a:avLst>
          </a:prstGeom>
          <a:solidFill>
            <a:srgbClr val="FFFFFF"/>
          </a:solidFill>
          <a:ln w="9525">
            <a:solidFill>
              <a:srgbClr val="E2DCCB"/>
            </a:solidFill>
            <a:prstDash val="solid"/>
          </a:ln>
        </p:spPr>
      </p:sp>
      <p:sp>
        <p:nvSpPr>
          <p:cNvPr id="36" name="Shape 30"/>
          <p:cNvSpPr/>
          <p:nvPr/>
        </p:nvSpPr>
        <p:spPr>
          <a:xfrm>
            <a:off x="9137142" y="2029968"/>
            <a:ext cx="310896" cy="310896"/>
          </a:xfrm>
          <a:prstGeom prst="ellipse">
            <a:avLst/>
          </a:prstGeom>
          <a:solidFill>
            <a:srgbClr val="2F7D4F"/>
          </a:solidFill>
          <a:ln/>
        </p:spPr>
      </p:sp>
      <p:sp>
        <p:nvSpPr>
          <p:cNvPr id="37" name="Text 31"/>
          <p:cNvSpPr txBox="1"/>
          <p:nvPr/>
        </p:nvSpPr>
        <p:spPr>
          <a:xfrm>
            <a:off x="9137142"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4</a:t>
            </a:r>
            <a:endParaRPr lang="en-US" sz="1450" dirty="0"/>
          </a:p>
        </p:txBody>
      </p:sp>
      <p:sp>
        <p:nvSpPr>
          <p:cNvPr id="38" name="Text 32"/>
          <p:cNvSpPr txBox="1"/>
          <p:nvPr/>
        </p:nvSpPr>
        <p:spPr>
          <a:xfrm>
            <a:off x="9521190"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진단과 기록</a:t>
            </a:r>
            <a:endParaRPr lang="en-US" sz="1750" dirty="0"/>
          </a:p>
        </p:txBody>
      </p:sp>
      <p:sp>
        <p:nvSpPr>
          <p:cNvPr id="39" name="Shape 33"/>
          <p:cNvSpPr/>
          <p:nvPr/>
        </p:nvSpPr>
        <p:spPr>
          <a:xfrm>
            <a:off x="9118854" y="2432304"/>
            <a:ext cx="2475738" cy="1920240"/>
          </a:xfrm>
          <a:prstGeom prst="roundRect">
            <a:avLst>
              <a:gd name="adj" fmla="val 3810"/>
            </a:avLst>
          </a:prstGeom>
          <a:solidFill>
            <a:srgbClr val="FFFFFF"/>
          </a:solidFill>
          <a:ln w="9525">
            <a:solidFill>
              <a:srgbClr val="E2DCCB"/>
            </a:solidFill>
            <a:prstDash val="solid"/>
          </a:ln>
        </p:spPr>
      </p:sp>
      <p:pic>
        <p:nvPicPr>
          <p:cNvPr id="40" name="Image 4" descr="화면">    </p:cNvPr>
          <p:cNvPicPr>
            <a:picLocks noChangeAspect="1"/>
          </p:cNvPicPr>
          <p:nvPr/>
        </p:nvPicPr>
        <p:blipFill>
          <a:blip r:embed="rId5"/>
          <a:stretch>
            <a:fillRect/>
          </a:stretch>
        </p:blipFill>
        <p:spPr>
          <a:xfrm>
            <a:off x="9155430" y="2468880"/>
            <a:ext cx="2402586" cy="1847088"/>
          </a:xfrm>
          <a:prstGeom prst="rect">
            <a:avLst/>
          </a:prstGeom>
        </p:spPr>
      </p:pic>
      <p:sp>
        <p:nvSpPr>
          <p:cNvPr id="41" name="Text 34"/>
          <p:cNvSpPr txBox="1"/>
          <p:nvPr/>
        </p:nvSpPr>
        <p:spPr>
          <a:xfrm>
            <a:off x="9155430"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어휘력 진단, 우리 반 성장</a:t>
            </a:r>
            <a:endParaRPr lang="en-US" sz="1450" dirty="0"/>
          </a:p>
        </p:txBody>
      </p:sp>
      <p:sp>
        <p:nvSpPr>
          <p:cNvPr id="42" name="Shape 35"/>
          <p:cNvSpPr/>
          <p:nvPr/>
        </p:nvSpPr>
        <p:spPr>
          <a:xfrm>
            <a:off x="502920" y="5047488"/>
            <a:ext cx="118872" cy="118872"/>
          </a:xfrm>
          <a:prstGeom prst="ellipse">
            <a:avLst/>
          </a:prstGeom>
          <a:solidFill>
            <a:srgbClr val="2F7D4F"/>
          </a:solidFill>
          <a:ln/>
        </p:spPr>
      </p:sp>
      <p:sp>
        <p:nvSpPr>
          <p:cNvPr id="43" name="Text 36"/>
          <p:cNvSpPr txBox="1"/>
          <p:nvPr/>
        </p:nvSpPr>
        <p:spPr>
          <a:xfrm>
            <a:off x="722376" y="4910328"/>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수업 뒤, 처음 적은 학급 고민으로 돌아갑니다</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교사 돌아보기 질문</a:t>
            </a:r>
            <a:endParaRPr lang="en-US" sz="1650" dirty="0"/>
          </a:p>
        </p:txBody>
      </p:sp>
      <p:sp>
        <p:nvSpPr>
          <p:cNvPr id="44" name="Shape 37"/>
          <p:cNvSpPr/>
          <p:nvPr/>
        </p:nvSpPr>
        <p:spPr>
          <a:xfrm>
            <a:off x="502920" y="5367528"/>
            <a:ext cx="5500116" cy="406908"/>
          </a:xfrm>
          <a:prstGeom prst="roundRect">
            <a:avLst>
              <a:gd name="adj" fmla="val 13483"/>
            </a:avLst>
          </a:prstGeom>
          <a:solidFill>
            <a:srgbClr val="F7F4EC"/>
          </a:solidFill>
          <a:ln w="9525">
            <a:solidFill>
              <a:srgbClr val="E2DCCB"/>
            </a:solidFill>
            <a:prstDash val="solid"/>
          </a:ln>
        </p:spPr>
      </p:sp>
      <p:sp>
        <p:nvSpPr>
          <p:cNvPr id="45" name="Text 38"/>
          <p:cNvSpPr txBox="1"/>
          <p:nvPr/>
        </p:nvSpPr>
        <p:spPr>
          <a:xfrm>
            <a:off x="649224" y="5367528"/>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듣기</a:t>
            </a:r>
            <a:endParaRPr lang="en-US" sz="1550" dirty="0"/>
          </a:p>
        </p:txBody>
      </p:sp>
      <p:sp>
        <p:nvSpPr>
          <p:cNvPr id="46" name="Text 39"/>
          <p:cNvSpPr txBox="1"/>
          <p:nvPr/>
        </p:nvSpPr>
        <p:spPr>
          <a:xfrm>
            <a:off x="1417320" y="5367528"/>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친구의 말을 끝까지 듣고, 들은 뜻을 되짚었는가?</a:t>
            </a:r>
            <a:endParaRPr lang="en-US" sz="1500" dirty="0"/>
          </a:p>
        </p:txBody>
      </p:sp>
      <p:sp>
        <p:nvSpPr>
          <p:cNvPr id="47" name="Shape 40"/>
          <p:cNvSpPr/>
          <p:nvPr/>
        </p:nvSpPr>
        <p:spPr>
          <a:xfrm>
            <a:off x="6185916" y="5367528"/>
            <a:ext cx="5500116" cy="406908"/>
          </a:xfrm>
          <a:prstGeom prst="roundRect">
            <a:avLst>
              <a:gd name="adj" fmla="val 13483"/>
            </a:avLst>
          </a:prstGeom>
          <a:solidFill>
            <a:srgbClr val="FFFFFF"/>
          </a:solidFill>
          <a:ln w="9525">
            <a:solidFill>
              <a:srgbClr val="E2DCCB"/>
            </a:solidFill>
            <a:prstDash val="solid"/>
          </a:ln>
        </p:spPr>
      </p:sp>
      <p:sp>
        <p:nvSpPr>
          <p:cNvPr id="48" name="Text 41"/>
          <p:cNvSpPr txBox="1"/>
          <p:nvPr/>
        </p:nvSpPr>
        <p:spPr>
          <a:xfrm>
            <a:off x="6332220" y="5367528"/>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공감</a:t>
            </a:r>
            <a:endParaRPr lang="en-US" sz="1550" dirty="0"/>
          </a:p>
        </p:txBody>
      </p:sp>
      <p:sp>
        <p:nvSpPr>
          <p:cNvPr id="49" name="Text 42"/>
          <p:cNvSpPr txBox="1"/>
          <p:nvPr/>
        </p:nvSpPr>
        <p:spPr>
          <a:xfrm>
            <a:off x="7100316" y="5367528"/>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인물과 친구의 감정을 짐작한 까닭을 말했는가?</a:t>
            </a:r>
            <a:endParaRPr lang="en-US" sz="1500" dirty="0"/>
          </a:p>
        </p:txBody>
      </p:sp>
      <p:sp>
        <p:nvSpPr>
          <p:cNvPr id="50" name="Shape 43"/>
          <p:cNvSpPr/>
          <p:nvPr/>
        </p:nvSpPr>
        <p:spPr>
          <a:xfrm>
            <a:off x="502920" y="5865876"/>
            <a:ext cx="5500116" cy="406908"/>
          </a:xfrm>
          <a:prstGeom prst="roundRect">
            <a:avLst>
              <a:gd name="adj" fmla="val 13483"/>
            </a:avLst>
          </a:prstGeom>
          <a:solidFill>
            <a:srgbClr val="FFFFFF"/>
          </a:solidFill>
          <a:ln w="9525">
            <a:solidFill>
              <a:srgbClr val="E2DCCB"/>
            </a:solidFill>
            <a:prstDash val="solid"/>
          </a:ln>
        </p:spPr>
      </p:sp>
      <p:sp>
        <p:nvSpPr>
          <p:cNvPr id="51" name="Text 44"/>
          <p:cNvSpPr txBox="1"/>
          <p:nvPr/>
        </p:nvSpPr>
        <p:spPr>
          <a:xfrm>
            <a:off x="649224" y="5865876"/>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참여</a:t>
            </a:r>
            <a:endParaRPr lang="en-US" sz="1550" dirty="0"/>
          </a:p>
        </p:txBody>
      </p:sp>
      <p:sp>
        <p:nvSpPr>
          <p:cNvPr id="52" name="Text 45"/>
          <p:cNvSpPr txBox="1"/>
          <p:nvPr/>
        </p:nvSpPr>
        <p:spPr>
          <a:xfrm>
            <a:off x="1417320" y="5865876"/>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어느 질문에서 말이 이어졌고, 누가 참여하기 어려웠나?</a:t>
            </a:r>
            <a:endParaRPr lang="en-US" sz="1500" dirty="0"/>
          </a:p>
        </p:txBody>
      </p:sp>
      <p:sp>
        <p:nvSpPr>
          <p:cNvPr id="53" name="Shape 46"/>
          <p:cNvSpPr/>
          <p:nvPr/>
        </p:nvSpPr>
        <p:spPr>
          <a:xfrm>
            <a:off x="6185916" y="5865876"/>
            <a:ext cx="5500116" cy="406908"/>
          </a:xfrm>
          <a:prstGeom prst="roundRect">
            <a:avLst>
              <a:gd name="adj" fmla="val 13483"/>
            </a:avLst>
          </a:prstGeom>
          <a:solidFill>
            <a:srgbClr val="F7F4EC"/>
          </a:solidFill>
          <a:ln w="9525">
            <a:solidFill>
              <a:srgbClr val="E2DCCB"/>
            </a:solidFill>
            <a:prstDash val="solid"/>
          </a:ln>
        </p:spPr>
      </p:sp>
      <p:sp>
        <p:nvSpPr>
          <p:cNvPr id="54" name="Text 47"/>
          <p:cNvSpPr txBox="1"/>
          <p:nvPr/>
        </p:nvSpPr>
        <p:spPr>
          <a:xfrm>
            <a:off x="6332220" y="5865876"/>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다음 수업</a:t>
            </a:r>
            <a:endParaRPr lang="en-US" sz="1550" dirty="0"/>
          </a:p>
        </p:txBody>
      </p:sp>
      <p:sp>
        <p:nvSpPr>
          <p:cNvPr id="55" name="Text 48"/>
          <p:cNvSpPr txBox="1"/>
          <p:nvPr/>
        </p:nvSpPr>
        <p:spPr>
          <a:xfrm>
            <a:off x="7100316" y="5865876"/>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학생 답을 보고 바꿀 질문과 활동 한 가지는 무엇인가?</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학년별 수업 설계안과 학생 결과물</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같은 책과 수업 질문으로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온라인과 오프라인 모두</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읽고 표현합니다</a:t>
            </a:r>
            <a:endParaRPr lang="en-US" sz="1400" dirty="0"/>
          </a:p>
        </p:txBody>
      </p:sp>
      <p:sp>
        <p:nvSpPr>
          <p:cNvPr id="10" name="Text 7"/>
          <p:cNvSpPr txBox="1"/>
          <p:nvPr/>
        </p:nvSpPr>
        <p:spPr>
          <a:xfrm>
            <a:off x="255292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4224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설계안: 부기 고민 책방 학년별 수업(2026. 10. 24.), 성취기준은 2022 개정 국어과. 표지와 본문 삽화는 부기 300권 원본.</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16</a:t>
            </a:r>
            <a:endParaRPr lang="en-US" sz="1250" dirty="0"/>
          </a:p>
        </p:txBody>
      </p:sp>
      <p:sp>
        <p:nvSpPr>
          <p:cNvPr id="14" name="Text 11"/>
          <p:cNvSpPr txBox="1"/>
          <p:nvPr/>
        </p:nvSpPr>
        <p:spPr>
          <a:xfrm>
            <a:off x="502920" y="1920240"/>
            <a:ext cx="11183112" cy="365760"/>
          </a:xfrm>
          <a:prstGeom prst="rect">
            <a:avLst/>
          </a:prstGeom>
          <a:noFill/>
          <a:ln/>
        </p:spPr>
        <p:txBody>
          <a:bodyPr wrap="square" lIns="0" tIns="0" rIns="0" bIns="0" rtlCol="0" anchor="t"/>
          <a:lstStyle/>
          <a:p>
            <a:pPr indent="0" marL="0">
              <a:lnSpc>
                <a:spcPct val="112000"/>
              </a:lnSpc>
              <a:buNone/>
            </a:pPr>
            <a:r>
              <a:rPr lang="en-US" sz="1400" dirty="0">
                <a:solidFill>
                  <a:srgbClr val="2F7D4F"/>
                </a:solidFill>
                <a:latin typeface="Freesentation 7 Bold" pitchFamily="34" charset="0"/>
                <a:ea typeface="Freesentation 7 Bold" pitchFamily="34" charset="-122"/>
                <a:cs typeface="Freesentation 7 Bold" pitchFamily="34" charset="-120"/>
              </a:rPr>
              <a:t>온라인: 화면에 작성하고 포트폴리오에 모음  |  오프라인: 같은 양식을 인쇄해 손글씨, 그림, 역할극으로 참여</a:t>
            </a:r>
            <a:endParaRPr lang="en-US" sz="1400" dirty="0"/>
          </a:p>
        </p:txBody>
      </p:sp>
      <p:sp>
        <p:nvSpPr>
          <p:cNvPr id="15" name="Shape 12"/>
          <p:cNvSpPr/>
          <p:nvPr/>
        </p:nvSpPr>
        <p:spPr>
          <a:xfrm>
            <a:off x="502920" y="2377440"/>
            <a:ext cx="3581400" cy="3895344"/>
          </a:xfrm>
          <a:prstGeom prst="roundRect">
            <a:avLst>
              <a:gd name="adj" fmla="val 2553"/>
            </a:avLst>
          </a:prstGeom>
          <a:solidFill>
            <a:srgbClr val="FBF5E6"/>
          </a:solidFill>
          <a:ln w="9525">
            <a:solidFill>
              <a:srgbClr val="E2DCCB"/>
            </a:solidFill>
            <a:prstDash val="solid"/>
          </a:ln>
        </p:spPr>
      </p:sp>
      <p:sp>
        <p:nvSpPr>
          <p:cNvPr id="16" name="Shape 13"/>
          <p:cNvSpPr/>
          <p:nvPr/>
        </p:nvSpPr>
        <p:spPr>
          <a:xfrm>
            <a:off x="502920" y="2377440"/>
            <a:ext cx="3581400" cy="566928"/>
          </a:xfrm>
          <a:prstGeom prst="roundRect">
            <a:avLst>
              <a:gd name="adj" fmla="val 16129"/>
            </a:avLst>
          </a:prstGeom>
          <a:solidFill>
            <a:srgbClr val="20342A"/>
          </a:solidFill>
          <a:ln/>
        </p:spPr>
      </p:sp>
      <p:sp>
        <p:nvSpPr>
          <p:cNvPr id="17" name="Text 14"/>
          <p:cNvSpPr txBox="1"/>
          <p:nvPr/>
        </p:nvSpPr>
        <p:spPr>
          <a:xfrm>
            <a:off x="649224" y="2377440"/>
            <a:ext cx="3307080" cy="566928"/>
          </a:xfrm>
          <a:prstGeom prst="rect">
            <a:avLst/>
          </a:prstGeom>
          <a:noFill/>
          <a:ln/>
        </p:spPr>
        <p:txBody>
          <a:bodyPr wrap="square" lIns="0" tIns="0" rIns="0" bIns="0" rtlCol="0" anchor="ct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3학년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「조충의 코끼리 무게 재기」</a:t>
            </a:r>
            <a:endParaRPr lang="en-US" sz="1650" dirty="0"/>
          </a:p>
        </p:txBody>
      </p:sp>
      <p:sp>
        <p:nvSpPr>
          <p:cNvPr id="18" name="Shape 15"/>
          <p:cNvSpPr/>
          <p:nvPr/>
        </p:nvSpPr>
        <p:spPr>
          <a:xfrm>
            <a:off x="708072" y="3035808"/>
            <a:ext cx="856648" cy="1188720"/>
          </a:xfrm>
          <a:prstGeom prst="roundRect">
            <a:avLst>
              <a:gd name="adj" fmla="val 8539"/>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735504" y="3063240"/>
            <a:ext cx="801784" cy="1133856"/>
          </a:xfrm>
          <a:prstGeom prst="rect">
            <a:avLst/>
          </a:prstGeom>
        </p:spPr>
      </p:pic>
      <p:sp>
        <p:nvSpPr>
          <p:cNvPr id="20" name="Shape 16"/>
          <p:cNvSpPr/>
          <p:nvPr/>
        </p:nvSpPr>
        <p:spPr>
          <a:xfrm>
            <a:off x="1888236" y="3035808"/>
            <a:ext cx="810768" cy="1188720"/>
          </a:xfrm>
          <a:prstGeom prst="roundRect">
            <a:avLst>
              <a:gd name="adj" fmla="val 9023"/>
            </a:avLst>
          </a:prstGeom>
          <a:solidFill>
            <a:srgbClr val="FFFFFF"/>
          </a:solidFill>
          <a:ln w="9525">
            <a:solidFill>
              <a:srgbClr val="E2DCCB"/>
            </a:solidFill>
            <a:prstDash val="solid"/>
          </a:ln>
        </p:spPr>
      </p:sp>
      <p:pic>
        <p:nvPicPr>
          <p:cNvPr id="21" name="Image 2" descr="화면">    </p:cNvPr>
          <p:cNvPicPr>
            <a:picLocks noChangeAspect="1"/>
          </p:cNvPicPr>
          <p:nvPr/>
        </p:nvPicPr>
        <p:blipFill>
          <a:blip r:embed="rId3"/>
          <a:stretch>
            <a:fillRect/>
          </a:stretch>
        </p:blipFill>
        <p:spPr>
          <a:xfrm>
            <a:off x="1915668" y="3063240"/>
            <a:ext cx="755904" cy="1133856"/>
          </a:xfrm>
          <a:prstGeom prst="rect">
            <a:avLst/>
          </a:prstGeom>
        </p:spPr>
      </p:pic>
      <p:sp>
        <p:nvSpPr>
          <p:cNvPr id="22" name="Shape 17"/>
          <p:cNvSpPr/>
          <p:nvPr/>
        </p:nvSpPr>
        <p:spPr>
          <a:xfrm>
            <a:off x="3014625" y="3035808"/>
            <a:ext cx="872438" cy="1188720"/>
          </a:xfrm>
          <a:prstGeom prst="roundRect">
            <a:avLst>
              <a:gd name="adj" fmla="val 8385"/>
            </a:avLst>
          </a:prstGeom>
          <a:solidFill>
            <a:srgbClr val="FFFFFF"/>
          </a:solidFill>
          <a:ln w="9525">
            <a:solidFill>
              <a:srgbClr val="E2DCCB"/>
            </a:solidFill>
            <a:prstDash val="solid"/>
          </a:ln>
        </p:spPr>
      </p:sp>
      <p:pic>
        <p:nvPicPr>
          <p:cNvPr id="23" name="Image 3" descr="화면">    </p:cNvPr>
          <p:cNvPicPr>
            <a:picLocks noChangeAspect="1"/>
          </p:cNvPicPr>
          <p:nvPr/>
        </p:nvPicPr>
        <p:blipFill>
          <a:blip r:embed="rId4"/>
          <a:stretch>
            <a:fillRect/>
          </a:stretch>
        </p:blipFill>
        <p:spPr>
          <a:xfrm>
            <a:off x="3042057" y="3063240"/>
            <a:ext cx="817574" cy="1133856"/>
          </a:xfrm>
          <a:prstGeom prst="rect">
            <a:avLst/>
          </a:prstGeom>
        </p:spPr>
      </p:pic>
      <p:sp>
        <p:nvSpPr>
          <p:cNvPr id="24" name="Shape 18"/>
          <p:cNvSpPr/>
          <p:nvPr/>
        </p:nvSpPr>
        <p:spPr>
          <a:xfrm>
            <a:off x="630936" y="4315968"/>
            <a:ext cx="1682686" cy="292608"/>
          </a:xfrm>
          <a:prstGeom prst="roundRect">
            <a:avLst>
              <a:gd name="adj" fmla="val 50000"/>
            </a:avLst>
          </a:prstGeom>
          <a:solidFill>
            <a:srgbClr val="2F7D4F"/>
          </a:solidFill>
          <a:ln/>
        </p:spPr>
      </p:sp>
      <p:sp>
        <p:nvSpPr>
          <p:cNvPr id="25" name="Text 19"/>
          <p:cNvSpPr txBox="1"/>
          <p:nvPr/>
        </p:nvSpPr>
        <p:spPr>
          <a:xfrm>
            <a:off x="630936" y="4315968"/>
            <a:ext cx="1682686"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1단계  인물이 먼저 묻기</a:t>
            </a:r>
            <a:endParaRPr lang="en-US" sz="1250" dirty="0"/>
          </a:p>
        </p:txBody>
      </p:sp>
      <p:sp>
        <p:nvSpPr>
          <p:cNvPr id="26" name="Text 20"/>
          <p:cNvSpPr txBox="1"/>
          <p:nvPr/>
        </p:nvSpPr>
        <p:spPr>
          <a:xfrm>
            <a:off x="649224" y="4681728"/>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27" name="Text 21"/>
          <p:cNvSpPr txBox="1"/>
          <p:nvPr/>
        </p:nvSpPr>
        <p:spPr>
          <a:xfrm>
            <a:off x="1508760" y="4681728"/>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말이 안 나오면 내 생각을 어떻게 전할까?</a:t>
            </a:r>
            <a:endParaRPr lang="en-US" sz="1200" dirty="0"/>
          </a:p>
        </p:txBody>
      </p:sp>
      <p:sp>
        <p:nvSpPr>
          <p:cNvPr id="28" name="Text 22"/>
          <p:cNvSpPr txBox="1"/>
          <p:nvPr/>
        </p:nvSpPr>
        <p:spPr>
          <a:xfrm>
            <a:off x="649224" y="5061204"/>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29" name="Text 23"/>
          <p:cNvSpPr txBox="1"/>
          <p:nvPr/>
        </p:nvSpPr>
        <p:spPr>
          <a:xfrm>
            <a:off x="1508760" y="5061204"/>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장면 그림과 말풍선, 종이다리 두 번 시도</a:t>
            </a:r>
            <a:endParaRPr lang="en-US" sz="1200" dirty="0"/>
          </a:p>
        </p:txBody>
      </p:sp>
      <p:sp>
        <p:nvSpPr>
          <p:cNvPr id="30" name="Text 24"/>
          <p:cNvSpPr txBox="1"/>
          <p:nvPr/>
        </p:nvSpPr>
        <p:spPr>
          <a:xfrm>
            <a:off x="649224" y="5440680"/>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31" name="Text 25"/>
          <p:cNvSpPr txBox="1"/>
          <p:nvPr/>
        </p:nvSpPr>
        <p:spPr>
          <a:xfrm>
            <a:off x="1508760" y="5440680"/>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2장면 뒤 조충이 묻고 책 속 문장으로 답함</a:t>
            </a:r>
            <a:endParaRPr lang="en-US" sz="1200" dirty="0"/>
          </a:p>
        </p:txBody>
      </p:sp>
      <p:sp>
        <p:nvSpPr>
          <p:cNvPr id="32" name="Text 26"/>
          <p:cNvSpPr txBox="1"/>
          <p:nvPr/>
        </p:nvSpPr>
        <p:spPr>
          <a:xfrm>
            <a:off x="649224" y="5820156"/>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33" name="Text 27"/>
          <p:cNvSpPr txBox="1"/>
          <p:nvPr/>
        </p:nvSpPr>
        <p:spPr>
          <a:xfrm>
            <a:off x="1508760" y="5820156"/>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[4국01-05], [4국05-02]</a:t>
            </a:r>
            <a:endParaRPr lang="en-US" sz="1200" dirty="0"/>
          </a:p>
        </p:txBody>
      </p:sp>
      <p:sp>
        <p:nvSpPr>
          <p:cNvPr id="34" name="Shape 28"/>
          <p:cNvSpPr/>
          <p:nvPr/>
        </p:nvSpPr>
        <p:spPr>
          <a:xfrm>
            <a:off x="4303776" y="2377440"/>
            <a:ext cx="3581400" cy="3895344"/>
          </a:xfrm>
          <a:prstGeom prst="roundRect">
            <a:avLst>
              <a:gd name="adj" fmla="val 2553"/>
            </a:avLst>
          </a:prstGeom>
          <a:solidFill>
            <a:srgbClr val="E6F0E7"/>
          </a:solidFill>
          <a:ln w="9525">
            <a:solidFill>
              <a:srgbClr val="E2DCCB"/>
            </a:solidFill>
            <a:prstDash val="solid"/>
          </a:ln>
        </p:spPr>
      </p:sp>
      <p:sp>
        <p:nvSpPr>
          <p:cNvPr id="35" name="Shape 29"/>
          <p:cNvSpPr/>
          <p:nvPr/>
        </p:nvSpPr>
        <p:spPr>
          <a:xfrm>
            <a:off x="4303776" y="2377440"/>
            <a:ext cx="3581400" cy="566928"/>
          </a:xfrm>
          <a:prstGeom prst="roundRect">
            <a:avLst>
              <a:gd name="adj" fmla="val 16129"/>
            </a:avLst>
          </a:prstGeom>
          <a:solidFill>
            <a:srgbClr val="20342A"/>
          </a:solidFill>
          <a:ln/>
        </p:spPr>
      </p:sp>
      <p:sp>
        <p:nvSpPr>
          <p:cNvPr id="36" name="Text 30"/>
          <p:cNvSpPr txBox="1"/>
          <p:nvPr/>
        </p:nvSpPr>
        <p:spPr>
          <a:xfrm>
            <a:off x="4450080" y="2377440"/>
            <a:ext cx="3307080" cy="566928"/>
          </a:xfrm>
          <a:prstGeom prst="rect">
            <a:avLst/>
          </a:prstGeom>
          <a:noFill/>
          <a:ln/>
        </p:spPr>
        <p:txBody>
          <a:bodyPr wrap="square" lIns="0" tIns="0" rIns="0" bIns="0" rtlCol="0" anchor="ct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5학년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「비밀의 화원」</a:t>
            </a:r>
            <a:endParaRPr lang="en-US" sz="1650" dirty="0"/>
          </a:p>
        </p:txBody>
      </p:sp>
      <p:sp>
        <p:nvSpPr>
          <p:cNvPr id="37" name="Shape 31"/>
          <p:cNvSpPr/>
          <p:nvPr/>
        </p:nvSpPr>
        <p:spPr>
          <a:xfrm>
            <a:off x="4508928" y="3035808"/>
            <a:ext cx="856648" cy="1188720"/>
          </a:xfrm>
          <a:prstGeom prst="roundRect">
            <a:avLst>
              <a:gd name="adj" fmla="val 8539"/>
            </a:avLst>
          </a:prstGeom>
          <a:solidFill>
            <a:srgbClr val="FFFFFF"/>
          </a:solidFill>
          <a:ln w="9525">
            <a:solidFill>
              <a:srgbClr val="E2DCCB"/>
            </a:solidFill>
            <a:prstDash val="solid"/>
          </a:ln>
        </p:spPr>
      </p:sp>
      <p:pic>
        <p:nvPicPr>
          <p:cNvPr id="38" name="Image 4" descr="화면">    </p:cNvPr>
          <p:cNvPicPr>
            <a:picLocks noChangeAspect="1"/>
          </p:cNvPicPr>
          <p:nvPr/>
        </p:nvPicPr>
        <p:blipFill>
          <a:blip r:embed="rId5"/>
          <a:stretch>
            <a:fillRect/>
          </a:stretch>
        </p:blipFill>
        <p:spPr>
          <a:xfrm>
            <a:off x="4536360" y="3063240"/>
            <a:ext cx="801784" cy="1133856"/>
          </a:xfrm>
          <a:prstGeom prst="rect">
            <a:avLst/>
          </a:prstGeom>
        </p:spPr>
      </p:pic>
      <p:sp>
        <p:nvSpPr>
          <p:cNvPr id="39" name="Shape 32"/>
          <p:cNvSpPr/>
          <p:nvPr/>
        </p:nvSpPr>
        <p:spPr>
          <a:xfrm>
            <a:off x="5689092" y="3035808"/>
            <a:ext cx="810768" cy="1188720"/>
          </a:xfrm>
          <a:prstGeom prst="roundRect">
            <a:avLst>
              <a:gd name="adj" fmla="val 9023"/>
            </a:avLst>
          </a:prstGeom>
          <a:solidFill>
            <a:srgbClr val="FFFFFF"/>
          </a:solidFill>
          <a:ln w="9525">
            <a:solidFill>
              <a:srgbClr val="E2DCCB"/>
            </a:solidFill>
            <a:prstDash val="solid"/>
          </a:ln>
        </p:spPr>
      </p:sp>
      <p:pic>
        <p:nvPicPr>
          <p:cNvPr id="40" name="Image 5" descr="화면">    </p:cNvPr>
          <p:cNvPicPr>
            <a:picLocks noChangeAspect="1"/>
          </p:cNvPicPr>
          <p:nvPr/>
        </p:nvPicPr>
        <p:blipFill>
          <a:blip r:embed="rId6"/>
          <a:stretch>
            <a:fillRect/>
          </a:stretch>
        </p:blipFill>
        <p:spPr>
          <a:xfrm>
            <a:off x="5716524" y="3063240"/>
            <a:ext cx="755904" cy="1133856"/>
          </a:xfrm>
          <a:prstGeom prst="rect">
            <a:avLst/>
          </a:prstGeom>
        </p:spPr>
      </p:pic>
      <p:sp>
        <p:nvSpPr>
          <p:cNvPr id="41" name="Shape 33"/>
          <p:cNvSpPr/>
          <p:nvPr/>
        </p:nvSpPr>
        <p:spPr>
          <a:xfrm>
            <a:off x="6823771" y="3035808"/>
            <a:ext cx="855859" cy="1188720"/>
          </a:xfrm>
          <a:prstGeom prst="roundRect">
            <a:avLst>
              <a:gd name="adj" fmla="val 8547"/>
            </a:avLst>
          </a:prstGeom>
          <a:solidFill>
            <a:srgbClr val="FFFFFF"/>
          </a:solidFill>
          <a:ln w="9525">
            <a:solidFill>
              <a:srgbClr val="E2DCCB"/>
            </a:solidFill>
            <a:prstDash val="solid"/>
          </a:ln>
        </p:spPr>
      </p:sp>
      <p:pic>
        <p:nvPicPr>
          <p:cNvPr id="42" name="Image 6" descr="화면">    </p:cNvPr>
          <p:cNvPicPr>
            <a:picLocks noChangeAspect="1"/>
          </p:cNvPicPr>
          <p:nvPr/>
        </p:nvPicPr>
        <p:blipFill>
          <a:blip r:embed="rId7"/>
          <a:stretch>
            <a:fillRect/>
          </a:stretch>
        </p:blipFill>
        <p:spPr>
          <a:xfrm>
            <a:off x="6851203" y="3063240"/>
            <a:ext cx="800995" cy="1133856"/>
          </a:xfrm>
          <a:prstGeom prst="rect">
            <a:avLst/>
          </a:prstGeom>
        </p:spPr>
      </p:pic>
      <p:sp>
        <p:nvSpPr>
          <p:cNvPr id="43" name="Shape 34"/>
          <p:cNvSpPr/>
          <p:nvPr/>
        </p:nvSpPr>
        <p:spPr>
          <a:xfrm>
            <a:off x="4431792" y="4315968"/>
            <a:ext cx="1230630" cy="292608"/>
          </a:xfrm>
          <a:prstGeom prst="roundRect">
            <a:avLst>
              <a:gd name="adj" fmla="val 50000"/>
            </a:avLst>
          </a:prstGeom>
          <a:solidFill>
            <a:srgbClr val="2F7D4F"/>
          </a:solidFill>
          <a:ln/>
        </p:spPr>
      </p:sp>
      <p:sp>
        <p:nvSpPr>
          <p:cNvPr id="44" name="Text 35"/>
          <p:cNvSpPr txBox="1"/>
          <p:nvPr/>
        </p:nvSpPr>
        <p:spPr>
          <a:xfrm>
            <a:off x="4431792" y="4315968"/>
            <a:ext cx="1230630"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2단계  주고받기</a:t>
            </a:r>
            <a:endParaRPr lang="en-US" sz="1250" dirty="0"/>
          </a:p>
        </p:txBody>
      </p:sp>
      <p:sp>
        <p:nvSpPr>
          <p:cNvPr id="45" name="Text 36"/>
          <p:cNvSpPr txBox="1"/>
          <p:nvPr/>
        </p:nvSpPr>
        <p:spPr>
          <a:xfrm>
            <a:off x="4450080" y="4681728"/>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46" name="Text 37"/>
          <p:cNvSpPr txBox="1"/>
          <p:nvPr/>
        </p:nvSpPr>
        <p:spPr>
          <a:xfrm>
            <a:off x="5309616" y="4681728"/>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친구에게 맡기고도 함께</a:t>
            </a:r>
            <a:endParaRPr lang="en-US" sz="1200" dirty="0"/>
          </a:p>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끝내려면 무엇을 정할까?</a:t>
            </a:r>
            <a:endParaRPr lang="en-US" sz="1200" dirty="0"/>
          </a:p>
        </p:txBody>
      </p:sp>
      <p:sp>
        <p:nvSpPr>
          <p:cNvPr id="47" name="Text 38"/>
          <p:cNvSpPr txBox="1"/>
          <p:nvPr/>
        </p:nvSpPr>
        <p:spPr>
          <a:xfrm>
            <a:off x="4450080" y="5061204"/>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48" name="Text 39"/>
          <p:cNvSpPr txBox="1"/>
          <p:nvPr/>
        </p:nvSpPr>
        <p:spPr>
          <a:xfrm>
            <a:off x="5309616" y="5061204"/>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두 인물이 한 일 비교, 묻는 쪽지와 역할표</a:t>
            </a:r>
            <a:endParaRPr lang="en-US" sz="1200" dirty="0"/>
          </a:p>
        </p:txBody>
      </p:sp>
      <p:sp>
        <p:nvSpPr>
          <p:cNvPr id="49" name="Text 40"/>
          <p:cNvSpPr txBox="1"/>
          <p:nvPr/>
        </p:nvSpPr>
        <p:spPr>
          <a:xfrm>
            <a:off x="4450080" y="5440680"/>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50" name="Text 41"/>
          <p:cNvSpPr txBox="1"/>
          <p:nvPr/>
        </p:nvSpPr>
        <p:spPr>
          <a:xfrm>
            <a:off x="5309616" y="5440680"/>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디콘이 묻고 학생이 질문 하나를 만듦</a:t>
            </a:r>
            <a:endParaRPr lang="en-US" sz="1200" dirty="0"/>
          </a:p>
        </p:txBody>
      </p:sp>
      <p:sp>
        <p:nvSpPr>
          <p:cNvPr id="51" name="Text 42"/>
          <p:cNvSpPr txBox="1"/>
          <p:nvPr/>
        </p:nvSpPr>
        <p:spPr>
          <a:xfrm>
            <a:off x="4450080" y="5820156"/>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52" name="Text 43"/>
          <p:cNvSpPr txBox="1"/>
          <p:nvPr/>
        </p:nvSpPr>
        <p:spPr>
          <a:xfrm>
            <a:off x="5309616" y="5820156"/>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[6국05-03], [6국01-06]</a:t>
            </a:r>
            <a:endParaRPr lang="en-US" sz="1200" dirty="0"/>
          </a:p>
        </p:txBody>
      </p:sp>
      <p:sp>
        <p:nvSpPr>
          <p:cNvPr id="53" name="Shape 44"/>
          <p:cNvSpPr/>
          <p:nvPr/>
        </p:nvSpPr>
        <p:spPr>
          <a:xfrm>
            <a:off x="8104632" y="2377440"/>
            <a:ext cx="3581400" cy="3895344"/>
          </a:xfrm>
          <a:prstGeom prst="roundRect">
            <a:avLst>
              <a:gd name="adj" fmla="val 2553"/>
            </a:avLst>
          </a:prstGeom>
          <a:solidFill>
            <a:srgbClr val="FBF5E6"/>
          </a:solidFill>
          <a:ln w="9525">
            <a:solidFill>
              <a:srgbClr val="E2DCCB"/>
            </a:solidFill>
            <a:prstDash val="solid"/>
          </a:ln>
        </p:spPr>
      </p:sp>
      <p:sp>
        <p:nvSpPr>
          <p:cNvPr id="54" name="Shape 45"/>
          <p:cNvSpPr/>
          <p:nvPr/>
        </p:nvSpPr>
        <p:spPr>
          <a:xfrm>
            <a:off x="8104632" y="2377440"/>
            <a:ext cx="3581400" cy="566928"/>
          </a:xfrm>
          <a:prstGeom prst="roundRect">
            <a:avLst>
              <a:gd name="adj" fmla="val 16129"/>
            </a:avLst>
          </a:prstGeom>
          <a:solidFill>
            <a:srgbClr val="20342A"/>
          </a:solidFill>
          <a:ln/>
        </p:spPr>
      </p:sp>
      <p:sp>
        <p:nvSpPr>
          <p:cNvPr id="55" name="Text 46"/>
          <p:cNvSpPr txBox="1"/>
          <p:nvPr/>
        </p:nvSpPr>
        <p:spPr>
          <a:xfrm>
            <a:off x="8250936" y="2377440"/>
            <a:ext cx="3307080" cy="566928"/>
          </a:xfrm>
          <a:prstGeom prst="rect">
            <a:avLst/>
          </a:prstGeom>
          <a:noFill/>
          <a:ln/>
        </p:spPr>
        <p:txBody>
          <a:bodyPr wrap="square" lIns="0" tIns="0" rIns="0" bIns="0" rtlCol="0" anchor="ct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6학년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「목걸이」</a:t>
            </a:r>
            <a:endParaRPr lang="en-US" sz="1650" dirty="0"/>
          </a:p>
        </p:txBody>
      </p:sp>
      <p:sp>
        <p:nvSpPr>
          <p:cNvPr id="56" name="Shape 47"/>
          <p:cNvSpPr/>
          <p:nvPr/>
        </p:nvSpPr>
        <p:spPr>
          <a:xfrm>
            <a:off x="8309784" y="3035808"/>
            <a:ext cx="856648" cy="1188720"/>
          </a:xfrm>
          <a:prstGeom prst="roundRect">
            <a:avLst>
              <a:gd name="adj" fmla="val 8539"/>
            </a:avLst>
          </a:prstGeom>
          <a:solidFill>
            <a:srgbClr val="FFFFFF"/>
          </a:solidFill>
          <a:ln w="9525">
            <a:solidFill>
              <a:srgbClr val="E2DCCB"/>
            </a:solidFill>
            <a:prstDash val="solid"/>
          </a:ln>
        </p:spPr>
      </p:sp>
      <p:pic>
        <p:nvPicPr>
          <p:cNvPr id="57" name="Image 7" descr="화면">    </p:cNvPr>
          <p:cNvPicPr>
            <a:picLocks noChangeAspect="1"/>
          </p:cNvPicPr>
          <p:nvPr/>
        </p:nvPicPr>
        <p:blipFill>
          <a:blip r:embed="rId8"/>
          <a:stretch>
            <a:fillRect/>
          </a:stretch>
        </p:blipFill>
        <p:spPr>
          <a:xfrm>
            <a:off x="8337216" y="3063240"/>
            <a:ext cx="801784" cy="1133856"/>
          </a:xfrm>
          <a:prstGeom prst="rect">
            <a:avLst/>
          </a:prstGeom>
        </p:spPr>
      </p:pic>
      <p:sp>
        <p:nvSpPr>
          <p:cNvPr id="58" name="Shape 48"/>
          <p:cNvSpPr/>
          <p:nvPr/>
        </p:nvSpPr>
        <p:spPr>
          <a:xfrm>
            <a:off x="9489948" y="3035808"/>
            <a:ext cx="810768" cy="1188720"/>
          </a:xfrm>
          <a:prstGeom prst="roundRect">
            <a:avLst>
              <a:gd name="adj" fmla="val 9023"/>
            </a:avLst>
          </a:prstGeom>
          <a:solidFill>
            <a:srgbClr val="FFFFFF"/>
          </a:solidFill>
          <a:ln w="9525">
            <a:solidFill>
              <a:srgbClr val="E2DCCB"/>
            </a:solidFill>
            <a:prstDash val="solid"/>
          </a:ln>
        </p:spPr>
      </p:sp>
      <p:pic>
        <p:nvPicPr>
          <p:cNvPr id="59" name="Image 8" descr="화면">    </p:cNvPr>
          <p:cNvPicPr>
            <a:picLocks noChangeAspect="1"/>
          </p:cNvPicPr>
          <p:nvPr/>
        </p:nvPicPr>
        <p:blipFill>
          <a:blip r:embed="rId9"/>
          <a:stretch>
            <a:fillRect/>
          </a:stretch>
        </p:blipFill>
        <p:spPr>
          <a:xfrm>
            <a:off x="9517380" y="3063240"/>
            <a:ext cx="755904" cy="1133856"/>
          </a:xfrm>
          <a:prstGeom prst="rect">
            <a:avLst/>
          </a:prstGeom>
        </p:spPr>
      </p:pic>
      <p:sp>
        <p:nvSpPr>
          <p:cNvPr id="60" name="Shape 49"/>
          <p:cNvSpPr/>
          <p:nvPr/>
        </p:nvSpPr>
        <p:spPr>
          <a:xfrm>
            <a:off x="10620175" y="3035808"/>
            <a:ext cx="864761" cy="1188720"/>
          </a:xfrm>
          <a:prstGeom prst="roundRect">
            <a:avLst>
              <a:gd name="adj" fmla="val 8459"/>
            </a:avLst>
          </a:prstGeom>
          <a:solidFill>
            <a:srgbClr val="FFFFFF"/>
          </a:solidFill>
          <a:ln w="9525">
            <a:solidFill>
              <a:srgbClr val="E2DCCB"/>
            </a:solidFill>
            <a:prstDash val="solid"/>
          </a:ln>
        </p:spPr>
      </p:sp>
      <p:pic>
        <p:nvPicPr>
          <p:cNvPr id="61" name="Image 9" descr="화면">    </p:cNvPr>
          <p:cNvPicPr>
            <a:picLocks noChangeAspect="1"/>
          </p:cNvPicPr>
          <p:nvPr/>
        </p:nvPicPr>
        <p:blipFill>
          <a:blip r:embed="rId10"/>
          <a:stretch>
            <a:fillRect/>
          </a:stretch>
        </p:blipFill>
        <p:spPr>
          <a:xfrm>
            <a:off x="10647607" y="3063240"/>
            <a:ext cx="809897" cy="1133856"/>
          </a:xfrm>
          <a:prstGeom prst="rect">
            <a:avLst/>
          </a:prstGeom>
        </p:spPr>
      </p:pic>
      <p:sp>
        <p:nvSpPr>
          <p:cNvPr id="62" name="Shape 50"/>
          <p:cNvSpPr/>
          <p:nvPr/>
        </p:nvSpPr>
        <p:spPr>
          <a:xfrm>
            <a:off x="8232648" y="4315968"/>
            <a:ext cx="1394650" cy="292608"/>
          </a:xfrm>
          <a:prstGeom prst="roundRect">
            <a:avLst>
              <a:gd name="adj" fmla="val 50000"/>
            </a:avLst>
          </a:prstGeom>
          <a:solidFill>
            <a:srgbClr val="2F7D4F"/>
          </a:solidFill>
          <a:ln/>
        </p:spPr>
      </p:sp>
      <p:sp>
        <p:nvSpPr>
          <p:cNvPr id="63" name="Text 51"/>
          <p:cNvSpPr txBox="1"/>
          <p:nvPr/>
        </p:nvSpPr>
        <p:spPr>
          <a:xfrm>
            <a:off x="8232648" y="4315968"/>
            <a:ext cx="1394650"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3단계  학생이 묻기</a:t>
            </a:r>
            <a:endParaRPr lang="en-US" sz="1250" dirty="0"/>
          </a:p>
        </p:txBody>
      </p:sp>
      <p:sp>
        <p:nvSpPr>
          <p:cNvPr id="64" name="Text 52"/>
          <p:cNvSpPr txBox="1"/>
          <p:nvPr/>
        </p:nvSpPr>
        <p:spPr>
          <a:xfrm>
            <a:off x="8250936" y="4681728"/>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65" name="Text 53"/>
          <p:cNvSpPr txBox="1"/>
          <p:nvPr/>
        </p:nvSpPr>
        <p:spPr>
          <a:xfrm>
            <a:off x="9110472" y="4681728"/>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실수를 알린 뒤에는 무엇을 해야 할까?</a:t>
            </a:r>
            <a:endParaRPr lang="en-US" sz="1200" dirty="0"/>
          </a:p>
        </p:txBody>
      </p:sp>
      <p:sp>
        <p:nvSpPr>
          <p:cNvPr id="66" name="Text 54"/>
          <p:cNvSpPr txBox="1"/>
          <p:nvPr/>
        </p:nvSpPr>
        <p:spPr>
          <a:xfrm>
            <a:off x="8250936" y="5061204"/>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67" name="Text 55"/>
          <p:cNvSpPr txBox="1"/>
          <p:nvPr/>
        </p:nvSpPr>
        <p:spPr>
          <a:xfrm>
            <a:off x="9110472" y="5061204"/>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숨기기와 알리기 비교, 고친 편지와 수습 기록</a:t>
            </a:r>
            <a:endParaRPr lang="en-US" sz="1200" dirty="0"/>
          </a:p>
        </p:txBody>
      </p:sp>
      <p:sp>
        <p:nvSpPr>
          <p:cNvPr id="68" name="Text 56"/>
          <p:cNvSpPr txBox="1"/>
          <p:nvPr/>
        </p:nvSpPr>
        <p:spPr>
          <a:xfrm>
            <a:off x="8250936" y="5440680"/>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69" name="Text 57"/>
          <p:cNvSpPr txBox="1"/>
          <p:nvPr/>
        </p:nvSpPr>
        <p:spPr>
          <a:xfrm>
            <a:off x="9110472" y="5440680"/>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마틸드와 남편에게 같은 질문을 던짐</a:t>
            </a:r>
            <a:endParaRPr lang="en-US" sz="1200" dirty="0"/>
          </a:p>
        </p:txBody>
      </p:sp>
      <p:sp>
        <p:nvSpPr>
          <p:cNvPr id="70" name="Text 58"/>
          <p:cNvSpPr txBox="1"/>
          <p:nvPr/>
        </p:nvSpPr>
        <p:spPr>
          <a:xfrm>
            <a:off x="8250936" y="5820156"/>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71" name="Text 59"/>
          <p:cNvSpPr txBox="1"/>
          <p:nvPr/>
        </p:nvSpPr>
        <p:spPr>
          <a:xfrm>
            <a:off x="9110472" y="5820156"/>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[6국02-02], [6국05-06]</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고민 책방 설계의 선행연구 근거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선행연구 결과를 바탕으로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질문, 책 추천, 교사 검토 기능</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설계했습니다</a:t>
            </a:r>
            <a:endParaRPr lang="en-US" sz="1400" dirty="0"/>
          </a:p>
        </p:txBody>
      </p:sp>
      <p:sp>
        <p:nvSpPr>
          <p:cNvPr id="10" name="Text 7"/>
          <p:cNvSpPr txBox="1"/>
          <p:nvPr/>
        </p:nvSpPr>
        <p:spPr>
          <a:xfrm>
            <a:off x="222384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47133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Xu, Y. 외(2022), Child Development 93(2). Kreijkes, P. 외(2026), Computers &amp; Education 243. 염나리(2025), 우리말글 107. Shrodes, C.(1949), 박사학위논문. Bishop, R. S.(1990), Perspectives 6(3). Webb, N. L.(1997), Research Monograph No. 6.</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17</a:t>
            </a:r>
            <a:endParaRPr lang="en-US" sz="1250" dirty="0"/>
          </a:p>
        </p:txBody>
      </p:sp>
      <p:sp>
        <p:nvSpPr>
          <p:cNvPr id="14" name="Shape 11"/>
          <p:cNvSpPr/>
          <p:nvPr/>
        </p:nvSpPr>
        <p:spPr>
          <a:xfrm>
            <a:off x="502920" y="1920240"/>
            <a:ext cx="6391283" cy="365760"/>
          </a:xfrm>
          <a:prstGeom prst="roundRect">
            <a:avLst>
              <a:gd name="adj" fmla="val 20000"/>
            </a:avLst>
          </a:prstGeom>
          <a:solidFill>
            <a:srgbClr val="2B4637"/>
          </a:solidFill>
          <a:ln/>
        </p:spPr>
      </p:sp>
      <p:sp>
        <p:nvSpPr>
          <p:cNvPr id="15" name="Text 12"/>
          <p:cNvSpPr txBox="1"/>
          <p:nvPr/>
        </p:nvSpPr>
        <p:spPr>
          <a:xfrm>
            <a:off x="685800" y="1920240"/>
            <a:ext cx="6116963" cy="365760"/>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선행연구에서 확인된 것</a:t>
            </a:r>
            <a:endParaRPr lang="en-US" sz="1550" dirty="0"/>
          </a:p>
        </p:txBody>
      </p:sp>
      <p:sp>
        <p:nvSpPr>
          <p:cNvPr id="16" name="Shape 13"/>
          <p:cNvSpPr/>
          <p:nvPr/>
        </p:nvSpPr>
        <p:spPr>
          <a:xfrm>
            <a:off x="7278251" y="1920240"/>
            <a:ext cx="4407781" cy="365760"/>
          </a:xfrm>
          <a:prstGeom prst="roundRect">
            <a:avLst>
              <a:gd name="adj" fmla="val 20000"/>
            </a:avLst>
          </a:prstGeom>
          <a:solidFill>
            <a:srgbClr val="2F7D4F"/>
          </a:solidFill>
          <a:ln/>
        </p:spPr>
      </p:sp>
      <p:sp>
        <p:nvSpPr>
          <p:cNvPr id="17" name="Text 14"/>
          <p:cNvSpPr txBox="1"/>
          <p:nvPr/>
        </p:nvSpPr>
        <p:spPr>
          <a:xfrm>
            <a:off x="7461131" y="1920240"/>
            <a:ext cx="4133461" cy="365760"/>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부기에 반영한 기능</a:t>
            </a:r>
            <a:endParaRPr lang="en-US" sz="1550" dirty="0"/>
          </a:p>
        </p:txBody>
      </p:sp>
      <p:sp>
        <p:nvSpPr>
          <p:cNvPr id="18" name="Shape 15"/>
          <p:cNvSpPr/>
          <p:nvPr/>
        </p:nvSpPr>
        <p:spPr>
          <a:xfrm>
            <a:off x="502920" y="2359152"/>
            <a:ext cx="6391283" cy="618134"/>
          </a:xfrm>
          <a:prstGeom prst="roundRect">
            <a:avLst>
              <a:gd name="adj" fmla="val 10355"/>
            </a:avLst>
          </a:prstGeom>
          <a:solidFill>
            <a:srgbClr val="FBF5E6"/>
          </a:solidFill>
          <a:ln w="9525">
            <a:solidFill>
              <a:srgbClr val="E2DCCB"/>
            </a:solidFill>
            <a:prstDash val="solid"/>
          </a:ln>
        </p:spPr>
      </p:sp>
      <p:sp>
        <p:nvSpPr>
          <p:cNvPr id="19" name="Text 16"/>
          <p:cNvSpPr txBox="1"/>
          <p:nvPr/>
        </p:nvSpPr>
        <p:spPr>
          <a:xfrm>
            <a:off x="649224" y="2359152"/>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Xu 외(2022)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3~6세 117명 무작위 실험. 열린 질문 9개를 넣은 대화형 읽기가 이해를 높였고(β = 0.51),</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대화형 에이전트와 사람 사이 차이는 유의하지 않음</a:t>
            </a:r>
            <a:endParaRPr lang="en-US" sz="1250" dirty="0"/>
          </a:p>
        </p:txBody>
      </p:sp>
      <p:sp>
        <p:nvSpPr>
          <p:cNvPr id="20" name="Shape 17"/>
          <p:cNvSpPr/>
          <p:nvPr/>
        </p:nvSpPr>
        <p:spPr>
          <a:xfrm>
            <a:off x="7003931" y="2558491"/>
            <a:ext cx="146304" cy="219456"/>
          </a:xfrm>
          <a:prstGeom prst="chevron">
            <a:avLst/>
          </a:prstGeom>
          <a:solidFill>
            <a:srgbClr val="C08A1E"/>
          </a:solidFill>
          <a:ln/>
        </p:spPr>
      </p:sp>
      <p:sp>
        <p:nvSpPr>
          <p:cNvPr id="21" name="Shape 18"/>
          <p:cNvSpPr/>
          <p:nvPr/>
        </p:nvSpPr>
        <p:spPr>
          <a:xfrm>
            <a:off x="7278251" y="2359152"/>
            <a:ext cx="4407781" cy="618134"/>
          </a:xfrm>
          <a:prstGeom prst="roundRect">
            <a:avLst>
              <a:gd name="adj" fmla="val 10355"/>
            </a:avLst>
          </a:prstGeom>
          <a:solidFill>
            <a:srgbClr val="E6F0E7"/>
          </a:solidFill>
          <a:ln w="9525">
            <a:solidFill>
              <a:srgbClr val="D3E6D6"/>
            </a:solidFill>
            <a:prstDash val="solid"/>
          </a:ln>
        </p:spPr>
      </p:sp>
      <p:sp>
        <p:nvSpPr>
          <p:cNvPr id="22" name="Text 19"/>
          <p:cNvSpPr txBox="1"/>
          <p:nvPr/>
        </p:nvSpPr>
        <p:spPr>
          <a:xfrm>
            <a:off x="7424555" y="2359152"/>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장면을 읽은 뒤 책 속 인물이 묻고, 학생은 책에서 찾은 문장으로 답함</a:t>
            </a:r>
            <a:endParaRPr lang="en-US" sz="1250" dirty="0"/>
          </a:p>
        </p:txBody>
      </p:sp>
      <p:sp>
        <p:nvSpPr>
          <p:cNvPr id="23" name="Shape 20"/>
          <p:cNvSpPr/>
          <p:nvPr/>
        </p:nvSpPr>
        <p:spPr>
          <a:xfrm>
            <a:off x="502920" y="3032150"/>
            <a:ext cx="6391283" cy="618134"/>
          </a:xfrm>
          <a:prstGeom prst="roundRect">
            <a:avLst>
              <a:gd name="adj" fmla="val 10355"/>
            </a:avLst>
          </a:prstGeom>
          <a:solidFill>
            <a:srgbClr val="FFFFFF"/>
          </a:solidFill>
          <a:ln w="9525">
            <a:solidFill>
              <a:srgbClr val="E2DCCB"/>
            </a:solidFill>
            <a:prstDash val="solid"/>
          </a:ln>
        </p:spPr>
      </p:sp>
      <p:sp>
        <p:nvSpPr>
          <p:cNvPr id="24" name="Text 21"/>
          <p:cNvSpPr txBox="1"/>
          <p:nvPr/>
        </p:nvSpPr>
        <p:spPr>
          <a:xfrm>
            <a:off x="649224" y="3032150"/>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Kreijkes 외(2026)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14~15세 344명. 3일 뒤 이해 점수(12점 만점)는 LLM만 쓴 조건 4.00점,</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필기 조건 4.89점이었고, 병행 조건의 25.63%가 LLM 답을 그대로 옮겨 적음</a:t>
            </a:r>
            <a:endParaRPr lang="en-US" sz="1250" dirty="0"/>
          </a:p>
        </p:txBody>
      </p:sp>
      <p:sp>
        <p:nvSpPr>
          <p:cNvPr id="25" name="Shape 22"/>
          <p:cNvSpPr/>
          <p:nvPr/>
        </p:nvSpPr>
        <p:spPr>
          <a:xfrm>
            <a:off x="7003931" y="3231490"/>
            <a:ext cx="146304" cy="219456"/>
          </a:xfrm>
          <a:prstGeom prst="chevron">
            <a:avLst/>
          </a:prstGeom>
          <a:solidFill>
            <a:srgbClr val="C08A1E"/>
          </a:solidFill>
          <a:ln/>
        </p:spPr>
      </p:sp>
      <p:sp>
        <p:nvSpPr>
          <p:cNvPr id="26" name="Shape 23"/>
          <p:cNvSpPr/>
          <p:nvPr/>
        </p:nvSpPr>
        <p:spPr>
          <a:xfrm>
            <a:off x="7278251" y="3032150"/>
            <a:ext cx="4407781" cy="618134"/>
          </a:xfrm>
          <a:prstGeom prst="roundRect">
            <a:avLst>
              <a:gd name="adj" fmla="val 10355"/>
            </a:avLst>
          </a:prstGeom>
          <a:solidFill>
            <a:srgbClr val="FFFFFF"/>
          </a:solidFill>
          <a:ln w="9525">
            <a:solidFill>
              <a:srgbClr val="D3E6D6"/>
            </a:solidFill>
            <a:prstDash val="solid"/>
          </a:ln>
        </p:spPr>
      </p:sp>
      <p:sp>
        <p:nvSpPr>
          <p:cNvPr id="27" name="Text 24"/>
          <p:cNvSpPr txBox="1"/>
          <p:nvPr/>
        </p:nvSpPr>
        <p:spPr>
          <a:xfrm>
            <a:off x="7424555" y="3032150"/>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질문으로만 돕고 글을 대신 쓰지 않음. 학생은</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답마다 받아들일지 고르고 까닭을 씀(AI 말 가려 듣기)</a:t>
            </a:r>
            <a:endParaRPr lang="en-US" sz="1250" dirty="0"/>
          </a:p>
        </p:txBody>
      </p:sp>
      <p:sp>
        <p:nvSpPr>
          <p:cNvPr id="28" name="Shape 25"/>
          <p:cNvSpPr/>
          <p:nvPr/>
        </p:nvSpPr>
        <p:spPr>
          <a:xfrm>
            <a:off x="502920" y="3705149"/>
            <a:ext cx="6391283" cy="618134"/>
          </a:xfrm>
          <a:prstGeom prst="roundRect">
            <a:avLst>
              <a:gd name="adj" fmla="val 10355"/>
            </a:avLst>
          </a:prstGeom>
          <a:solidFill>
            <a:srgbClr val="FBF5E6"/>
          </a:solidFill>
          <a:ln w="9525">
            <a:solidFill>
              <a:srgbClr val="E2DCCB"/>
            </a:solidFill>
            <a:prstDash val="solid"/>
          </a:ln>
        </p:spPr>
      </p:sp>
      <p:sp>
        <p:nvSpPr>
          <p:cNvPr id="29" name="Text 26"/>
          <p:cNvSpPr txBox="1"/>
          <p:nvPr/>
        </p:nvSpPr>
        <p:spPr>
          <a:xfrm>
            <a:off x="649224" y="3705149"/>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염나리(2025)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초등 6학년 20명, 인물 역할 생성형 AI와 핫시팅. 교사가 AI 발화를 수업 목표에 맞게</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다시 조정할 때 공감, 탐색, 검증, 성찰로 이어짐</a:t>
            </a:r>
            <a:endParaRPr lang="en-US" sz="1250" dirty="0"/>
          </a:p>
        </p:txBody>
      </p:sp>
      <p:sp>
        <p:nvSpPr>
          <p:cNvPr id="30" name="Shape 27"/>
          <p:cNvSpPr/>
          <p:nvPr/>
        </p:nvSpPr>
        <p:spPr>
          <a:xfrm>
            <a:off x="7003931" y="3904488"/>
            <a:ext cx="146304" cy="219456"/>
          </a:xfrm>
          <a:prstGeom prst="chevron">
            <a:avLst/>
          </a:prstGeom>
          <a:solidFill>
            <a:srgbClr val="C08A1E"/>
          </a:solidFill>
          <a:ln/>
        </p:spPr>
      </p:sp>
      <p:sp>
        <p:nvSpPr>
          <p:cNvPr id="31" name="Shape 28"/>
          <p:cNvSpPr/>
          <p:nvPr/>
        </p:nvSpPr>
        <p:spPr>
          <a:xfrm>
            <a:off x="7278251" y="3705149"/>
            <a:ext cx="4407781" cy="618134"/>
          </a:xfrm>
          <a:prstGeom prst="roundRect">
            <a:avLst>
              <a:gd name="adj" fmla="val 10355"/>
            </a:avLst>
          </a:prstGeom>
          <a:solidFill>
            <a:srgbClr val="E6F0E7"/>
          </a:solidFill>
          <a:ln w="9525">
            <a:solidFill>
              <a:srgbClr val="D3E6D6"/>
            </a:solidFill>
            <a:prstDash val="solid"/>
          </a:ln>
        </p:spPr>
      </p:sp>
      <p:sp>
        <p:nvSpPr>
          <p:cNvPr id="32" name="Text 29"/>
          <p:cNvSpPr txBox="1"/>
          <p:nvPr/>
        </p:nvSpPr>
        <p:spPr>
          <a:xfrm>
            <a:off x="7424555" y="3705149"/>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수업 설계 도우미의 초안을 교사가 고치고(판 번호, 바뀐 줄),</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돌아보기에서 학생 답을 묶어 봄</a:t>
            </a:r>
            <a:endParaRPr lang="en-US" sz="1250" dirty="0"/>
          </a:p>
        </p:txBody>
      </p:sp>
      <p:sp>
        <p:nvSpPr>
          <p:cNvPr id="33" name="Shape 30"/>
          <p:cNvSpPr/>
          <p:nvPr/>
        </p:nvSpPr>
        <p:spPr>
          <a:xfrm>
            <a:off x="502920" y="4378147"/>
            <a:ext cx="6391283" cy="618134"/>
          </a:xfrm>
          <a:prstGeom prst="roundRect">
            <a:avLst>
              <a:gd name="adj" fmla="val 10355"/>
            </a:avLst>
          </a:prstGeom>
          <a:solidFill>
            <a:srgbClr val="FFFFFF"/>
          </a:solidFill>
          <a:ln w="9525">
            <a:solidFill>
              <a:srgbClr val="E2DCCB"/>
            </a:solidFill>
            <a:prstDash val="solid"/>
          </a:ln>
        </p:spPr>
      </p:sp>
      <p:sp>
        <p:nvSpPr>
          <p:cNvPr id="34" name="Text 31"/>
          <p:cNvSpPr txBox="1"/>
          <p:nvPr/>
        </p:nvSpPr>
        <p:spPr>
          <a:xfrm>
            <a:off x="649224" y="4378147"/>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Shrodes(1949), Bishop(1990)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독자는 인물에게서 자기 감정을 알아보고 통찰을 얻음(Shrodes).</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책은 자기 삶을 비추거나 다른 삶을 보여 주는 역할을 함(Bishop)</a:t>
            </a:r>
            <a:endParaRPr lang="en-US" sz="1250" dirty="0"/>
          </a:p>
        </p:txBody>
      </p:sp>
      <p:sp>
        <p:nvSpPr>
          <p:cNvPr id="35" name="Shape 32"/>
          <p:cNvSpPr/>
          <p:nvPr/>
        </p:nvSpPr>
        <p:spPr>
          <a:xfrm>
            <a:off x="7003931" y="4577486"/>
            <a:ext cx="146304" cy="219456"/>
          </a:xfrm>
          <a:prstGeom prst="chevron">
            <a:avLst/>
          </a:prstGeom>
          <a:solidFill>
            <a:srgbClr val="C08A1E"/>
          </a:solidFill>
          <a:ln/>
        </p:spPr>
      </p:sp>
      <p:sp>
        <p:nvSpPr>
          <p:cNvPr id="36" name="Shape 33"/>
          <p:cNvSpPr/>
          <p:nvPr/>
        </p:nvSpPr>
        <p:spPr>
          <a:xfrm>
            <a:off x="7278251" y="4378147"/>
            <a:ext cx="4407781" cy="618134"/>
          </a:xfrm>
          <a:prstGeom prst="roundRect">
            <a:avLst>
              <a:gd name="adj" fmla="val 10355"/>
            </a:avLst>
          </a:prstGeom>
          <a:solidFill>
            <a:srgbClr val="FFFFFF"/>
          </a:solidFill>
          <a:ln w="9525">
            <a:solidFill>
              <a:srgbClr val="D3E6D6"/>
            </a:solidFill>
            <a:prstDash val="solid"/>
          </a:ln>
        </p:spPr>
      </p:sp>
      <p:sp>
        <p:nvSpPr>
          <p:cNvPr id="37" name="Text 34"/>
          <p:cNvSpPr txBox="1"/>
          <p:nvPr/>
        </p:nvSpPr>
        <p:spPr>
          <a:xfrm>
            <a:off x="7424555" y="4378147"/>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학급 고민에 맞춰 비춰 보는 책, 닮은 인물을</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만나는 책, 더 넓게 보는 책을 추천</a:t>
            </a:r>
            <a:endParaRPr lang="en-US" sz="1250" dirty="0"/>
          </a:p>
        </p:txBody>
      </p:sp>
      <p:sp>
        <p:nvSpPr>
          <p:cNvPr id="38" name="Shape 35"/>
          <p:cNvSpPr/>
          <p:nvPr/>
        </p:nvSpPr>
        <p:spPr>
          <a:xfrm>
            <a:off x="502920" y="5051146"/>
            <a:ext cx="6391283" cy="618134"/>
          </a:xfrm>
          <a:prstGeom prst="roundRect">
            <a:avLst>
              <a:gd name="adj" fmla="val 10355"/>
            </a:avLst>
          </a:prstGeom>
          <a:solidFill>
            <a:srgbClr val="FBF5E6"/>
          </a:solidFill>
          <a:ln w="9525">
            <a:solidFill>
              <a:srgbClr val="E2DCCB"/>
            </a:solidFill>
            <a:prstDash val="solid"/>
          </a:ln>
        </p:spPr>
      </p:sp>
      <p:sp>
        <p:nvSpPr>
          <p:cNvPr id="39" name="Text 36"/>
          <p:cNvSpPr txBox="1"/>
          <p:nvPr/>
        </p:nvSpPr>
        <p:spPr>
          <a:xfrm>
            <a:off x="649224" y="5051146"/>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Webb(1997)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과제가 요구하는 사고를 네 수준(DOK)으로 나누어 성취기준과 과제의 깊이를 맞춤</a:t>
            </a:r>
            <a:endParaRPr lang="en-US" sz="1250" dirty="0"/>
          </a:p>
        </p:txBody>
      </p:sp>
      <p:sp>
        <p:nvSpPr>
          <p:cNvPr id="40" name="Shape 37"/>
          <p:cNvSpPr/>
          <p:nvPr/>
        </p:nvSpPr>
        <p:spPr>
          <a:xfrm>
            <a:off x="7003931" y="5250485"/>
            <a:ext cx="146304" cy="219456"/>
          </a:xfrm>
          <a:prstGeom prst="chevron">
            <a:avLst/>
          </a:prstGeom>
          <a:solidFill>
            <a:srgbClr val="C08A1E"/>
          </a:solidFill>
          <a:ln/>
        </p:spPr>
      </p:sp>
      <p:sp>
        <p:nvSpPr>
          <p:cNvPr id="41" name="Shape 38"/>
          <p:cNvSpPr/>
          <p:nvPr/>
        </p:nvSpPr>
        <p:spPr>
          <a:xfrm>
            <a:off x="7278251" y="5051146"/>
            <a:ext cx="4407781" cy="618134"/>
          </a:xfrm>
          <a:prstGeom prst="roundRect">
            <a:avLst>
              <a:gd name="adj" fmla="val 10355"/>
            </a:avLst>
          </a:prstGeom>
          <a:solidFill>
            <a:srgbClr val="E6F0E7"/>
          </a:solidFill>
          <a:ln w="9525">
            <a:solidFill>
              <a:srgbClr val="D3E6D6"/>
            </a:solidFill>
            <a:prstDash val="solid"/>
          </a:ln>
        </p:spPr>
      </p:sp>
      <p:sp>
        <p:nvSpPr>
          <p:cNvPr id="42" name="Text 39"/>
          <p:cNvSpPr txBox="1"/>
          <p:nvPr/>
        </p:nvSpPr>
        <p:spPr>
          <a:xfrm>
            <a:off x="7424555" y="5051146"/>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학년별 설계안에 성취기준을 적고, 인물 대화 방식을</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학년에 따라 나눔(인물이 먼저 묻기, 주고받기, 학생이 묻기)</a:t>
            </a:r>
            <a:endParaRPr lang="en-US" sz="1250" dirty="0"/>
          </a:p>
        </p:txBody>
      </p:sp>
      <p:sp>
        <p:nvSpPr>
          <p:cNvPr id="43" name="Shape 40"/>
          <p:cNvSpPr/>
          <p:nvPr/>
        </p:nvSpPr>
        <p:spPr>
          <a:xfrm>
            <a:off x="502920" y="5742432"/>
            <a:ext cx="11183112" cy="530352"/>
          </a:xfrm>
          <a:prstGeom prst="roundRect">
            <a:avLst>
              <a:gd name="adj" fmla="val 13793"/>
            </a:avLst>
          </a:prstGeom>
          <a:solidFill>
            <a:srgbClr val="20342A"/>
          </a:solidFill>
          <a:ln/>
        </p:spPr>
      </p:sp>
      <p:pic>
        <p:nvPicPr>
          <p:cNvPr id="44" name="Image 1" descr="microscope">    </p:cNvPr>
          <p:cNvPicPr>
            <a:picLocks noChangeAspect="1"/>
          </p:cNvPicPr>
          <p:nvPr/>
        </p:nvPicPr>
        <p:blipFill>
          <a:blip r:embed="rId2"/>
          <a:stretch>
            <a:fillRect/>
          </a:stretch>
        </p:blipFill>
        <p:spPr>
          <a:xfrm>
            <a:off x="685800" y="5861304"/>
            <a:ext cx="292608" cy="292608"/>
          </a:xfrm>
          <a:prstGeom prst="rect">
            <a:avLst/>
          </a:prstGeom>
        </p:spPr>
      </p:pic>
      <p:sp>
        <p:nvSpPr>
          <p:cNvPr id="45" name="Text 41"/>
          <p:cNvSpPr txBox="1"/>
          <p:nvPr/>
        </p:nvSpPr>
        <p:spPr>
          <a:xfrm>
            <a:off x="1106424" y="5742432"/>
            <a:ext cx="10396728" cy="530352"/>
          </a:xfrm>
          <a:prstGeom prst="rect">
            <a:avLst/>
          </a:prstGeom>
          <a:noFill/>
          <a:ln/>
        </p:spPr>
        <p:txBody>
          <a:bodyPr wrap="square" lIns="0" tIns="0" rIns="0" bIns="0" rtlCol="0" anchor="ct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이 기능들의 효과는 </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선도교사단 운영과 교육 효과 연구 용역(안)</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에서 측정합니다.</a:t>
            </a:r>
            <a:endParaRPr lang="en-US" sz="1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우리 반 독서 역량 현황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반 평균 역량과 진단 수준 변화를 한 화면에서 보고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학생마다 다르게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지도합니다</a:t>
            </a:r>
            <a:endParaRPr lang="en-US" sz="1400" dirty="0"/>
          </a:p>
        </p:txBody>
      </p:sp>
      <p:sp>
        <p:nvSpPr>
          <p:cNvPr id="10" name="Text 7"/>
          <p:cNvSpPr txBox="1"/>
          <p:nvPr/>
        </p:nvSpPr>
        <p:spPr>
          <a:xfrm>
            <a:off x="197495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2022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진단 그래프 2개는 「부기 제안서 데이터」의 3학년 학급(26명) 기준. 진단 수준은 어휘력 진단 결과의 「한 걸음 더」, 「내 학년 그대로」, 「천천히 다지기」 3단계. 학교 평균은 이름 없는 합계로만 보임.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18</a:t>
            </a:r>
            <a:endParaRPr lang="en-US" sz="1250" dirty="0"/>
          </a:p>
        </p:txBody>
      </p:sp>
      <p:sp>
        <p:nvSpPr>
          <p:cNvPr id="14" name="Shape 11"/>
          <p:cNvSpPr/>
          <p:nvPr/>
        </p:nvSpPr>
        <p:spPr>
          <a:xfrm>
            <a:off x="502920" y="1920240"/>
            <a:ext cx="3821904" cy="3547872"/>
          </a:xfrm>
          <a:prstGeom prst="roundRect">
            <a:avLst>
              <a:gd name="adj" fmla="val 2577"/>
            </a:avLst>
          </a:prstGeom>
          <a:solidFill>
            <a:srgbClr val="FBF5E6"/>
          </a:solidFill>
          <a:ln w="9525">
            <a:solidFill>
              <a:srgbClr val="E2DCCB"/>
            </a:solidFill>
            <a:prstDash val="solid"/>
          </a:ln>
        </p:spPr>
      </p:sp>
      <p:sp>
        <p:nvSpPr>
          <p:cNvPr id="15" name="Text 12"/>
          <p:cNvSpPr txBox="1"/>
          <p:nvPr/>
        </p:nvSpPr>
        <p:spPr>
          <a:xfrm>
            <a:off x="685800" y="2011680"/>
            <a:ext cx="345614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6각 독서 역량</a:t>
            </a:r>
            <a:endParaRPr lang="en-US" sz="1650" dirty="0"/>
          </a:p>
        </p:txBody>
      </p:sp>
      <p:sp>
        <p:nvSpPr>
          <p:cNvPr id="16" name="Text 13"/>
          <p:cNvSpPr txBox="1"/>
          <p:nvPr/>
        </p:nvSpPr>
        <p:spPr>
          <a:xfrm>
            <a:off x="685800" y="2322576"/>
            <a:ext cx="345614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우리 반 평균과 학교 평균</a:t>
            </a:r>
            <a:endParaRPr lang="en-US" sz="1250" dirty="0"/>
          </a:p>
        </p:txBody>
      </p:sp>
      <p:graphicFrame>
        <p:nvGraphicFramePr>
          <p:cNvPr id="17" name="Chart 0" descr=""/>
          <p:cNvGraphicFramePr/>
          <p:nvPr/>
        </p:nvGraphicFramePr>
        <p:xfrm>
          <a:off x="548640" y="2542032"/>
          <a:ext cx="3730464" cy="2871216"/>
        </p:xfrm>
        <a:graphic xmlns:a="http://schemas.openxmlformats.org/drawingml/2006/main">
          <a:graphicData uri="http://schemas.openxmlformats.org/drawingml/2006/chart">
            <c:chart xmlns:c="http://schemas.openxmlformats.org/drawingml/2006/chart" r:id="rId2"/>
          </a:graphicData>
        </a:graphic>
      </p:graphicFrame>
      <p:sp>
        <p:nvSpPr>
          <p:cNvPr id="18" name="Shape 14"/>
          <p:cNvSpPr/>
          <p:nvPr/>
        </p:nvSpPr>
        <p:spPr>
          <a:xfrm>
            <a:off x="4507704" y="1920240"/>
            <a:ext cx="3412414" cy="3547872"/>
          </a:xfrm>
          <a:prstGeom prst="roundRect">
            <a:avLst>
              <a:gd name="adj" fmla="val 2680"/>
            </a:avLst>
          </a:prstGeom>
          <a:solidFill>
            <a:srgbClr val="FFFFFF"/>
          </a:solidFill>
          <a:ln w="9525">
            <a:solidFill>
              <a:srgbClr val="E2DCCB"/>
            </a:solidFill>
            <a:prstDash val="solid"/>
          </a:ln>
        </p:spPr>
      </p:sp>
      <p:sp>
        <p:nvSpPr>
          <p:cNvPr id="19" name="Text 15"/>
          <p:cNvSpPr txBox="1"/>
          <p:nvPr/>
        </p:nvSpPr>
        <p:spPr>
          <a:xfrm>
            <a:off x="4690584" y="2011680"/>
            <a:ext cx="304665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어휘력 진단 수준 분포</a:t>
            </a:r>
            <a:endParaRPr lang="en-US" sz="1650" dirty="0"/>
          </a:p>
        </p:txBody>
      </p:sp>
      <p:sp>
        <p:nvSpPr>
          <p:cNvPr id="20" name="Text 16"/>
          <p:cNvSpPr txBox="1"/>
          <p:nvPr/>
        </p:nvSpPr>
        <p:spPr>
          <a:xfrm>
            <a:off x="4690584" y="2322576"/>
            <a:ext cx="304665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진단 날짜별, 단위: 명</a:t>
            </a:r>
            <a:endParaRPr lang="en-US" sz="1250" dirty="0"/>
          </a:p>
        </p:txBody>
      </p:sp>
      <p:graphicFrame>
        <p:nvGraphicFramePr>
          <p:cNvPr id="21" name="Chart 1" descr=""/>
          <p:cNvGraphicFramePr/>
          <p:nvPr/>
        </p:nvGraphicFramePr>
        <p:xfrm>
          <a:off x="4553424" y="2560320"/>
          <a:ext cx="3320974" cy="2852928"/>
        </p:xfrm>
        <a:graphic xmlns:a="http://schemas.openxmlformats.org/drawingml/2006/main">
          <a:graphicData uri="http://schemas.openxmlformats.org/drawingml/2006/chart">
            <c:chart xmlns:c="http://schemas.openxmlformats.org/drawingml/2006/chart" r:id="rId3"/>
          </a:graphicData>
        </a:graphic>
      </p:graphicFrame>
      <p:sp>
        <p:nvSpPr>
          <p:cNvPr id="22" name="Shape 17"/>
          <p:cNvSpPr/>
          <p:nvPr/>
        </p:nvSpPr>
        <p:spPr>
          <a:xfrm>
            <a:off x="8102997" y="1920240"/>
            <a:ext cx="3583035" cy="3547872"/>
          </a:xfrm>
          <a:prstGeom prst="roundRect">
            <a:avLst>
              <a:gd name="adj" fmla="val 2577"/>
            </a:avLst>
          </a:prstGeom>
          <a:solidFill>
            <a:srgbClr val="FFFFFF"/>
          </a:solidFill>
          <a:ln w="9525">
            <a:solidFill>
              <a:srgbClr val="E2DCCB"/>
            </a:solidFill>
            <a:prstDash val="solid"/>
          </a:ln>
        </p:spPr>
      </p:sp>
      <p:sp>
        <p:nvSpPr>
          <p:cNvPr id="23" name="Text 18"/>
          <p:cNvSpPr txBox="1"/>
          <p:nvPr/>
        </p:nvSpPr>
        <p:spPr>
          <a:xfrm>
            <a:off x="8285877" y="2011680"/>
            <a:ext cx="3217275"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어휘력 진단 반 평균</a:t>
            </a:r>
            <a:endParaRPr lang="en-US" sz="1650" dirty="0"/>
          </a:p>
        </p:txBody>
      </p:sp>
      <p:sp>
        <p:nvSpPr>
          <p:cNvPr id="24" name="Text 19"/>
          <p:cNvSpPr txBox="1"/>
          <p:nvPr/>
        </p:nvSpPr>
        <p:spPr>
          <a:xfrm>
            <a:off x="8285877" y="2322576"/>
            <a:ext cx="3217275"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진단 날짜별, 단위: %</a:t>
            </a:r>
            <a:endParaRPr lang="en-US" sz="1250" dirty="0"/>
          </a:p>
        </p:txBody>
      </p:sp>
      <p:graphicFrame>
        <p:nvGraphicFramePr>
          <p:cNvPr id="25" name="Chart 2" descr=""/>
          <p:cNvGraphicFramePr/>
          <p:nvPr/>
        </p:nvGraphicFramePr>
        <p:xfrm>
          <a:off x="8148717" y="2560320"/>
          <a:ext cx="3491595" cy="2852928"/>
        </p:xfrm>
        <a:graphic xmlns:a="http://schemas.openxmlformats.org/drawingml/2006/main">
          <a:graphicData uri="http://schemas.openxmlformats.org/drawingml/2006/chart">
            <c:chart xmlns:c="http://schemas.openxmlformats.org/drawingml/2006/chart" r:id="rId4"/>
          </a:graphicData>
        </a:graphic>
      </p:graphicFrame>
      <p:sp>
        <p:nvSpPr>
          <p:cNvPr id="26" name="Shape 20"/>
          <p:cNvSpPr/>
          <p:nvPr/>
        </p:nvSpPr>
        <p:spPr>
          <a:xfrm>
            <a:off x="502920" y="5614416"/>
            <a:ext cx="11183112" cy="658368"/>
          </a:xfrm>
          <a:prstGeom prst="roundRect">
            <a:avLst>
              <a:gd name="adj" fmla="val 13889"/>
            </a:avLst>
          </a:prstGeom>
          <a:solidFill>
            <a:srgbClr val="20342A"/>
          </a:solidFill>
          <a:ln/>
        </p:spPr>
      </p:sp>
      <p:sp>
        <p:nvSpPr>
          <p:cNvPr id="27" name="Text 21"/>
          <p:cNvSpPr txBox="1"/>
          <p:nvPr/>
        </p:nvSpPr>
        <p:spPr>
          <a:xfrm>
            <a:off x="731520" y="5614416"/>
            <a:ext cx="2103120" cy="658368"/>
          </a:xfrm>
          <a:prstGeom prst="rect">
            <a:avLst/>
          </a:prstGeom>
          <a:noFill/>
          <a:ln/>
        </p:spPr>
        <p:txBody>
          <a:bodyPr wrap="square" lIns="0" tIns="0" rIns="0" bIns="0" rtlCol="0" anchor="ct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이번 주 살펴볼 학생</a:t>
            </a:r>
            <a:endParaRPr lang="en-US" sz="1550" dirty="0"/>
          </a:p>
        </p:txBody>
      </p:sp>
      <p:sp>
        <p:nvSpPr>
          <p:cNvPr id="28" name="Shape 22"/>
          <p:cNvSpPr/>
          <p:nvPr/>
        </p:nvSpPr>
        <p:spPr>
          <a:xfrm>
            <a:off x="2788920" y="5715000"/>
            <a:ext cx="2082546" cy="457200"/>
          </a:xfrm>
          <a:prstGeom prst="roundRect">
            <a:avLst>
              <a:gd name="adj" fmla="val 24000"/>
            </a:avLst>
          </a:prstGeom>
          <a:solidFill>
            <a:srgbClr val="2E4636"/>
          </a:solidFill>
          <a:ln/>
        </p:spPr>
      </p:sp>
      <p:sp>
        <p:nvSpPr>
          <p:cNvPr id="29" name="Text 23"/>
          <p:cNvSpPr txBox="1"/>
          <p:nvPr/>
        </p:nvSpPr>
        <p:spPr>
          <a:xfrm>
            <a:off x="2843784"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한 주 넘게 멈춘 학생 3명</a:t>
            </a:r>
            <a:endParaRPr lang="en-US" sz="1400" dirty="0"/>
          </a:p>
        </p:txBody>
      </p:sp>
      <p:sp>
        <p:nvSpPr>
          <p:cNvPr id="30" name="Shape 24"/>
          <p:cNvSpPr/>
          <p:nvPr/>
        </p:nvSpPr>
        <p:spPr>
          <a:xfrm>
            <a:off x="4999482" y="5715000"/>
            <a:ext cx="2082546" cy="457200"/>
          </a:xfrm>
          <a:prstGeom prst="roundRect">
            <a:avLst>
              <a:gd name="adj" fmla="val 24000"/>
            </a:avLst>
          </a:prstGeom>
          <a:solidFill>
            <a:srgbClr val="2E4636"/>
          </a:solidFill>
          <a:ln/>
        </p:spPr>
      </p:sp>
      <p:sp>
        <p:nvSpPr>
          <p:cNvPr id="31" name="Text 25"/>
          <p:cNvSpPr txBox="1"/>
          <p:nvPr/>
        </p:nvSpPr>
        <p:spPr>
          <a:xfrm>
            <a:off x="5054346"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「천천히 다지기」 1명</a:t>
            </a:r>
            <a:endParaRPr lang="en-US" sz="1400" dirty="0"/>
          </a:p>
        </p:txBody>
      </p:sp>
      <p:sp>
        <p:nvSpPr>
          <p:cNvPr id="32" name="Shape 26"/>
          <p:cNvSpPr/>
          <p:nvPr/>
        </p:nvSpPr>
        <p:spPr>
          <a:xfrm>
            <a:off x="7210044" y="5715000"/>
            <a:ext cx="2082546" cy="457200"/>
          </a:xfrm>
          <a:prstGeom prst="roundRect">
            <a:avLst>
              <a:gd name="adj" fmla="val 24000"/>
            </a:avLst>
          </a:prstGeom>
          <a:solidFill>
            <a:srgbClr val="2E4636"/>
          </a:solidFill>
          <a:ln/>
        </p:spPr>
      </p:sp>
      <p:sp>
        <p:nvSpPr>
          <p:cNvPr id="33" name="Text 27"/>
          <p:cNvSpPr txBox="1"/>
          <p:nvPr/>
        </p:nvSpPr>
        <p:spPr>
          <a:xfrm>
            <a:off x="7264908"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활동을 안 낸 학생 2명</a:t>
            </a:r>
            <a:endParaRPr lang="en-US" sz="1400" dirty="0"/>
          </a:p>
        </p:txBody>
      </p:sp>
      <p:sp>
        <p:nvSpPr>
          <p:cNvPr id="34" name="Shape 28"/>
          <p:cNvSpPr/>
          <p:nvPr/>
        </p:nvSpPr>
        <p:spPr>
          <a:xfrm>
            <a:off x="9420606" y="5715000"/>
            <a:ext cx="2082546" cy="457200"/>
          </a:xfrm>
          <a:prstGeom prst="roundRect">
            <a:avLst>
              <a:gd name="adj" fmla="val 24000"/>
            </a:avLst>
          </a:prstGeom>
          <a:solidFill>
            <a:srgbClr val="2E4636"/>
          </a:solidFill>
          <a:ln/>
        </p:spPr>
      </p:sp>
      <p:sp>
        <p:nvSpPr>
          <p:cNvPr id="35" name="Text 29"/>
          <p:cNvSpPr txBox="1"/>
          <p:nvPr/>
        </p:nvSpPr>
        <p:spPr>
          <a:xfrm>
            <a:off x="9475470"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「한 걸음 더」로 오른 학생 6명</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학교와 교육청 성과 관리</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학교별 완독과 어휘력 변화를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월간, 분기, 종료 3회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숫자로 보고합니다</a:t>
            </a:r>
            <a:endParaRPr lang="en-US" sz="1400" dirty="0"/>
          </a:p>
        </p:txBody>
      </p:sp>
      <p:sp>
        <p:nvSpPr>
          <p:cNvPr id="10" name="Text 7"/>
          <p:cNvSpPr txBox="1"/>
          <p:nvPr/>
        </p:nvSpPr>
        <p:spPr>
          <a:xfrm>
            <a:off x="235714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33803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정책 사업: 교육부 「학교 독서교육 활성화 방안」(2026. 7. 2.)의 책 읽는 학교 문화, 독서교육 집중 학년(초3~4), 독서 연계 교과수업.</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19</a:t>
            </a:r>
            <a:endParaRPr lang="en-US" sz="1250" dirty="0"/>
          </a:p>
        </p:txBody>
      </p:sp>
      <p:sp>
        <p:nvSpPr>
          <p:cNvPr id="14" name="Shape 11"/>
          <p:cNvSpPr/>
          <p:nvPr/>
        </p:nvSpPr>
        <p:spPr>
          <a:xfrm>
            <a:off x="502920" y="1920240"/>
            <a:ext cx="2658618" cy="4352544"/>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594360" y="2011680"/>
            <a:ext cx="2475738" cy="1624037"/>
          </a:xfrm>
          <a:prstGeom prst="roundRect">
            <a:avLst>
              <a:gd name="adj" fmla="val 4504"/>
            </a:avLst>
          </a:prstGeom>
          <a:solidFill>
            <a:srgbClr val="FFFFFF"/>
          </a:solidFill>
          <a:ln w="9525">
            <a:solidFill>
              <a:srgbClr val="E2DCCB"/>
            </a:solidFill>
            <a:prstDash val="solid"/>
          </a:ln>
        </p:spPr>
      </p:sp>
      <p:pic>
        <p:nvPicPr>
          <p:cNvPr id="16" name="Image 1" descr="화면">    </p:cNvPr>
          <p:cNvPicPr>
            <a:picLocks noChangeAspect="1"/>
          </p:cNvPicPr>
          <p:nvPr/>
        </p:nvPicPr>
        <p:blipFill>
          <a:blip r:embed="rId2"/>
          <a:stretch>
            <a:fillRect/>
          </a:stretch>
        </p:blipFill>
        <p:spPr>
          <a:xfrm>
            <a:off x="658368" y="2075688"/>
            <a:ext cx="2347722" cy="1496021"/>
          </a:xfrm>
          <a:prstGeom prst="rect">
            <a:avLst/>
          </a:prstGeom>
        </p:spPr>
      </p:pic>
      <p:sp>
        <p:nvSpPr>
          <p:cNvPr id="17" name="Shape 13"/>
          <p:cNvSpPr/>
          <p:nvPr/>
        </p:nvSpPr>
        <p:spPr>
          <a:xfrm>
            <a:off x="649224" y="3538728"/>
            <a:ext cx="1269619"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18" name="Text 14"/>
          <p:cNvSpPr txBox="1"/>
          <p:nvPr/>
        </p:nvSpPr>
        <p:spPr>
          <a:xfrm>
            <a:off x="649224" y="3538728"/>
            <a:ext cx="1269619"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6년 기록</a:t>
            </a:r>
            <a:endParaRPr lang="en-US" sz="1900" dirty="0"/>
          </a:p>
        </p:txBody>
      </p:sp>
      <p:sp>
        <p:nvSpPr>
          <p:cNvPr id="19" name="Shape 15"/>
          <p:cNvSpPr/>
          <p:nvPr/>
        </p:nvSpPr>
        <p:spPr>
          <a:xfrm>
            <a:off x="630936" y="4215384"/>
            <a:ext cx="292608" cy="292608"/>
          </a:xfrm>
          <a:prstGeom prst="ellipse">
            <a:avLst/>
          </a:prstGeom>
          <a:solidFill>
            <a:srgbClr val="2F7D4F"/>
          </a:solidFill>
          <a:ln/>
        </p:spPr>
      </p:sp>
      <p:sp>
        <p:nvSpPr>
          <p:cNvPr id="20" name="Text 16"/>
          <p:cNvSpPr txBox="1"/>
          <p:nvPr/>
        </p:nvSpPr>
        <p:spPr>
          <a:xfrm>
            <a:off x="630936"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978408"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학교 독서교육 체계화</a:t>
            </a:r>
            <a:endParaRPr lang="en-US" sz="1750" dirty="0"/>
          </a:p>
        </p:txBody>
      </p:sp>
      <p:sp>
        <p:nvSpPr>
          <p:cNvPr id="22" name="Text 18"/>
          <p:cNvSpPr txBox="1"/>
          <p:nvPr/>
        </p:nvSpPr>
        <p:spPr>
          <a:xfrm>
            <a:off x="649224"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학교 전체와 우리 반의 완독, 어휘력을 견주고 학년도 통계를 남깁니다.</a:t>
            </a:r>
            <a:endParaRPr lang="en-US" sz="1550" dirty="0"/>
          </a:p>
        </p:txBody>
      </p:sp>
      <p:sp>
        <p:nvSpPr>
          <p:cNvPr id="23" name="Shape 19"/>
          <p:cNvSpPr/>
          <p:nvPr/>
        </p:nvSpPr>
        <p:spPr>
          <a:xfrm>
            <a:off x="594360" y="5504688"/>
            <a:ext cx="2475738" cy="676656"/>
          </a:xfrm>
          <a:prstGeom prst="roundRect">
            <a:avLst>
              <a:gd name="adj" fmla="val 10811"/>
            </a:avLst>
          </a:prstGeom>
          <a:solidFill>
            <a:srgbClr val="FFFFFF"/>
          </a:solidFill>
          <a:ln w="9525">
            <a:solidFill>
              <a:srgbClr val="D3E6D6"/>
            </a:solidFill>
            <a:prstDash val="solid"/>
          </a:ln>
        </p:spPr>
      </p:sp>
      <p:sp>
        <p:nvSpPr>
          <p:cNvPr id="24" name="Text 20"/>
          <p:cNvSpPr txBox="1"/>
          <p:nvPr/>
        </p:nvSpPr>
        <p:spPr>
          <a:xfrm>
            <a:off x="685800"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우리 학교 성장, 학년도 관리</a:t>
            </a:r>
            <a:endParaRPr lang="en-US" sz="1650" dirty="0"/>
          </a:p>
        </p:txBody>
      </p:sp>
      <p:sp>
        <p:nvSpPr>
          <p:cNvPr id="25" name="Shape 21"/>
          <p:cNvSpPr/>
          <p:nvPr/>
        </p:nvSpPr>
        <p:spPr>
          <a:xfrm>
            <a:off x="3344418" y="1920240"/>
            <a:ext cx="2658618" cy="4352544"/>
          </a:xfrm>
          <a:prstGeom prst="roundRect">
            <a:avLst>
              <a:gd name="adj" fmla="val 3439"/>
            </a:avLst>
          </a:prstGeom>
          <a:solidFill>
            <a:srgbClr val="FFFFFF"/>
          </a:solidFill>
          <a:ln w="9525">
            <a:solidFill>
              <a:srgbClr val="E2DCCB"/>
            </a:solidFill>
            <a:prstDash val="solid"/>
          </a:ln>
        </p:spPr>
      </p:sp>
      <p:sp>
        <p:nvSpPr>
          <p:cNvPr id="26" name="Shape 22"/>
          <p:cNvSpPr/>
          <p:nvPr/>
        </p:nvSpPr>
        <p:spPr>
          <a:xfrm>
            <a:off x="3435858" y="2011680"/>
            <a:ext cx="2475738" cy="1721858"/>
          </a:xfrm>
          <a:prstGeom prst="roundRect">
            <a:avLst>
              <a:gd name="adj" fmla="val 4248"/>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99866" y="2075688"/>
            <a:ext cx="2347722" cy="1593842"/>
          </a:xfrm>
          <a:prstGeom prst="rect">
            <a:avLst/>
          </a:prstGeom>
        </p:spPr>
      </p:pic>
      <p:sp>
        <p:nvSpPr>
          <p:cNvPr id="28" name="Shape 23"/>
          <p:cNvSpPr/>
          <p:nvPr/>
        </p:nvSpPr>
        <p:spPr>
          <a:xfrm>
            <a:off x="3490722" y="3538728"/>
            <a:ext cx="1494028"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29" name="Text 24"/>
          <p:cNvSpPr txBox="1"/>
          <p:nvPr/>
        </p:nvSpPr>
        <p:spPr>
          <a:xfrm>
            <a:off x="3490722" y="3538728"/>
            <a:ext cx="1494028"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3단계 조회</a:t>
            </a:r>
            <a:endParaRPr lang="en-US" sz="1900" dirty="0"/>
          </a:p>
        </p:txBody>
      </p:sp>
      <p:sp>
        <p:nvSpPr>
          <p:cNvPr id="30" name="Shape 25"/>
          <p:cNvSpPr/>
          <p:nvPr/>
        </p:nvSpPr>
        <p:spPr>
          <a:xfrm>
            <a:off x="3472434" y="4215384"/>
            <a:ext cx="292608" cy="292608"/>
          </a:xfrm>
          <a:prstGeom prst="ellipse">
            <a:avLst/>
          </a:prstGeom>
          <a:solidFill>
            <a:srgbClr val="2F7D4F"/>
          </a:solidFill>
          <a:ln/>
        </p:spPr>
      </p:sp>
      <p:sp>
        <p:nvSpPr>
          <p:cNvPr id="31" name="Text 26"/>
          <p:cNvSpPr txBox="1"/>
          <p:nvPr/>
        </p:nvSpPr>
        <p:spPr>
          <a:xfrm>
            <a:off x="3472434"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819906"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운영 현황 상시 점검</a:t>
            </a:r>
            <a:endParaRPr lang="en-US" sz="1750" dirty="0"/>
          </a:p>
        </p:txBody>
      </p:sp>
      <p:sp>
        <p:nvSpPr>
          <p:cNvPr id="33" name="Text 28"/>
          <p:cNvSpPr txBox="1"/>
          <p:nvPr/>
        </p:nvSpPr>
        <p:spPr>
          <a:xfrm>
            <a:off x="3490722"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참여 학교와 학생, 완독, 어휘력 변화를 한 화면에서 봅니다.</a:t>
            </a:r>
            <a:endParaRPr lang="en-US" sz="1550" dirty="0"/>
          </a:p>
        </p:txBody>
      </p:sp>
      <p:sp>
        <p:nvSpPr>
          <p:cNvPr id="34" name="Shape 29"/>
          <p:cNvSpPr/>
          <p:nvPr/>
        </p:nvSpPr>
        <p:spPr>
          <a:xfrm>
            <a:off x="3435858" y="5504688"/>
            <a:ext cx="2475738" cy="676656"/>
          </a:xfrm>
          <a:prstGeom prst="roundRect">
            <a:avLst>
              <a:gd name="adj" fmla="val 10811"/>
            </a:avLst>
          </a:prstGeom>
          <a:solidFill>
            <a:srgbClr val="FFFFFF"/>
          </a:solidFill>
          <a:ln w="9525">
            <a:solidFill>
              <a:srgbClr val="D3E6D6"/>
            </a:solidFill>
            <a:prstDash val="solid"/>
          </a:ln>
        </p:spPr>
      </p:sp>
      <p:sp>
        <p:nvSpPr>
          <p:cNvPr id="35" name="Text 30"/>
          <p:cNvSpPr txBox="1"/>
          <p:nvPr/>
        </p:nvSpPr>
        <p:spPr>
          <a:xfrm>
            <a:off x="3527298"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이용 통계는 이름 없이 합계만</a:t>
            </a:r>
            <a:endParaRPr lang="en-US" sz="1650" dirty="0"/>
          </a:p>
        </p:txBody>
      </p:sp>
      <p:sp>
        <p:nvSpPr>
          <p:cNvPr id="36" name="Shape 31"/>
          <p:cNvSpPr/>
          <p:nvPr/>
        </p:nvSpPr>
        <p:spPr>
          <a:xfrm>
            <a:off x="6185916" y="1920240"/>
            <a:ext cx="2658618" cy="4352544"/>
          </a:xfrm>
          <a:prstGeom prst="roundRect">
            <a:avLst>
              <a:gd name="adj" fmla="val 3439"/>
            </a:avLst>
          </a:prstGeom>
          <a:solidFill>
            <a:srgbClr val="FBF5E6"/>
          </a:solidFill>
          <a:ln w="9525">
            <a:solidFill>
              <a:srgbClr val="E2DCCB"/>
            </a:solidFill>
            <a:prstDash val="solid"/>
          </a:ln>
        </p:spPr>
      </p:sp>
      <p:pic>
        <p:nvPicPr>
          <p:cNvPr id="37" name="Image 3" descr="삽화">    </p:cNvPr>
          <p:cNvPicPr>
            <a:picLocks noChangeAspect="1"/>
          </p:cNvPicPr>
          <p:nvPr/>
        </p:nvPicPr>
        <p:blipFill>
          <a:blip r:embed="rId4"/>
          <a:stretch>
            <a:fillRect/>
          </a:stretch>
        </p:blipFill>
        <p:spPr>
          <a:xfrm>
            <a:off x="6486525" y="2011680"/>
            <a:ext cx="2057400" cy="2057400"/>
          </a:xfrm>
          <a:prstGeom prst="rect">
            <a:avLst/>
          </a:prstGeom>
        </p:spPr>
      </p:pic>
      <p:sp>
        <p:nvSpPr>
          <p:cNvPr id="38" name="Shape 32"/>
          <p:cNvSpPr/>
          <p:nvPr/>
        </p:nvSpPr>
        <p:spPr>
          <a:xfrm>
            <a:off x="6332220" y="3538728"/>
            <a:ext cx="1281684"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39" name="Text 33"/>
          <p:cNvSpPr txBox="1"/>
          <p:nvPr/>
        </p:nvSpPr>
        <p:spPr>
          <a:xfrm>
            <a:off x="6332220" y="3538728"/>
            <a:ext cx="1281684"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독서수업</a:t>
            </a:r>
            <a:endParaRPr lang="en-US" sz="1900" dirty="0"/>
          </a:p>
        </p:txBody>
      </p:sp>
      <p:sp>
        <p:nvSpPr>
          <p:cNvPr id="40" name="Shape 34"/>
          <p:cNvSpPr/>
          <p:nvPr/>
        </p:nvSpPr>
        <p:spPr>
          <a:xfrm>
            <a:off x="6313932" y="4215384"/>
            <a:ext cx="292608" cy="292608"/>
          </a:xfrm>
          <a:prstGeom prst="ellipse">
            <a:avLst/>
          </a:prstGeom>
          <a:solidFill>
            <a:srgbClr val="2F7D4F"/>
          </a:solidFill>
          <a:ln/>
        </p:spPr>
      </p:sp>
      <p:sp>
        <p:nvSpPr>
          <p:cNvPr id="41" name="Text 35"/>
          <p:cNvSpPr txBox="1"/>
          <p:nvPr/>
        </p:nvSpPr>
        <p:spPr>
          <a:xfrm>
            <a:off x="6313932"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42" name="Text 36"/>
          <p:cNvSpPr txBox="1"/>
          <p:nvPr/>
        </p:nvSpPr>
        <p:spPr>
          <a:xfrm>
            <a:off x="6661404"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정책 사업과 함께 운영</a:t>
            </a:r>
            <a:endParaRPr lang="en-US" sz="1750" dirty="0"/>
          </a:p>
        </p:txBody>
      </p:sp>
      <p:sp>
        <p:nvSpPr>
          <p:cNvPr id="43" name="Text 37"/>
          <p:cNvSpPr txBox="1"/>
          <p:nvPr/>
        </p:nvSpPr>
        <p:spPr>
          <a:xfrm>
            <a:off x="6332220"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아침 10분 독서와 한 학기 한 권 읽기에 차시와 진단을 활용합니다.</a:t>
            </a:r>
            <a:endParaRPr lang="en-US" sz="1550" dirty="0"/>
          </a:p>
        </p:txBody>
      </p:sp>
      <p:sp>
        <p:nvSpPr>
          <p:cNvPr id="44" name="Shape 38"/>
          <p:cNvSpPr/>
          <p:nvPr/>
        </p:nvSpPr>
        <p:spPr>
          <a:xfrm>
            <a:off x="6277356" y="5504688"/>
            <a:ext cx="2475738" cy="676656"/>
          </a:xfrm>
          <a:prstGeom prst="roundRect">
            <a:avLst>
              <a:gd name="adj" fmla="val 10811"/>
            </a:avLst>
          </a:prstGeom>
          <a:solidFill>
            <a:srgbClr val="FFFFFF"/>
          </a:solidFill>
          <a:ln w="9525">
            <a:solidFill>
              <a:srgbClr val="D3E6D6"/>
            </a:solidFill>
            <a:prstDash val="solid"/>
          </a:ln>
        </p:spPr>
      </p:sp>
      <p:sp>
        <p:nvSpPr>
          <p:cNvPr id="45" name="Text 39"/>
          <p:cNvSpPr txBox="1"/>
          <p:nvPr/>
        </p:nvSpPr>
        <p:spPr>
          <a:xfrm>
            <a:off x="6368796"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아침 10분 독서와 한 학기 한 권 읽기 연계</a:t>
            </a:r>
            <a:endParaRPr lang="en-US" sz="1650" dirty="0"/>
          </a:p>
        </p:txBody>
      </p:sp>
      <p:sp>
        <p:nvSpPr>
          <p:cNvPr id="46" name="Shape 40"/>
          <p:cNvSpPr/>
          <p:nvPr/>
        </p:nvSpPr>
        <p:spPr>
          <a:xfrm>
            <a:off x="9027414" y="1920240"/>
            <a:ext cx="2658618" cy="4352544"/>
          </a:xfrm>
          <a:prstGeom prst="roundRect">
            <a:avLst>
              <a:gd name="adj" fmla="val 3439"/>
            </a:avLst>
          </a:prstGeom>
          <a:solidFill>
            <a:srgbClr val="FFFFFF"/>
          </a:solidFill>
          <a:ln w="9525">
            <a:solidFill>
              <a:srgbClr val="E2DCCB"/>
            </a:solidFill>
            <a:prstDash val="solid"/>
          </a:ln>
        </p:spPr>
      </p:sp>
      <p:pic>
        <p:nvPicPr>
          <p:cNvPr id="47" name="Image 4" descr="삽화">    </p:cNvPr>
          <p:cNvPicPr>
            <a:picLocks noChangeAspect="1"/>
          </p:cNvPicPr>
          <p:nvPr/>
        </p:nvPicPr>
        <p:blipFill>
          <a:blip r:embed="rId5"/>
          <a:stretch>
            <a:fillRect/>
          </a:stretch>
        </p:blipFill>
        <p:spPr>
          <a:xfrm>
            <a:off x="9118854" y="2503970"/>
            <a:ext cx="2475738" cy="1072820"/>
          </a:xfrm>
          <a:prstGeom prst="rect">
            <a:avLst/>
          </a:prstGeom>
        </p:spPr>
      </p:pic>
      <p:sp>
        <p:nvSpPr>
          <p:cNvPr id="48" name="Shape 41"/>
          <p:cNvSpPr/>
          <p:nvPr/>
        </p:nvSpPr>
        <p:spPr>
          <a:xfrm>
            <a:off x="9173718" y="3538728"/>
            <a:ext cx="1269619"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49" name="Text 42"/>
          <p:cNvSpPr txBox="1"/>
          <p:nvPr/>
        </p:nvSpPr>
        <p:spPr>
          <a:xfrm>
            <a:off x="9173718" y="3538728"/>
            <a:ext cx="1269619"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보고 3종</a:t>
            </a:r>
            <a:endParaRPr lang="en-US" sz="1900" dirty="0"/>
          </a:p>
        </p:txBody>
      </p:sp>
      <p:sp>
        <p:nvSpPr>
          <p:cNvPr id="50" name="Shape 43"/>
          <p:cNvSpPr/>
          <p:nvPr/>
        </p:nvSpPr>
        <p:spPr>
          <a:xfrm>
            <a:off x="9155430" y="4215384"/>
            <a:ext cx="292608" cy="292608"/>
          </a:xfrm>
          <a:prstGeom prst="ellipse">
            <a:avLst/>
          </a:prstGeom>
          <a:solidFill>
            <a:srgbClr val="2F7D4F"/>
          </a:solidFill>
          <a:ln/>
        </p:spPr>
      </p:sp>
      <p:sp>
        <p:nvSpPr>
          <p:cNvPr id="51" name="Text 44"/>
          <p:cNvSpPr txBox="1"/>
          <p:nvPr/>
        </p:nvSpPr>
        <p:spPr>
          <a:xfrm>
            <a:off x="9155430"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52" name="Text 45"/>
          <p:cNvSpPr txBox="1"/>
          <p:nvPr/>
        </p:nvSpPr>
        <p:spPr>
          <a:xfrm>
            <a:off x="9502902"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성과 자료 제공</a:t>
            </a:r>
            <a:endParaRPr lang="en-US" sz="1750" dirty="0"/>
          </a:p>
        </p:txBody>
      </p:sp>
      <p:sp>
        <p:nvSpPr>
          <p:cNvPr id="53" name="Text 46"/>
          <p:cNvSpPr txBox="1"/>
          <p:nvPr/>
        </p:nvSpPr>
        <p:spPr>
          <a:xfrm>
            <a:off x="9173718"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정기 보고와 함께 우수 수업 사례와 학급 문집을 드립니다.</a:t>
            </a:r>
            <a:endParaRPr lang="en-US" sz="1550" dirty="0"/>
          </a:p>
        </p:txBody>
      </p:sp>
      <p:sp>
        <p:nvSpPr>
          <p:cNvPr id="54" name="Shape 47"/>
          <p:cNvSpPr/>
          <p:nvPr/>
        </p:nvSpPr>
        <p:spPr>
          <a:xfrm>
            <a:off x="9118854" y="5504688"/>
            <a:ext cx="2475738" cy="676656"/>
          </a:xfrm>
          <a:prstGeom prst="roundRect">
            <a:avLst>
              <a:gd name="adj" fmla="val 10811"/>
            </a:avLst>
          </a:prstGeom>
          <a:solidFill>
            <a:srgbClr val="FFFFFF"/>
          </a:solidFill>
          <a:ln w="9525">
            <a:solidFill>
              <a:srgbClr val="D3E6D6"/>
            </a:solidFill>
            <a:prstDash val="solid"/>
          </a:ln>
        </p:spPr>
      </p:sp>
      <p:sp>
        <p:nvSpPr>
          <p:cNvPr id="55" name="Text 48"/>
          <p:cNvSpPr txBox="1"/>
          <p:nvPr/>
        </p:nvSpPr>
        <p:spPr>
          <a:xfrm>
            <a:off x="9210294"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이용 현황, 완독, 어휘력 자동 집계</a:t>
            </a:r>
            <a:endParaRPr lang="en-US" sz="1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6년 장기 활용 성장 전망</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하루 10분이 6년이면 190시간.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쌓인 읽기</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가 어휘력과 문해력의 차이를 만듭니다</a:t>
            </a:r>
            <a:endParaRPr lang="en-US" sz="1400" dirty="0"/>
          </a:p>
        </p:txBody>
      </p:sp>
      <p:sp>
        <p:nvSpPr>
          <p:cNvPr id="10" name="Text 7"/>
          <p:cNvSpPr txBox="1"/>
          <p:nvPr/>
        </p:nvSpPr>
        <p:spPr>
          <a:xfrm>
            <a:off x="191350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8166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왼쪽: Anderson, Wilson &amp; Fielding(1988) 「Growth in reading and how children spend their time outside of school」(Reading Research Quarterly 23) 학교 밖 책 읽기 시간 표에서 5개 구간. 수업일수: 「초·중등교육법 시행령」 제45조(매 학년 190일 이상). 낱말 학습: Swanborn &amp; de Glopper(1999), Review of Educational Research 69(3).</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20</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616702"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하루 책 읽는 시간과 1년에 읽는 낱말 수</a:t>
            </a:r>
            <a:endParaRPr lang="en-US" sz="1650" dirty="0"/>
          </a:p>
        </p:txBody>
      </p:sp>
      <p:sp>
        <p:nvSpPr>
          <p:cNvPr id="16" name="Shape 13"/>
          <p:cNvSpPr/>
          <p:nvPr/>
        </p:nvSpPr>
        <p:spPr>
          <a:xfrm>
            <a:off x="457200" y="3355848"/>
            <a:ext cx="5708142" cy="1042416"/>
          </a:xfrm>
          <a:prstGeom prst="roundRect">
            <a:avLst>
              <a:gd name="adj" fmla="val 7018"/>
            </a:avLst>
          </a:prstGeom>
          <a:solidFill>
            <a:srgbClr val="FFF3D6"/>
          </a:solidFill>
          <a:ln w="12700">
            <a:solidFill>
              <a:srgbClr val="EBCB7E"/>
            </a:solidFill>
            <a:prstDash val="dash"/>
          </a:ln>
        </p:spPr>
      </p:sp>
      <p:sp>
        <p:nvSpPr>
          <p:cNvPr id="17" name="Text 14"/>
          <p:cNvSpPr txBox="1"/>
          <p:nvPr/>
        </p:nvSpPr>
        <p:spPr>
          <a:xfrm>
            <a:off x="576072" y="2377440"/>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0.1분</a:t>
            </a:r>
            <a:endParaRPr lang="en-US" sz="1500" dirty="0"/>
          </a:p>
        </p:txBody>
      </p:sp>
      <p:sp>
        <p:nvSpPr>
          <p:cNvPr id="18" name="Text 15"/>
          <p:cNvSpPr txBox="1"/>
          <p:nvPr/>
        </p:nvSpPr>
        <p:spPr>
          <a:xfrm>
            <a:off x="1554480" y="2377440"/>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하위 10%</a:t>
            </a:r>
            <a:endParaRPr lang="en-US" sz="1300" dirty="0"/>
          </a:p>
        </p:txBody>
      </p:sp>
      <p:sp>
        <p:nvSpPr>
          <p:cNvPr id="19" name="Shape 16"/>
          <p:cNvSpPr/>
          <p:nvPr/>
        </p:nvSpPr>
        <p:spPr>
          <a:xfrm>
            <a:off x="2286000" y="2450592"/>
            <a:ext cx="54864" cy="274320"/>
          </a:xfrm>
          <a:prstGeom prst="roundRect">
            <a:avLst>
              <a:gd name="adj" fmla="val 100000"/>
            </a:avLst>
          </a:prstGeom>
          <a:solidFill>
            <a:srgbClr val="B7C9BA"/>
          </a:solidFill>
          <a:ln/>
        </p:spPr>
      </p:sp>
      <p:sp>
        <p:nvSpPr>
          <p:cNvPr id="20" name="Text 17"/>
          <p:cNvSpPr txBox="1"/>
          <p:nvPr/>
        </p:nvSpPr>
        <p:spPr>
          <a:xfrm>
            <a:off x="2432304" y="2377440"/>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9 Black" pitchFamily="34" charset="0"/>
                <a:ea typeface="Freesentation 9 Black" pitchFamily="34" charset="-122"/>
                <a:cs typeface="Freesentation 9 Black" pitchFamily="34" charset="-120"/>
              </a:rPr>
              <a:t>8천 낱말</a:t>
            </a:r>
            <a:endParaRPr lang="en-US" sz="1500" dirty="0"/>
          </a:p>
        </p:txBody>
      </p:sp>
      <p:sp>
        <p:nvSpPr>
          <p:cNvPr id="21" name="Text 18"/>
          <p:cNvSpPr txBox="1"/>
          <p:nvPr/>
        </p:nvSpPr>
        <p:spPr>
          <a:xfrm>
            <a:off x="576072" y="2889504"/>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4.6분</a:t>
            </a:r>
            <a:endParaRPr lang="en-US" sz="1500" dirty="0"/>
          </a:p>
        </p:txBody>
      </p:sp>
      <p:sp>
        <p:nvSpPr>
          <p:cNvPr id="22" name="Text 19"/>
          <p:cNvSpPr txBox="1"/>
          <p:nvPr/>
        </p:nvSpPr>
        <p:spPr>
          <a:xfrm>
            <a:off x="1554480" y="2889504"/>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중간</a:t>
            </a:r>
            <a:endParaRPr lang="en-US" sz="1300" dirty="0"/>
          </a:p>
        </p:txBody>
      </p:sp>
      <p:sp>
        <p:nvSpPr>
          <p:cNvPr id="23" name="Shape 20"/>
          <p:cNvSpPr/>
          <p:nvPr/>
        </p:nvSpPr>
        <p:spPr>
          <a:xfrm>
            <a:off x="2286000" y="2962656"/>
            <a:ext cx="444502" cy="274320"/>
          </a:xfrm>
          <a:prstGeom prst="roundRect">
            <a:avLst>
              <a:gd name="adj" fmla="val 20000"/>
            </a:avLst>
          </a:prstGeom>
          <a:solidFill>
            <a:srgbClr val="B7C9BA"/>
          </a:solidFill>
          <a:ln/>
        </p:spPr>
      </p:sp>
      <p:sp>
        <p:nvSpPr>
          <p:cNvPr id="24" name="Text 21"/>
          <p:cNvSpPr txBox="1"/>
          <p:nvPr/>
        </p:nvSpPr>
        <p:spPr>
          <a:xfrm>
            <a:off x="2821942" y="2889504"/>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9 Black" pitchFamily="34" charset="0"/>
                <a:ea typeface="Freesentation 9 Black" pitchFamily="34" charset="-122"/>
                <a:cs typeface="Freesentation 9 Black" pitchFamily="34" charset="-120"/>
              </a:rPr>
              <a:t>28.2만 낱말</a:t>
            </a:r>
            <a:endParaRPr lang="en-US" sz="1500" dirty="0"/>
          </a:p>
        </p:txBody>
      </p:sp>
      <p:sp>
        <p:nvSpPr>
          <p:cNvPr id="25" name="Text 22"/>
          <p:cNvSpPr txBox="1"/>
          <p:nvPr/>
        </p:nvSpPr>
        <p:spPr>
          <a:xfrm>
            <a:off x="576072" y="3401568"/>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9.6분</a:t>
            </a:r>
            <a:endParaRPr lang="en-US" sz="1500" dirty="0"/>
          </a:p>
        </p:txBody>
      </p:sp>
      <p:sp>
        <p:nvSpPr>
          <p:cNvPr id="26" name="Text 23"/>
          <p:cNvSpPr txBox="1"/>
          <p:nvPr/>
        </p:nvSpPr>
        <p:spPr>
          <a:xfrm>
            <a:off x="1554480" y="3401568"/>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30%</a:t>
            </a:r>
            <a:endParaRPr lang="en-US" sz="1300" dirty="0"/>
          </a:p>
        </p:txBody>
      </p:sp>
      <p:sp>
        <p:nvSpPr>
          <p:cNvPr id="27" name="Shape 24"/>
          <p:cNvSpPr/>
          <p:nvPr/>
        </p:nvSpPr>
        <p:spPr>
          <a:xfrm>
            <a:off x="2286000" y="3474720"/>
            <a:ext cx="980427" cy="274320"/>
          </a:xfrm>
          <a:prstGeom prst="roundRect">
            <a:avLst>
              <a:gd name="adj" fmla="val 20000"/>
            </a:avLst>
          </a:prstGeom>
          <a:solidFill>
            <a:srgbClr val="C08A1E"/>
          </a:solidFill>
          <a:ln/>
        </p:spPr>
      </p:sp>
      <p:sp>
        <p:nvSpPr>
          <p:cNvPr id="28" name="Text 25"/>
          <p:cNvSpPr txBox="1"/>
          <p:nvPr/>
        </p:nvSpPr>
        <p:spPr>
          <a:xfrm>
            <a:off x="3357867" y="3401568"/>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C08A1E"/>
                </a:solidFill>
                <a:latin typeface="Freesentation 9 Black" pitchFamily="34" charset="0"/>
                <a:ea typeface="Freesentation 9 Black" pitchFamily="34" charset="-122"/>
                <a:cs typeface="Freesentation 9 Black" pitchFamily="34" charset="-120"/>
              </a:rPr>
              <a:t>62.2만 낱말</a:t>
            </a:r>
            <a:endParaRPr lang="en-US" sz="1500" dirty="0"/>
          </a:p>
        </p:txBody>
      </p:sp>
      <p:sp>
        <p:nvSpPr>
          <p:cNvPr id="29" name="Text 26"/>
          <p:cNvSpPr txBox="1"/>
          <p:nvPr/>
        </p:nvSpPr>
        <p:spPr>
          <a:xfrm>
            <a:off x="576072" y="3913632"/>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14.2분</a:t>
            </a:r>
            <a:endParaRPr lang="en-US" sz="1500" dirty="0"/>
          </a:p>
        </p:txBody>
      </p:sp>
      <p:sp>
        <p:nvSpPr>
          <p:cNvPr id="30" name="Text 27"/>
          <p:cNvSpPr txBox="1"/>
          <p:nvPr/>
        </p:nvSpPr>
        <p:spPr>
          <a:xfrm>
            <a:off x="1554480" y="3913632"/>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20%</a:t>
            </a:r>
            <a:endParaRPr lang="en-US" sz="1300" dirty="0"/>
          </a:p>
        </p:txBody>
      </p:sp>
      <p:sp>
        <p:nvSpPr>
          <p:cNvPr id="31" name="Shape 28"/>
          <p:cNvSpPr/>
          <p:nvPr/>
        </p:nvSpPr>
        <p:spPr>
          <a:xfrm>
            <a:off x="2286000" y="3986784"/>
            <a:ext cx="1806381" cy="274320"/>
          </a:xfrm>
          <a:prstGeom prst="roundRect">
            <a:avLst>
              <a:gd name="adj" fmla="val 20000"/>
            </a:avLst>
          </a:prstGeom>
          <a:solidFill>
            <a:srgbClr val="C08A1E"/>
          </a:solidFill>
          <a:ln/>
        </p:spPr>
      </p:sp>
      <p:sp>
        <p:nvSpPr>
          <p:cNvPr id="32" name="Text 29"/>
          <p:cNvSpPr txBox="1"/>
          <p:nvPr/>
        </p:nvSpPr>
        <p:spPr>
          <a:xfrm>
            <a:off x="4183821" y="3913632"/>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C08A1E"/>
                </a:solidFill>
                <a:latin typeface="Freesentation 9 Black" pitchFamily="34" charset="0"/>
                <a:ea typeface="Freesentation 9 Black" pitchFamily="34" charset="-122"/>
                <a:cs typeface="Freesentation 9 Black" pitchFamily="34" charset="-120"/>
              </a:rPr>
              <a:t>114.6만 낱말</a:t>
            </a:r>
            <a:endParaRPr lang="en-US" sz="1500" dirty="0"/>
          </a:p>
        </p:txBody>
      </p:sp>
      <p:sp>
        <p:nvSpPr>
          <p:cNvPr id="33" name="Text 30"/>
          <p:cNvSpPr txBox="1"/>
          <p:nvPr/>
        </p:nvSpPr>
        <p:spPr>
          <a:xfrm>
            <a:off x="576072" y="4425696"/>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21.1분</a:t>
            </a:r>
            <a:endParaRPr lang="en-US" sz="1500" dirty="0"/>
          </a:p>
        </p:txBody>
      </p:sp>
      <p:sp>
        <p:nvSpPr>
          <p:cNvPr id="34" name="Text 31"/>
          <p:cNvSpPr txBox="1"/>
          <p:nvPr/>
        </p:nvSpPr>
        <p:spPr>
          <a:xfrm>
            <a:off x="1554480" y="4425696"/>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10%</a:t>
            </a:r>
            <a:endParaRPr lang="en-US" sz="1300" dirty="0"/>
          </a:p>
        </p:txBody>
      </p:sp>
      <p:sp>
        <p:nvSpPr>
          <p:cNvPr id="35" name="Shape 32"/>
          <p:cNvSpPr/>
          <p:nvPr/>
        </p:nvSpPr>
        <p:spPr>
          <a:xfrm>
            <a:off x="2286000" y="4498848"/>
            <a:ext cx="2873502" cy="274320"/>
          </a:xfrm>
          <a:prstGeom prst="roundRect">
            <a:avLst>
              <a:gd name="adj" fmla="val 20000"/>
            </a:avLst>
          </a:prstGeom>
          <a:solidFill>
            <a:srgbClr val="2F7D4F"/>
          </a:solidFill>
          <a:ln/>
        </p:spPr>
      </p:sp>
      <p:sp>
        <p:nvSpPr>
          <p:cNvPr id="36" name="Text 33"/>
          <p:cNvSpPr txBox="1"/>
          <p:nvPr/>
        </p:nvSpPr>
        <p:spPr>
          <a:xfrm>
            <a:off x="5250942" y="4425696"/>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9 Black" pitchFamily="34" charset="0"/>
                <a:ea typeface="Freesentation 9 Black" pitchFamily="34" charset="-122"/>
                <a:cs typeface="Freesentation 9 Black" pitchFamily="34" charset="-120"/>
              </a:rPr>
              <a:t>182.3만 낱말</a:t>
            </a:r>
            <a:endParaRPr lang="en-US" sz="1500" dirty="0"/>
          </a:p>
        </p:txBody>
      </p:sp>
      <p:sp>
        <p:nvSpPr>
          <p:cNvPr id="37" name="Text 34"/>
          <p:cNvSpPr txBox="1"/>
          <p:nvPr/>
        </p:nvSpPr>
        <p:spPr>
          <a:xfrm>
            <a:off x="4748022" y="3081528"/>
            <a:ext cx="1371600" cy="256032"/>
          </a:xfrm>
          <a:prstGeom prst="rect">
            <a:avLst/>
          </a:prstGeom>
          <a:noFill/>
          <a:ln/>
        </p:spPr>
        <p:txBody>
          <a:bodyPr wrap="square" lIns="0" tIns="0" rIns="0" bIns="0" rtlCol="0" anchor="ctr"/>
          <a:lstStyle/>
          <a:p>
            <a:pPr algn="r" indent="0" marL="0">
              <a:lnSpc>
                <a:spcPct val="112000"/>
              </a:lnSpc>
              <a:buNone/>
            </a:pPr>
            <a:r>
              <a:rPr lang="en-US" sz="1300" dirty="0">
                <a:solidFill>
                  <a:srgbClr val="C08A1E"/>
                </a:solidFill>
                <a:latin typeface="Freesentation 7 Bold" pitchFamily="34" charset="0"/>
                <a:ea typeface="Freesentation 7 Bold" pitchFamily="34" charset="-122"/>
                <a:cs typeface="Freesentation 7 Bold" pitchFamily="34" charset="-120"/>
              </a:rPr>
              <a:t>부기 아침 10분</a:t>
            </a:r>
            <a:endParaRPr lang="en-US" sz="1300" dirty="0"/>
          </a:p>
        </p:txBody>
      </p:sp>
      <p:sp>
        <p:nvSpPr>
          <p:cNvPr id="38" name="Shape 35"/>
          <p:cNvSpPr/>
          <p:nvPr/>
        </p:nvSpPr>
        <p:spPr>
          <a:xfrm>
            <a:off x="502920" y="4992624"/>
            <a:ext cx="5616702" cy="1280160"/>
          </a:xfrm>
          <a:prstGeom prst="roundRect">
            <a:avLst>
              <a:gd name="adj" fmla="val 7143"/>
            </a:avLst>
          </a:prstGeom>
          <a:solidFill>
            <a:srgbClr val="FBF5E6"/>
          </a:solidFill>
          <a:ln/>
        </p:spPr>
      </p:sp>
      <p:sp>
        <p:nvSpPr>
          <p:cNvPr id="39" name="Text 36"/>
          <p:cNvSpPr txBox="1"/>
          <p:nvPr/>
        </p:nvSpPr>
        <p:spPr>
          <a:xfrm>
            <a:off x="685800" y="5029200"/>
            <a:ext cx="5250942" cy="1207008"/>
          </a:xfrm>
          <a:prstGeom prst="rect">
            <a:avLst/>
          </a:prstGeom>
          <a:noFill/>
          <a:ln/>
        </p:spPr>
        <p:txBody>
          <a:bodyPr wrap="square" lIns="0" tIns="0" rIns="0" bIns="0" rtlCol="0" anchor="ctr"/>
          <a:lstStyle/>
          <a:p>
            <a:pPr indent="0" marL="0">
              <a:lnSpc>
                <a:spcPct val="12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읽기 성취 상위 10% 학생은 하루 21.1분, 중간 학생은 4.6분 책을 읽었고, 1년에 읽는 낱말 수는 </a:t>
            </a:r>
            <a:pPr indent="0" marL="0">
              <a:lnSpc>
                <a:spcPct val="122000"/>
              </a:lnSpc>
              <a:buNone/>
            </a:pPr>
            <a:r>
              <a:rPr lang="en-US" sz="1500" dirty="0">
                <a:solidFill>
                  <a:srgbClr val="1F2B20"/>
                </a:solidFill>
                <a:highlight>
                  <a:srgbClr val="F3DD9B"/>
                </a:highlight>
                <a:latin typeface="Freesentation 7 Bold" pitchFamily="34" charset="0"/>
                <a:ea typeface="Freesentation 7 Bold" pitchFamily="34" charset="-122"/>
                <a:cs typeface="Freesentation 7 Bold" pitchFamily="34" charset="-120"/>
              </a:rPr>
              <a:t>6배 넘게</a:t>
            </a:r>
            <a:pPr indent="0" marL="0">
              <a:lnSpc>
                <a:spcPct val="12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 벌어졌습니다.</a:t>
            </a:r>
            <a:endParaRPr lang="en-US" sz="1500" dirty="0"/>
          </a:p>
        </p:txBody>
      </p:sp>
      <p:pic>
        <p:nvPicPr>
          <p:cNvPr id="40" name="Image 1" descr="삽화">    </p:cNvPr>
          <p:cNvPicPr>
            <a:picLocks noChangeAspect="1"/>
          </p:cNvPicPr>
          <p:nvPr/>
        </p:nvPicPr>
        <p:blipFill>
          <a:blip r:embed="rId2"/>
          <a:stretch>
            <a:fillRect/>
          </a:stretch>
        </p:blipFill>
        <p:spPr>
          <a:xfrm>
            <a:off x="7276259" y="1874520"/>
            <a:ext cx="3618895" cy="1207008"/>
          </a:xfrm>
          <a:prstGeom prst="rect">
            <a:avLst/>
          </a:prstGeom>
        </p:spPr>
      </p:pic>
      <p:sp>
        <p:nvSpPr>
          <p:cNvPr id="41" name="Shape 37"/>
          <p:cNvSpPr/>
          <p:nvPr/>
        </p:nvSpPr>
        <p:spPr>
          <a:xfrm>
            <a:off x="6485382" y="3977640"/>
            <a:ext cx="1648206" cy="1234440"/>
          </a:xfrm>
          <a:prstGeom prst="roundRect">
            <a:avLst>
              <a:gd name="adj" fmla="val 5926"/>
            </a:avLst>
          </a:prstGeom>
          <a:solidFill>
            <a:srgbClr val="E6F0E7"/>
          </a:solidFill>
          <a:ln/>
        </p:spPr>
      </p:sp>
      <p:sp>
        <p:nvSpPr>
          <p:cNvPr id="42" name="Text 38"/>
          <p:cNvSpPr txBox="1"/>
          <p:nvPr/>
        </p:nvSpPr>
        <p:spPr>
          <a:xfrm>
            <a:off x="6485382" y="4032504"/>
            <a:ext cx="1648206" cy="292608"/>
          </a:xfrm>
          <a:prstGeom prst="rect">
            <a:avLst/>
          </a:prstGeom>
          <a:noFill/>
          <a:ln/>
        </p:spPr>
        <p:txBody>
          <a:bodyPr wrap="square" lIns="0" tIns="0" rIns="0" bIns="0" rtlCol="0" anchor="ctr"/>
          <a:lstStyle/>
          <a:p>
            <a:pPr algn="ct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1년</a:t>
            </a:r>
            <a:endParaRPr lang="en-US" sz="1550" dirty="0"/>
          </a:p>
        </p:txBody>
      </p:sp>
      <p:sp>
        <p:nvSpPr>
          <p:cNvPr id="43" name="Text 39"/>
          <p:cNvSpPr txBox="1"/>
          <p:nvPr/>
        </p:nvSpPr>
        <p:spPr>
          <a:xfrm>
            <a:off x="6485382" y="4325112"/>
            <a:ext cx="1648206" cy="365760"/>
          </a:xfrm>
          <a:prstGeom prst="rect">
            <a:avLst/>
          </a:prstGeom>
          <a:noFill/>
          <a:ln/>
        </p:spPr>
        <p:txBody>
          <a:bodyPr wrap="square" lIns="0" tIns="0" rIns="0" bIns="0" rtlCol="0" anchor="ctr"/>
          <a:lstStyle/>
          <a:p>
            <a:pPr algn="ctr" indent="0" marL="0">
              <a:lnSpc>
                <a:spcPct val="112000"/>
              </a:lnSpc>
              <a:buNone/>
            </a:pPr>
            <a:r>
              <a:rPr lang="en-US" sz="2050" dirty="0">
                <a:solidFill>
                  <a:srgbClr val="20342A"/>
                </a:solidFill>
                <a:latin typeface="Freesentation 9 Black" pitchFamily="34" charset="0"/>
                <a:ea typeface="Freesentation 9 Black" pitchFamily="34" charset="-122"/>
                <a:cs typeface="Freesentation 9 Black" pitchFamily="34" charset="-120"/>
              </a:rPr>
              <a:t>약 32시간</a:t>
            </a:r>
            <a:endParaRPr lang="en-US" sz="2050" dirty="0"/>
          </a:p>
        </p:txBody>
      </p:sp>
      <p:sp>
        <p:nvSpPr>
          <p:cNvPr id="44" name="Text 40"/>
          <p:cNvSpPr txBox="1"/>
          <p:nvPr/>
        </p:nvSpPr>
        <p:spPr>
          <a:xfrm>
            <a:off x="6485382" y="4690872"/>
            <a:ext cx="1648206" cy="237744"/>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1,900분 읽기</a:t>
            </a:r>
            <a:endParaRPr lang="en-US" sz="1250" dirty="0"/>
          </a:p>
        </p:txBody>
      </p:sp>
      <p:sp>
        <p:nvSpPr>
          <p:cNvPr id="45" name="Text 41"/>
          <p:cNvSpPr txBox="1"/>
          <p:nvPr/>
        </p:nvSpPr>
        <p:spPr>
          <a:xfrm>
            <a:off x="6485382" y="4928616"/>
            <a:ext cx="1648206" cy="274320"/>
          </a:xfrm>
          <a:prstGeom prst="rect">
            <a:avLst/>
          </a:prstGeom>
          <a:noFill/>
          <a:ln/>
        </p:spPr>
        <p:txBody>
          <a:bodyPr wrap="square" lIns="0" tIns="0" rIns="0" bIns="0" rtlCol="0" anchor="ctr"/>
          <a:lstStyle/>
          <a:p>
            <a:pPr algn="ct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명작 50권</a:t>
            </a:r>
            <a:endParaRPr lang="en-US" sz="1450" dirty="0"/>
          </a:p>
        </p:txBody>
      </p:sp>
      <p:sp>
        <p:nvSpPr>
          <p:cNvPr id="46" name="Shape 42"/>
          <p:cNvSpPr/>
          <p:nvPr/>
        </p:nvSpPr>
        <p:spPr>
          <a:xfrm>
            <a:off x="8261604" y="3611880"/>
            <a:ext cx="1648206" cy="1600200"/>
          </a:xfrm>
          <a:prstGeom prst="roundRect">
            <a:avLst>
              <a:gd name="adj" fmla="val 4571"/>
            </a:avLst>
          </a:prstGeom>
          <a:solidFill>
            <a:srgbClr val="5E9B6E"/>
          </a:solidFill>
          <a:ln/>
        </p:spPr>
      </p:sp>
      <p:sp>
        <p:nvSpPr>
          <p:cNvPr id="47" name="Text 43"/>
          <p:cNvSpPr txBox="1"/>
          <p:nvPr/>
        </p:nvSpPr>
        <p:spPr>
          <a:xfrm>
            <a:off x="8261604" y="3666744"/>
            <a:ext cx="1648206" cy="292608"/>
          </a:xfrm>
          <a:prstGeom prst="rect">
            <a:avLst/>
          </a:prstGeom>
          <a:noFill/>
          <a:ln/>
        </p:spPr>
        <p:txBody>
          <a:bodyPr wrap="square" lIns="0" tIns="0" rIns="0" bIns="0" rtlCol="0" anchor="ctr"/>
          <a:lstStyle/>
          <a:p>
            <a:pPr algn="ct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3년</a:t>
            </a:r>
            <a:endParaRPr lang="en-US" sz="1550" dirty="0"/>
          </a:p>
        </p:txBody>
      </p:sp>
      <p:sp>
        <p:nvSpPr>
          <p:cNvPr id="48" name="Text 44"/>
          <p:cNvSpPr txBox="1"/>
          <p:nvPr/>
        </p:nvSpPr>
        <p:spPr>
          <a:xfrm>
            <a:off x="8261604" y="3959352"/>
            <a:ext cx="1648206" cy="365760"/>
          </a:xfrm>
          <a:prstGeom prst="rect">
            <a:avLst/>
          </a:prstGeom>
          <a:noFill/>
          <a:ln/>
        </p:spPr>
        <p:txBody>
          <a:bodyPr wrap="square" lIns="0" tIns="0" rIns="0" bIns="0" rtlCol="0" anchor="ctr"/>
          <a:lstStyle/>
          <a:p>
            <a:pPr algn="ctr" indent="0" marL="0">
              <a:lnSpc>
                <a:spcPct val="112000"/>
              </a:lnSpc>
              <a:buNone/>
            </a:pPr>
            <a:r>
              <a:rPr lang="en-US" sz="2050" dirty="0">
                <a:solidFill>
                  <a:srgbClr val="FFFFFF"/>
                </a:solidFill>
                <a:latin typeface="Freesentation 9 Black" pitchFamily="34" charset="0"/>
                <a:ea typeface="Freesentation 9 Black" pitchFamily="34" charset="-122"/>
                <a:cs typeface="Freesentation 9 Black" pitchFamily="34" charset="-120"/>
              </a:rPr>
              <a:t>95시간</a:t>
            </a:r>
            <a:endParaRPr lang="en-US" sz="2050" dirty="0"/>
          </a:p>
        </p:txBody>
      </p:sp>
      <p:sp>
        <p:nvSpPr>
          <p:cNvPr id="49" name="Text 45"/>
          <p:cNvSpPr txBox="1"/>
          <p:nvPr/>
        </p:nvSpPr>
        <p:spPr>
          <a:xfrm>
            <a:off x="8261604" y="4325112"/>
            <a:ext cx="1648206" cy="237744"/>
          </a:xfrm>
          <a:prstGeom prst="rect">
            <a:avLst/>
          </a:prstGeom>
          <a:noFill/>
          <a:ln/>
        </p:spPr>
        <p:txBody>
          <a:bodyPr wrap="square" lIns="0" tIns="0" rIns="0" bIns="0" rtlCol="0" anchor="ctr"/>
          <a:lstStyle/>
          <a:p>
            <a:pPr algn="ctr" indent="0" marL="0">
              <a:lnSpc>
                <a:spcPct val="112000"/>
              </a:lnSpc>
              <a:buNone/>
            </a:pPr>
            <a:r>
              <a:rPr lang="en-US" sz="1250" dirty="0">
                <a:solidFill>
                  <a:srgbClr val="E4EEE6"/>
                </a:solidFill>
                <a:latin typeface="Freesentation 4 Regular" pitchFamily="34" charset="0"/>
                <a:ea typeface="Freesentation 4 Regular" pitchFamily="34" charset="-122"/>
                <a:cs typeface="Freesentation 4 Regular" pitchFamily="34" charset="-120"/>
              </a:rPr>
              <a:t>5,700분 읽기</a:t>
            </a:r>
            <a:endParaRPr lang="en-US" sz="1250" dirty="0"/>
          </a:p>
        </p:txBody>
      </p:sp>
      <p:sp>
        <p:nvSpPr>
          <p:cNvPr id="50" name="Text 46"/>
          <p:cNvSpPr txBox="1"/>
          <p:nvPr/>
        </p:nvSpPr>
        <p:spPr>
          <a:xfrm>
            <a:off x="8261604" y="4562856"/>
            <a:ext cx="164820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명작 150권</a:t>
            </a:r>
            <a:endParaRPr lang="en-US" sz="1450" dirty="0"/>
          </a:p>
        </p:txBody>
      </p:sp>
      <p:sp>
        <p:nvSpPr>
          <p:cNvPr id="51" name="Shape 47"/>
          <p:cNvSpPr/>
          <p:nvPr/>
        </p:nvSpPr>
        <p:spPr>
          <a:xfrm>
            <a:off x="10037826" y="3246120"/>
            <a:ext cx="1648206" cy="1965960"/>
          </a:xfrm>
          <a:prstGeom prst="roundRect">
            <a:avLst>
              <a:gd name="adj" fmla="val 4438"/>
            </a:avLst>
          </a:prstGeom>
          <a:solidFill>
            <a:srgbClr val="20342A"/>
          </a:solidFill>
          <a:ln/>
        </p:spPr>
      </p:sp>
      <p:sp>
        <p:nvSpPr>
          <p:cNvPr id="52" name="Text 48"/>
          <p:cNvSpPr txBox="1"/>
          <p:nvPr/>
        </p:nvSpPr>
        <p:spPr>
          <a:xfrm>
            <a:off x="10037826" y="3300984"/>
            <a:ext cx="1648206" cy="292608"/>
          </a:xfrm>
          <a:prstGeom prst="rect">
            <a:avLst/>
          </a:prstGeom>
          <a:noFill/>
          <a:ln/>
        </p:spPr>
        <p:txBody>
          <a:bodyPr wrap="square" lIns="0" tIns="0" rIns="0" bIns="0" rtlCol="0" anchor="ctr"/>
          <a:lstStyle/>
          <a:p>
            <a:pPr algn="ct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6년</a:t>
            </a:r>
            <a:endParaRPr lang="en-US" sz="1550" dirty="0"/>
          </a:p>
        </p:txBody>
      </p:sp>
      <p:sp>
        <p:nvSpPr>
          <p:cNvPr id="53" name="Text 49"/>
          <p:cNvSpPr txBox="1"/>
          <p:nvPr/>
        </p:nvSpPr>
        <p:spPr>
          <a:xfrm>
            <a:off x="10037826" y="3593592"/>
            <a:ext cx="1648206" cy="365760"/>
          </a:xfrm>
          <a:prstGeom prst="rect">
            <a:avLst/>
          </a:prstGeom>
          <a:noFill/>
          <a:ln/>
        </p:spPr>
        <p:txBody>
          <a:bodyPr wrap="square" lIns="0" tIns="0" rIns="0" bIns="0" rtlCol="0" anchor="ctr"/>
          <a:lstStyle/>
          <a:p>
            <a:pPr algn="ctr" indent="0" marL="0">
              <a:lnSpc>
                <a:spcPct val="112000"/>
              </a:lnSpc>
              <a:buNone/>
            </a:pPr>
            <a:r>
              <a:rPr lang="en-US" sz="2050" dirty="0">
                <a:solidFill>
                  <a:srgbClr val="FFFFFF"/>
                </a:solidFill>
                <a:latin typeface="Freesentation 9 Black" pitchFamily="34" charset="0"/>
                <a:ea typeface="Freesentation 9 Black" pitchFamily="34" charset="-122"/>
                <a:cs typeface="Freesentation 9 Black" pitchFamily="34" charset="-120"/>
              </a:rPr>
              <a:t>190시간</a:t>
            </a:r>
            <a:endParaRPr lang="en-US" sz="2050" dirty="0"/>
          </a:p>
        </p:txBody>
      </p:sp>
      <p:sp>
        <p:nvSpPr>
          <p:cNvPr id="54" name="Text 50"/>
          <p:cNvSpPr txBox="1"/>
          <p:nvPr/>
        </p:nvSpPr>
        <p:spPr>
          <a:xfrm>
            <a:off x="10037826" y="3959352"/>
            <a:ext cx="1648206" cy="237744"/>
          </a:xfrm>
          <a:prstGeom prst="rect">
            <a:avLst/>
          </a:prstGeom>
          <a:noFill/>
          <a:ln/>
        </p:spPr>
        <p:txBody>
          <a:bodyPr wrap="square" lIns="0" tIns="0" rIns="0" bIns="0" rtlCol="0" anchor="ctr"/>
          <a:lstStyle/>
          <a:p>
            <a:pPr algn="ctr" indent="0" marL="0">
              <a:lnSpc>
                <a:spcPct val="112000"/>
              </a:lnSpc>
              <a:buNone/>
            </a:pPr>
            <a:r>
              <a:rPr lang="en-US" sz="1250" dirty="0">
                <a:solidFill>
                  <a:srgbClr val="E4EEE6"/>
                </a:solidFill>
                <a:latin typeface="Freesentation 4 Regular" pitchFamily="34" charset="0"/>
                <a:ea typeface="Freesentation 4 Regular" pitchFamily="34" charset="-122"/>
                <a:cs typeface="Freesentation 4 Regular" pitchFamily="34" charset="-120"/>
              </a:rPr>
              <a:t>11,400분 읽기</a:t>
            </a:r>
            <a:endParaRPr lang="en-US" sz="1250" dirty="0"/>
          </a:p>
        </p:txBody>
      </p:sp>
      <p:sp>
        <p:nvSpPr>
          <p:cNvPr id="55" name="Text 51"/>
          <p:cNvSpPr txBox="1"/>
          <p:nvPr/>
        </p:nvSpPr>
        <p:spPr>
          <a:xfrm>
            <a:off x="10037826" y="4197096"/>
            <a:ext cx="164820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명작 300권</a:t>
            </a:r>
            <a:endParaRPr lang="en-US" sz="1450" dirty="0"/>
          </a:p>
        </p:txBody>
      </p:sp>
      <p:sp>
        <p:nvSpPr>
          <p:cNvPr id="56" name="Text 52"/>
          <p:cNvSpPr txBox="1"/>
          <p:nvPr/>
        </p:nvSpPr>
        <p:spPr>
          <a:xfrm>
            <a:off x="6485382" y="5321808"/>
            <a:ext cx="5200650" cy="950976"/>
          </a:xfrm>
          <a:prstGeom prst="rect">
            <a:avLst/>
          </a:prstGeom>
          <a:noFill/>
          <a:ln/>
        </p:spPr>
        <p:txBody>
          <a:bodyPr wrap="square" lIns="0" tIns="0" rIns="0" bIns="0" rtlCol="0" anchor="t"/>
          <a:lstStyle/>
          <a:p>
            <a:pPr indent="0" marL="0">
              <a:lnSpc>
                <a:spcPct val="120000"/>
              </a:lnSpc>
              <a:buNone/>
            </a:pPr>
            <a:r>
              <a:rPr lang="en-US" sz="1300" dirty="0">
                <a:solidFill>
                  <a:srgbClr val="2F7D4F"/>
                </a:solidFill>
                <a:latin typeface="Freesentation 7 Bold" pitchFamily="34" charset="0"/>
                <a:ea typeface="Freesentation 7 Bold" pitchFamily="34" charset="-122"/>
                <a:cs typeface="Freesentation 7 Bold" pitchFamily="34" charset="-120"/>
              </a:rPr>
              <a:t>산출  </a:t>
            </a:r>
            <a:pPr indent="0" marL="0">
              <a:lnSpc>
                <a:spcPct val="120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아침 10분 × 법정 수업일수 190일. 명작은 학년별 50권을 모두 읽을 때.
</a:t>
            </a:r>
            <a:pPr indent="0" marL="0">
              <a:lnSpc>
                <a:spcPct val="120000"/>
              </a:lnSpc>
              <a:buNone/>
            </a:pPr>
            <a:r>
              <a:rPr lang="en-US" sz="1300" dirty="0">
                <a:solidFill>
                  <a:srgbClr val="2F7D4F"/>
                </a:solidFill>
                <a:latin typeface="Freesentation 7 Bold" pitchFamily="34" charset="0"/>
                <a:ea typeface="Freesentation 7 Bold" pitchFamily="34" charset="-122"/>
                <a:cs typeface="Freesentation 7 Bold" pitchFamily="34" charset="-120"/>
              </a:rPr>
              <a:t>어휘  </a:t>
            </a:r>
            <a:pPr indent="0" marL="0">
              <a:lnSpc>
                <a:spcPct val="120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읽으며 만난 모르는 낱말의 약 15%를 익힘(Swanborn &amp; de Glopper, 1999). 부기는 뜻을 바로 보여 주어 이 비율을 높이는 것을 목표로 함.</a:t>
            </a:r>
            <a:endParaRPr lang="en-US" sz="1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부기 서비스 특징</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현장 교사 집필, 저작권 확인, 설치 없는 사용까지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학교가 쓰기 편한 6가지 특징</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갖췄습니다</a:t>
            </a:r>
            <a:endParaRPr lang="en-US" sz="1400" dirty="0"/>
          </a:p>
        </p:txBody>
      </p:sp>
      <p:sp>
        <p:nvSpPr>
          <p:cNvPr id="10" name="Text 7"/>
          <p:cNvSpPr txBox="1"/>
          <p:nvPr/>
        </p:nvSpPr>
        <p:spPr>
          <a:xfrm>
            <a:off x="136052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33465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저작권: 2026년 기준 1955년 이전에 세상을 떠난 저자의 작품과 작자 미상 전래 이야기만 골라 새로 옮김. 종이책 출간은 계획 단계.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21</a:t>
            </a:r>
            <a:endParaRPr lang="en-US" sz="1250" dirty="0"/>
          </a:p>
        </p:txBody>
      </p:sp>
      <p:sp>
        <p:nvSpPr>
          <p:cNvPr id="14" name="Shape 11"/>
          <p:cNvSpPr/>
          <p:nvPr/>
        </p:nvSpPr>
        <p:spPr>
          <a:xfrm>
            <a:off x="502920" y="1920240"/>
            <a:ext cx="3593592" cy="2084832"/>
          </a:xfrm>
          <a:prstGeom prst="roundRect">
            <a:avLst>
              <a:gd name="adj" fmla="val 4386"/>
            </a:avLst>
          </a:prstGeom>
          <a:solidFill>
            <a:srgbClr val="FBF5E6"/>
          </a:solidFill>
          <a:ln w="9525">
            <a:solidFill>
              <a:srgbClr val="E2DCCB"/>
            </a:solidFill>
            <a:prstDash val="solid"/>
          </a:ln>
        </p:spPr>
      </p:sp>
      <p:pic>
        <p:nvPicPr>
          <p:cNvPr id="15" name="Image 1" descr="삽화">    </p:cNvPr>
          <p:cNvPicPr>
            <a:picLocks noChangeAspect="1"/>
          </p:cNvPicPr>
          <p:nvPr/>
        </p:nvPicPr>
        <p:blipFill>
          <a:blip r:embed="rId2"/>
          <a:stretch>
            <a:fillRect/>
          </a:stretch>
        </p:blipFill>
        <p:spPr>
          <a:xfrm>
            <a:off x="612648" y="2217891"/>
            <a:ext cx="1600200" cy="703147"/>
          </a:xfrm>
          <a:prstGeom prst="rect">
            <a:avLst/>
          </a:prstGeom>
        </p:spPr>
      </p:pic>
      <p:sp>
        <p:nvSpPr>
          <p:cNvPr id="16" name="Shape 12"/>
          <p:cNvSpPr/>
          <p:nvPr/>
        </p:nvSpPr>
        <p:spPr>
          <a:xfrm>
            <a:off x="2359152" y="2066544"/>
            <a:ext cx="457200" cy="457200"/>
          </a:xfrm>
          <a:prstGeom prst="ellipse">
            <a:avLst/>
          </a:prstGeom>
          <a:solidFill>
            <a:srgbClr val="FFFFFF"/>
          </a:solidFill>
          <a:ln/>
        </p:spPr>
      </p:sp>
      <p:pic>
        <p:nvPicPr>
          <p:cNvPr id="17" name="Image 2" descr="pencil">    </p:cNvPr>
          <p:cNvPicPr>
            <a:picLocks noChangeAspect="1"/>
          </p:cNvPicPr>
          <p:nvPr/>
        </p:nvPicPr>
        <p:blipFill>
          <a:blip r:embed="rId3"/>
          <a:stretch>
            <a:fillRect/>
          </a:stretch>
        </p:blipFill>
        <p:spPr>
          <a:xfrm>
            <a:off x="2455164" y="2162556"/>
            <a:ext cx="265176" cy="265176"/>
          </a:xfrm>
          <a:prstGeom prst="rect">
            <a:avLst/>
          </a:prstGeom>
        </p:spPr>
      </p:pic>
      <p:sp>
        <p:nvSpPr>
          <p:cNvPr id="18" name="Text 13"/>
          <p:cNvSpPr txBox="1"/>
          <p:nvPr/>
        </p:nvSpPr>
        <p:spPr>
          <a:xfrm>
            <a:off x="2359152" y="2578608"/>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현장 교사가 다시 쓴 책</a:t>
            </a:r>
            <a:endParaRPr lang="en-US" sz="1650" dirty="0"/>
          </a:p>
        </p:txBody>
      </p:sp>
      <p:sp>
        <p:nvSpPr>
          <p:cNvPr id="19" name="Text 14"/>
          <p:cNvSpPr txBox="1"/>
          <p:nvPr/>
        </p:nvSpPr>
        <p:spPr>
          <a:xfrm>
            <a:off x="649224" y="3218688"/>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교사와 학부모가 아이 곁에서 함께 읽으며, 아이가 멈칫하는 곳과 어려운 낱말을 다듬었습니다.</a:t>
            </a:r>
            <a:endParaRPr lang="en-US" sz="1450" dirty="0"/>
          </a:p>
        </p:txBody>
      </p:sp>
      <p:sp>
        <p:nvSpPr>
          <p:cNvPr id="20" name="Shape 15"/>
          <p:cNvSpPr/>
          <p:nvPr/>
        </p:nvSpPr>
        <p:spPr>
          <a:xfrm>
            <a:off x="4297680" y="1920240"/>
            <a:ext cx="3593592" cy="2084832"/>
          </a:xfrm>
          <a:prstGeom prst="roundRect">
            <a:avLst>
              <a:gd name="adj" fmla="val 4386"/>
            </a:avLst>
          </a:prstGeom>
          <a:solidFill>
            <a:srgbClr val="FFFFFF"/>
          </a:solidFill>
          <a:ln w="9525">
            <a:solidFill>
              <a:srgbClr val="E2DCCB"/>
            </a:solidFill>
            <a:prstDash val="solid"/>
          </a:ln>
        </p:spPr>
      </p:sp>
      <p:pic>
        <p:nvPicPr>
          <p:cNvPr id="21" name="Image 3" descr="삽화">    </p:cNvPr>
          <p:cNvPicPr>
            <a:picLocks noChangeAspect="1"/>
          </p:cNvPicPr>
          <p:nvPr/>
        </p:nvPicPr>
        <p:blipFill>
          <a:blip r:embed="rId4"/>
          <a:stretch>
            <a:fillRect/>
          </a:stretch>
        </p:blipFill>
        <p:spPr>
          <a:xfrm>
            <a:off x="4407408" y="2217891"/>
            <a:ext cx="1600200" cy="703147"/>
          </a:xfrm>
          <a:prstGeom prst="rect">
            <a:avLst/>
          </a:prstGeom>
        </p:spPr>
      </p:pic>
      <p:sp>
        <p:nvSpPr>
          <p:cNvPr id="22" name="Shape 16"/>
          <p:cNvSpPr/>
          <p:nvPr/>
        </p:nvSpPr>
        <p:spPr>
          <a:xfrm>
            <a:off x="6153912" y="2066544"/>
            <a:ext cx="457200" cy="457200"/>
          </a:xfrm>
          <a:prstGeom prst="ellipse">
            <a:avLst/>
          </a:prstGeom>
          <a:solidFill>
            <a:srgbClr val="E6F0E7"/>
          </a:solidFill>
          <a:ln/>
        </p:spPr>
      </p:sp>
      <p:pic>
        <p:nvPicPr>
          <p:cNvPr id="23" name="Image 4" descr="copyright">    </p:cNvPr>
          <p:cNvPicPr>
            <a:picLocks noChangeAspect="1"/>
          </p:cNvPicPr>
          <p:nvPr/>
        </p:nvPicPr>
        <p:blipFill>
          <a:blip r:embed="rId5"/>
          <a:stretch>
            <a:fillRect/>
          </a:stretch>
        </p:blipFill>
        <p:spPr>
          <a:xfrm>
            <a:off x="6249924" y="2162556"/>
            <a:ext cx="265176" cy="265176"/>
          </a:xfrm>
          <a:prstGeom prst="rect">
            <a:avLst/>
          </a:prstGeom>
        </p:spPr>
      </p:pic>
      <p:sp>
        <p:nvSpPr>
          <p:cNvPr id="24" name="Text 17"/>
          <p:cNvSpPr txBox="1"/>
          <p:nvPr/>
        </p:nvSpPr>
        <p:spPr>
          <a:xfrm>
            <a:off x="6153912" y="2578608"/>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저작권 확인 도서</a:t>
            </a:r>
            <a:endParaRPr lang="en-US" sz="1650" dirty="0"/>
          </a:p>
        </p:txBody>
      </p:sp>
      <p:sp>
        <p:nvSpPr>
          <p:cNvPr id="25" name="Text 18"/>
          <p:cNvSpPr txBox="1"/>
          <p:nvPr/>
        </p:nvSpPr>
        <p:spPr>
          <a:xfrm>
            <a:off x="4443984" y="3218688"/>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저자 사후 70년이 지난 작품과 전래 이야기만 새로 옮겼고, 기존 번역본은 쓰지 않았습니다.</a:t>
            </a:r>
            <a:endParaRPr lang="en-US" sz="1450" dirty="0"/>
          </a:p>
        </p:txBody>
      </p:sp>
      <p:sp>
        <p:nvSpPr>
          <p:cNvPr id="26" name="Shape 19"/>
          <p:cNvSpPr/>
          <p:nvPr/>
        </p:nvSpPr>
        <p:spPr>
          <a:xfrm>
            <a:off x="8092440" y="1920240"/>
            <a:ext cx="3593592" cy="2084832"/>
          </a:xfrm>
          <a:prstGeom prst="roundRect">
            <a:avLst>
              <a:gd name="adj" fmla="val 4386"/>
            </a:avLst>
          </a:prstGeom>
          <a:solidFill>
            <a:srgbClr val="FBF5E6"/>
          </a:solidFill>
          <a:ln w="9525">
            <a:solidFill>
              <a:srgbClr val="E2DCCB"/>
            </a:solidFill>
            <a:prstDash val="solid"/>
          </a:ln>
        </p:spPr>
      </p:sp>
      <p:sp>
        <p:nvSpPr>
          <p:cNvPr id="27" name="Shape 20"/>
          <p:cNvSpPr/>
          <p:nvPr/>
        </p:nvSpPr>
        <p:spPr>
          <a:xfrm>
            <a:off x="8202168" y="2029968"/>
            <a:ext cx="1600200" cy="1078992"/>
          </a:xfrm>
          <a:prstGeom prst="roundRect">
            <a:avLst>
              <a:gd name="adj" fmla="val 6780"/>
            </a:avLst>
          </a:prstGeom>
          <a:solidFill>
            <a:srgbClr val="FFFFFF"/>
          </a:solidFill>
          <a:ln w="9525">
            <a:solidFill>
              <a:srgbClr val="E2DCCB"/>
            </a:solidFill>
            <a:prstDash val="solid"/>
          </a:ln>
        </p:spPr>
      </p:sp>
      <p:pic>
        <p:nvPicPr>
          <p:cNvPr id="28" name="Image 5" descr="화면">    </p:cNvPr>
          <p:cNvPicPr>
            <a:picLocks noChangeAspect="1"/>
          </p:cNvPicPr>
          <p:nvPr/>
        </p:nvPicPr>
        <p:blipFill>
          <a:blip r:embed="rId6"/>
          <a:stretch>
            <a:fillRect/>
          </a:stretch>
        </p:blipFill>
        <p:spPr>
          <a:xfrm>
            <a:off x="8266176" y="2093976"/>
            <a:ext cx="1472184" cy="950976"/>
          </a:xfrm>
          <a:prstGeom prst="rect">
            <a:avLst/>
          </a:prstGeom>
        </p:spPr>
      </p:pic>
      <p:sp>
        <p:nvSpPr>
          <p:cNvPr id="29" name="Shape 21"/>
          <p:cNvSpPr/>
          <p:nvPr/>
        </p:nvSpPr>
        <p:spPr>
          <a:xfrm>
            <a:off x="9948672" y="2066544"/>
            <a:ext cx="457200" cy="457200"/>
          </a:xfrm>
          <a:prstGeom prst="ellipse">
            <a:avLst/>
          </a:prstGeom>
          <a:solidFill>
            <a:srgbClr val="FFFFFF"/>
          </a:solidFill>
          <a:ln/>
        </p:spPr>
      </p:sp>
      <p:pic>
        <p:nvPicPr>
          <p:cNvPr id="30" name="Image 6" descr="device-laptop">    </p:cNvPr>
          <p:cNvPicPr>
            <a:picLocks noChangeAspect="1"/>
          </p:cNvPicPr>
          <p:nvPr/>
        </p:nvPicPr>
        <p:blipFill>
          <a:blip r:embed="rId7"/>
          <a:stretch>
            <a:fillRect/>
          </a:stretch>
        </p:blipFill>
        <p:spPr>
          <a:xfrm>
            <a:off x="10044684" y="2162556"/>
            <a:ext cx="265176" cy="265176"/>
          </a:xfrm>
          <a:prstGeom prst="rect">
            <a:avLst/>
          </a:prstGeom>
        </p:spPr>
      </p:pic>
      <p:sp>
        <p:nvSpPr>
          <p:cNvPr id="31" name="Text 22"/>
          <p:cNvSpPr txBox="1"/>
          <p:nvPr/>
        </p:nvSpPr>
        <p:spPr>
          <a:xfrm>
            <a:off x="9948672" y="2578608"/>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설치 없이 바로 사용</a:t>
            </a:r>
            <a:endParaRPr lang="en-US" sz="1650" dirty="0"/>
          </a:p>
        </p:txBody>
      </p:sp>
      <p:sp>
        <p:nvSpPr>
          <p:cNvPr id="32" name="Text 23"/>
          <p:cNvSpPr txBox="1"/>
          <p:nvPr/>
        </p:nvSpPr>
        <p:spPr>
          <a:xfrm>
            <a:off x="8238744" y="3218688"/>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크롬이 열리는 노트북, 데스크톱, 태블릿에서 씁니다. 교사는 구글 계정으로 시작합니다.</a:t>
            </a:r>
            <a:endParaRPr lang="en-US" sz="1450" dirty="0"/>
          </a:p>
        </p:txBody>
      </p:sp>
      <p:sp>
        <p:nvSpPr>
          <p:cNvPr id="33" name="Shape 24"/>
          <p:cNvSpPr/>
          <p:nvPr/>
        </p:nvSpPr>
        <p:spPr>
          <a:xfrm>
            <a:off x="502920" y="4187952"/>
            <a:ext cx="3593592" cy="2084832"/>
          </a:xfrm>
          <a:prstGeom prst="roundRect">
            <a:avLst>
              <a:gd name="adj" fmla="val 4386"/>
            </a:avLst>
          </a:prstGeom>
          <a:solidFill>
            <a:srgbClr val="FFFFFF"/>
          </a:solidFill>
          <a:ln w="9525">
            <a:solidFill>
              <a:srgbClr val="E2DCCB"/>
            </a:solidFill>
            <a:prstDash val="solid"/>
          </a:ln>
        </p:spPr>
      </p:sp>
      <p:pic>
        <p:nvPicPr>
          <p:cNvPr id="34" name="Image 7" descr="삽화">    </p:cNvPr>
          <p:cNvPicPr>
            <a:picLocks noChangeAspect="1"/>
          </p:cNvPicPr>
          <p:nvPr/>
        </p:nvPicPr>
        <p:blipFill>
          <a:blip r:embed="rId8"/>
          <a:stretch>
            <a:fillRect/>
          </a:stretch>
        </p:blipFill>
        <p:spPr>
          <a:xfrm>
            <a:off x="873252" y="4297680"/>
            <a:ext cx="1078992" cy="1078992"/>
          </a:xfrm>
          <a:prstGeom prst="rect">
            <a:avLst/>
          </a:prstGeom>
        </p:spPr>
      </p:pic>
      <p:sp>
        <p:nvSpPr>
          <p:cNvPr id="35" name="Shape 25"/>
          <p:cNvSpPr/>
          <p:nvPr/>
        </p:nvSpPr>
        <p:spPr>
          <a:xfrm>
            <a:off x="2359152" y="4334256"/>
            <a:ext cx="457200" cy="457200"/>
          </a:xfrm>
          <a:prstGeom prst="ellipse">
            <a:avLst/>
          </a:prstGeom>
          <a:solidFill>
            <a:srgbClr val="E6F0E7"/>
          </a:solidFill>
          <a:ln/>
        </p:spPr>
      </p:sp>
      <p:pic>
        <p:nvPicPr>
          <p:cNvPr id="36" name="Image 8" descr="shield-check">    </p:cNvPr>
          <p:cNvPicPr>
            <a:picLocks noChangeAspect="1"/>
          </p:cNvPicPr>
          <p:nvPr/>
        </p:nvPicPr>
        <p:blipFill>
          <a:blip r:embed="rId9"/>
          <a:stretch>
            <a:fillRect/>
          </a:stretch>
        </p:blipFill>
        <p:spPr>
          <a:xfrm>
            <a:off x="2455164" y="4430268"/>
            <a:ext cx="265176" cy="265176"/>
          </a:xfrm>
          <a:prstGeom prst="rect">
            <a:avLst/>
          </a:prstGeom>
        </p:spPr>
      </p:pic>
      <p:sp>
        <p:nvSpPr>
          <p:cNvPr id="37" name="Text 26"/>
          <p:cNvSpPr txBox="1"/>
          <p:nvPr/>
        </p:nvSpPr>
        <p:spPr>
          <a:xfrm>
            <a:off x="2359152" y="4846320"/>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학생 정보 보호</a:t>
            </a:r>
            <a:endParaRPr lang="en-US" sz="1650" dirty="0"/>
          </a:p>
        </p:txBody>
      </p:sp>
      <p:sp>
        <p:nvSpPr>
          <p:cNvPr id="38" name="Text 27"/>
          <p:cNvSpPr txBox="1"/>
          <p:nvPr/>
        </p:nvSpPr>
        <p:spPr>
          <a:xfrm>
            <a:off x="649224" y="5486400"/>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학생 계정을 만들 때 보호자 동의를 확인하고, 맡은 학교가 아닌 자료는 화면에 오지 않습니다.</a:t>
            </a:r>
            <a:endParaRPr lang="en-US" sz="1450" dirty="0"/>
          </a:p>
        </p:txBody>
      </p:sp>
      <p:sp>
        <p:nvSpPr>
          <p:cNvPr id="39" name="Shape 28"/>
          <p:cNvSpPr/>
          <p:nvPr/>
        </p:nvSpPr>
        <p:spPr>
          <a:xfrm>
            <a:off x="4297680" y="4187952"/>
            <a:ext cx="3593592" cy="2084832"/>
          </a:xfrm>
          <a:prstGeom prst="roundRect">
            <a:avLst>
              <a:gd name="adj" fmla="val 4386"/>
            </a:avLst>
          </a:prstGeom>
          <a:solidFill>
            <a:srgbClr val="FBF5E6"/>
          </a:solidFill>
          <a:ln w="9525">
            <a:solidFill>
              <a:srgbClr val="E2DCCB"/>
            </a:solidFill>
            <a:prstDash val="solid"/>
          </a:ln>
        </p:spPr>
      </p:sp>
      <p:sp>
        <p:nvSpPr>
          <p:cNvPr id="40" name="Shape 29"/>
          <p:cNvSpPr/>
          <p:nvPr/>
        </p:nvSpPr>
        <p:spPr>
          <a:xfrm>
            <a:off x="4407408" y="4297680"/>
            <a:ext cx="1600200" cy="1078992"/>
          </a:xfrm>
          <a:prstGeom prst="roundRect">
            <a:avLst>
              <a:gd name="adj" fmla="val 6780"/>
            </a:avLst>
          </a:prstGeom>
          <a:solidFill>
            <a:srgbClr val="FFFFFF"/>
          </a:solidFill>
          <a:ln w="9525">
            <a:solidFill>
              <a:srgbClr val="E2DCCB"/>
            </a:solidFill>
            <a:prstDash val="solid"/>
          </a:ln>
        </p:spPr>
      </p:sp>
      <p:pic>
        <p:nvPicPr>
          <p:cNvPr id="41" name="Image 9" descr="화면">    </p:cNvPr>
          <p:cNvPicPr>
            <a:picLocks noChangeAspect="1"/>
          </p:cNvPicPr>
          <p:nvPr/>
        </p:nvPicPr>
        <p:blipFill>
          <a:blip r:embed="rId10"/>
          <a:stretch>
            <a:fillRect/>
          </a:stretch>
        </p:blipFill>
        <p:spPr>
          <a:xfrm>
            <a:off x="4471416" y="4361688"/>
            <a:ext cx="1472184" cy="950976"/>
          </a:xfrm>
          <a:prstGeom prst="rect">
            <a:avLst/>
          </a:prstGeom>
        </p:spPr>
      </p:pic>
      <p:sp>
        <p:nvSpPr>
          <p:cNvPr id="42" name="Shape 30"/>
          <p:cNvSpPr/>
          <p:nvPr/>
        </p:nvSpPr>
        <p:spPr>
          <a:xfrm>
            <a:off x="6153912" y="4334256"/>
            <a:ext cx="457200" cy="457200"/>
          </a:xfrm>
          <a:prstGeom prst="ellipse">
            <a:avLst/>
          </a:prstGeom>
          <a:solidFill>
            <a:srgbClr val="FFFFFF"/>
          </a:solidFill>
          <a:ln/>
        </p:spPr>
      </p:sp>
      <p:pic>
        <p:nvPicPr>
          <p:cNvPr id="43" name="Image 10" descr="bookmark">    </p:cNvPr>
          <p:cNvPicPr>
            <a:picLocks noChangeAspect="1"/>
          </p:cNvPicPr>
          <p:nvPr/>
        </p:nvPicPr>
        <p:blipFill>
          <a:blip r:embed="rId11"/>
          <a:stretch>
            <a:fillRect/>
          </a:stretch>
        </p:blipFill>
        <p:spPr>
          <a:xfrm>
            <a:off x="6249924" y="4430268"/>
            <a:ext cx="265176" cy="265176"/>
          </a:xfrm>
          <a:prstGeom prst="rect">
            <a:avLst/>
          </a:prstGeom>
        </p:spPr>
      </p:pic>
      <p:sp>
        <p:nvSpPr>
          <p:cNvPr id="44" name="Text 31"/>
          <p:cNvSpPr txBox="1"/>
          <p:nvPr/>
        </p:nvSpPr>
        <p:spPr>
          <a:xfrm>
            <a:off x="6153912" y="4846320"/>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실물 자료 함께 제공</a:t>
            </a:r>
            <a:endParaRPr lang="en-US" sz="1650" dirty="0"/>
          </a:p>
        </p:txBody>
      </p:sp>
      <p:sp>
        <p:nvSpPr>
          <p:cNvPr id="45" name="Text 32"/>
          <p:cNvSpPr txBox="1"/>
          <p:nvPr/>
        </p:nvSpPr>
        <p:spPr>
          <a:xfrm>
            <a:off x="4443984" y="5486400"/>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옷장 책갈피 32종, 종이인형 놀이책, 스티커북과 색칠 도안을 함께 씁니다.</a:t>
            </a:r>
            <a:endParaRPr lang="en-US" sz="1450" dirty="0"/>
          </a:p>
        </p:txBody>
      </p:sp>
      <p:sp>
        <p:nvSpPr>
          <p:cNvPr id="46" name="Shape 33"/>
          <p:cNvSpPr/>
          <p:nvPr/>
        </p:nvSpPr>
        <p:spPr>
          <a:xfrm>
            <a:off x="8092440" y="4187952"/>
            <a:ext cx="3593592" cy="2084832"/>
          </a:xfrm>
          <a:prstGeom prst="roundRect">
            <a:avLst>
              <a:gd name="adj" fmla="val 4386"/>
            </a:avLst>
          </a:prstGeom>
          <a:solidFill>
            <a:srgbClr val="FFFFFF"/>
          </a:solidFill>
          <a:ln w="9525">
            <a:solidFill>
              <a:srgbClr val="E2DCCB"/>
            </a:solidFill>
            <a:prstDash val="solid"/>
          </a:ln>
        </p:spPr>
      </p:sp>
      <p:pic>
        <p:nvPicPr>
          <p:cNvPr id="47" name="Image 11" descr="삽화">    </p:cNvPr>
          <p:cNvPicPr>
            <a:picLocks noChangeAspect="1"/>
          </p:cNvPicPr>
          <p:nvPr/>
        </p:nvPicPr>
        <p:blipFill>
          <a:blip r:embed="rId12"/>
          <a:stretch>
            <a:fillRect/>
          </a:stretch>
        </p:blipFill>
        <p:spPr>
          <a:xfrm>
            <a:off x="8202168" y="4570319"/>
            <a:ext cx="1600200" cy="533714"/>
          </a:xfrm>
          <a:prstGeom prst="rect">
            <a:avLst/>
          </a:prstGeom>
        </p:spPr>
      </p:pic>
      <p:sp>
        <p:nvSpPr>
          <p:cNvPr id="48" name="Shape 34"/>
          <p:cNvSpPr/>
          <p:nvPr/>
        </p:nvSpPr>
        <p:spPr>
          <a:xfrm>
            <a:off x="9948672" y="4334256"/>
            <a:ext cx="457200" cy="457200"/>
          </a:xfrm>
          <a:prstGeom prst="ellipse">
            <a:avLst/>
          </a:prstGeom>
          <a:solidFill>
            <a:srgbClr val="E6F0E7"/>
          </a:solidFill>
          <a:ln/>
        </p:spPr>
      </p:sp>
      <p:pic>
        <p:nvPicPr>
          <p:cNvPr id="49" name="Image 12" descr="book">    </p:cNvPr>
          <p:cNvPicPr>
            <a:picLocks noChangeAspect="1"/>
          </p:cNvPicPr>
          <p:nvPr/>
        </p:nvPicPr>
        <p:blipFill>
          <a:blip r:embed="rId13"/>
          <a:stretch>
            <a:fillRect/>
          </a:stretch>
        </p:blipFill>
        <p:spPr>
          <a:xfrm>
            <a:off x="10044684" y="4430268"/>
            <a:ext cx="265176" cy="265176"/>
          </a:xfrm>
          <a:prstGeom prst="rect">
            <a:avLst/>
          </a:prstGeom>
        </p:spPr>
      </p:pic>
      <p:sp>
        <p:nvSpPr>
          <p:cNvPr id="50" name="Text 35"/>
          <p:cNvSpPr txBox="1"/>
          <p:nvPr/>
        </p:nvSpPr>
        <p:spPr>
          <a:xfrm>
            <a:off x="9948672" y="4846320"/>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종이책 연계(계획)</a:t>
            </a:r>
            <a:endParaRPr lang="en-US" sz="1650" dirty="0"/>
          </a:p>
        </p:txBody>
      </p:sp>
      <p:sp>
        <p:nvSpPr>
          <p:cNvPr id="51" name="Text 36"/>
          <p:cNvSpPr txBox="1"/>
          <p:nvPr/>
        </p:nvSpPr>
        <p:spPr>
          <a:xfrm>
            <a:off x="8238744" y="5486400"/>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그림책을 신국판 비율로 짜, 화면에서 읽은 판을 그대로 종이책으로 펴낼 계획입니다.</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학년별 300권과 읽기 화면</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원작 길이와 정서, 사고의 발달에 맞춰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학년마다 50권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모두 300권을 골랐습니다</a:t>
            </a:r>
            <a:endParaRPr lang="en-US" sz="1400" dirty="0"/>
          </a:p>
        </p:txBody>
      </p:sp>
      <p:sp>
        <p:nvSpPr>
          <p:cNvPr id="10" name="Text 7"/>
          <p:cNvSpPr txBox="1"/>
          <p:nvPr/>
        </p:nvSpPr>
        <p:spPr>
          <a:xfrm>
            <a:off x="189059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0457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편성 근거: 「부기 고전 300권 고르기」(2026. 10. 14.). 저작권: 2026년 기준 1955년 이전에 세상을 떠난 저자의 작품과 작자 미상 전래 이야기만 골라 새로 옮김, 기존 번역본 미사용. 표지와 삽화는 생성형 AI로 그림.</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22</a:t>
            </a:r>
            <a:endParaRPr lang="en-US" sz="12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5900374" cy="914400"/>
        </p:xfrm>
        <a:graphic>
          <a:graphicData uri="http://schemas.openxmlformats.org/drawingml/2006/table">
            <a:tbl>
              <a:tblPr/>
              <a:tblGrid>
                <a:gridCol w="868680"/>
                <a:gridCol w="5031694"/>
              </a:tblGrid>
              <a:tr h="457200">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대표 작품</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1학년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토끼와 거북이, 여우와 신 포도, 해와 달이 된 오누이, 금도끼 은도끼</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2학년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미운 오리 새끼, 브레멘 음악대, 콩쥐팥쥐, 별주부전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3학년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행복한 왕자, 눈의 여왕, 플랜더스의 개, 은혜 갚은 까치</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4학년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어린 왕자, 오즈의 마법사, 작은 아씨들, 심청전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5학년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빨간 머리 앤, 80일간의 세계일주, 홍길동전, 춘향전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6학년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레 미제라블, 큰 바위 얼굴, 삼국지, 하늘과 바람과 별과 시</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Text 11"/>
          <p:cNvSpPr txBox="1"/>
          <p:nvPr/>
        </p:nvSpPr>
        <p:spPr>
          <a:xfrm>
            <a:off x="502920" y="5266944"/>
            <a:ext cx="1097280"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편성 기준</a:t>
            </a:r>
            <a:endParaRPr lang="en-US" sz="1550" dirty="0"/>
          </a:p>
        </p:txBody>
      </p:sp>
      <p:sp>
        <p:nvSpPr>
          <p:cNvPr id="16" name="Shape 12"/>
          <p:cNvSpPr/>
          <p:nvPr/>
        </p:nvSpPr>
        <p:spPr>
          <a:xfrm>
            <a:off x="1554480" y="5276088"/>
            <a:ext cx="941832" cy="292608"/>
          </a:xfrm>
          <a:prstGeom prst="roundRect">
            <a:avLst>
              <a:gd name="adj" fmla="val 50000"/>
            </a:avLst>
          </a:prstGeom>
          <a:solidFill>
            <a:srgbClr val="E6F0E7"/>
          </a:solidFill>
          <a:ln/>
        </p:spPr>
      </p:sp>
      <p:sp>
        <p:nvSpPr>
          <p:cNvPr id="17" name="Text 13"/>
          <p:cNvSpPr txBox="1"/>
          <p:nvPr/>
        </p:nvSpPr>
        <p:spPr>
          <a:xfrm>
            <a:off x="1554480" y="5276088"/>
            <a:ext cx="941832"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원작 길이</a:t>
            </a:r>
            <a:endParaRPr lang="en-US" sz="1450" dirty="0"/>
          </a:p>
        </p:txBody>
      </p:sp>
      <p:sp>
        <p:nvSpPr>
          <p:cNvPr id="18" name="Shape 14"/>
          <p:cNvSpPr/>
          <p:nvPr/>
        </p:nvSpPr>
        <p:spPr>
          <a:xfrm>
            <a:off x="2587752" y="5276088"/>
            <a:ext cx="1554480" cy="292608"/>
          </a:xfrm>
          <a:prstGeom prst="roundRect">
            <a:avLst>
              <a:gd name="adj" fmla="val 50000"/>
            </a:avLst>
          </a:prstGeom>
          <a:solidFill>
            <a:srgbClr val="E6F0E7"/>
          </a:solidFill>
          <a:ln/>
        </p:spPr>
      </p:sp>
      <p:sp>
        <p:nvSpPr>
          <p:cNvPr id="19" name="Text 15"/>
          <p:cNvSpPr txBox="1"/>
          <p:nvPr/>
        </p:nvSpPr>
        <p:spPr>
          <a:xfrm>
            <a:off x="2587752" y="5276088"/>
            <a:ext cx="1554480"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정서와 사고의 발달</a:t>
            </a:r>
            <a:endParaRPr lang="en-US" sz="1450" dirty="0"/>
          </a:p>
        </p:txBody>
      </p:sp>
      <p:sp>
        <p:nvSpPr>
          <p:cNvPr id="20" name="Shape 16"/>
          <p:cNvSpPr/>
          <p:nvPr/>
        </p:nvSpPr>
        <p:spPr>
          <a:xfrm>
            <a:off x="4233672" y="5276088"/>
            <a:ext cx="941832" cy="292608"/>
          </a:xfrm>
          <a:prstGeom prst="roundRect">
            <a:avLst>
              <a:gd name="adj" fmla="val 50000"/>
            </a:avLst>
          </a:prstGeom>
          <a:solidFill>
            <a:srgbClr val="E6F0E7"/>
          </a:solidFill>
          <a:ln/>
        </p:spPr>
      </p:sp>
      <p:sp>
        <p:nvSpPr>
          <p:cNvPr id="21" name="Text 17"/>
          <p:cNvSpPr txBox="1"/>
          <p:nvPr/>
        </p:nvSpPr>
        <p:spPr>
          <a:xfrm>
            <a:off x="4233672" y="5276088"/>
            <a:ext cx="941832"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장면 조정</a:t>
            </a:r>
            <a:endParaRPr lang="en-US" sz="1450" dirty="0"/>
          </a:p>
        </p:txBody>
      </p:sp>
      <p:sp>
        <p:nvSpPr>
          <p:cNvPr id="22" name="Shape 18"/>
          <p:cNvSpPr/>
          <p:nvPr/>
        </p:nvSpPr>
        <p:spPr>
          <a:xfrm>
            <a:off x="5266944" y="5276088"/>
            <a:ext cx="1412748" cy="292608"/>
          </a:xfrm>
          <a:prstGeom prst="roundRect">
            <a:avLst>
              <a:gd name="adj" fmla="val 50000"/>
            </a:avLst>
          </a:prstGeom>
          <a:solidFill>
            <a:srgbClr val="E6F0E7"/>
          </a:solidFill>
          <a:ln/>
        </p:spPr>
      </p:sp>
      <p:sp>
        <p:nvSpPr>
          <p:cNvPr id="23" name="Text 19"/>
          <p:cNvSpPr txBox="1"/>
          <p:nvPr/>
        </p:nvSpPr>
        <p:spPr>
          <a:xfrm>
            <a:off x="5266944" y="5276088"/>
            <a:ext cx="1412748"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저작권 만료 확인</a:t>
            </a:r>
            <a:endParaRPr lang="en-US" sz="1450" dirty="0"/>
          </a:p>
        </p:txBody>
      </p:sp>
      <p:sp>
        <p:nvSpPr>
          <p:cNvPr id="24" name="Shape 20"/>
          <p:cNvSpPr/>
          <p:nvPr/>
        </p:nvSpPr>
        <p:spPr>
          <a:xfrm>
            <a:off x="502920" y="5687568"/>
            <a:ext cx="5900374" cy="585216"/>
          </a:xfrm>
          <a:prstGeom prst="roundRect">
            <a:avLst>
              <a:gd name="adj" fmla="val 15625"/>
            </a:avLst>
          </a:prstGeom>
          <a:solidFill>
            <a:srgbClr val="E6F0E7"/>
          </a:solidFill>
          <a:ln/>
        </p:spPr>
      </p:sp>
      <p:sp>
        <p:nvSpPr>
          <p:cNvPr id="25" name="Text 21"/>
          <p:cNvSpPr txBox="1"/>
          <p:nvPr/>
        </p:nvSpPr>
        <p:spPr>
          <a:xfrm>
            <a:off x="685800" y="5687568"/>
            <a:ext cx="5534614" cy="58521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차후 600권으로 확장</a:t>
            </a:r>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  학년별 명작을 600권으로 늘리고 교사와 작가진의 창작 동화를 더합니다.</a:t>
            </a:r>
            <a:endParaRPr lang="en-US" sz="1500" dirty="0"/>
          </a:p>
        </p:txBody>
      </p:sp>
      <p:sp>
        <p:nvSpPr>
          <p:cNvPr id="26" name="Shape 22"/>
          <p:cNvSpPr/>
          <p:nvPr/>
        </p:nvSpPr>
        <p:spPr>
          <a:xfrm>
            <a:off x="7598751" y="1920240"/>
            <a:ext cx="3257584" cy="2651760"/>
          </a:xfrm>
          <a:prstGeom prst="roundRect">
            <a:avLst>
              <a:gd name="adj" fmla="val 275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7" name="Image 1" descr="3학년 「은혜 갚은 까치」 낱말 뜻">    </p:cNvPr>
          <p:cNvPicPr>
            <a:picLocks noChangeAspect="1"/>
          </p:cNvPicPr>
          <p:nvPr/>
        </p:nvPicPr>
        <p:blipFill>
          <a:blip r:embed="rId2"/>
          <a:stretch>
            <a:fillRect/>
          </a:stretch>
        </p:blipFill>
        <p:spPr>
          <a:xfrm>
            <a:off x="7662759" y="1984248"/>
            <a:ext cx="3129568" cy="2523744"/>
          </a:xfrm>
          <a:prstGeom prst="rect">
            <a:avLst/>
          </a:prstGeom>
        </p:spPr>
      </p:pic>
      <p:sp>
        <p:nvSpPr>
          <p:cNvPr id="28" name="Shape 23"/>
          <p:cNvSpPr/>
          <p:nvPr/>
        </p:nvSpPr>
        <p:spPr>
          <a:xfrm>
            <a:off x="7708479" y="4187952"/>
            <a:ext cx="2188591" cy="274320"/>
          </a:xfrm>
          <a:prstGeom prst="roundRect">
            <a:avLst>
              <a:gd name="adj" fmla="val 50000"/>
            </a:avLst>
          </a:prstGeom>
          <a:solidFill>
            <a:srgbClr val="20342A">
              <a:alpha val="92000"/>
            </a:srgbClr>
          </a:solidFill>
          <a:ln/>
        </p:spPr>
      </p:sp>
      <p:sp>
        <p:nvSpPr>
          <p:cNvPr id="29" name="Text 24"/>
          <p:cNvSpPr txBox="1"/>
          <p:nvPr/>
        </p:nvSpPr>
        <p:spPr>
          <a:xfrm>
            <a:off x="7708479" y="4187952"/>
            <a:ext cx="218859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3학년 「은혜 갚은 까치」 낱말 뜻</a:t>
            </a:r>
            <a:endParaRPr lang="en-US" sz="1300" dirty="0"/>
          </a:p>
        </p:txBody>
      </p:sp>
      <p:sp>
        <p:nvSpPr>
          <p:cNvPr id="30" name="Shape 25"/>
          <p:cNvSpPr/>
          <p:nvPr/>
        </p:nvSpPr>
        <p:spPr>
          <a:xfrm>
            <a:off x="6769054" y="4709160"/>
            <a:ext cx="4916978" cy="322326"/>
          </a:xfrm>
          <a:prstGeom prst="roundRect">
            <a:avLst>
              <a:gd name="adj" fmla="val 17021"/>
            </a:avLst>
          </a:prstGeom>
          <a:solidFill>
            <a:srgbClr val="F7F4EC"/>
          </a:solidFill>
          <a:ln/>
        </p:spPr>
      </p:sp>
      <p:sp>
        <p:nvSpPr>
          <p:cNvPr id="31" name="Text 26"/>
          <p:cNvSpPr txBox="1"/>
          <p:nvPr/>
        </p:nvSpPr>
        <p:spPr>
          <a:xfrm>
            <a:off x="6915358" y="4709160"/>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낱말 뜻</a:t>
            </a:r>
            <a:endParaRPr lang="en-US" sz="1550" dirty="0"/>
          </a:p>
        </p:txBody>
      </p:sp>
      <p:sp>
        <p:nvSpPr>
          <p:cNvPr id="32" name="Text 27"/>
          <p:cNvSpPr txBox="1"/>
          <p:nvPr/>
        </p:nvSpPr>
        <p:spPr>
          <a:xfrm>
            <a:off x="8506414" y="4709160"/>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밑줄 친 낱말을 누르면 그 학년 말로 쓴 뜻</a:t>
            </a:r>
            <a:endParaRPr lang="en-US" sz="1500" dirty="0"/>
          </a:p>
        </p:txBody>
      </p:sp>
      <p:sp>
        <p:nvSpPr>
          <p:cNvPr id="33" name="Shape 28"/>
          <p:cNvSpPr/>
          <p:nvPr/>
        </p:nvSpPr>
        <p:spPr>
          <a:xfrm>
            <a:off x="6769054" y="5122926"/>
            <a:ext cx="4916978" cy="322326"/>
          </a:xfrm>
          <a:prstGeom prst="roundRect">
            <a:avLst>
              <a:gd name="adj" fmla="val 17021"/>
            </a:avLst>
          </a:prstGeom>
          <a:solidFill>
            <a:srgbClr val="FFFFFF"/>
          </a:solidFill>
          <a:ln w="9525">
            <a:solidFill>
              <a:srgbClr val="E2DCCB"/>
            </a:solidFill>
            <a:prstDash val="solid"/>
          </a:ln>
        </p:spPr>
      </p:sp>
      <p:sp>
        <p:nvSpPr>
          <p:cNvPr id="34" name="Text 29"/>
          <p:cNvSpPr txBox="1"/>
          <p:nvPr/>
        </p:nvSpPr>
        <p:spPr>
          <a:xfrm>
            <a:off x="6915358" y="5122926"/>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읽어주기</a:t>
            </a:r>
            <a:endParaRPr lang="en-US" sz="1550" dirty="0"/>
          </a:p>
        </p:txBody>
      </p:sp>
      <p:sp>
        <p:nvSpPr>
          <p:cNvPr id="35" name="Text 30"/>
          <p:cNvSpPr txBox="1"/>
          <p:nvPr/>
        </p:nvSpPr>
        <p:spPr>
          <a:xfrm>
            <a:off x="8506414" y="5122926"/>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음성 합성(TTS)으로 소리 내어 읽기</a:t>
            </a:r>
            <a:endParaRPr lang="en-US" sz="1500" dirty="0"/>
          </a:p>
        </p:txBody>
      </p:sp>
      <p:sp>
        <p:nvSpPr>
          <p:cNvPr id="36" name="Shape 31"/>
          <p:cNvSpPr/>
          <p:nvPr/>
        </p:nvSpPr>
        <p:spPr>
          <a:xfrm>
            <a:off x="6769054" y="5536692"/>
            <a:ext cx="4916978" cy="322326"/>
          </a:xfrm>
          <a:prstGeom prst="roundRect">
            <a:avLst>
              <a:gd name="adj" fmla="val 17021"/>
            </a:avLst>
          </a:prstGeom>
          <a:solidFill>
            <a:srgbClr val="F7F4EC"/>
          </a:solidFill>
          <a:ln/>
        </p:spPr>
      </p:sp>
      <p:sp>
        <p:nvSpPr>
          <p:cNvPr id="37" name="Text 32"/>
          <p:cNvSpPr txBox="1"/>
          <p:nvPr/>
        </p:nvSpPr>
        <p:spPr>
          <a:xfrm>
            <a:off x="6915358" y="5536692"/>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글자 크기</a:t>
            </a:r>
            <a:endParaRPr lang="en-US" sz="1550" dirty="0"/>
          </a:p>
        </p:txBody>
      </p:sp>
      <p:sp>
        <p:nvSpPr>
          <p:cNvPr id="38" name="Text 33"/>
          <p:cNvSpPr txBox="1"/>
          <p:nvPr/>
        </p:nvSpPr>
        <p:spPr>
          <a:xfrm>
            <a:off x="8506414" y="5536692"/>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「가−」 「기본」 「가+」 3단계</a:t>
            </a:r>
            <a:endParaRPr lang="en-US" sz="1500" dirty="0"/>
          </a:p>
        </p:txBody>
      </p:sp>
      <p:sp>
        <p:nvSpPr>
          <p:cNvPr id="39" name="Shape 34"/>
          <p:cNvSpPr/>
          <p:nvPr/>
        </p:nvSpPr>
        <p:spPr>
          <a:xfrm>
            <a:off x="6769054" y="5950458"/>
            <a:ext cx="4916978" cy="322326"/>
          </a:xfrm>
          <a:prstGeom prst="roundRect">
            <a:avLst>
              <a:gd name="adj" fmla="val 17021"/>
            </a:avLst>
          </a:prstGeom>
          <a:solidFill>
            <a:srgbClr val="FFFFFF"/>
          </a:solidFill>
          <a:ln w="9525">
            <a:solidFill>
              <a:srgbClr val="E2DCCB"/>
            </a:solidFill>
            <a:prstDash val="solid"/>
          </a:ln>
        </p:spPr>
      </p:sp>
      <p:sp>
        <p:nvSpPr>
          <p:cNvPr id="40" name="Text 35"/>
          <p:cNvSpPr txBox="1"/>
          <p:nvPr/>
        </p:nvSpPr>
        <p:spPr>
          <a:xfrm>
            <a:off x="6915358" y="5950458"/>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밑줄, 메모, 책갈피</a:t>
            </a:r>
            <a:endParaRPr lang="en-US" sz="1550" dirty="0"/>
          </a:p>
        </p:txBody>
      </p:sp>
      <p:sp>
        <p:nvSpPr>
          <p:cNvPr id="41" name="Text 36"/>
          <p:cNvSpPr txBox="1"/>
          <p:nvPr/>
        </p:nvSpPr>
        <p:spPr>
          <a:xfrm>
            <a:off x="8506414" y="5950458"/>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책마다 「독서 노트」에 모임</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다국어 읽기와 이주배경학생 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모국어와 한국어로 같은 책을 나란히 읽어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이주배경학생 21만 명</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도 수업에 함께합니다</a:t>
            </a:r>
            <a:endParaRPr lang="en-US" sz="1400" dirty="0"/>
          </a:p>
        </p:txBody>
      </p:sp>
      <p:sp>
        <p:nvSpPr>
          <p:cNvPr id="10" name="Text 7"/>
          <p:cNvSpPr txBox="1"/>
          <p:nvPr/>
        </p:nvSpPr>
        <p:spPr>
          <a:xfrm>
            <a:off x="169169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0348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교육기본통계(각 연도 4월 1일 기준). 2022년은 2023년 증가분(12,533명)으로 계산. 정책 명칭은 「다문화 학생」에서 「이주배경학생」으로 바뀜(초중등교육법 제28조의2 개정).</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23</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초중고 이주배경학생 수</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단위: 명</a:t>
            </a:r>
            <a:endParaRPr lang="en-US" sz="1650" dirty="0"/>
          </a:p>
        </p:txBody>
      </p:sp>
      <p:graphicFrame>
        <p:nvGraphicFramePr>
          <p:cNvPr id="16" name="Chart 0" descr=""/>
          <p:cNvGraphicFramePr/>
          <p:nvPr/>
        </p:nvGraphicFramePr>
        <p:xfrm>
          <a:off x="502920" y="2304288"/>
          <a:ext cx="4702302" cy="2468880"/>
        </p:xfrm>
        <a:graphic xmlns:a="http://schemas.openxmlformats.org/drawingml/2006/main">
          <a:graphicData uri="http://schemas.openxmlformats.org/drawingml/2006/chart">
            <c:chart xmlns:c="http://schemas.openxmlformats.org/drawingml/2006/chart" r:id="rId2"/>
          </a:graphicData>
        </a:graphic>
      </p:graphicFrame>
      <p:sp>
        <p:nvSpPr>
          <p:cNvPr id="17" name="Shape 13"/>
          <p:cNvSpPr/>
          <p:nvPr/>
        </p:nvSpPr>
        <p:spPr>
          <a:xfrm>
            <a:off x="4519422" y="2487168"/>
            <a:ext cx="868680" cy="0"/>
          </a:xfrm>
          <a:prstGeom prst="line">
            <a:avLst/>
          </a:prstGeom>
          <a:noFill/>
          <a:ln w="28575">
            <a:solidFill>
              <a:srgbClr val="C08A1E"/>
            </a:solidFill>
            <a:prstDash val="dash"/>
            <a:tailEnd type="triangle"/>
          </a:ln>
        </p:spPr>
      </p:sp>
      <p:sp>
        <p:nvSpPr>
          <p:cNvPr id="18" name="Shape 14"/>
          <p:cNvSpPr/>
          <p:nvPr/>
        </p:nvSpPr>
        <p:spPr>
          <a:xfrm>
            <a:off x="5296662" y="2267712"/>
            <a:ext cx="822960" cy="566928"/>
          </a:xfrm>
          <a:prstGeom prst="roundRect">
            <a:avLst>
              <a:gd name="adj" fmla="val 16129"/>
            </a:avLst>
          </a:prstGeom>
          <a:solidFill>
            <a:srgbClr val="F6ECD2"/>
          </a:solidFill>
          <a:ln/>
        </p:spPr>
      </p:sp>
      <p:sp>
        <p:nvSpPr>
          <p:cNvPr id="19" name="Text 15"/>
          <p:cNvSpPr txBox="1"/>
          <p:nvPr/>
        </p:nvSpPr>
        <p:spPr>
          <a:xfrm>
            <a:off x="5296662" y="2267712"/>
            <a:ext cx="822960" cy="566928"/>
          </a:xfrm>
          <a:prstGeom prst="rect">
            <a:avLst/>
          </a:prstGeom>
          <a:noFill/>
          <a:ln/>
        </p:spPr>
        <p:txBody>
          <a:bodyPr wrap="square" lIns="0" tIns="0" rIns="0" bIns="0" rtlCol="0" anchor="ctr"/>
          <a:lstStyle/>
          <a:p>
            <a:pPr algn="ctr" indent="0" marL="0">
              <a:lnSpc>
                <a:spcPct val="100000"/>
              </a:lnSpc>
              <a:buNone/>
            </a:pPr>
            <a:r>
              <a:rPr lang="en-US" sz="1400" dirty="0">
                <a:solidFill>
                  <a:srgbClr val="C08A1E"/>
                </a:solidFill>
                <a:latin typeface="Freesentation 7 Bold" pitchFamily="34" charset="0"/>
                <a:ea typeface="Freesentation 7 Bold" pitchFamily="34" charset="-122"/>
                <a:cs typeface="Freesentation 7 Bold" pitchFamily="34" charset="-120"/>
              </a:rPr>
              <a:t>증가</a:t>
            </a:r>
            <a:endParaRPr lang="en-US" sz="1400" dirty="0"/>
          </a:p>
          <a:p>
            <a:pPr algn="ctr" indent="0" marL="0">
              <a:lnSpc>
                <a:spcPct val="100000"/>
              </a:lnSpc>
              <a:buNone/>
            </a:pPr>
            <a:r>
              <a:rPr lang="en-US" sz="1400" dirty="0">
                <a:solidFill>
                  <a:srgbClr val="C08A1E"/>
                </a:solidFill>
                <a:latin typeface="Freesentation 7 Bold" pitchFamily="34" charset="0"/>
                <a:ea typeface="Freesentation 7 Bold" pitchFamily="34" charset="-122"/>
                <a:cs typeface="Freesentation 7 Bold" pitchFamily="34" charset="-120"/>
              </a:rPr>
              <a:t>예상</a:t>
            </a:r>
            <a:endParaRPr lang="en-US" sz="1400" dirty="0"/>
          </a:p>
        </p:txBody>
      </p:sp>
      <p:sp>
        <p:nvSpPr>
          <p:cNvPr id="20" name="Text 16"/>
          <p:cNvSpPr txBox="1"/>
          <p:nvPr/>
        </p:nvSpPr>
        <p:spPr>
          <a:xfrm>
            <a:off x="5223510" y="2944368"/>
            <a:ext cx="960120" cy="822960"/>
          </a:xfrm>
          <a:prstGeom prst="rect">
            <a:avLst/>
          </a:prstGeom>
          <a:noFill/>
          <a:ln/>
        </p:spPr>
        <p:txBody>
          <a:bodyPr wrap="square" lIns="0" tIns="0" rIns="0" bIns="0" rtlCol="0" anchor="t"/>
          <a:lstStyle/>
          <a:p>
            <a:pPr algn="ct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해마다</a:t>
            </a:r>
            <a:endParaRPr lang="en-US" sz="1100" dirty="0"/>
          </a:p>
          <a:p>
            <a:pPr algn="ct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8천~1만 2천여 명 증가</a:t>
            </a:r>
            <a:endParaRPr lang="en-US" sz="1100" dirty="0"/>
          </a:p>
        </p:txBody>
      </p:sp>
      <p:sp>
        <p:nvSpPr>
          <p:cNvPr id="21" name="Shape 17"/>
          <p:cNvSpPr/>
          <p:nvPr/>
        </p:nvSpPr>
        <p:spPr>
          <a:xfrm>
            <a:off x="502920" y="4864608"/>
            <a:ext cx="5616702" cy="420624"/>
          </a:xfrm>
          <a:prstGeom prst="roundRect">
            <a:avLst>
              <a:gd name="adj" fmla="val 17391"/>
            </a:avLst>
          </a:prstGeom>
          <a:solidFill>
            <a:srgbClr val="FBF5E6"/>
          </a:solidFill>
          <a:ln w="9525">
            <a:solidFill>
              <a:srgbClr val="E2DCCB"/>
            </a:solidFill>
            <a:prstDash val="solid"/>
          </a:ln>
        </p:spPr>
      </p:sp>
      <p:sp>
        <p:nvSpPr>
          <p:cNvPr id="22" name="Text 18"/>
          <p:cNvSpPr txBox="1"/>
          <p:nvPr/>
        </p:nvSpPr>
        <p:spPr>
          <a:xfrm>
            <a:off x="667512" y="4864608"/>
            <a:ext cx="1874520" cy="420624"/>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4.5배</a:t>
            </a:r>
            <a:endParaRPr lang="en-US" sz="1900" dirty="0"/>
          </a:p>
        </p:txBody>
      </p:sp>
      <p:sp>
        <p:nvSpPr>
          <p:cNvPr id="23" name="Text 19"/>
          <p:cNvSpPr txBox="1"/>
          <p:nvPr/>
        </p:nvSpPr>
        <p:spPr>
          <a:xfrm>
            <a:off x="2560320" y="4864608"/>
            <a:ext cx="3467862" cy="420624"/>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2012년 46,954명에서 2026년 210,838명으로</a:t>
            </a:r>
            <a:endParaRPr lang="en-US" sz="1450" dirty="0"/>
          </a:p>
        </p:txBody>
      </p:sp>
      <p:sp>
        <p:nvSpPr>
          <p:cNvPr id="24" name="Shape 20"/>
          <p:cNvSpPr/>
          <p:nvPr/>
        </p:nvSpPr>
        <p:spPr>
          <a:xfrm>
            <a:off x="502920" y="5358384"/>
            <a:ext cx="5616702" cy="420624"/>
          </a:xfrm>
          <a:prstGeom prst="roundRect">
            <a:avLst>
              <a:gd name="adj" fmla="val 17391"/>
            </a:avLst>
          </a:prstGeom>
          <a:solidFill>
            <a:srgbClr val="FFFFFF"/>
          </a:solidFill>
          <a:ln w="9525">
            <a:solidFill>
              <a:srgbClr val="E2DCCB"/>
            </a:solidFill>
            <a:prstDash val="solid"/>
          </a:ln>
        </p:spPr>
      </p:sp>
      <p:sp>
        <p:nvSpPr>
          <p:cNvPr id="25" name="Text 21"/>
          <p:cNvSpPr txBox="1"/>
          <p:nvPr/>
        </p:nvSpPr>
        <p:spPr>
          <a:xfrm>
            <a:off x="667512" y="5358384"/>
            <a:ext cx="1874520" cy="420624"/>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3.5% → 4.3%</a:t>
            </a:r>
            <a:endParaRPr lang="en-US" sz="1900" dirty="0"/>
          </a:p>
        </p:txBody>
      </p:sp>
      <p:sp>
        <p:nvSpPr>
          <p:cNvPr id="26" name="Text 22"/>
          <p:cNvSpPr txBox="1"/>
          <p:nvPr/>
        </p:nvSpPr>
        <p:spPr>
          <a:xfrm>
            <a:off x="2560320" y="5358384"/>
            <a:ext cx="3467862" cy="420624"/>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전체 학생 가운데 비율, 2023년에서 2026년</a:t>
            </a:r>
            <a:endParaRPr lang="en-US" sz="1450" dirty="0"/>
          </a:p>
        </p:txBody>
      </p:sp>
      <p:sp>
        <p:nvSpPr>
          <p:cNvPr id="27" name="Shape 23"/>
          <p:cNvSpPr/>
          <p:nvPr/>
        </p:nvSpPr>
        <p:spPr>
          <a:xfrm>
            <a:off x="502920" y="5852160"/>
            <a:ext cx="5616702" cy="420624"/>
          </a:xfrm>
          <a:prstGeom prst="roundRect">
            <a:avLst>
              <a:gd name="adj" fmla="val 17391"/>
            </a:avLst>
          </a:prstGeom>
          <a:solidFill>
            <a:srgbClr val="FBF5E6"/>
          </a:solidFill>
          <a:ln w="9525">
            <a:solidFill>
              <a:srgbClr val="E2DCCB"/>
            </a:solidFill>
            <a:prstDash val="solid"/>
          </a:ln>
        </p:spPr>
      </p:sp>
      <p:sp>
        <p:nvSpPr>
          <p:cNvPr id="28" name="Text 24"/>
          <p:cNvSpPr txBox="1"/>
          <p:nvPr/>
        </p:nvSpPr>
        <p:spPr>
          <a:xfrm>
            <a:off x="667512" y="5852160"/>
            <a:ext cx="1874520" cy="420624"/>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118,655명</a:t>
            </a:r>
            <a:endParaRPr lang="en-US" sz="1900" dirty="0"/>
          </a:p>
        </p:txBody>
      </p:sp>
      <p:sp>
        <p:nvSpPr>
          <p:cNvPr id="29" name="Text 25"/>
          <p:cNvSpPr txBox="1"/>
          <p:nvPr/>
        </p:nvSpPr>
        <p:spPr>
          <a:xfrm>
            <a:off x="2560320" y="5852160"/>
            <a:ext cx="3467862" cy="420624"/>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2026년 초등학교 이주배경학생</a:t>
            </a:r>
            <a:endParaRPr lang="en-US" sz="1450" dirty="0"/>
          </a:p>
        </p:txBody>
      </p:sp>
      <p:sp>
        <p:nvSpPr>
          <p:cNvPr id="30" name="Shape 26"/>
          <p:cNvSpPr/>
          <p:nvPr/>
        </p:nvSpPr>
        <p:spPr>
          <a:xfrm>
            <a:off x="6634924" y="1920240"/>
            <a:ext cx="2218944" cy="1920240"/>
          </a:xfrm>
          <a:prstGeom prst="roundRect">
            <a:avLst>
              <a:gd name="adj" fmla="val 3810"/>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1" name="Image 1" descr="베트남어 나란히">    </p:cNvPr>
          <p:cNvPicPr>
            <a:picLocks noChangeAspect="1"/>
          </p:cNvPicPr>
          <p:nvPr/>
        </p:nvPicPr>
        <p:blipFill>
          <a:blip r:embed="rId3"/>
          <a:stretch>
            <a:fillRect/>
          </a:stretch>
        </p:blipFill>
        <p:spPr>
          <a:xfrm>
            <a:off x="6698932" y="1984248"/>
            <a:ext cx="2090928" cy="1792224"/>
          </a:xfrm>
          <a:prstGeom prst="rect">
            <a:avLst/>
          </a:prstGeom>
        </p:spPr>
      </p:pic>
      <p:sp>
        <p:nvSpPr>
          <p:cNvPr id="32" name="Shape 27"/>
          <p:cNvSpPr/>
          <p:nvPr/>
        </p:nvSpPr>
        <p:spPr>
          <a:xfrm>
            <a:off x="6744652" y="3456432"/>
            <a:ext cx="1280541" cy="274320"/>
          </a:xfrm>
          <a:prstGeom prst="roundRect">
            <a:avLst>
              <a:gd name="adj" fmla="val 50000"/>
            </a:avLst>
          </a:prstGeom>
          <a:solidFill>
            <a:srgbClr val="20342A">
              <a:alpha val="92000"/>
            </a:srgbClr>
          </a:solidFill>
          <a:ln/>
        </p:spPr>
      </p:sp>
      <p:sp>
        <p:nvSpPr>
          <p:cNvPr id="33" name="Text 28"/>
          <p:cNvSpPr txBox="1"/>
          <p:nvPr/>
        </p:nvSpPr>
        <p:spPr>
          <a:xfrm>
            <a:off x="6744652" y="3456432"/>
            <a:ext cx="128054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베트남어 나란히</a:t>
            </a:r>
            <a:endParaRPr lang="en-US" sz="1300" dirty="0"/>
          </a:p>
        </p:txBody>
      </p:sp>
      <p:sp>
        <p:nvSpPr>
          <p:cNvPr id="34" name="Shape 29"/>
          <p:cNvSpPr/>
          <p:nvPr/>
        </p:nvSpPr>
        <p:spPr>
          <a:xfrm>
            <a:off x="9175692" y="1920240"/>
            <a:ext cx="2502650" cy="1920240"/>
          </a:xfrm>
          <a:prstGeom prst="roundRect">
            <a:avLst>
              <a:gd name="adj" fmla="val 3810"/>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5" name="Image 2" descr="러시아어">    </p:cNvPr>
          <p:cNvPicPr>
            <a:picLocks noChangeAspect="1"/>
          </p:cNvPicPr>
          <p:nvPr/>
        </p:nvPicPr>
        <p:blipFill>
          <a:blip r:embed="rId4"/>
          <a:stretch>
            <a:fillRect/>
          </a:stretch>
        </p:blipFill>
        <p:spPr>
          <a:xfrm>
            <a:off x="9239700" y="1984248"/>
            <a:ext cx="2374634" cy="1792224"/>
          </a:xfrm>
          <a:prstGeom prst="rect">
            <a:avLst/>
          </a:prstGeom>
        </p:spPr>
      </p:pic>
      <p:sp>
        <p:nvSpPr>
          <p:cNvPr id="36" name="Shape 30"/>
          <p:cNvSpPr/>
          <p:nvPr/>
        </p:nvSpPr>
        <p:spPr>
          <a:xfrm>
            <a:off x="9285420" y="3456432"/>
            <a:ext cx="848868" cy="274320"/>
          </a:xfrm>
          <a:prstGeom prst="roundRect">
            <a:avLst>
              <a:gd name="adj" fmla="val 50000"/>
            </a:avLst>
          </a:prstGeom>
          <a:solidFill>
            <a:srgbClr val="20342A">
              <a:alpha val="92000"/>
            </a:srgbClr>
          </a:solidFill>
          <a:ln/>
        </p:spPr>
      </p:sp>
      <p:sp>
        <p:nvSpPr>
          <p:cNvPr id="37" name="Text 31"/>
          <p:cNvSpPr txBox="1"/>
          <p:nvPr/>
        </p:nvSpPr>
        <p:spPr>
          <a:xfrm>
            <a:off x="9285420" y="3456432"/>
            <a:ext cx="848868"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러시아어</a:t>
            </a:r>
            <a:endParaRPr lang="en-US" sz="1300" dirty="0"/>
          </a:p>
        </p:txBody>
      </p:sp>
      <p:sp>
        <p:nvSpPr>
          <p:cNvPr id="38" name="Shape 32"/>
          <p:cNvSpPr/>
          <p:nvPr/>
        </p:nvSpPr>
        <p:spPr>
          <a:xfrm>
            <a:off x="6485382" y="3950208"/>
            <a:ext cx="736664" cy="329184"/>
          </a:xfrm>
          <a:prstGeom prst="roundRect">
            <a:avLst>
              <a:gd name="adj" fmla="val 50000"/>
            </a:avLst>
          </a:prstGeom>
          <a:solidFill>
            <a:srgbClr val="E6F0E7"/>
          </a:solidFill>
          <a:ln/>
        </p:spPr>
      </p:sp>
      <p:sp>
        <p:nvSpPr>
          <p:cNvPr id="39" name="Text 33"/>
          <p:cNvSpPr txBox="1"/>
          <p:nvPr/>
        </p:nvSpPr>
        <p:spPr>
          <a:xfrm>
            <a:off x="6485382" y="3950208"/>
            <a:ext cx="736664"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한국어</a:t>
            </a:r>
            <a:endParaRPr lang="en-US" sz="1400" dirty="0"/>
          </a:p>
        </p:txBody>
      </p:sp>
      <p:sp>
        <p:nvSpPr>
          <p:cNvPr id="40" name="Shape 34"/>
          <p:cNvSpPr/>
          <p:nvPr/>
        </p:nvSpPr>
        <p:spPr>
          <a:xfrm>
            <a:off x="7286054" y="3950208"/>
            <a:ext cx="852043" cy="329184"/>
          </a:xfrm>
          <a:prstGeom prst="roundRect">
            <a:avLst>
              <a:gd name="adj" fmla="val 50000"/>
            </a:avLst>
          </a:prstGeom>
          <a:solidFill>
            <a:srgbClr val="E6F0E7"/>
          </a:solidFill>
          <a:ln/>
        </p:spPr>
      </p:sp>
      <p:sp>
        <p:nvSpPr>
          <p:cNvPr id="41" name="Text 35"/>
          <p:cNvSpPr txBox="1"/>
          <p:nvPr/>
        </p:nvSpPr>
        <p:spPr>
          <a:xfrm>
            <a:off x="7286054" y="3950208"/>
            <a:ext cx="852043"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English</a:t>
            </a:r>
            <a:endParaRPr lang="en-US" sz="1400" dirty="0"/>
          </a:p>
        </p:txBody>
      </p:sp>
      <p:sp>
        <p:nvSpPr>
          <p:cNvPr id="42" name="Shape 36"/>
          <p:cNvSpPr/>
          <p:nvPr/>
        </p:nvSpPr>
        <p:spPr>
          <a:xfrm>
            <a:off x="8202105" y="3950208"/>
            <a:ext cx="1053592" cy="329184"/>
          </a:xfrm>
          <a:prstGeom prst="roundRect">
            <a:avLst>
              <a:gd name="adj" fmla="val 50000"/>
            </a:avLst>
          </a:prstGeom>
          <a:solidFill>
            <a:srgbClr val="E6F0E7"/>
          </a:solidFill>
          <a:ln/>
        </p:spPr>
      </p:sp>
      <p:sp>
        <p:nvSpPr>
          <p:cNvPr id="43" name="Text 37"/>
          <p:cNvSpPr txBox="1"/>
          <p:nvPr/>
        </p:nvSpPr>
        <p:spPr>
          <a:xfrm>
            <a:off x="8202105" y="3950208"/>
            <a:ext cx="1053592"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Tiếng Việt</a:t>
            </a:r>
            <a:endParaRPr lang="en-US" sz="1400" dirty="0"/>
          </a:p>
        </p:txBody>
      </p:sp>
      <p:sp>
        <p:nvSpPr>
          <p:cNvPr id="44" name="Shape 38"/>
          <p:cNvSpPr/>
          <p:nvPr/>
        </p:nvSpPr>
        <p:spPr>
          <a:xfrm>
            <a:off x="9319704" y="3950208"/>
            <a:ext cx="840359" cy="329184"/>
          </a:xfrm>
          <a:prstGeom prst="roundRect">
            <a:avLst>
              <a:gd name="adj" fmla="val 50000"/>
            </a:avLst>
          </a:prstGeom>
          <a:solidFill>
            <a:srgbClr val="E6F0E7"/>
          </a:solidFill>
          <a:ln/>
        </p:spPr>
      </p:sp>
      <p:sp>
        <p:nvSpPr>
          <p:cNvPr id="45" name="Text 39"/>
          <p:cNvSpPr txBox="1"/>
          <p:nvPr/>
        </p:nvSpPr>
        <p:spPr>
          <a:xfrm>
            <a:off x="9319704" y="3950208"/>
            <a:ext cx="840359"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Русский</a:t>
            </a:r>
            <a:endParaRPr lang="en-US" sz="1400" dirty="0"/>
          </a:p>
        </p:txBody>
      </p:sp>
      <p:sp>
        <p:nvSpPr>
          <p:cNvPr id="46" name="Shape 40"/>
          <p:cNvSpPr/>
          <p:nvPr/>
        </p:nvSpPr>
        <p:spPr>
          <a:xfrm>
            <a:off x="10224072" y="3950208"/>
            <a:ext cx="1168972" cy="329184"/>
          </a:xfrm>
          <a:prstGeom prst="roundRect">
            <a:avLst>
              <a:gd name="adj" fmla="val 50000"/>
            </a:avLst>
          </a:prstGeom>
          <a:solidFill>
            <a:srgbClr val="20342A"/>
          </a:solidFill>
          <a:ln/>
        </p:spPr>
      </p:sp>
      <p:sp>
        <p:nvSpPr>
          <p:cNvPr id="47" name="Text 41"/>
          <p:cNvSpPr txBox="1"/>
          <p:nvPr/>
        </p:nvSpPr>
        <p:spPr>
          <a:xfrm>
            <a:off x="10224072" y="3950208"/>
            <a:ext cx="1168972" cy="329184"/>
          </a:xfrm>
          <a:prstGeom prst="rect">
            <a:avLst/>
          </a:prstGeom>
          <a:noFill/>
          <a:ln/>
        </p:spPr>
        <p:txBody>
          <a:bodyPr wrap="square" lIns="0" tIns="0" rIns="0" bIns="0" rtlCol="0" anchor="ctr"/>
          <a:lstStyle/>
          <a:p>
            <a:pPr algn="ctr" indent="0" marL="0">
              <a:lnSpc>
                <a:spcPct val="112000"/>
              </a:lnSpc>
              <a:buNone/>
            </a:pPr>
            <a:r>
              <a:rPr lang="en-US" sz="1400" dirty="0">
                <a:solidFill>
                  <a:srgbClr val="F6ECD2"/>
                </a:solidFill>
                <a:latin typeface="Freesentation 6 SemiBold" pitchFamily="34" charset="0"/>
                <a:ea typeface="Freesentation 6 SemiBold" pitchFamily="34" charset="-122"/>
                <a:cs typeface="Freesentation 6 SemiBold" pitchFamily="34" charset="-120"/>
              </a:rPr>
              <a:t>+ 원하는 언어</a:t>
            </a:r>
            <a:endParaRPr lang="en-US" sz="1400" dirty="0"/>
          </a:p>
        </p:txBody>
      </p:sp>
      <p:sp>
        <p:nvSpPr>
          <p:cNvPr id="48" name="Shape 42"/>
          <p:cNvSpPr/>
          <p:nvPr/>
        </p:nvSpPr>
        <p:spPr>
          <a:xfrm>
            <a:off x="6485382" y="4389120"/>
            <a:ext cx="5200650" cy="579120"/>
          </a:xfrm>
          <a:prstGeom prst="roundRect">
            <a:avLst>
              <a:gd name="adj" fmla="val 12632"/>
            </a:avLst>
          </a:prstGeom>
          <a:solidFill>
            <a:srgbClr val="FFFFFF"/>
          </a:solidFill>
          <a:ln w="9525">
            <a:solidFill>
              <a:srgbClr val="E2DCCB"/>
            </a:solidFill>
            <a:prstDash val="solid"/>
          </a:ln>
        </p:spPr>
      </p:sp>
      <p:sp>
        <p:nvSpPr>
          <p:cNvPr id="49" name="Text 43"/>
          <p:cNvSpPr txBox="1"/>
          <p:nvPr/>
        </p:nvSpPr>
        <p:spPr>
          <a:xfrm>
            <a:off x="6613398" y="4389120"/>
            <a:ext cx="1097280" cy="5791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다국어</a:t>
            </a:r>
            <a:endParaRPr lang="en-US" sz="1500" dirty="0"/>
          </a:p>
        </p:txBody>
      </p:sp>
      <p:sp>
        <p:nvSpPr>
          <p:cNvPr id="50" name="Text 44"/>
          <p:cNvSpPr txBox="1"/>
          <p:nvPr/>
        </p:nvSpPr>
        <p:spPr>
          <a:xfrm>
            <a:off x="7728966" y="4389120"/>
            <a:ext cx="3865626" cy="579120"/>
          </a:xfrm>
          <a:prstGeom prst="rect">
            <a:avLst/>
          </a:prstGeom>
          <a:noFill/>
          <a:ln/>
        </p:spPr>
        <p:txBody>
          <a:bodyPr wrap="square" lIns="0" tIns="0" rIns="0" bIns="0" rtlCol="0" anchor="ctr"/>
          <a:lstStyle/>
          <a:p>
            <a:pPr indent="0" marL="0">
              <a:lnSpc>
                <a:spcPct val="115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1~4학년 200권을 영어, 베트남어, 러시아어 등으로 읽고 「나란히」로 한국어와 맞대어 봅니다.</a:t>
            </a:r>
            <a:endParaRPr lang="en-US" sz="1400" dirty="0"/>
          </a:p>
        </p:txBody>
      </p:sp>
      <p:sp>
        <p:nvSpPr>
          <p:cNvPr id="51" name="Shape 45"/>
          <p:cNvSpPr/>
          <p:nvPr/>
        </p:nvSpPr>
        <p:spPr>
          <a:xfrm>
            <a:off x="6485382" y="5041392"/>
            <a:ext cx="5200650" cy="579120"/>
          </a:xfrm>
          <a:prstGeom prst="roundRect">
            <a:avLst>
              <a:gd name="adj" fmla="val 12632"/>
            </a:avLst>
          </a:prstGeom>
          <a:solidFill>
            <a:srgbClr val="FFFFFF"/>
          </a:solidFill>
          <a:ln w="9525">
            <a:solidFill>
              <a:srgbClr val="E2DCCB"/>
            </a:solidFill>
            <a:prstDash val="solid"/>
          </a:ln>
        </p:spPr>
      </p:sp>
      <p:sp>
        <p:nvSpPr>
          <p:cNvPr id="52" name="Text 46"/>
          <p:cNvSpPr txBox="1"/>
          <p:nvPr/>
        </p:nvSpPr>
        <p:spPr>
          <a:xfrm>
            <a:off x="6613398" y="5041392"/>
            <a:ext cx="1097280" cy="5791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수업</a:t>
            </a:r>
            <a:endParaRPr lang="en-US" sz="1500" dirty="0"/>
          </a:p>
        </p:txBody>
      </p:sp>
      <p:sp>
        <p:nvSpPr>
          <p:cNvPr id="53" name="Text 47"/>
          <p:cNvSpPr txBox="1"/>
          <p:nvPr/>
        </p:nvSpPr>
        <p:spPr>
          <a:xfrm>
            <a:off x="7728966" y="5041392"/>
            <a:ext cx="3865626" cy="579120"/>
          </a:xfrm>
          <a:prstGeom prst="rect">
            <a:avLst/>
          </a:prstGeom>
          <a:noFill/>
          <a:ln/>
        </p:spPr>
        <p:txBody>
          <a:bodyPr wrap="square" lIns="0" tIns="0" rIns="0" bIns="0" rtlCol="0" anchor="ctr"/>
          <a:lstStyle/>
          <a:p>
            <a:pPr indent="0" marL="0">
              <a:lnSpc>
                <a:spcPct val="115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그림과 쪽 순서가 같아 반 친구들과 같은 장면으로 수업합니다. 낱말 뜻과 읽어주기는 한국어로 나옵니다.</a:t>
            </a:r>
            <a:endParaRPr lang="en-US" sz="1400" dirty="0"/>
          </a:p>
        </p:txBody>
      </p:sp>
      <p:sp>
        <p:nvSpPr>
          <p:cNvPr id="54" name="Shape 48"/>
          <p:cNvSpPr/>
          <p:nvPr/>
        </p:nvSpPr>
        <p:spPr>
          <a:xfrm>
            <a:off x="6485382" y="5693664"/>
            <a:ext cx="5200650" cy="579120"/>
          </a:xfrm>
          <a:prstGeom prst="roundRect">
            <a:avLst>
              <a:gd name="adj" fmla="val 12632"/>
            </a:avLst>
          </a:prstGeom>
          <a:solidFill>
            <a:srgbClr val="20342A"/>
          </a:solidFill>
          <a:ln/>
        </p:spPr>
      </p:sp>
      <p:sp>
        <p:nvSpPr>
          <p:cNvPr id="55" name="Text 49"/>
          <p:cNvSpPr txBox="1"/>
          <p:nvPr/>
        </p:nvSpPr>
        <p:spPr>
          <a:xfrm>
            <a:off x="6613398" y="5693664"/>
            <a:ext cx="1097280" cy="579120"/>
          </a:xfrm>
          <a:prstGeom prst="rect">
            <a:avLst/>
          </a:prstGeom>
          <a:noFill/>
          <a:ln/>
        </p:spPr>
        <p:txBody>
          <a:bodyPr wrap="square" lIns="0" tIns="0" rIns="0" bIns="0" rtlCol="0" anchor="ctr"/>
          <a:lstStyle/>
          <a:p>
            <a:pPr indent="0" marL="0">
              <a:lnSpc>
                <a:spcPct val="112000"/>
              </a:lnSpc>
              <a:buNone/>
            </a:pPr>
            <a:r>
              <a:rPr lang="en-US" sz="1500" dirty="0">
                <a:solidFill>
                  <a:srgbClr val="F2D58A"/>
                </a:solidFill>
                <a:latin typeface="Freesentation 7 Bold" pitchFamily="34" charset="0"/>
                <a:ea typeface="Freesentation 7 Bold" pitchFamily="34" charset="-122"/>
                <a:cs typeface="Freesentation 7 Bold" pitchFamily="34" charset="-120"/>
              </a:rPr>
              <a:t>원하는 언어</a:t>
            </a:r>
            <a:endParaRPr lang="en-US" sz="1500" dirty="0"/>
          </a:p>
        </p:txBody>
      </p:sp>
      <p:sp>
        <p:nvSpPr>
          <p:cNvPr id="56" name="Text 50"/>
          <p:cNvSpPr txBox="1"/>
          <p:nvPr/>
        </p:nvSpPr>
        <p:spPr>
          <a:xfrm>
            <a:off x="7728966" y="5693664"/>
            <a:ext cx="3865626" cy="579120"/>
          </a:xfrm>
          <a:prstGeom prst="rect">
            <a:avLst/>
          </a:prstGeom>
          <a:noFill/>
          <a:ln/>
        </p:spPr>
        <p:txBody>
          <a:bodyPr wrap="square" lIns="0" tIns="0" rIns="0" bIns="0" rtlCol="0" anchor="ctr"/>
          <a:lstStyle/>
          <a:p>
            <a:pPr indent="0" marL="0">
              <a:lnSpc>
                <a:spcPct val="115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학교와 학생이 원하는 언어를 요청하면 그 언어로 추가해 지원합니다.</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교실 활용 장면 ① 온책읽기 수업</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3학년 「은혜 갚은 까치」 10차시로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한 반 모두가 한 권을 끝까지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읽습니다</a:t>
            </a:r>
            <a:endParaRPr lang="en-US" sz="1400" dirty="0"/>
          </a:p>
        </p:txBody>
      </p:sp>
      <p:sp>
        <p:nvSpPr>
          <p:cNvPr id="10" name="Text 7"/>
          <p:cNvSpPr txBox="1"/>
          <p:nvPr/>
        </p:nvSpPr>
        <p:spPr>
          <a:xfrm>
            <a:off x="227070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42446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1, 2는 부기 화면, 3, 4는 선도 학교 수업 사진(석산초, 학생 얼굴 모자이크). 10차시 구성은 「수업 만들기」의 표준 구성.</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24</a:t>
            </a:r>
            <a:endParaRPr lang="en-US" sz="1250" dirty="0"/>
          </a:p>
        </p:txBody>
      </p:sp>
      <p:sp>
        <p:nvSpPr>
          <p:cNvPr id="14" name="Shape 11"/>
          <p:cNvSpPr/>
          <p:nvPr/>
        </p:nvSpPr>
        <p:spPr>
          <a:xfrm>
            <a:off x="502920" y="1920240"/>
            <a:ext cx="2590038" cy="3017520"/>
          </a:xfrm>
          <a:prstGeom prst="roundRect">
            <a:avLst>
              <a:gd name="adj" fmla="val 3530"/>
            </a:avLst>
          </a:prstGeom>
          <a:solidFill>
            <a:srgbClr val="FBF5E6"/>
          </a:solidFill>
          <a:ln w="9525">
            <a:solidFill>
              <a:srgbClr val="E2DCCB"/>
            </a:solidFill>
            <a:prstDash val="solid"/>
          </a:ln>
        </p:spPr>
      </p:sp>
      <p:sp>
        <p:nvSpPr>
          <p:cNvPr id="15" name="Shape 12"/>
          <p:cNvSpPr/>
          <p:nvPr/>
        </p:nvSpPr>
        <p:spPr>
          <a:xfrm>
            <a:off x="612648" y="2029968"/>
            <a:ext cx="310896" cy="310896"/>
          </a:xfrm>
          <a:prstGeom prst="ellipse">
            <a:avLst/>
          </a:prstGeom>
          <a:solidFill>
            <a:srgbClr val="2F7D4F"/>
          </a:solidFill>
          <a:ln/>
        </p:spPr>
      </p:sp>
      <p:sp>
        <p:nvSpPr>
          <p:cNvPr id="16" name="Text 13"/>
          <p:cNvSpPr txBox="1"/>
          <p:nvPr/>
        </p:nvSpPr>
        <p:spPr>
          <a:xfrm>
            <a:off x="612648"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1</a:t>
            </a:r>
            <a:endParaRPr lang="en-US" sz="1450" dirty="0"/>
          </a:p>
        </p:txBody>
      </p:sp>
      <p:sp>
        <p:nvSpPr>
          <p:cNvPr id="17" name="Text 14"/>
          <p:cNvSpPr txBox="1"/>
          <p:nvPr/>
        </p:nvSpPr>
        <p:spPr>
          <a:xfrm>
            <a:off x="996696"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책 고르기</a:t>
            </a:r>
            <a:endParaRPr lang="en-US" sz="1750" dirty="0"/>
          </a:p>
        </p:txBody>
      </p:sp>
      <p:sp>
        <p:nvSpPr>
          <p:cNvPr id="18" name="Shape 15"/>
          <p:cNvSpPr/>
          <p:nvPr/>
        </p:nvSpPr>
        <p:spPr>
          <a:xfrm>
            <a:off x="594360" y="2450592"/>
            <a:ext cx="2407158" cy="1965960"/>
          </a:xfrm>
          <a:prstGeom prst="roundRect">
            <a:avLst>
              <a:gd name="adj" fmla="val 3721"/>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630936" y="2487168"/>
            <a:ext cx="2334006" cy="1892808"/>
          </a:xfrm>
          <a:prstGeom prst="rect">
            <a:avLst/>
          </a:prstGeom>
        </p:spPr>
      </p:pic>
      <p:sp>
        <p:nvSpPr>
          <p:cNvPr id="20" name="Text 16"/>
          <p:cNvSpPr txBox="1"/>
          <p:nvPr/>
        </p:nvSpPr>
        <p:spPr>
          <a:xfrm>
            <a:off x="630936"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「은혜 갚은 까치」를 우리 반 책으로</a:t>
            </a:r>
            <a:endParaRPr lang="en-US" sz="1450" dirty="0"/>
          </a:p>
        </p:txBody>
      </p:sp>
      <p:sp>
        <p:nvSpPr>
          <p:cNvPr id="21" name="Shape 17"/>
          <p:cNvSpPr/>
          <p:nvPr/>
        </p:nvSpPr>
        <p:spPr>
          <a:xfrm>
            <a:off x="3156966" y="3291840"/>
            <a:ext cx="146304" cy="274320"/>
          </a:xfrm>
          <a:prstGeom prst="chevron">
            <a:avLst/>
          </a:prstGeom>
          <a:solidFill>
            <a:srgbClr val="C08A1E"/>
          </a:solidFill>
          <a:ln/>
        </p:spPr>
      </p:sp>
      <p:sp>
        <p:nvSpPr>
          <p:cNvPr id="22" name="Shape 18"/>
          <p:cNvSpPr/>
          <p:nvPr/>
        </p:nvSpPr>
        <p:spPr>
          <a:xfrm>
            <a:off x="3367278" y="1920240"/>
            <a:ext cx="2590038" cy="3017520"/>
          </a:xfrm>
          <a:prstGeom prst="roundRect">
            <a:avLst>
              <a:gd name="adj" fmla="val 3530"/>
            </a:avLst>
          </a:prstGeom>
          <a:solidFill>
            <a:srgbClr val="FFFFFF"/>
          </a:solidFill>
          <a:ln w="9525">
            <a:solidFill>
              <a:srgbClr val="E2DCCB"/>
            </a:solidFill>
            <a:prstDash val="solid"/>
          </a:ln>
        </p:spPr>
      </p:sp>
      <p:sp>
        <p:nvSpPr>
          <p:cNvPr id="23" name="Shape 19"/>
          <p:cNvSpPr/>
          <p:nvPr/>
        </p:nvSpPr>
        <p:spPr>
          <a:xfrm>
            <a:off x="3477006" y="2029968"/>
            <a:ext cx="310896" cy="310896"/>
          </a:xfrm>
          <a:prstGeom prst="ellipse">
            <a:avLst/>
          </a:prstGeom>
          <a:solidFill>
            <a:srgbClr val="2F7D4F"/>
          </a:solidFill>
          <a:ln/>
        </p:spPr>
      </p:sp>
      <p:sp>
        <p:nvSpPr>
          <p:cNvPr id="24" name="Text 20"/>
          <p:cNvSpPr txBox="1"/>
          <p:nvPr/>
        </p:nvSpPr>
        <p:spPr>
          <a:xfrm>
            <a:off x="3477006"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2</a:t>
            </a:r>
            <a:endParaRPr lang="en-US" sz="1450" dirty="0"/>
          </a:p>
        </p:txBody>
      </p:sp>
      <p:sp>
        <p:nvSpPr>
          <p:cNvPr id="25" name="Text 21"/>
          <p:cNvSpPr txBox="1"/>
          <p:nvPr/>
        </p:nvSpPr>
        <p:spPr>
          <a:xfrm>
            <a:off x="3861054"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수업 만들기</a:t>
            </a:r>
            <a:endParaRPr lang="en-US" sz="1750" dirty="0"/>
          </a:p>
        </p:txBody>
      </p:sp>
      <p:sp>
        <p:nvSpPr>
          <p:cNvPr id="26" name="Shape 22"/>
          <p:cNvSpPr/>
          <p:nvPr/>
        </p:nvSpPr>
        <p:spPr>
          <a:xfrm>
            <a:off x="3458718" y="2450592"/>
            <a:ext cx="2407158" cy="1965960"/>
          </a:xfrm>
          <a:prstGeom prst="roundRect">
            <a:avLst>
              <a:gd name="adj" fmla="val 3721"/>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95294" y="2487168"/>
            <a:ext cx="2334006" cy="1892808"/>
          </a:xfrm>
          <a:prstGeom prst="rect">
            <a:avLst/>
          </a:prstGeom>
        </p:spPr>
      </p:pic>
      <p:sp>
        <p:nvSpPr>
          <p:cNvPr id="28" name="Text 23"/>
          <p:cNvSpPr txBox="1"/>
          <p:nvPr/>
        </p:nvSpPr>
        <p:spPr>
          <a:xfrm>
            <a:off x="3495294"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온책읽기 10차시가 바로 준비됨</a:t>
            </a:r>
            <a:endParaRPr lang="en-US" sz="1450" dirty="0"/>
          </a:p>
        </p:txBody>
      </p:sp>
      <p:sp>
        <p:nvSpPr>
          <p:cNvPr id="29" name="Shape 24"/>
          <p:cNvSpPr/>
          <p:nvPr/>
        </p:nvSpPr>
        <p:spPr>
          <a:xfrm>
            <a:off x="6021324" y="3291840"/>
            <a:ext cx="146304" cy="274320"/>
          </a:xfrm>
          <a:prstGeom prst="chevron">
            <a:avLst/>
          </a:prstGeom>
          <a:solidFill>
            <a:srgbClr val="C08A1E"/>
          </a:solidFill>
          <a:ln/>
        </p:spPr>
      </p:sp>
      <p:sp>
        <p:nvSpPr>
          <p:cNvPr id="30" name="Shape 25"/>
          <p:cNvSpPr/>
          <p:nvPr/>
        </p:nvSpPr>
        <p:spPr>
          <a:xfrm>
            <a:off x="6231636" y="1920240"/>
            <a:ext cx="2590038" cy="3017520"/>
          </a:xfrm>
          <a:prstGeom prst="roundRect">
            <a:avLst>
              <a:gd name="adj" fmla="val 3530"/>
            </a:avLst>
          </a:prstGeom>
          <a:solidFill>
            <a:srgbClr val="FBF5E6"/>
          </a:solidFill>
          <a:ln w="9525">
            <a:solidFill>
              <a:srgbClr val="E2DCCB"/>
            </a:solidFill>
            <a:prstDash val="solid"/>
          </a:ln>
        </p:spPr>
      </p:sp>
      <p:sp>
        <p:nvSpPr>
          <p:cNvPr id="31" name="Shape 26"/>
          <p:cNvSpPr/>
          <p:nvPr/>
        </p:nvSpPr>
        <p:spPr>
          <a:xfrm>
            <a:off x="6341364" y="2029968"/>
            <a:ext cx="310896" cy="310896"/>
          </a:xfrm>
          <a:prstGeom prst="ellipse">
            <a:avLst/>
          </a:prstGeom>
          <a:solidFill>
            <a:srgbClr val="2F7D4F"/>
          </a:solidFill>
          <a:ln/>
        </p:spPr>
      </p:sp>
      <p:sp>
        <p:nvSpPr>
          <p:cNvPr id="32" name="Text 27"/>
          <p:cNvSpPr txBox="1"/>
          <p:nvPr/>
        </p:nvSpPr>
        <p:spPr>
          <a:xfrm>
            <a:off x="6341364"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3</a:t>
            </a:r>
            <a:endParaRPr lang="en-US" sz="1450" dirty="0"/>
          </a:p>
        </p:txBody>
      </p:sp>
      <p:sp>
        <p:nvSpPr>
          <p:cNvPr id="33" name="Text 28"/>
          <p:cNvSpPr txBox="1"/>
          <p:nvPr/>
        </p:nvSpPr>
        <p:spPr>
          <a:xfrm>
            <a:off x="6725412"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차시 PPT로 수업</a:t>
            </a:r>
            <a:endParaRPr lang="en-US" sz="1750" dirty="0"/>
          </a:p>
        </p:txBody>
      </p:sp>
      <p:sp>
        <p:nvSpPr>
          <p:cNvPr id="34" name="Shape 29"/>
          <p:cNvSpPr/>
          <p:nvPr/>
        </p:nvSpPr>
        <p:spPr>
          <a:xfrm>
            <a:off x="6323076" y="2450592"/>
            <a:ext cx="2407158" cy="1965960"/>
          </a:xfrm>
          <a:prstGeom prst="roundRect">
            <a:avLst>
              <a:gd name="adj" fmla="val 3721"/>
            </a:avLst>
          </a:prstGeom>
          <a:solidFill>
            <a:srgbClr val="FFFFFF"/>
          </a:solidFill>
          <a:ln w="9525">
            <a:solidFill>
              <a:srgbClr val="E2DCCB"/>
            </a:solidFill>
            <a:prstDash val="solid"/>
          </a:ln>
        </p:spPr>
      </p:sp>
      <p:pic>
        <p:nvPicPr>
          <p:cNvPr id="35" name="Image 3" descr="화면">    </p:cNvPr>
          <p:cNvPicPr>
            <a:picLocks noChangeAspect="1"/>
          </p:cNvPicPr>
          <p:nvPr/>
        </p:nvPicPr>
        <p:blipFill>
          <a:blip r:embed="rId4"/>
          <a:stretch>
            <a:fillRect/>
          </a:stretch>
        </p:blipFill>
        <p:spPr>
          <a:xfrm>
            <a:off x="6359652" y="2487168"/>
            <a:ext cx="2334006" cy="1892808"/>
          </a:xfrm>
          <a:prstGeom prst="rect">
            <a:avLst/>
          </a:prstGeom>
        </p:spPr>
      </p:pic>
      <p:sp>
        <p:nvSpPr>
          <p:cNvPr id="36" name="Text 30"/>
          <p:cNvSpPr txBox="1"/>
          <p:nvPr/>
        </p:nvSpPr>
        <p:spPr>
          <a:xfrm>
            <a:off x="6359652"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전자칠판에 차시 띄우고 발문 수업</a:t>
            </a:r>
            <a:endParaRPr lang="en-US" sz="1450" dirty="0"/>
          </a:p>
        </p:txBody>
      </p:sp>
      <p:sp>
        <p:nvSpPr>
          <p:cNvPr id="37" name="Shape 31"/>
          <p:cNvSpPr/>
          <p:nvPr/>
        </p:nvSpPr>
        <p:spPr>
          <a:xfrm>
            <a:off x="8885682" y="3291840"/>
            <a:ext cx="146304" cy="274320"/>
          </a:xfrm>
          <a:prstGeom prst="chevron">
            <a:avLst/>
          </a:prstGeom>
          <a:solidFill>
            <a:srgbClr val="C08A1E"/>
          </a:solidFill>
          <a:ln/>
        </p:spPr>
      </p:sp>
      <p:sp>
        <p:nvSpPr>
          <p:cNvPr id="38" name="Shape 32"/>
          <p:cNvSpPr/>
          <p:nvPr/>
        </p:nvSpPr>
        <p:spPr>
          <a:xfrm>
            <a:off x="9095994" y="1920240"/>
            <a:ext cx="2590038" cy="3017520"/>
          </a:xfrm>
          <a:prstGeom prst="roundRect">
            <a:avLst>
              <a:gd name="adj" fmla="val 3530"/>
            </a:avLst>
          </a:prstGeom>
          <a:solidFill>
            <a:srgbClr val="FFFFFF"/>
          </a:solidFill>
          <a:ln w="9525">
            <a:solidFill>
              <a:srgbClr val="E2DCCB"/>
            </a:solidFill>
            <a:prstDash val="solid"/>
          </a:ln>
        </p:spPr>
      </p:sp>
      <p:sp>
        <p:nvSpPr>
          <p:cNvPr id="39" name="Shape 33"/>
          <p:cNvSpPr/>
          <p:nvPr/>
        </p:nvSpPr>
        <p:spPr>
          <a:xfrm>
            <a:off x="9205722" y="2029968"/>
            <a:ext cx="310896" cy="310896"/>
          </a:xfrm>
          <a:prstGeom prst="ellipse">
            <a:avLst/>
          </a:prstGeom>
          <a:solidFill>
            <a:srgbClr val="2F7D4F"/>
          </a:solidFill>
          <a:ln/>
        </p:spPr>
      </p:sp>
      <p:sp>
        <p:nvSpPr>
          <p:cNvPr id="40" name="Text 34"/>
          <p:cNvSpPr txBox="1"/>
          <p:nvPr/>
        </p:nvSpPr>
        <p:spPr>
          <a:xfrm>
            <a:off x="9205722"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4</a:t>
            </a:r>
            <a:endParaRPr lang="en-US" sz="1450" dirty="0"/>
          </a:p>
        </p:txBody>
      </p:sp>
      <p:sp>
        <p:nvSpPr>
          <p:cNvPr id="41" name="Text 35"/>
          <p:cNvSpPr txBox="1"/>
          <p:nvPr/>
        </p:nvSpPr>
        <p:spPr>
          <a:xfrm>
            <a:off x="9589770"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학생 읽기와 활동</a:t>
            </a:r>
            <a:endParaRPr lang="en-US" sz="1750" dirty="0"/>
          </a:p>
        </p:txBody>
      </p:sp>
      <p:sp>
        <p:nvSpPr>
          <p:cNvPr id="42" name="Shape 36"/>
          <p:cNvSpPr/>
          <p:nvPr/>
        </p:nvSpPr>
        <p:spPr>
          <a:xfrm>
            <a:off x="9187434" y="2450592"/>
            <a:ext cx="2407158" cy="1965960"/>
          </a:xfrm>
          <a:prstGeom prst="roundRect">
            <a:avLst>
              <a:gd name="adj" fmla="val 3721"/>
            </a:avLst>
          </a:prstGeom>
          <a:solidFill>
            <a:srgbClr val="FFFFFF"/>
          </a:solidFill>
          <a:ln w="9525">
            <a:solidFill>
              <a:srgbClr val="E2DCCB"/>
            </a:solidFill>
            <a:prstDash val="solid"/>
          </a:ln>
        </p:spPr>
      </p:sp>
      <p:pic>
        <p:nvPicPr>
          <p:cNvPr id="43" name="Image 4" descr="화면">    </p:cNvPr>
          <p:cNvPicPr>
            <a:picLocks noChangeAspect="1"/>
          </p:cNvPicPr>
          <p:nvPr/>
        </p:nvPicPr>
        <p:blipFill>
          <a:blip r:embed="rId5"/>
          <a:stretch>
            <a:fillRect/>
          </a:stretch>
        </p:blipFill>
        <p:spPr>
          <a:xfrm>
            <a:off x="9224010" y="2487168"/>
            <a:ext cx="2334006" cy="1892808"/>
          </a:xfrm>
          <a:prstGeom prst="rect">
            <a:avLst/>
          </a:prstGeom>
        </p:spPr>
      </p:pic>
      <p:sp>
        <p:nvSpPr>
          <p:cNvPr id="44" name="Text 37"/>
          <p:cNvSpPr txBox="1"/>
          <p:nvPr/>
        </p:nvSpPr>
        <p:spPr>
          <a:xfrm>
            <a:off x="9224010"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낱말 뜻 보며 읽고 활동 제출</a:t>
            </a:r>
            <a:endParaRPr lang="en-US" sz="1450" dirty="0"/>
          </a:p>
        </p:txBody>
      </p:sp>
      <p:sp>
        <p:nvSpPr>
          <p:cNvPr id="45" name="Shape 38"/>
          <p:cNvSpPr/>
          <p:nvPr/>
        </p:nvSpPr>
        <p:spPr>
          <a:xfrm>
            <a:off x="502920" y="5221224"/>
            <a:ext cx="118872" cy="118872"/>
          </a:xfrm>
          <a:prstGeom prst="ellipse">
            <a:avLst/>
          </a:prstGeom>
          <a:solidFill>
            <a:srgbClr val="2F7D4F"/>
          </a:solidFill>
          <a:ln/>
        </p:spPr>
      </p:sp>
      <p:sp>
        <p:nvSpPr>
          <p:cNvPr id="46" name="Text 39"/>
          <p:cNvSpPr txBox="1"/>
          <p:nvPr/>
        </p:nvSpPr>
        <p:spPr>
          <a:xfrm>
            <a:off x="722376" y="50840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온책읽기 10차시 구성</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「수업 만들기」 표준 구성</a:t>
            </a:r>
            <a:endParaRPr lang="en-US" sz="1650" dirty="0"/>
          </a:p>
        </p:txBody>
      </p:sp>
      <p:sp>
        <p:nvSpPr>
          <p:cNvPr id="47" name="Shape 40"/>
          <p:cNvSpPr/>
          <p:nvPr/>
        </p:nvSpPr>
        <p:spPr>
          <a:xfrm>
            <a:off x="502920" y="5541264"/>
            <a:ext cx="2046427" cy="731520"/>
          </a:xfrm>
          <a:prstGeom prst="roundRect">
            <a:avLst>
              <a:gd name="adj" fmla="val 12500"/>
            </a:avLst>
          </a:prstGeom>
          <a:solidFill>
            <a:srgbClr val="FFFFFF"/>
          </a:solidFill>
          <a:ln w="9525">
            <a:solidFill>
              <a:srgbClr val="D3E6D6"/>
            </a:solidFill>
            <a:prstDash val="solid"/>
          </a:ln>
        </p:spPr>
      </p:sp>
      <p:sp>
        <p:nvSpPr>
          <p:cNvPr id="48" name="Text 41"/>
          <p:cNvSpPr txBox="1"/>
          <p:nvPr/>
        </p:nvSpPr>
        <p:spPr>
          <a:xfrm>
            <a:off x="612648"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만나기</a:t>
            </a:r>
            <a:endParaRPr lang="en-US" sz="1600" dirty="0"/>
          </a:p>
        </p:txBody>
      </p:sp>
      <p:sp>
        <p:nvSpPr>
          <p:cNvPr id="49" name="Text 42"/>
          <p:cNvSpPr txBox="1"/>
          <p:nvPr/>
        </p:nvSpPr>
        <p:spPr>
          <a:xfrm>
            <a:off x="612648"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표지와 삽화로 이야기 짐작</a:t>
            </a:r>
            <a:endParaRPr lang="en-US" sz="1400" dirty="0"/>
          </a:p>
        </p:txBody>
      </p:sp>
      <p:sp>
        <p:nvSpPr>
          <p:cNvPr id="50" name="Shape 43"/>
          <p:cNvSpPr/>
          <p:nvPr/>
        </p:nvSpPr>
        <p:spPr>
          <a:xfrm>
            <a:off x="2595067" y="5797296"/>
            <a:ext cx="137160" cy="219456"/>
          </a:xfrm>
          <a:prstGeom prst="chevron">
            <a:avLst/>
          </a:prstGeom>
          <a:solidFill>
            <a:srgbClr val="5E9B6E"/>
          </a:solidFill>
          <a:ln/>
        </p:spPr>
      </p:sp>
      <p:sp>
        <p:nvSpPr>
          <p:cNvPr id="51" name="Shape 44"/>
          <p:cNvSpPr/>
          <p:nvPr/>
        </p:nvSpPr>
        <p:spPr>
          <a:xfrm>
            <a:off x="2787091" y="5541264"/>
            <a:ext cx="2046427" cy="731520"/>
          </a:xfrm>
          <a:prstGeom prst="roundRect">
            <a:avLst>
              <a:gd name="adj" fmla="val 12500"/>
            </a:avLst>
          </a:prstGeom>
          <a:solidFill>
            <a:srgbClr val="FFFFFF"/>
          </a:solidFill>
          <a:ln w="9525">
            <a:solidFill>
              <a:srgbClr val="D3E6D6"/>
            </a:solidFill>
            <a:prstDash val="solid"/>
          </a:ln>
        </p:spPr>
      </p:sp>
      <p:sp>
        <p:nvSpPr>
          <p:cNvPr id="52" name="Text 45"/>
          <p:cNvSpPr txBox="1"/>
          <p:nvPr/>
        </p:nvSpPr>
        <p:spPr>
          <a:xfrm>
            <a:off x="2896819"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인물</a:t>
            </a:r>
            <a:endParaRPr lang="en-US" sz="1600" dirty="0"/>
          </a:p>
        </p:txBody>
      </p:sp>
      <p:sp>
        <p:nvSpPr>
          <p:cNvPr id="53" name="Text 46"/>
          <p:cNvSpPr txBox="1"/>
          <p:nvPr/>
        </p:nvSpPr>
        <p:spPr>
          <a:xfrm>
            <a:off x="2896819"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선비와 까치의 마음 읽기</a:t>
            </a:r>
            <a:endParaRPr lang="en-US" sz="1400" dirty="0"/>
          </a:p>
        </p:txBody>
      </p:sp>
      <p:sp>
        <p:nvSpPr>
          <p:cNvPr id="54" name="Shape 47"/>
          <p:cNvSpPr/>
          <p:nvPr/>
        </p:nvSpPr>
        <p:spPr>
          <a:xfrm>
            <a:off x="4879238" y="5797296"/>
            <a:ext cx="137160" cy="219456"/>
          </a:xfrm>
          <a:prstGeom prst="chevron">
            <a:avLst/>
          </a:prstGeom>
          <a:solidFill>
            <a:srgbClr val="5E9B6E"/>
          </a:solidFill>
          <a:ln/>
        </p:spPr>
      </p:sp>
      <p:sp>
        <p:nvSpPr>
          <p:cNvPr id="55" name="Shape 48"/>
          <p:cNvSpPr/>
          <p:nvPr/>
        </p:nvSpPr>
        <p:spPr>
          <a:xfrm>
            <a:off x="5071262" y="5541264"/>
            <a:ext cx="2046427" cy="731520"/>
          </a:xfrm>
          <a:prstGeom prst="roundRect">
            <a:avLst>
              <a:gd name="adj" fmla="val 12500"/>
            </a:avLst>
          </a:prstGeom>
          <a:solidFill>
            <a:srgbClr val="FFFFFF"/>
          </a:solidFill>
          <a:ln w="9525">
            <a:solidFill>
              <a:srgbClr val="D3E6D6"/>
            </a:solidFill>
            <a:prstDash val="solid"/>
          </a:ln>
        </p:spPr>
      </p:sp>
      <p:sp>
        <p:nvSpPr>
          <p:cNvPr id="56" name="Text 49"/>
          <p:cNvSpPr txBox="1"/>
          <p:nvPr/>
        </p:nvSpPr>
        <p:spPr>
          <a:xfrm>
            <a:off x="5180990"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사건</a:t>
            </a:r>
            <a:endParaRPr lang="en-US" sz="1600" dirty="0"/>
          </a:p>
        </p:txBody>
      </p:sp>
      <p:sp>
        <p:nvSpPr>
          <p:cNvPr id="57" name="Text 50"/>
          <p:cNvSpPr txBox="1"/>
          <p:nvPr/>
        </p:nvSpPr>
        <p:spPr>
          <a:xfrm>
            <a:off x="5180990"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구렁이 장면과 까닭 찾기</a:t>
            </a:r>
            <a:endParaRPr lang="en-US" sz="1400" dirty="0"/>
          </a:p>
        </p:txBody>
      </p:sp>
      <p:sp>
        <p:nvSpPr>
          <p:cNvPr id="58" name="Shape 51"/>
          <p:cNvSpPr/>
          <p:nvPr/>
        </p:nvSpPr>
        <p:spPr>
          <a:xfrm>
            <a:off x="7163410" y="5797296"/>
            <a:ext cx="137160" cy="219456"/>
          </a:xfrm>
          <a:prstGeom prst="chevron">
            <a:avLst/>
          </a:prstGeom>
          <a:solidFill>
            <a:srgbClr val="5E9B6E"/>
          </a:solidFill>
          <a:ln/>
        </p:spPr>
      </p:sp>
      <p:sp>
        <p:nvSpPr>
          <p:cNvPr id="59" name="Shape 52"/>
          <p:cNvSpPr/>
          <p:nvPr/>
        </p:nvSpPr>
        <p:spPr>
          <a:xfrm>
            <a:off x="7355434" y="5541264"/>
            <a:ext cx="2046427" cy="731520"/>
          </a:xfrm>
          <a:prstGeom prst="roundRect">
            <a:avLst>
              <a:gd name="adj" fmla="val 12500"/>
            </a:avLst>
          </a:prstGeom>
          <a:solidFill>
            <a:srgbClr val="FFFFFF"/>
          </a:solidFill>
          <a:ln w="9525">
            <a:solidFill>
              <a:srgbClr val="D3E6D6"/>
            </a:solidFill>
            <a:prstDash val="solid"/>
          </a:ln>
        </p:spPr>
      </p:sp>
      <p:sp>
        <p:nvSpPr>
          <p:cNvPr id="60" name="Text 53"/>
          <p:cNvSpPr txBox="1"/>
          <p:nvPr/>
        </p:nvSpPr>
        <p:spPr>
          <a:xfrm>
            <a:off x="7465162"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마음</a:t>
            </a:r>
            <a:endParaRPr lang="en-US" sz="1600" dirty="0"/>
          </a:p>
        </p:txBody>
      </p:sp>
      <p:sp>
        <p:nvSpPr>
          <p:cNvPr id="61" name="Text 54"/>
          <p:cNvSpPr txBox="1"/>
          <p:nvPr/>
        </p:nvSpPr>
        <p:spPr>
          <a:xfrm>
            <a:off x="7465162"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인물에게 편지, 속마음 말풍선</a:t>
            </a:r>
            <a:endParaRPr lang="en-US" sz="1400" dirty="0"/>
          </a:p>
        </p:txBody>
      </p:sp>
      <p:sp>
        <p:nvSpPr>
          <p:cNvPr id="62" name="Shape 55"/>
          <p:cNvSpPr/>
          <p:nvPr/>
        </p:nvSpPr>
        <p:spPr>
          <a:xfrm>
            <a:off x="9447581" y="5797296"/>
            <a:ext cx="137160" cy="219456"/>
          </a:xfrm>
          <a:prstGeom prst="chevron">
            <a:avLst/>
          </a:prstGeom>
          <a:solidFill>
            <a:srgbClr val="5E9B6E"/>
          </a:solidFill>
          <a:ln/>
        </p:spPr>
      </p:sp>
      <p:sp>
        <p:nvSpPr>
          <p:cNvPr id="63" name="Shape 56"/>
          <p:cNvSpPr/>
          <p:nvPr/>
        </p:nvSpPr>
        <p:spPr>
          <a:xfrm>
            <a:off x="9639605" y="5541264"/>
            <a:ext cx="2046427" cy="731520"/>
          </a:xfrm>
          <a:prstGeom prst="roundRect">
            <a:avLst>
              <a:gd name="adj" fmla="val 12500"/>
            </a:avLst>
          </a:prstGeom>
          <a:solidFill>
            <a:srgbClr val="20342A"/>
          </a:solidFill>
          <a:ln/>
        </p:spPr>
      </p:sp>
      <p:sp>
        <p:nvSpPr>
          <p:cNvPr id="64" name="Text 57"/>
          <p:cNvSpPr txBox="1"/>
          <p:nvPr/>
        </p:nvSpPr>
        <p:spPr>
          <a:xfrm>
            <a:off x="9749333"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나눔</a:t>
            </a:r>
            <a:endParaRPr lang="en-US" sz="1600" dirty="0"/>
          </a:p>
        </p:txBody>
      </p:sp>
      <p:sp>
        <p:nvSpPr>
          <p:cNvPr id="65" name="Text 58"/>
          <p:cNvSpPr txBox="1"/>
          <p:nvPr/>
        </p:nvSpPr>
        <p:spPr>
          <a:xfrm>
            <a:off x="9749333"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함께 쓰는 교실, 우리 반 문집</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교실 활용 장면 ②, ③</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학생의 생각과 진행 상황을 수업 중에 확인하고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학생마다 알맞게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지도합니다</a:t>
            </a:r>
            <a:endParaRPr lang="en-US" sz="1400" dirty="0"/>
          </a:p>
        </p:txBody>
      </p:sp>
      <p:sp>
        <p:nvSpPr>
          <p:cNvPr id="10" name="Text 7"/>
          <p:cNvSpPr txBox="1"/>
          <p:nvPr/>
        </p:nvSpPr>
        <p:spPr>
          <a:xfrm>
            <a:off x="213428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6089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부기 학생 화면과 교사 화면.</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25</a:t>
            </a:r>
            <a:endParaRPr lang="en-US" sz="1250" dirty="0"/>
          </a:p>
        </p:txBody>
      </p:sp>
      <p:sp>
        <p:nvSpPr>
          <p:cNvPr id="14" name="Shape 11"/>
          <p:cNvSpPr/>
          <p:nvPr/>
        </p:nvSpPr>
        <p:spPr>
          <a:xfrm>
            <a:off x="502920" y="1920240"/>
            <a:ext cx="5454396" cy="4352544"/>
          </a:xfrm>
          <a:prstGeom prst="roundRect">
            <a:avLst>
              <a:gd name="adj" fmla="val 2101"/>
            </a:avLst>
          </a:prstGeom>
          <a:solidFill>
            <a:srgbClr val="FFFFFF"/>
          </a:solidFill>
          <a:ln w="9525">
            <a:solidFill>
              <a:srgbClr val="E2DCCB"/>
            </a:solidFill>
            <a:prstDash val="solid"/>
          </a:ln>
        </p:spPr>
      </p:sp>
      <p:sp>
        <p:nvSpPr>
          <p:cNvPr id="15" name="Shape 12"/>
          <p:cNvSpPr/>
          <p:nvPr/>
        </p:nvSpPr>
        <p:spPr>
          <a:xfrm>
            <a:off x="502920" y="1920240"/>
            <a:ext cx="5454396" cy="475488"/>
          </a:xfrm>
          <a:prstGeom prst="roundRect">
            <a:avLst>
              <a:gd name="adj" fmla="val 19231"/>
            </a:avLst>
          </a:prstGeom>
          <a:solidFill>
            <a:srgbClr val="2B4637"/>
          </a:solidFill>
          <a:ln/>
        </p:spPr>
      </p:sp>
      <p:sp>
        <p:nvSpPr>
          <p:cNvPr id="16" name="Shape 13"/>
          <p:cNvSpPr/>
          <p:nvPr/>
        </p:nvSpPr>
        <p:spPr>
          <a:xfrm>
            <a:off x="502920" y="2304288"/>
            <a:ext cx="5454396" cy="91440"/>
          </a:xfrm>
          <a:prstGeom prst="rect">
            <a:avLst/>
          </a:prstGeom>
          <a:solidFill>
            <a:srgbClr val="2B4637"/>
          </a:solidFill>
          <a:ln/>
        </p:spPr>
      </p:sp>
      <p:sp>
        <p:nvSpPr>
          <p:cNvPr id="17" name="Text 14"/>
          <p:cNvSpPr txBox="1"/>
          <p:nvPr/>
        </p:nvSpPr>
        <p:spPr>
          <a:xfrm>
            <a:off x="685800" y="1920240"/>
            <a:ext cx="5180076" cy="47548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②  학생의 생각을 듣고 피드백하는 수업</a:t>
            </a:r>
            <a:endParaRPr lang="en-US" sz="1800" dirty="0"/>
          </a:p>
        </p:txBody>
      </p:sp>
      <p:sp>
        <p:nvSpPr>
          <p:cNvPr id="18" name="Shape 15"/>
          <p:cNvSpPr/>
          <p:nvPr/>
        </p:nvSpPr>
        <p:spPr>
          <a:xfrm>
            <a:off x="855159" y="2542032"/>
            <a:ext cx="2095872" cy="1783080"/>
          </a:xfrm>
          <a:prstGeom prst="roundRect">
            <a:avLst>
              <a:gd name="adj" fmla="val 4103"/>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9" name="Image 1" descr="인물이 된 부기의 질문">    </p:cNvPr>
          <p:cNvPicPr>
            <a:picLocks noChangeAspect="1"/>
          </p:cNvPicPr>
          <p:nvPr/>
        </p:nvPicPr>
        <p:blipFill>
          <a:blip r:embed="rId2"/>
          <a:stretch>
            <a:fillRect/>
          </a:stretch>
        </p:blipFill>
        <p:spPr>
          <a:xfrm>
            <a:off x="919167" y="2606040"/>
            <a:ext cx="1967856" cy="1655064"/>
          </a:xfrm>
          <a:prstGeom prst="rect">
            <a:avLst/>
          </a:prstGeom>
        </p:spPr>
      </p:pic>
      <p:sp>
        <p:nvSpPr>
          <p:cNvPr id="20" name="Shape 16"/>
          <p:cNvSpPr/>
          <p:nvPr/>
        </p:nvSpPr>
        <p:spPr>
          <a:xfrm>
            <a:off x="964887" y="3941064"/>
            <a:ext cx="1624203" cy="274320"/>
          </a:xfrm>
          <a:prstGeom prst="roundRect">
            <a:avLst>
              <a:gd name="adj" fmla="val 50000"/>
            </a:avLst>
          </a:prstGeom>
          <a:solidFill>
            <a:srgbClr val="20342A">
              <a:alpha val="92000"/>
            </a:srgbClr>
          </a:solidFill>
          <a:ln/>
        </p:spPr>
      </p:sp>
      <p:sp>
        <p:nvSpPr>
          <p:cNvPr id="21" name="Text 17"/>
          <p:cNvSpPr txBox="1"/>
          <p:nvPr/>
        </p:nvSpPr>
        <p:spPr>
          <a:xfrm>
            <a:off x="964887" y="3941064"/>
            <a:ext cx="1624203"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인물이 된 부기의 질문</a:t>
            </a:r>
            <a:endParaRPr lang="en-US" sz="1300" dirty="0"/>
          </a:p>
        </p:txBody>
      </p:sp>
      <p:sp>
        <p:nvSpPr>
          <p:cNvPr id="22" name="Shape 18"/>
          <p:cNvSpPr/>
          <p:nvPr/>
        </p:nvSpPr>
        <p:spPr>
          <a:xfrm>
            <a:off x="3303270" y="2542032"/>
            <a:ext cx="2507742" cy="1536021"/>
          </a:xfrm>
          <a:prstGeom prst="roundRect">
            <a:avLst>
              <a:gd name="adj" fmla="val 4762"/>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3" name="Image 2" descr="「결과 보기」">    </p:cNvPr>
          <p:cNvPicPr>
            <a:picLocks noChangeAspect="1"/>
          </p:cNvPicPr>
          <p:nvPr/>
        </p:nvPicPr>
        <p:blipFill>
          <a:blip r:embed="rId3"/>
          <a:stretch>
            <a:fillRect/>
          </a:stretch>
        </p:blipFill>
        <p:spPr>
          <a:xfrm>
            <a:off x="3367278" y="2606040"/>
            <a:ext cx="2379726" cy="1408005"/>
          </a:xfrm>
          <a:prstGeom prst="rect">
            <a:avLst/>
          </a:prstGeom>
        </p:spPr>
      </p:pic>
      <p:sp>
        <p:nvSpPr>
          <p:cNvPr id="24" name="Shape 19"/>
          <p:cNvSpPr/>
          <p:nvPr/>
        </p:nvSpPr>
        <p:spPr>
          <a:xfrm>
            <a:off x="3412998" y="3694005"/>
            <a:ext cx="1030478" cy="274320"/>
          </a:xfrm>
          <a:prstGeom prst="roundRect">
            <a:avLst>
              <a:gd name="adj" fmla="val 50000"/>
            </a:avLst>
          </a:prstGeom>
          <a:solidFill>
            <a:srgbClr val="20342A">
              <a:alpha val="92000"/>
            </a:srgbClr>
          </a:solidFill>
          <a:ln/>
        </p:spPr>
      </p:sp>
      <p:sp>
        <p:nvSpPr>
          <p:cNvPr id="25" name="Text 20"/>
          <p:cNvSpPr txBox="1"/>
          <p:nvPr/>
        </p:nvSpPr>
        <p:spPr>
          <a:xfrm>
            <a:off x="3412998" y="3694005"/>
            <a:ext cx="1030478"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「결과 보기」</a:t>
            </a:r>
            <a:endParaRPr lang="en-US" sz="1300" dirty="0"/>
          </a:p>
        </p:txBody>
      </p:sp>
      <p:sp>
        <p:nvSpPr>
          <p:cNvPr id="26" name="Shape 21"/>
          <p:cNvSpPr/>
          <p:nvPr/>
        </p:nvSpPr>
        <p:spPr>
          <a:xfrm>
            <a:off x="649224" y="4480560"/>
            <a:ext cx="5161788" cy="777240"/>
          </a:xfrm>
          <a:prstGeom prst="roundRect">
            <a:avLst>
              <a:gd name="adj" fmla="val 9412"/>
            </a:avLst>
          </a:prstGeom>
          <a:solidFill>
            <a:srgbClr val="FBF5E6"/>
          </a:solidFill>
          <a:ln/>
        </p:spPr>
      </p:sp>
      <p:sp>
        <p:nvSpPr>
          <p:cNvPr id="27" name="Text 22"/>
          <p:cNvSpPr txBox="1"/>
          <p:nvPr/>
        </p:nvSpPr>
        <p:spPr>
          <a:xfrm>
            <a:off x="795528" y="448056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학생</a:t>
            </a:r>
            <a:endParaRPr lang="en-US" sz="1650" dirty="0"/>
          </a:p>
        </p:txBody>
      </p:sp>
      <p:sp>
        <p:nvSpPr>
          <p:cNvPr id="28" name="Text 23"/>
          <p:cNvSpPr txBox="1"/>
          <p:nvPr/>
        </p:nvSpPr>
        <p:spPr>
          <a:xfrm>
            <a:off x="1527048" y="448056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인물이 된 부기의 질문에 자기 말로 답하고, 인물에게 편지를 쓰거나 마음에 남은 장면을 고릅니다.</a:t>
            </a:r>
            <a:endParaRPr lang="en-US" sz="1500" dirty="0"/>
          </a:p>
        </p:txBody>
      </p:sp>
      <p:sp>
        <p:nvSpPr>
          <p:cNvPr id="29" name="Shape 24"/>
          <p:cNvSpPr/>
          <p:nvPr/>
        </p:nvSpPr>
        <p:spPr>
          <a:xfrm>
            <a:off x="649224" y="5349240"/>
            <a:ext cx="5161788" cy="777240"/>
          </a:xfrm>
          <a:prstGeom prst="roundRect">
            <a:avLst>
              <a:gd name="adj" fmla="val 9412"/>
            </a:avLst>
          </a:prstGeom>
          <a:solidFill>
            <a:srgbClr val="E6F0E7"/>
          </a:solidFill>
          <a:ln/>
        </p:spPr>
      </p:sp>
      <p:sp>
        <p:nvSpPr>
          <p:cNvPr id="30" name="Text 25"/>
          <p:cNvSpPr txBox="1"/>
          <p:nvPr/>
        </p:nvSpPr>
        <p:spPr>
          <a:xfrm>
            <a:off x="795528" y="534924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교사</a:t>
            </a:r>
            <a:endParaRPr lang="en-US" sz="1650" dirty="0"/>
          </a:p>
        </p:txBody>
      </p:sp>
      <p:sp>
        <p:nvSpPr>
          <p:cNvPr id="31" name="Text 26"/>
          <p:cNvSpPr txBox="1"/>
          <p:nvPr/>
        </p:nvSpPr>
        <p:spPr>
          <a:xfrm>
            <a:off x="1527048" y="534924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낸 학생, 확인할 학생, 안 낸 학생을 나눠 보고 카드마다 도장과 한 줄을 남깁니다.</a:t>
            </a:r>
            <a:endParaRPr lang="en-US" sz="1500" dirty="0"/>
          </a:p>
        </p:txBody>
      </p:sp>
      <p:sp>
        <p:nvSpPr>
          <p:cNvPr id="32" name="Shape 27"/>
          <p:cNvSpPr/>
          <p:nvPr/>
        </p:nvSpPr>
        <p:spPr>
          <a:xfrm>
            <a:off x="6231636" y="1920240"/>
            <a:ext cx="5454396" cy="4352544"/>
          </a:xfrm>
          <a:prstGeom prst="roundRect">
            <a:avLst>
              <a:gd name="adj" fmla="val 2101"/>
            </a:avLst>
          </a:prstGeom>
          <a:solidFill>
            <a:srgbClr val="FFFFFF"/>
          </a:solidFill>
          <a:ln w="9525">
            <a:solidFill>
              <a:srgbClr val="E2DCCB"/>
            </a:solidFill>
            <a:prstDash val="solid"/>
          </a:ln>
        </p:spPr>
      </p:sp>
      <p:sp>
        <p:nvSpPr>
          <p:cNvPr id="33" name="Shape 28"/>
          <p:cNvSpPr/>
          <p:nvPr/>
        </p:nvSpPr>
        <p:spPr>
          <a:xfrm>
            <a:off x="6231636" y="1920240"/>
            <a:ext cx="5454396" cy="475488"/>
          </a:xfrm>
          <a:prstGeom prst="roundRect">
            <a:avLst>
              <a:gd name="adj" fmla="val 19231"/>
            </a:avLst>
          </a:prstGeom>
          <a:solidFill>
            <a:srgbClr val="2B4637"/>
          </a:solidFill>
          <a:ln/>
        </p:spPr>
      </p:sp>
      <p:sp>
        <p:nvSpPr>
          <p:cNvPr id="34" name="Shape 29"/>
          <p:cNvSpPr/>
          <p:nvPr/>
        </p:nvSpPr>
        <p:spPr>
          <a:xfrm>
            <a:off x="6231636" y="2304288"/>
            <a:ext cx="5454396" cy="91440"/>
          </a:xfrm>
          <a:prstGeom prst="rect">
            <a:avLst/>
          </a:prstGeom>
          <a:solidFill>
            <a:srgbClr val="2B4637"/>
          </a:solidFill>
          <a:ln/>
        </p:spPr>
      </p:sp>
      <p:sp>
        <p:nvSpPr>
          <p:cNvPr id="35" name="Text 30"/>
          <p:cNvSpPr txBox="1"/>
          <p:nvPr/>
        </p:nvSpPr>
        <p:spPr>
          <a:xfrm>
            <a:off x="6414516" y="1920240"/>
            <a:ext cx="5180076" cy="47548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③  학생별 진행과 성장을 살피는 수업</a:t>
            </a:r>
            <a:endParaRPr lang="en-US" sz="1800" dirty="0"/>
          </a:p>
        </p:txBody>
      </p:sp>
      <p:sp>
        <p:nvSpPr>
          <p:cNvPr id="36" name="Shape 31"/>
          <p:cNvSpPr/>
          <p:nvPr/>
        </p:nvSpPr>
        <p:spPr>
          <a:xfrm>
            <a:off x="6377940" y="2542032"/>
            <a:ext cx="2507742" cy="1351195"/>
          </a:xfrm>
          <a:prstGeom prst="roundRect">
            <a:avLst>
              <a:gd name="adj" fmla="val 5414"/>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7" name="Image 3" descr="「우리 반 현황」">    </p:cNvPr>
          <p:cNvPicPr>
            <a:picLocks noChangeAspect="1"/>
          </p:cNvPicPr>
          <p:nvPr/>
        </p:nvPicPr>
        <p:blipFill>
          <a:blip r:embed="rId4"/>
          <a:stretch>
            <a:fillRect/>
          </a:stretch>
        </p:blipFill>
        <p:spPr>
          <a:xfrm>
            <a:off x="6441948" y="2606040"/>
            <a:ext cx="2379726" cy="1223179"/>
          </a:xfrm>
          <a:prstGeom prst="rect">
            <a:avLst/>
          </a:prstGeom>
        </p:spPr>
      </p:pic>
      <p:sp>
        <p:nvSpPr>
          <p:cNvPr id="38" name="Shape 32"/>
          <p:cNvSpPr/>
          <p:nvPr/>
        </p:nvSpPr>
        <p:spPr>
          <a:xfrm>
            <a:off x="6487668" y="3509179"/>
            <a:ext cx="1202309" cy="274320"/>
          </a:xfrm>
          <a:prstGeom prst="roundRect">
            <a:avLst>
              <a:gd name="adj" fmla="val 50000"/>
            </a:avLst>
          </a:prstGeom>
          <a:solidFill>
            <a:srgbClr val="20342A">
              <a:alpha val="92000"/>
            </a:srgbClr>
          </a:solidFill>
          <a:ln/>
        </p:spPr>
      </p:sp>
      <p:sp>
        <p:nvSpPr>
          <p:cNvPr id="39" name="Text 33"/>
          <p:cNvSpPr txBox="1"/>
          <p:nvPr/>
        </p:nvSpPr>
        <p:spPr>
          <a:xfrm>
            <a:off x="6487668" y="3509179"/>
            <a:ext cx="1202309"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「우리 반 현황」</a:t>
            </a:r>
            <a:endParaRPr lang="en-US" sz="1300" dirty="0"/>
          </a:p>
        </p:txBody>
      </p:sp>
      <p:sp>
        <p:nvSpPr>
          <p:cNvPr id="40" name="Shape 34"/>
          <p:cNvSpPr/>
          <p:nvPr/>
        </p:nvSpPr>
        <p:spPr>
          <a:xfrm>
            <a:off x="9031986" y="2542032"/>
            <a:ext cx="2507742" cy="1464629"/>
          </a:xfrm>
          <a:prstGeom prst="roundRect">
            <a:avLst>
              <a:gd name="adj" fmla="val 4995"/>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41" name="Image 4" descr="「우리 반 성장」">    </p:cNvPr>
          <p:cNvPicPr>
            <a:picLocks noChangeAspect="1"/>
          </p:cNvPicPr>
          <p:nvPr/>
        </p:nvPicPr>
        <p:blipFill>
          <a:blip r:embed="rId5"/>
          <a:stretch>
            <a:fillRect/>
          </a:stretch>
        </p:blipFill>
        <p:spPr>
          <a:xfrm>
            <a:off x="9095994" y="2606040"/>
            <a:ext cx="2379726" cy="1336613"/>
          </a:xfrm>
          <a:prstGeom prst="rect">
            <a:avLst/>
          </a:prstGeom>
        </p:spPr>
      </p:pic>
      <p:sp>
        <p:nvSpPr>
          <p:cNvPr id="42" name="Shape 35"/>
          <p:cNvSpPr/>
          <p:nvPr/>
        </p:nvSpPr>
        <p:spPr>
          <a:xfrm>
            <a:off x="9141714" y="3622613"/>
            <a:ext cx="1202309" cy="274320"/>
          </a:xfrm>
          <a:prstGeom prst="roundRect">
            <a:avLst>
              <a:gd name="adj" fmla="val 50000"/>
            </a:avLst>
          </a:prstGeom>
          <a:solidFill>
            <a:srgbClr val="20342A">
              <a:alpha val="92000"/>
            </a:srgbClr>
          </a:solidFill>
          <a:ln/>
        </p:spPr>
      </p:sp>
      <p:sp>
        <p:nvSpPr>
          <p:cNvPr id="43" name="Text 36"/>
          <p:cNvSpPr txBox="1"/>
          <p:nvPr/>
        </p:nvSpPr>
        <p:spPr>
          <a:xfrm>
            <a:off x="9141714" y="3622613"/>
            <a:ext cx="1202309"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「우리 반 성장」</a:t>
            </a:r>
            <a:endParaRPr lang="en-US" sz="1300" dirty="0"/>
          </a:p>
        </p:txBody>
      </p:sp>
      <p:sp>
        <p:nvSpPr>
          <p:cNvPr id="44" name="Shape 37"/>
          <p:cNvSpPr/>
          <p:nvPr/>
        </p:nvSpPr>
        <p:spPr>
          <a:xfrm>
            <a:off x="6377940" y="4480560"/>
            <a:ext cx="5161788" cy="777240"/>
          </a:xfrm>
          <a:prstGeom prst="roundRect">
            <a:avLst>
              <a:gd name="adj" fmla="val 9412"/>
            </a:avLst>
          </a:prstGeom>
          <a:solidFill>
            <a:srgbClr val="FBF5E6"/>
          </a:solidFill>
          <a:ln/>
        </p:spPr>
      </p:sp>
      <p:sp>
        <p:nvSpPr>
          <p:cNvPr id="45" name="Text 38"/>
          <p:cNvSpPr txBox="1"/>
          <p:nvPr/>
        </p:nvSpPr>
        <p:spPr>
          <a:xfrm>
            <a:off x="6524244" y="448056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점검</a:t>
            </a:r>
            <a:endParaRPr lang="en-US" sz="1650" dirty="0"/>
          </a:p>
        </p:txBody>
      </p:sp>
      <p:sp>
        <p:nvSpPr>
          <p:cNvPr id="46" name="Text 39"/>
          <p:cNvSpPr txBox="1"/>
          <p:nvPr/>
        </p:nvSpPr>
        <p:spPr>
          <a:xfrm>
            <a:off x="7255764" y="448056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읽기, 인물과 대화, 활동, 완주 가운데 누가 어디까지 왔는지 보고 한동안 멈춘 학생을 찾습니다.</a:t>
            </a:r>
            <a:endParaRPr lang="en-US" sz="1500" dirty="0"/>
          </a:p>
        </p:txBody>
      </p:sp>
      <p:sp>
        <p:nvSpPr>
          <p:cNvPr id="47" name="Shape 40"/>
          <p:cNvSpPr/>
          <p:nvPr/>
        </p:nvSpPr>
        <p:spPr>
          <a:xfrm>
            <a:off x="6377940" y="5349240"/>
            <a:ext cx="5161788" cy="777240"/>
          </a:xfrm>
          <a:prstGeom prst="roundRect">
            <a:avLst>
              <a:gd name="adj" fmla="val 9412"/>
            </a:avLst>
          </a:prstGeom>
          <a:solidFill>
            <a:srgbClr val="E6F0E7"/>
          </a:solidFill>
          <a:ln/>
        </p:spPr>
      </p:sp>
      <p:sp>
        <p:nvSpPr>
          <p:cNvPr id="48" name="Text 41"/>
          <p:cNvSpPr txBox="1"/>
          <p:nvPr/>
        </p:nvSpPr>
        <p:spPr>
          <a:xfrm>
            <a:off x="6524244" y="534924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지도</a:t>
            </a:r>
            <a:endParaRPr lang="en-US" sz="1650" dirty="0"/>
          </a:p>
        </p:txBody>
      </p:sp>
      <p:sp>
        <p:nvSpPr>
          <p:cNvPr id="49" name="Text 42"/>
          <p:cNvSpPr txBox="1"/>
          <p:nvPr/>
        </p:nvSpPr>
        <p:spPr>
          <a:xfrm>
            <a:off x="7255764" y="534924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어휘력 진단 결과와 반 성장 자료로 다음 책과 다음 차시 활동을 정합니다.</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정보 보호와 안정 운영</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3중 보호</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와 교육청 시스템 연계, 장애 대응까지 정해 수업이 끊기지 않게 합니다</a:t>
            </a:r>
            <a:endParaRPr lang="en-US" sz="1400" dirty="0"/>
          </a:p>
        </p:txBody>
      </p:sp>
      <p:sp>
        <p:nvSpPr>
          <p:cNvPr id="10" name="Text 7"/>
          <p:cNvSpPr txBox="1"/>
          <p:nvPr/>
        </p:nvSpPr>
        <p:spPr>
          <a:xfrm>
            <a:off x="195933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3584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AI 사업자는 OpenAI, L.L.C.(미국)와 Anthropic, PBC(미국)이며 두 사업자 모두 데이터 무보관(ZDR)을 적용함(2026. 10.). 시스템 연계 범위와 방식은 계약 뒤 교육청 정보화 담당 부서와 협의해 정하며, 교육청의 정보보호 기준과 보안 점검 결과를 우선 적용함. 복구 목표시간과 보고 양식은 계약 때 확정함.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26</a:t>
            </a:r>
            <a:endParaRPr lang="en-US" sz="1250" dirty="0"/>
          </a:p>
        </p:txBody>
      </p:sp>
      <p:sp>
        <p:nvSpPr>
          <p:cNvPr id="14" name="Shape 11"/>
          <p:cNvSpPr/>
          <p:nvPr/>
        </p:nvSpPr>
        <p:spPr>
          <a:xfrm>
            <a:off x="502920" y="1920240"/>
            <a:ext cx="3754069" cy="3639312"/>
          </a:xfrm>
          <a:prstGeom prst="roundRect">
            <a:avLst>
              <a:gd name="adj" fmla="val 2010"/>
            </a:avLst>
          </a:prstGeom>
          <a:solidFill>
            <a:srgbClr val="FFFFFF"/>
          </a:solidFill>
          <a:ln w="9525">
            <a:solidFill>
              <a:srgbClr val="E2DCCB"/>
            </a:solidFill>
            <a:prstDash val="solid"/>
          </a:ln>
        </p:spPr>
      </p:sp>
      <p:sp>
        <p:nvSpPr>
          <p:cNvPr id="15" name="Shape 12"/>
          <p:cNvSpPr/>
          <p:nvPr/>
        </p:nvSpPr>
        <p:spPr>
          <a:xfrm>
            <a:off x="502920" y="1920240"/>
            <a:ext cx="3754069" cy="420624"/>
          </a:xfrm>
          <a:prstGeom prst="roundRect">
            <a:avLst>
              <a:gd name="adj" fmla="val 17391"/>
            </a:avLst>
          </a:prstGeom>
          <a:solidFill>
            <a:srgbClr val="2F7D4F"/>
          </a:solidFill>
          <a:ln/>
        </p:spPr>
      </p:sp>
      <p:sp>
        <p:nvSpPr>
          <p:cNvPr id="16" name="Shape 13"/>
          <p:cNvSpPr/>
          <p:nvPr/>
        </p:nvSpPr>
        <p:spPr>
          <a:xfrm>
            <a:off x="502920" y="2249424"/>
            <a:ext cx="3754069" cy="91440"/>
          </a:xfrm>
          <a:prstGeom prst="rect">
            <a:avLst/>
          </a:prstGeom>
          <a:solidFill>
            <a:srgbClr val="2F7D4F"/>
          </a:solidFill>
          <a:ln/>
        </p:spPr>
      </p:sp>
      <p:pic>
        <p:nvPicPr>
          <p:cNvPr id="17" name="Image 1" descr="shield-lock">    </p:cNvPr>
          <p:cNvPicPr>
            <a:picLocks noChangeAspect="1"/>
          </p:cNvPicPr>
          <p:nvPr/>
        </p:nvPicPr>
        <p:blipFill>
          <a:blip r:embed="rId2"/>
          <a:stretch>
            <a:fillRect/>
          </a:stretch>
        </p:blipFill>
        <p:spPr>
          <a:xfrm>
            <a:off x="630936" y="2007108"/>
            <a:ext cx="246888" cy="246888"/>
          </a:xfrm>
          <a:prstGeom prst="rect">
            <a:avLst/>
          </a:prstGeom>
        </p:spPr>
      </p:pic>
      <p:sp>
        <p:nvSpPr>
          <p:cNvPr id="18" name="Text 14"/>
          <p:cNvSpPr txBox="1"/>
          <p:nvPr/>
        </p:nvSpPr>
        <p:spPr>
          <a:xfrm>
            <a:off x="960120" y="1920240"/>
            <a:ext cx="3187141"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3중 보호와 AI 데이터 무보관</a:t>
            </a:r>
            <a:endParaRPr lang="en-US" sz="1750" dirty="0"/>
          </a:p>
        </p:txBody>
      </p:sp>
      <p:sp>
        <p:nvSpPr>
          <p:cNvPr id="19" name="Shape 15"/>
          <p:cNvSpPr/>
          <p:nvPr/>
        </p:nvSpPr>
        <p:spPr>
          <a:xfrm>
            <a:off x="630936" y="2450592"/>
            <a:ext cx="3498037" cy="2103120"/>
          </a:xfrm>
          <a:prstGeom prst="roundRect">
            <a:avLst>
              <a:gd name="adj" fmla="val 3478"/>
            </a:avLst>
          </a:prstGeom>
          <a:solidFill>
            <a:srgbClr val="E6F0E7"/>
          </a:solidFill>
          <a:ln w="9525">
            <a:solidFill>
              <a:srgbClr val="D3E6D6"/>
            </a:solidFill>
            <a:prstDash val="solid"/>
          </a:ln>
        </p:spPr>
      </p:sp>
      <p:sp>
        <p:nvSpPr>
          <p:cNvPr id="20" name="Text 16"/>
          <p:cNvSpPr txBox="1"/>
          <p:nvPr/>
        </p:nvSpPr>
        <p:spPr>
          <a:xfrm>
            <a:off x="758952" y="2523744"/>
            <a:ext cx="3242005" cy="292608"/>
          </a:xfrm>
          <a:prstGeom prst="rect">
            <a:avLst/>
          </a:prstGeom>
          <a:noFill/>
          <a:ln/>
        </p:spPr>
        <p:txBody>
          <a:bodyPr wrap="square" lIns="0" tIns="0" rIns="0" bIns="0" rtlCol="0" anchor="ctr"/>
          <a:lstStyle/>
          <a:p>
            <a:pP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AI 사업자와 데이터 무보관(ZDR)</a:t>
            </a:r>
            <a:endParaRPr lang="en-US" sz="1400" dirty="0"/>
          </a:p>
        </p:txBody>
      </p:sp>
      <p:sp>
        <p:nvSpPr>
          <p:cNvPr id="21" name="Text 17"/>
          <p:cNvSpPr txBox="1"/>
          <p:nvPr/>
        </p:nvSpPr>
        <p:spPr>
          <a:xfrm>
            <a:off x="758952" y="2852928"/>
            <a:ext cx="3242005" cy="1645920"/>
          </a:xfrm>
          <a:prstGeom prst="rect">
            <a:avLst/>
          </a:prstGeom>
          <a:noFill/>
          <a:ln/>
        </p:spPr>
        <p:txBody>
          <a:bodyPr wrap="square" lIns="0" tIns="0" rIns="0" bIns="0" rtlCol="0" anchor="t"/>
          <a:lstStyle/>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부기의 AI 기능은 OpenAI와 Anthropic(Claude)</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API로 운영합니다. 두 사업자 모두 데이터</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무보관(ZDR)을 적용해, AI로 보낸 글은 처리 뒤</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남지 않고 AI 학습에도 쓰이지 않습니다.</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AI에는 학생이 쓴 활동 글만 보내고 이름과</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계정은 보내지 않으며, 마음 일기와 선생님의</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한마디는 AI로 보내지 않습니다.</a:t>
            </a:r>
            <a:endParaRPr lang="en-US" sz="1250" dirty="0"/>
          </a:p>
        </p:txBody>
      </p:sp>
      <p:sp>
        <p:nvSpPr>
          <p:cNvPr id="22" name="Text 18"/>
          <p:cNvSpPr txBox="1"/>
          <p:nvPr/>
        </p:nvSpPr>
        <p:spPr>
          <a:xfrm>
            <a:off x="667512" y="4663440"/>
            <a:ext cx="3461461" cy="841248"/>
          </a:xfrm>
          <a:prstGeom prst="rect">
            <a:avLst/>
          </a:prstGeom>
          <a:noFill/>
          <a:ln/>
        </p:spPr>
        <p:txBody>
          <a:bodyPr wrap="square" lIns="0" tIns="0" rIns="0" bIns="0" rtlCol="0" anchor="t"/>
          <a:lstStyle/>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보호자 동의를 확인해 학생 계정 생성</a:t>
            </a:r>
            <a:endParaRPr lang="en-US" sz="1650" dirty="0"/>
          </a:p>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관리자는 조회만, 기록은 고치지 못함</a:t>
            </a:r>
            <a:endParaRPr lang="en-US" sz="1650" dirty="0"/>
          </a:p>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통계는 이름 없는 합계로만 내려받음</a:t>
            </a:r>
            <a:endParaRPr lang="en-US" sz="1650" dirty="0"/>
          </a:p>
        </p:txBody>
      </p:sp>
      <p:sp>
        <p:nvSpPr>
          <p:cNvPr id="23" name="Shape 19"/>
          <p:cNvSpPr/>
          <p:nvPr/>
        </p:nvSpPr>
        <p:spPr>
          <a:xfrm>
            <a:off x="4485589" y="1920240"/>
            <a:ext cx="3485921" cy="3639312"/>
          </a:xfrm>
          <a:prstGeom prst="roundRect">
            <a:avLst>
              <a:gd name="adj" fmla="val 2098"/>
            </a:avLst>
          </a:prstGeom>
          <a:solidFill>
            <a:srgbClr val="FFFFFF"/>
          </a:solidFill>
          <a:ln w="9525">
            <a:solidFill>
              <a:srgbClr val="E2DCCB"/>
            </a:solidFill>
            <a:prstDash val="solid"/>
          </a:ln>
        </p:spPr>
      </p:sp>
      <p:sp>
        <p:nvSpPr>
          <p:cNvPr id="24" name="Shape 20"/>
          <p:cNvSpPr/>
          <p:nvPr/>
        </p:nvSpPr>
        <p:spPr>
          <a:xfrm>
            <a:off x="4485589" y="1920240"/>
            <a:ext cx="3485921" cy="420624"/>
          </a:xfrm>
          <a:prstGeom prst="roundRect">
            <a:avLst>
              <a:gd name="adj" fmla="val 17391"/>
            </a:avLst>
          </a:prstGeom>
          <a:solidFill>
            <a:srgbClr val="2B4637"/>
          </a:solidFill>
          <a:ln/>
        </p:spPr>
      </p:sp>
      <p:sp>
        <p:nvSpPr>
          <p:cNvPr id="25" name="Shape 21"/>
          <p:cNvSpPr/>
          <p:nvPr/>
        </p:nvSpPr>
        <p:spPr>
          <a:xfrm>
            <a:off x="4485589" y="2249424"/>
            <a:ext cx="3485921" cy="91440"/>
          </a:xfrm>
          <a:prstGeom prst="rect">
            <a:avLst/>
          </a:prstGeom>
          <a:solidFill>
            <a:srgbClr val="2B4637"/>
          </a:solidFill>
          <a:ln/>
        </p:spPr>
      </p:sp>
      <p:pic>
        <p:nvPicPr>
          <p:cNvPr id="26" name="Image 2" descr="building-bank">    </p:cNvPr>
          <p:cNvPicPr>
            <a:picLocks noChangeAspect="1"/>
          </p:cNvPicPr>
          <p:nvPr/>
        </p:nvPicPr>
        <p:blipFill>
          <a:blip r:embed="rId3"/>
          <a:stretch>
            <a:fillRect/>
          </a:stretch>
        </p:blipFill>
        <p:spPr>
          <a:xfrm>
            <a:off x="4613605" y="2007108"/>
            <a:ext cx="246888" cy="246888"/>
          </a:xfrm>
          <a:prstGeom prst="rect">
            <a:avLst/>
          </a:prstGeom>
        </p:spPr>
      </p:pic>
      <p:sp>
        <p:nvSpPr>
          <p:cNvPr id="27" name="Text 22"/>
          <p:cNvSpPr txBox="1"/>
          <p:nvPr/>
        </p:nvSpPr>
        <p:spPr>
          <a:xfrm>
            <a:off x="4942789" y="1920240"/>
            <a:ext cx="2918993"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교육청 시스템 연계(안)</a:t>
            </a:r>
            <a:endParaRPr lang="en-US" sz="1750" dirty="0"/>
          </a:p>
        </p:txBody>
      </p:sp>
      <p:sp>
        <p:nvSpPr>
          <p:cNvPr id="28" name="Shape 23"/>
          <p:cNvSpPr/>
          <p:nvPr/>
        </p:nvSpPr>
        <p:spPr>
          <a:xfrm>
            <a:off x="4595317" y="2450592"/>
            <a:ext cx="3266465" cy="699516"/>
          </a:xfrm>
          <a:prstGeom prst="roundRect">
            <a:avLst>
              <a:gd name="adj" fmla="val 10458"/>
            </a:avLst>
          </a:prstGeom>
          <a:solidFill>
            <a:srgbClr val="E6F0E7"/>
          </a:solidFill>
          <a:ln w="9525">
            <a:solidFill>
              <a:srgbClr val="D3E6D6"/>
            </a:solidFill>
            <a:prstDash val="solid"/>
          </a:ln>
        </p:spPr>
      </p:sp>
      <p:sp>
        <p:nvSpPr>
          <p:cNvPr id="29" name="Shape 24"/>
          <p:cNvSpPr/>
          <p:nvPr/>
        </p:nvSpPr>
        <p:spPr>
          <a:xfrm>
            <a:off x="4686757" y="2571750"/>
            <a:ext cx="457200" cy="457200"/>
          </a:xfrm>
          <a:prstGeom prst="ellipse">
            <a:avLst/>
          </a:prstGeom>
          <a:solidFill>
            <a:srgbClr val="FFFFFF"/>
          </a:solidFill>
          <a:ln/>
        </p:spPr>
      </p:sp>
      <p:pic>
        <p:nvPicPr>
          <p:cNvPr id="30" name="Image 3" descr="key">    </p:cNvPr>
          <p:cNvPicPr>
            <a:picLocks noChangeAspect="1"/>
          </p:cNvPicPr>
          <p:nvPr/>
        </p:nvPicPr>
        <p:blipFill>
          <a:blip r:embed="rId4"/>
          <a:stretch>
            <a:fillRect/>
          </a:stretch>
        </p:blipFill>
        <p:spPr>
          <a:xfrm>
            <a:off x="4782769" y="2667762"/>
            <a:ext cx="265176" cy="265176"/>
          </a:xfrm>
          <a:prstGeom prst="rect">
            <a:avLst/>
          </a:prstGeom>
        </p:spPr>
      </p:pic>
      <p:sp>
        <p:nvSpPr>
          <p:cNvPr id="31" name="Text 25"/>
          <p:cNvSpPr txBox="1"/>
          <p:nvPr/>
        </p:nvSpPr>
        <p:spPr>
          <a:xfrm>
            <a:off x="5271973" y="2505456"/>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통합 로그인</a:t>
            </a:r>
            <a:endParaRPr lang="en-US" sz="1550" dirty="0"/>
          </a:p>
        </p:txBody>
      </p:sp>
      <p:sp>
        <p:nvSpPr>
          <p:cNvPr id="32" name="Text 26"/>
          <p:cNvSpPr txBox="1"/>
          <p:nvPr/>
        </p:nvSpPr>
        <p:spPr>
          <a:xfrm>
            <a:off x="5271973" y="2816352"/>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계정으로 바로 입장</a:t>
            </a:r>
            <a:endParaRPr lang="en-US" sz="1300" dirty="0"/>
          </a:p>
        </p:txBody>
      </p:sp>
      <p:sp>
        <p:nvSpPr>
          <p:cNvPr id="33" name="Shape 27"/>
          <p:cNvSpPr/>
          <p:nvPr/>
        </p:nvSpPr>
        <p:spPr>
          <a:xfrm>
            <a:off x="4595317" y="3223260"/>
            <a:ext cx="3266465" cy="699516"/>
          </a:xfrm>
          <a:prstGeom prst="roundRect">
            <a:avLst>
              <a:gd name="adj" fmla="val 10458"/>
            </a:avLst>
          </a:prstGeom>
          <a:solidFill>
            <a:srgbClr val="FFFFFF"/>
          </a:solidFill>
          <a:ln w="9525">
            <a:solidFill>
              <a:srgbClr val="D3E6D6"/>
            </a:solidFill>
            <a:prstDash val="solid"/>
          </a:ln>
        </p:spPr>
      </p:sp>
      <p:sp>
        <p:nvSpPr>
          <p:cNvPr id="34" name="Shape 28"/>
          <p:cNvSpPr/>
          <p:nvPr/>
        </p:nvSpPr>
        <p:spPr>
          <a:xfrm>
            <a:off x="4686757" y="3344418"/>
            <a:ext cx="457200" cy="457200"/>
          </a:xfrm>
          <a:prstGeom prst="ellipse">
            <a:avLst/>
          </a:prstGeom>
          <a:solidFill>
            <a:srgbClr val="E6F0E7"/>
          </a:solidFill>
          <a:ln/>
        </p:spPr>
      </p:sp>
      <p:pic>
        <p:nvPicPr>
          <p:cNvPr id="35" name="Image 4" descr="device-desktop">    </p:cNvPr>
          <p:cNvPicPr>
            <a:picLocks noChangeAspect="1"/>
          </p:cNvPicPr>
          <p:nvPr/>
        </p:nvPicPr>
        <p:blipFill>
          <a:blip r:embed="rId5"/>
          <a:stretch>
            <a:fillRect/>
          </a:stretch>
        </p:blipFill>
        <p:spPr>
          <a:xfrm>
            <a:off x="4782769" y="3440430"/>
            <a:ext cx="265176" cy="265176"/>
          </a:xfrm>
          <a:prstGeom prst="rect">
            <a:avLst/>
          </a:prstGeom>
        </p:spPr>
      </p:pic>
      <p:sp>
        <p:nvSpPr>
          <p:cNvPr id="36" name="Text 29"/>
          <p:cNvSpPr txBox="1"/>
          <p:nvPr/>
        </p:nvSpPr>
        <p:spPr>
          <a:xfrm>
            <a:off x="5271973" y="3278124"/>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학습 플랫폼 연동</a:t>
            </a:r>
            <a:endParaRPr lang="en-US" sz="1550" dirty="0"/>
          </a:p>
        </p:txBody>
      </p:sp>
      <p:sp>
        <p:nvSpPr>
          <p:cNvPr id="37" name="Text 30"/>
          <p:cNvSpPr txBox="1"/>
          <p:nvPr/>
        </p:nvSpPr>
        <p:spPr>
          <a:xfrm>
            <a:off x="5271973" y="3589020"/>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누리집에 부기 바로가기</a:t>
            </a:r>
            <a:endParaRPr lang="en-US" sz="1300" dirty="0"/>
          </a:p>
        </p:txBody>
      </p:sp>
      <p:sp>
        <p:nvSpPr>
          <p:cNvPr id="38" name="Shape 31"/>
          <p:cNvSpPr/>
          <p:nvPr/>
        </p:nvSpPr>
        <p:spPr>
          <a:xfrm>
            <a:off x="4595317" y="3995928"/>
            <a:ext cx="3266465" cy="699516"/>
          </a:xfrm>
          <a:prstGeom prst="roundRect">
            <a:avLst>
              <a:gd name="adj" fmla="val 10458"/>
            </a:avLst>
          </a:prstGeom>
          <a:solidFill>
            <a:srgbClr val="E6F0E7"/>
          </a:solidFill>
          <a:ln w="9525">
            <a:solidFill>
              <a:srgbClr val="D3E6D6"/>
            </a:solidFill>
            <a:prstDash val="solid"/>
          </a:ln>
        </p:spPr>
      </p:sp>
      <p:sp>
        <p:nvSpPr>
          <p:cNvPr id="39" name="Shape 32"/>
          <p:cNvSpPr/>
          <p:nvPr/>
        </p:nvSpPr>
        <p:spPr>
          <a:xfrm>
            <a:off x="4686757" y="4117086"/>
            <a:ext cx="457200" cy="457200"/>
          </a:xfrm>
          <a:prstGeom prst="ellipse">
            <a:avLst/>
          </a:prstGeom>
          <a:solidFill>
            <a:srgbClr val="FFFFFF"/>
          </a:solidFill>
          <a:ln/>
        </p:spPr>
      </p:sp>
      <p:pic>
        <p:nvPicPr>
          <p:cNvPr id="40" name="Image 5" descr="chart-histogram">    </p:cNvPr>
          <p:cNvPicPr>
            <a:picLocks noChangeAspect="1"/>
          </p:cNvPicPr>
          <p:nvPr/>
        </p:nvPicPr>
        <p:blipFill>
          <a:blip r:embed="rId6"/>
          <a:stretch>
            <a:fillRect/>
          </a:stretch>
        </p:blipFill>
        <p:spPr>
          <a:xfrm>
            <a:off x="4782769" y="4213098"/>
            <a:ext cx="265176" cy="265176"/>
          </a:xfrm>
          <a:prstGeom prst="rect">
            <a:avLst/>
          </a:prstGeom>
        </p:spPr>
      </p:pic>
      <p:sp>
        <p:nvSpPr>
          <p:cNvPr id="41" name="Text 33"/>
          <p:cNvSpPr txBox="1"/>
          <p:nvPr/>
        </p:nvSpPr>
        <p:spPr>
          <a:xfrm>
            <a:off x="5271973" y="4050792"/>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성과 자료 연계</a:t>
            </a:r>
            <a:endParaRPr lang="en-US" sz="1550" dirty="0"/>
          </a:p>
        </p:txBody>
      </p:sp>
      <p:sp>
        <p:nvSpPr>
          <p:cNvPr id="42" name="Text 34"/>
          <p:cNvSpPr txBox="1"/>
          <p:nvPr/>
        </p:nvSpPr>
        <p:spPr>
          <a:xfrm>
            <a:off x="5271973" y="4361688"/>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학교별 합계를 매달 보고 양식으로</a:t>
            </a:r>
            <a:endParaRPr lang="en-US" sz="1300" dirty="0"/>
          </a:p>
        </p:txBody>
      </p:sp>
      <p:sp>
        <p:nvSpPr>
          <p:cNvPr id="43" name="Shape 35"/>
          <p:cNvSpPr/>
          <p:nvPr/>
        </p:nvSpPr>
        <p:spPr>
          <a:xfrm>
            <a:off x="4595317" y="4768596"/>
            <a:ext cx="3266465" cy="699516"/>
          </a:xfrm>
          <a:prstGeom prst="roundRect">
            <a:avLst>
              <a:gd name="adj" fmla="val 10458"/>
            </a:avLst>
          </a:prstGeom>
          <a:solidFill>
            <a:srgbClr val="FFFFFF"/>
          </a:solidFill>
          <a:ln w="9525">
            <a:solidFill>
              <a:srgbClr val="D3E6D6"/>
            </a:solidFill>
            <a:prstDash val="solid"/>
          </a:ln>
        </p:spPr>
      </p:sp>
      <p:sp>
        <p:nvSpPr>
          <p:cNvPr id="44" name="Shape 36"/>
          <p:cNvSpPr/>
          <p:nvPr/>
        </p:nvSpPr>
        <p:spPr>
          <a:xfrm>
            <a:off x="4686757" y="4889754"/>
            <a:ext cx="457200" cy="457200"/>
          </a:xfrm>
          <a:prstGeom prst="ellipse">
            <a:avLst/>
          </a:prstGeom>
          <a:solidFill>
            <a:srgbClr val="E6F0E7"/>
          </a:solidFill>
          <a:ln/>
        </p:spPr>
      </p:sp>
      <p:pic>
        <p:nvPicPr>
          <p:cNvPr id="45" name="Image 6" descr="shield-check">    </p:cNvPr>
          <p:cNvPicPr>
            <a:picLocks noChangeAspect="1"/>
          </p:cNvPicPr>
          <p:nvPr/>
        </p:nvPicPr>
        <p:blipFill>
          <a:blip r:embed="rId7"/>
          <a:stretch>
            <a:fillRect/>
          </a:stretch>
        </p:blipFill>
        <p:spPr>
          <a:xfrm>
            <a:off x="4782769" y="4985766"/>
            <a:ext cx="265176" cy="265176"/>
          </a:xfrm>
          <a:prstGeom prst="rect">
            <a:avLst/>
          </a:prstGeom>
        </p:spPr>
      </p:pic>
      <p:sp>
        <p:nvSpPr>
          <p:cNvPr id="46" name="Text 37"/>
          <p:cNvSpPr txBox="1"/>
          <p:nvPr/>
        </p:nvSpPr>
        <p:spPr>
          <a:xfrm>
            <a:off x="5271973" y="4823460"/>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정보보호 기준</a:t>
            </a:r>
            <a:endParaRPr lang="en-US" sz="1550" dirty="0"/>
          </a:p>
        </p:txBody>
      </p:sp>
      <p:sp>
        <p:nvSpPr>
          <p:cNvPr id="47" name="Text 38"/>
          <p:cNvSpPr txBox="1"/>
          <p:nvPr/>
        </p:nvSpPr>
        <p:spPr>
          <a:xfrm>
            <a:off x="5271973" y="5134356"/>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기준과 보안 점검 적용</a:t>
            </a:r>
            <a:endParaRPr lang="en-US" sz="1300" dirty="0"/>
          </a:p>
        </p:txBody>
      </p:sp>
      <p:sp>
        <p:nvSpPr>
          <p:cNvPr id="48" name="Shape 39"/>
          <p:cNvSpPr/>
          <p:nvPr/>
        </p:nvSpPr>
        <p:spPr>
          <a:xfrm>
            <a:off x="8200111" y="1920240"/>
            <a:ext cx="3485921" cy="3639312"/>
          </a:xfrm>
          <a:prstGeom prst="roundRect">
            <a:avLst>
              <a:gd name="adj" fmla="val 2098"/>
            </a:avLst>
          </a:prstGeom>
          <a:solidFill>
            <a:srgbClr val="FFFFFF"/>
          </a:solidFill>
          <a:ln w="9525">
            <a:solidFill>
              <a:srgbClr val="E2DCCB"/>
            </a:solidFill>
            <a:prstDash val="solid"/>
          </a:ln>
        </p:spPr>
      </p:sp>
      <p:sp>
        <p:nvSpPr>
          <p:cNvPr id="49" name="Shape 40"/>
          <p:cNvSpPr/>
          <p:nvPr/>
        </p:nvSpPr>
        <p:spPr>
          <a:xfrm>
            <a:off x="8200111" y="1920240"/>
            <a:ext cx="3485921" cy="420624"/>
          </a:xfrm>
          <a:prstGeom prst="roundRect">
            <a:avLst>
              <a:gd name="adj" fmla="val 17391"/>
            </a:avLst>
          </a:prstGeom>
          <a:solidFill>
            <a:srgbClr val="2B4637"/>
          </a:solidFill>
          <a:ln/>
        </p:spPr>
      </p:sp>
      <p:sp>
        <p:nvSpPr>
          <p:cNvPr id="50" name="Shape 41"/>
          <p:cNvSpPr/>
          <p:nvPr/>
        </p:nvSpPr>
        <p:spPr>
          <a:xfrm>
            <a:off x="8200111" y="2249424"/>
            <a:ext cx="3485921" cy="91440"/>
          </a:xfrm>
          <a:prstGeom prst="rect">
            <a:avLst/>
          </a:prstGeom>
          <a:solidFill>
            <a:srgbClr val="2B4637"/>
          </a:solidFill>
          <a:ln/>
        </p:spPr>
      </p:sp>
      <p:pic>
        <p:nvPicPr>
          <p:cNvPr id="51" name="Image 7" descr="server">    </p:cNvPr>
          <p:cNvPicPr>
            <a:picLocks noChangeAspect="1"/>
          </p:cNvPicPr>
          <p:nvPr/>
        </p:nvPicPr>
        <p:blipFill>
          <a:blip r:embed="rId8"/>
          <a:stretch>
            <a:fillRect/>
          </a:stretch>
        </p:blipFill>
        <p:spPr>
          <a:xfrm>
            <a:off x="8328127" y="2007108"/>
            <a:ext cx="246888" cy="246888"/>
          </a:xfrm>
          <a:prstGeom prst="rect">
            <a:avLst/>
          </a:prstGeom>
        </p:spPr>
      </p:pic>
      <p:sp>
        <p:nvSpPr>
          <p:cNvPr id="52" name="Text 42"/>
          <p:cNvSpPr txBox="1"/>
          <p:nvPr/>
        </p:nvSpPr>
        <p:spPr>
          <a:xfrm>
            <a:off x="8657311" y="1920240"/>
            <a:ext cx="2918993"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안정 운영</a:t>
            </a:r>
            <a:endParaRPr lang="en-US" sz="1750" dirty="0"/>
          </a:p>
        </p:txBody>
      </p:sp>
      <p:sp>
        <p:nvSpPr>
          <p:cNvPr id="53" name="Shape 43"/>
          <p:cNvSpPr/>
          <p:nvPr/>
        </p:nvSpPr>
        <p:spPr>
          <a:xfrm>
            <a:off x="8309839" y="2450592"/>
            <a:ext cx="3266465" cy="699516"/>
          </a:xfrm>
          <a:prstGeom prst="roundRect">
            <a:avLst>
              <a:gd name="adj" fmla="val 10458"/>
            </a:avLst>
          </a:prstGeom>
          <a:solidFill>
            <a:srgbClr val="E6F0E7"/>
          </a:solidFill>
          <a:ln w="9525">
            <a:solidFill>
              <a:srgbClr val="D3E6D6"/>
            </a:solidFill>
            <a:prstDash val="solid"/>
          </a:ln>
        </p:spPr>
      </p:sp>
      <p:sp>
        <p:nvSpPr>
          <p:cNvPr id="54" name="Shape 44"/>
          <p:cNvSpPr/>
          <p:nvPr/>
        </p:nvSpPr>
        <p:spPr>
          <a:xfrm>
            <a:off x="8401279" y="2571750"/>
            <a:ext cx="457200" cy="457200"/>
          </a:xfrm>
          <a:prstGeom prst="ellipse">
            <a:avLst/>
          </a:prstGeom>
          <a:solidFill>
            <a:srgbClr val="FFFFFF"/>
          </a:solidFill>
          <a:ln/>
        </p:spPr>
      </p:sp>
      <p:pic>
        <p:nvPicPr>
          <p:cNvPr id="55" name="Image 8" descr="clock-hour-9">    </p:cNvPr>
          <p:cNvPicPr>
            <a:picLocks noChangeAspect="1"/>
          </p:cNvPicPr>
          <p:nvPr/>
        </p:nvPicPr>
        <p:blipFill>
          <a:blip r:embed="rId9"/>
          <a:stretch>
            <a:fillRect/>
          </a:stretch>
        </p:blipFill>
        <p:spPr>
          <a:xfrm>
            <a:off x="8497291" y="2667762"/>
            <a:ext cx="265176" cy="265176"/>
          </a:xfrm>
          <a:prstGeom prst="rect">
            <a:avLst/>
          </a:prstGeom>
        </p:spPr>
      </p:pic>
      <p:sp>
        <p:nvSpPr>
          <p:cNvPr id="56" name="Text 45"/>
          <p:cNvSpPr txBox="1"/>
          <p:nvPr/>
        </p:nvSpPr>
        <p:spPr>
          <a:xfrm>
            <a:off x="8986495" y="2505456"/>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아침 접속 대비</a:t>
            </a:r>
            <a:endParaRPr lang="en-US" sz="1550" dirty="0"/>
          </a:p>
        </p:txBody>
      </p:sp>
      <p:sp>
        <p:nvSpPr>
          <p:cNvPr id="57" name="Text 46"/>
          <p:cNvSpPr txBox="1"/>
          <p:nvPr/>
        </p:nvSpPr>
        <p:spPr>
          <a:xfrm>
            <a:off x="8986495" y="2816352"/>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여러 학급 동시 접속 용량 확보</a:t>
            </a:r>
            <a:endParaRPr lang="en-US" sz="1300" dirty="0"/>
          </a:p>
        </p:txBody>
      </p:sp>
      <p:sp>
        <p:nvSpPr>
          <p:cNvPr id="58" name="Shape 47"/>
          <p:cNvSpPr/>
          <p:nvPr/>
        </p:nvSpPr>
        <p:spPr>
          <a:xfrm>
            <a:off x="8309839" y="3223260"/>
            <a:ext cx="3266465" cy="699516"/>
          </a:xfrm>
          <a:prstGeom prst="roundRect">
            <a:avLst>
              <a:gd name="adj" fmla="val 10458"/>
            </a:avLst>
          </a:prstGeom>
          <a:solidFill>
            <a:srgbClr val="FFFFFF"/>
          </a:solidFill>
          <a:ln w="9525">
            <a:solidFill>
              <a:srgbClr val="D3E6D6"/>
            </a:solidFill>
            <a:prstDash val="solid"/>
          </a:ln>
        </p:spPr>
      </p:sp>
      <p:sp>
        <p:nvSpPr>
          <p:cNvPr id="59" name="Shape 48"/>
          <p:cNvSpPr/>
          <p:nvPr/>
        </p:nvSpPr>
        <p:spPr>
          <a:xfrm>
            <a:off x="8401279" y="3344418"/>
            <a:ext cx="457200" cy="457200"/>
          </a:xfrm>
          <a:prstGeom prst="ellipse">
            <a:avLst/>
          </a:prstGeom>
          <a:solidFill>
            <a:srgbClr val="E6F0E7"/>
          </a:solidFill>
          <a:ln/>
        </p:spPr>
      </p:sp>
      <p:pic>
        <p:nvPicPr>
          <p:cNvPr id="60" name="Image 9" descr="alert-triangle">    </p:cNvPr>
          <p:cNvPicPr>
            <a:picLocks noChangeAspect="1"/>
          </p:cNvPicPr>
          <p:nvPr/>
        </p:nvPicPr>
        <p:blipFill>
          <a:blip r:embed="rId10"/>
          <a:stretch>
            <a:fillRect/>
          </a:stretch>
        </p:blipFill>
        <p:spPr>
          <a:xfrm>
            <a:off x="8497291" y="3440430"/>
            <a:ext cx="265176" cy="265176"/>
          </a:xfrm>
          <a:prstGeom prst="rect">
            <a:avLst/>
          </a:prstGeom>
        </p:spPr>
      </p:pic>
      <p:sp>
        <p:nvSpPr>
          <p:cNvPr id="61" name="Text 49"/>
          <p:cNvSpPr txBox="1"/>
          <p:nvPr/>
        </p:nvSpPr>
        <p:spPr>
          <a:xfrm>
            <a:off x="8986495" y="3278124"/>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장애 대응</a:t>
            </a:r>
            <a:endParaRPr lang="en-US" sz="1550" dirty="0"/>
          </a:p>
        </p:txBody>
      </p:sp>
      <p:sp>
        <p:nvSpPr>
          <p:cNvPr id="62" name="Text 50"/>
          <p:cNvSpPr txBox="1"/>
          <p:nvPr/>
        </p:nvSpPr>
        <p:spPr>
          <a:xfrm>
            <a:off x="8986495" y="3589020"/>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등급별 복구 목표시간 계약 명시</a:t>
            </a:r>
            <a:endParaRPr lang="en-US" sz="1300" dirty="0"/>
          </a:p>
        </p:txBody>
      </p:sp>
      <p:sp>
        <p:nvSpPr>
          <p:cNvPr id="63" name="Shape 51"/>
          <p:cNvSpPr/>
          <p:nvPr/>
        </p:nvSpPr>
        <p:spPr>
          <a:xfrm>
            <a:off x="8309839" y="3995928"/>
            <a:ext cx="3266465" cy="699516"/>
          </a:xfrm>
          <a:prstGeom prst="roundRect">
            <a:avLst>
              <a:gd name="adj" fmla="val 10458"/>
            </a:avLst>
          </a:prstGeom>
          <a:solidFill>
            <a:srgbClr val="E6F0E7"/>
          </a:solidFill>
          <a:ln w="9525">
            <a:solidFill>
              <a:srgbClr val="D3E6D6"/>
            </a:solidFill>
            <a:prstDash val="solid"/>
          </a:ln>
        </p:spPr>
      </p:sp>
      <p:sp>
        <p:nvSpPr>
          <p:cNvPr id="64" name="Shape 52"/>
          <p:cNvSpPr/>
          <p:nvPr/>
        </p:nvSpPr>
        <p:spPr>
          <a:xfrm>
            <a:off x="8401279" y="4117086"/>
            <a:ext cx="457200" cy="457200"/>
          </a:xfrm>
          <a:prstGeom prst="ellipse">
            <a:avLst/>
          </a:prstGeom>
          <a:solidFill>
            <a:srgbClr val="FFFFFF"/>
          </a:solidFill>
          <a:ln/>
        </p:spPr>
      </p:sp>
      <p:pic>
        <p:nvPicPr>
          <p:cNvPr id="65" name="Image 10" descr="database">    </p:cNvPr>
          <p:cNvPicPr>
            <a:picLocks noChangeAspect="1"/>
          </p:cNvPicPr>
          <p:nvPr/>
        </p:nvPicPr>
        <p:blipFill>
          <a:blip r:embed="rId11"/>
          <a:stretch>
            <a:fillRect/>
          </a:stretch>
        </p:blipFill>
        <p:spPr>
          <a:xfrm>
            <a:off x="8497291" y="4213098"/>
            <a:ext cx="265176" cy="265176"/>
          </a:xfrm>
          <a:prstGeom prst="rect">
            <a:avLst/>
          </a:prstGeom>
        </p:spPr>
      </p:pic>
      <p:sp>
        <p:nvSpPr>
          <p:cNvPr id="66" name="Text 53"/>
          <p:cNvSpPr txBox="1"/>
          <p:nvPr/>
        </p:nvSpPr>
        <p:spPr>
          <a:xfrm>
            <a:off x="8986495" y="4050792"/>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자료 보호</a:t>
            </a:r>
            <a:endParaRPr lang="en-US" sz="1550" dirty="0"/>
          </a:p>
        </p:txBody>
      </p:sp>
      <p:sp>
        <p:nvSpPr>
          <p:cNvPr id="67" name="Text 54"/>
          <p:cNvSpPr txBox="1"/>
          <p:nvPr/>
        </p:nvSpPr>
        <p:spPr>
          <a:xfrm>
            <a:off x="8986495" y="4361688"/>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 기록 정기 백업과 복구 시험</a:t>
            </a:r>
            <a:endParaRPr lang="en-US" sz="1300" dirty="0"/>
          </a:p>
        </p:txBody>
      </p:sp>
      <p:sp>
        <p:nvSpPr>
          <p:cNvPr id="68" name="Shape 55"/>
          <p:cNvSpPr/>
          <p:nvPr/>
        </p:nvSpPr>
        <p:spPr>
          <a:xfrm>
            <a:off x="8309839" y="4768596"/>
            <a:ext cx="3266465" cy="699516"/>
          </a:xfrm>
          <a:prstGeom prst="roundRect">
            <a:avLst>
              <a:gd name="adj" fmla="val 10458"/>
            </a:avLst>
          </a:prstGeom>
          <a:solidFill>
            <a:srgbClr val="FFFFFF"/>
          </a:solidFill>
          <a:ln w="9525">
            <a:solidFill>
              <a:srgbClr val="D3E6D6"/>
            </a:solidFill>
            <a:prstDash val="solid"/>
          </a:ln>
        </p:spPr>
      </p:sp>
      <p:sp>
        <p:nvSpPr>
          <p:cNvPr id="69" name="Shape 56"/>
          <p:cNvSpPr/>
          <p:nvPr/>
        </p:nvSpPr>
        <p:spPr>
          <a:xfrm>
            <a:off x="8401279" y="4889754"/>
            <a:ext cx="457200" cy="457200"/>
          </a:xfrm>
          <a:prstGeom prst="ellipse">
            <a:avLst/>
          </a:prstGeom>
          <a:solidFill>
            <a:srgbClr val="E6F0E7"/>
          </a:solidFill>
          <a:ln/>
        </p:spPr>
      </p:sp>
      <p:pic>
        <p:nvPicPr>
          <p:cNvPr id="70" name="Image 11" descr="report">    </p:cNvPr>
          <p:cNvPicPr>
            <a:picLocks noChangeAspect="1"/>
          </p:cNvPicPr>
          <p:nvPr/>
        </p:nvPicPr>
        <p:blipFill>
          <a:blip r:embed="rId12"/>
          <a:stretch>
            <a:fillRect/>
          </a:stretch>
        </p:blipFill>
        <p:spPr>
          <a:xfrm>
            <a:off x="8497291" y="4985766"/>
            <a:ext cx="265176" cy="265176"/>
          </a:xfrm>
          <a:prstGeom prst="rect">
            <a:avLst/>
          </a:prstGeom>
        </p:spPr>
      </p:pic>
      <p:sp>
        <p:nvSpPr>
          <p:cNvPr id="71" name="Text 57"/>
          <p:cNvSpPr txBox="1"/>
          <p:nvPr/>
        </p:nvSpPr>
        <p:spPr>
          <a:xfrm>
            <a:off x="8986495" y="4823460"/>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운영 보고</a:t>
            </a:r>
            <a:endParaRPr lang="en-US" sz="1550" dirty="0"/>
          </a:p>
        </p:txBody>
      </p:sp>
      <p:sp>
        <p:nvSpPr>
          <p:cNvPr id="72" name="Text 58"/>
          <p:cNvSpPr txBox="1"/>
          <p:nvPr/>
        </p:nvSpPr>
        <p:spPr>
          <a:xfrm>
            <a:off x="8986495" y="5134356"/>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접속, 장애, 조치를 월간 보고</a:t>
            </a:r>
            <a:endParaRPr lang="en-US" sz="1300" dirty="0"/>
          </a:p>
        </p:txBody>
      </p:sp>
      <p:sp>
        <p:nvSpPr>
          <p:cNvPr id="73" name="Shape 59"/>
          <p:cNvSpPr/>
          <p:nvPr/>
        </p:nvSpPr>
        <p:spPr>
          <a:xfrm>
            <a:off x="502920" y="5705856"/>
            <a:ext cx="11183112" cy="566928"/>
          </a:xfrm>
          <a:prstGeom prst="roundRect">
            <a:avLst>
              <a:gd name="adj" fmla="val 12903"/>
            </a:avLst>
          </a:prstGeom>
          <a:solidFill>
            <a:srgbClr val="20342A"/>
          </a:solidFill>
          <a:ln/>
        </p:spPr>
      </p:sp>
      <p:pic>
        <p:nvPicPr>
          <p:cNvPr id="74" name="Image 12" descr="device-laptop">    </p:cNvPr>
          <p:cNvPicPr>
            <a:picLocks noChangeAspect="1"/>
          </p:cNvPicPr>
          <p:nvPr/>
        </p:nvPicPr>
        <p:blipFill>
          <a:blip r:embed="rId13"/>
          <a:stretch>
            <a:fillRect/>
          </a:stretch>
        </p:blipFill>
        <p:spPr>
          <a:xfrm>
            <a:off x="685800" y="5843016"/>
            <a:ext cx="292608" cy="292608"/>
          </a:xfrm>
          <a:prstGeom prst="rect">
            <a:avLst/>
          </a:prstGeom>
        </p:spPr>
      </p:pic>
      <p:sp>
        <p:nvSpPr>
          <p:cNvPr id="75" name="Text 60"/>
          <p:cNvSpPr txBox="1"/>
          <p:nvPr/>
        </p:nvSpPr>
        <p:spPr>
          <a:xfrm>
            <a:off x="1106424" y="5705856"/>
            <a:ext cx="10396728" cy="566928"/>
          </a:xfrm>
          <a:prstGeom prst="rect">
            <a:avLst/>
          </a:prstGeom>
          <a:noFill/>
          <a:ln/>
        </p:spPr>
        <p:txBody>
          <a:bodyPr wrap="square" lIns="0" tIns="0" rIns="0" bIns="0" rtlCol="0" anchor="ct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설치 없이 크롬에서 열고, 학생은 </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학급 코드, 이름, 짧은 비밀번호</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로 들어옵니다. 전자칠판과 노트북, 태블릿에서 같은 화면을 씁니다.</a:t>
            </a:r>
            <a:endParaRPr lang="en-US" sz="16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단계별 추진 일정</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개발 기간 없이 계약 직후 시작해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실제 운영 기간</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최대한 확보합니다</a:t>
            </a:r>
            <a:endParaRPr lang="en-US" sz="1400" dirty="0"/>
          </a:p>
        </p:txBody>
      </p:sp>
      <p:sp>
        <p:nvSpPr>
          <p:cNvPr id="10" name="Text 7"/>
          <p:cNvSpPr txBox="1"/>
          <p:nvPr/>
        </p:nvSpPr>
        <p:spPr>
          <a:xfrm>
            <a:off x="2393594"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301582"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D는 계약일 기준. 학년도 중간에 계약하는 경우 2단계 연수와 온보딩을 학기 시작 전에 마치도록 조정함.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27</a:t>
            </a:r>
            <a:endParaRPr lang="en-US" sz="1250" dirty="0"/>
          </a:p>
        </p:txBody>
      </p:sp>
      <p:sp>
        <p:nvSpPr>
          <p:cNvPr id="14" name="Shape 11"/>
          <p:cNvSpPr/>
          <p:nvPr/>
        </p:nvSpPr>
        <p:spPr>
          <a:xfrm>
            <a:off x="502920" y="1920240"/>
            <a:ext cx="2809494" cy="566928"/>
          </a:xfrm>
          <a:prstGeom prst="chevron">
            <a:avLst/>
          </a:prstGeom>
          <a:solidFill>
            <a:srgbClr val="20342A"/>
          </a:solidFill>
          <a:ln/>
        </p:spPr>
      </p:sp>
      <p:sp>
        <p:nvSpPr>
          <p:cNvPr id="15" name="Text 12"/>
          <p:cNvSpPr txBox="1"/>
          <p:nvPr/>
        </p:nvSpPr>
        <p:spPr>
          <a:xfrm>
            <a:off x="91440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1단계  착수와 준비</a:t>
            </a:r>
            <a:endParaRPr lang="en-US" sz="1800" dirty="0"/>
          </a:p>
        </p:txBody>
      </p:sp>
      <p:sp>
        <p:nvSpPr>
          <p:cNvPr id="16" name="Text 13"/>
          <p:cNvSpPr txBox="1"/>
          <p:nvPr/>
        </p:nvSpPr>
        <p:spPr>
          <a:xfrm>
            <a:off x="50292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계약 ~ D+30</a:t>
            </a:r>
            <a:endParaRPr lang="en-US" sz="1550" dirty="0"/>
          </a:p>
        </p:txBody>
      </p:sp>
      <p:sp>
        <p:nvSpPr>
          <p:cNvPr id="17" name="Shape 14"/>
          <p:cNvSpPr/>
          <p:nvPr/>
        </p:nvSpPr>
        <p:spPr>
          <a:xfrm>
            <a:off x="502920" y="2944368"/>
            <a:ext cx="2644902" cy="2514600"/>
          </a:xfrm>
          <a:prstGeom prst="roundRect">
            <a:avLst>
              <a:gd name="adj" fmla="val 3636"/>
            </a:avLst>
          </a:prstGeom>
          <a:solidFill>
            <a:srgbClr val="FBF5E6"/>
          </a:solidFill>
          <a:ln w="9525">
            <a:solidFill>
              <a:srgbClr val="E2DCCB"/>
            </a:solidFill>
            <a:prstDash val="solid"/>
          </a:ln>
        </p:spPr>
      </p:sp>
      <p:sp>
        <p:nvSpPr>
          <p:cNvPr id="18" name="Text 15"/>
          <p:cNvSpPr txBox="1"/>
          <p:nvPr/>
        </p:nvSpPr>
        <p:spPr>
          <a:xfrm>
            <a:off x="66751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착수보고와 과업 확정</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참여 학교 수요조사와 선정</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코드 발급 체계 설계</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개인정보 보호 협의</a:t>
            </a:r>
            <a:endParaRPr lang="en-US" sz="1650" dirty="0"/>
          </a:p>
        </p:txBody>
      </p:sp>
      <p:sp>
        <p:nvSpPr>
          <p:cNvPr id="19" name="Shape 16"/>
          <p:cNvSpPr/>
          <p:nvPr/>
        </p:nvSpPr>
        <p:spPr>
          <a:xfrm>
            <a:off x="3348990" y="1920240"/>
            <a:ext cx="2809494" cy="566928"/>
          </a:xfrm>
          <a:prstGeom prst="chevron">
            <a:avLst/>
          </a:prstGeom>
          <a:solidFill>
            <a:srgbClr val="2B4637"/>
          </a:solidFill>
          <a:ln/>
        </p:spPr>
      </p:sp>
      <p:sp>
        <p:nvSpPr>
          <p:cNvPr id="20" name="Text 17"/>
          <p:cNvSpPr txBox="1"/>
          <p:nvPr/>
        </p:nvSpPr>
        <p:spPr>
          <a:xfrm>
            <a:off x="376047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2단계  배포와 연수</a:t>
            </a:r>
            <a:endParaRPr lang="en-US" sz="1800" dirty="0"/>
          </a:p>
        </p:txBody>
      </p:sp>
      <p:sp>
        <p:nvSpPr>
          <p:cNvPr id="21" name="Text 18"/>
          <p:cNvSpPr txBox="1"/>
          <p:nvPr/>
        </p:nvSpPr>
        <p:spPr>
          <a:xfrm>
            <a:off x="334899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D+31 ~ D+75</a:t>
            </a:r>
            <a:endParaRPr lang="en-US" sz="1550" dirty="0"/>
          </a:p>
        </p:txBody>
      </p:sp>
      <p:sp>
        <p:nvSpPr>
          <p:cNvPr id="22" name="Shape 19"/>
          <p:cNvSpPr/>
          <p:nvPr/>
        </p:nvSpPr>
        <p:spPr>
          <a:xfrm>
            <a:off x="3348990" y="2944368"/>
            <a:ext cx="2644902" cy="2514600"/>
          </a:xfrm>
          <a:prstGeom prst="roundRect">
            <a:avLst>
              <a:gd name="adj" fmla="val 3636"/>
            </a:avLst>
          </a:prstGeom>
          <a:solidFill>
            <a:srgbClr val="FFFFFF"/>
          </a:solidFill>
          <a:ln w="9525">
            <a:solidFill>
              <a:srgbClr val="E2DCCB"/>
            </a:solidFill>
            <a:prstDash val="solid"/>
          </a:ln>
        </p:spPr>
      </p:sp>
      <p:sp>
        <p:nvSpPr>
          <p:cNvPr id="23" name="Text 20"/>
          <p:cNvSpPr txBox="1"/>
          <p:nvPr/>
        </p:nvSpPr>
        <p:spPr>
          <a:xfrm>
            <a:off x="351358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교육청 전용 운영 환경 준비</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찾아가는 교원 연수</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학교별 온보딩, 관리자 안내</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전용 헬프데스크 개설</a:t>
            </a:r>
            <a:endParaRPr lang="en-US" sz="1650" dirty="0"/>
          </a:p>
        </p:txBody>
      </p:sp>
      <p:sp>
        <p:nvSpPr>
          <p:cNvPr id="24" name="Shape 21"/>
          <p:cNvSpPr/>
          <p:nvPr/>
        </p:nvSpPr>
        <p:spPr>
          <a:xfrm>
            <a:off x="6195060" y="1920240"/>
            <a:ext cx="2809494" cy="566928"/>
          </a:xfrm>
          <a:prstGeom prst="chevron">
            <a:avLst/>
          </a:prstGeom>
          <a:solidFill>
            <a:srgbClr val="2F7D4F"/>
          </a:solidFill>
          <a:ln/>
        </p:spPr>
      </p:sp>
      <p:sp>
        <p:nvSpPr>
          <p:cNvPr id="25" name="Text 22"/>
          <p:cNvSpPr txBox="1"/>
          <p:nvPr/>
        </p:nvSpPr>
        <p:spPr>
          <a:xfrm>
            <a:off x="660654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3단계  운영과 지원</a:t>
            </a:r>
            <a:endParaRPr lang="en-US" sz="1800" dirty="0"/>
          </a:p>
        </p:txBody>
      </p:sp>
      <p:sp>
        <p:nvSpPr>
          <p:cNvPr id="26" name="Text 23"/>
          <p:cNvSpPr txBox="1"/>
          <p:nvPr/>
        </p:nvSpPr>
        <p:spPr>
          <a:xfrm>
            <a:off x="619506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D+76 ~ 종료 1개월 전</a:t>
            </a:r>
            <a:endParaRPr lang="en-US" sz="1550" dirty="0"/>
          </a:p>
        </p:txBody>
      </p:sp>
      <p:sp>
        <p:nvSpPr>
          <p:cNvPr id="27" name="Shape 24"/>
          <p:cNvSpPr/>
          <p:nvPr/>
        </p:nvSpPr>
        <p:spPr>
          <a:xfrm>
            <a:off x="6195060" y="2944368"/>
            <a:ext cx="2644902" cy="2514600"/>
          </a:xfrm>
          <a:prstGeom prst="roundRect">
            <a:avLst>
              <a:gd name="adj" fmla="val 3636"/>
            </a:avLst>
          </a:prstGeom>
          <a:solidFill>
            <a:srgbClr val="FBF5E6"/>
          </a:solidFill>
          <a:ln w="9525">
            <a:solidFill>
              <a:srgbClr val="E2DCCB"/>
            </a:solidFill>
            <a:prstDash val="solid"/>
          </a:ln>
        </p:spPr>
      </p:sp>
      <p:sp>
        <p:nvSpPr>
          <p:cNvPr id="28" name="Text 25"/>
          <p:cNvSpPr txBox="1"/>
          <p:nvPr/>
        </p:nvSpPr>
        <p:spPr>
          <a:xfrm>
            <a:off x="635965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단위 독서수업 운영 지원</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월간 이용 현황 점검</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학교 컨설팅과 우수 사례 발굴</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미활용 학급 선제 지원</a:t>
            </a:r>
            <a:endParaRPr lang="en-US" sz="1650" dirty="0"/>
          </a:p>
        </p:txBody>
      </p:sp>
      <p:sp>
        <p:nvSpPr>
          <p:cNvPr id="29" name="Shape 26"/>
          <p:cNvSpPr/>
          <p:nvPr/>
        </p:nvSpPr>
        <p:spPr>
          <a:xfrm>
            <a:off x="9041130" y="1920240"/>
            <a:ext cx="2644902" cy="566928"/>
          </a:xfrm>
          <a:prstGeom prst="chevron">
            <a:avLst/>
          </a:prstGeom>
          <a:solidFill>
            <a:srgbClr val="5E9B6E"/>
          </a:solidFill>
          <a:ln/>
        </p:spPr>
      </p:sp>
      <p:sp>
        <p:nvSpPr>
          <p:cNvPr id="30" name="Text 27"/>
          <p:cNvSpPr txBox="1"/>
          <p:nvPr/>
        </p:nvSpPr>
        <p:spPr>
          <a:xfrm>
            <a:off x="945261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4단계  성과와 환류</a:t>
            </a:r>
            <a:endParaRPr lang="en-US" sz="1800" dirty="0"/>
          </a:p>
        </p:txBody>
      </p:sp>
      <p:sp>
        <p:nvSpPr>
          <p:cNvPr id="31" name="Text 28"/>
          <p:cNvSpPr txBox="1"/>
          <p:nvPr/>
        </p:nvSpPr>
        <p:spPr>
          <a:xfrm>
            <a:off x="904113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종료 1개월 전 ~ 종료</a:t>
            </a:r>
            <a:endParaRPr lang="en-US" sz="1550" dirty="0"/>
          </a:p>
        </p:txBody>
      </p:sp>
      <p:sp>
        <p:nvSpPr>
          <p:cNvPr id="32" name="Shape 29"/>
          <p:cNvSpPr/>
          <p:nvPr/>
        </p:nvSpPr>
        <p:spPr>
          <a:xfrm>
            <a:off x="9041130" y="2944368"/>
            <a:ext cx="2644902" cy="2514600"/>
          </a:xfrm>
          <a:prstGeom prst="roundRect">
            <a:avLst>
              <a:gd name="adj" fmla="val 3636"/>
            </a:avLst>
          </a:prstGeom>
          <a:solidFill>
            <a:srgbClr val="FFFFFF"/>
          </a:solidFill>
          <a:ln w="9525">
            <a:solidFill>
              <a:srgbClr val="E2DCCB"/>
            </a:solidFill>
            <a:prstDash val="solid"/>
          </a:ln>
        </p:spPr>
      </p:sp>
      <p:sp>
        <p:nvSpPr>
          <p:cNvPr id="33" name="Text 30"/>
          <p:cNvSpPr txBox="1"/>
          <p:nvPr/>
        </p:nvSpPr>
        <p:spPr>
          <a:xfrm>
            <a:off x="920572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성장 분석 보고</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학생, 교사 만족도 조사</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문집 산출</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결과보고와 차년도 제언</a:t>
            </a:r>
            <a:endParaRPr lang="en-US" sz="1650" dirty="0"/>
          </a:p>
        </p:txBody>
      </p:sp>
      <p:sp>
        <p:nvSpPr>
          <p:cNvPr id="34" name="Shape 31"/>
          <p:cNvSpPr/>
          <p:nvPr/>
        </p:nvSpPr>
        <p:spPr>
          <a:xfrm>
            <a:off x="502920" y="5605272"/>
            <a:ext cx="11183112" cy="640080"/>
          </a:xfrm>
          <a:prstGeom prst="roundRect">
            <a:avLst>
              <a:gd name="adj" fmla="val 11429"/>
            </a:avLst>
          </a:prstGeom>
          <a:solidFill>
            <a:srgbClr val="20342A"/>
          </a:solidFill>
          <a:ln/>
        </p:spPr>
      </p:sp>
      <p:pic>
        <p:nvPicPr>
          <p:cNvPr id="35" name="Image 1" descr="calendar-check">    </p:cNvPr>
          <p:cNvPicPr>
            <a:picLocks noChangeAspect="1"/>
          </p:cNvPicPr>
          <p:nvPr/>
        </p:nvPicPr>
        <p:blipFill>
          <a:blip r:embed="rId2"/>
          <a:stretch>
            <a:fillRect/>
          </a:stretch>
        </p:blipFill>
        <p:spPr>
          <a:xfrm>
            <a:off x="685800" y="5779008"/>
            <a:ext cx="292608" cy="292608"/>
          </a:xfrm>
          <a:prstGeom prst="rect">
            <a:avLst/>
          </a:prstGeom>
        </p:spPr>
      </p:pic>
      <p:sp>
        <p:nvSpPr>
          <p:cNvPr id="36" name="Text 32"/>
          <p:cNvSpPr txBox="1"/>
          <p:nvPr/>
        </p:nvSpPr>
        <p:spPr>
          <a:xfrm>
            <a:off x="1106424" y="5605272"/>
            <a:ext cx="10396728" cy="640080"/>
          </a:xfrm>
          <a:prstGeom prst="rect">
            <a:avLst/>
          </a:prstGeom>
          <a:noFill/>
          <a:ln/>
        </p:spPr>
        <p:txBody>
          <a:bodyPr wrap="square" lIns="0" tIns="0" rIns="0" bIns="0" rtlCol="0" anchor="ctr"/>
          <a:lstStyle/>
          <a:p>
            <a:pPr algn="l" indent="0" marL="0">
              <a:lnSpc>
                <a:spcPct val="112000"/>
              </a:lnSpc>
              <a:buNone/>
            </a:pPr>
            <a:r>
              <a:rPr lang="en-US" sz="1750" dirty="0">
                <a:solidFill>
                  <a:srgbClr val="FFFFFF"/>
                </a:solidFill>
                <a:latin typeface="Freesentation 6 SemiBold" pitchFamily="34" charset="0"/>
                <a:ea typeface="Freesentation 6 SemiBold" pitchFamily="34" charset="-122"/>
                <a:cs typeface="Freesentation 6 SemiBold" pitchFamily="34" charset="-120"/>
              </a:rPr>
              <a:t>부기는 이미 학교에서 쓰는 플랫폼이므로 </a:t>
            </a:r>
            <a:pPr algn="l" indent="0" marL="0">
              <a:lnSpc>
                <a:spcPct val="112000"/>
              </a:lnSpc>
              <a:buNone/>
            </a:pPr>
            <a:r>
              <a:rPr lang="en-US" sz="1750" dirty="0">
                <a:solidFill>
                  <a:srgbClr val="F2D58A"/>
                </a:solidFill>
                <a:latin typeface="Freesentation 7 Bold" pitchFamily="34" charset="0"/>
                <a:ea typeface="Freesentation 7 Bold" pitchFamily="34" charset="-122"/>
                <a:cs typeface="Freesentation 7 Bold" pitchFamily="34" charset="-120"/>
              </a:rPr>
              <a:t>개발 기간 없이</a:t>
            </a:r>
            <a:pPr algn="l" indent="0" marL="0">
              <a:lnSpc>
                <a:spcPct val="112000"/>
              </a:lnSpc>
              <a:buNone/>
            </a:pPr>
            <a:r>
              <a:rPr lang="en-US" sz="1750" dirty="0">
                <a:solidFill>
                  <a:srgbClr val="FFFFFF"/>
                </a:solidFill>
                <a:latin typeface="Freesentation 6 SemiBold" pitchFamily="34" charset="0"/>
                <a:ea typeface="Freesentation 6 SemiBold" pitchFamily="34" charset="-122"/>
                <a:cs typeface="Freesentation 6 SemiBold" pitchFamily="34" charset="-120"/>
              </a:rPr>
              <a:t> 계약 직후 배포 준비에 들어갑니다.</a:t>
            </a:r>
            <a:endParaRPr lang="en-US" sz="1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교원 연수와 운영지원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연수 15시간, 첫 수업 동행, 전담 인력 9명이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교사 곁에서</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돕습니다</a:t>
            </a:r>
            <a:endParaRPr lang="en-US" sz="1400" dirty="0"/>
          </a:p>
        </p:txBody>
      </p:sp>
      <p:sp>
        <p:nvSpPr>
          <p:cNvPr id="10" name="Text 7"/>
          <p:cNvSpPr txBox="1"/>
          <p:nvPr/>
        </p:nvSpPr>
        <p:spPr>
          <a:xfrm>
            <a:off x="249565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9952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연수 시간과 전담 인원은 기존 부기 사업 안내 기준이며, 참여 학교 수에 따라 조정함. 사용 안내 4종과 사용법 영상은 제작 완료.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28</a:t>
            </a:r>
            <a:endParaRPr lang="en-US" sz="1250" dirty="0"/>
          </a:p>
        </p:txBody>
      </p:sp>
      <p:sp>
        <p:nvSpPr>
          <p:cNvPr id="14" name="Shape 11"/>
          <p:cNvSpPr/>
          <p:nvPr/>
        </p:nvSpPr>
        <p:spPr>
          <a:xfrm>
            <a:off x="502920" y="1920240"/>
            <a:ext cx="3578844" cy="1627632"/>
          </a:xfrm>
          <a:prstGeom prst="roundRect">
            <a:avLst>
              <a:gd name="adj" fmla="val 4494"/>
            </a:avLst>
          </a:prstGeom>
          <a:solidFill>
            <a:srgbClr val="FFFFFF"/>
          </a:solidFill>
          <a:ln w="9525">
            <a:solidFill>
              <a:srgbClr val="E2DCCB"/>
            </a:solidFill>
            <a:prstDash val="solid"/>
          </a:ln>
        </p:spPr>
      </p:sp>
      <p:sp>
        <p:nvSpPr>
          <p:cNvPr id="15" name="Shape 12"/>
          <p:cNvSpPr/>
          <p:nvPr/>
        </p:nvSpPr>
        <p:spPr>
          <a:xfrm>
            <a:off x="502920" y="1920240"/>
            <a:ext cx="3578844" cy="420624"/>
          </a:xfrm>
          <a:prstGeom prst="roundRect">
            <a:avLst>
              <a:gd name="adj" fmla="val 17391"/>
            </a:avLst>
          </a:prstGeom>
          <a:solidFill>
            <a:srgbClr val="2F7D4F"/>
          </a:solidFill>
          <a:ln/>
        </p:spPr>
      </p:sp>
      <p:sp>
        <p:nvSpPr>
          <p:cNvPr id="16" name="Shape 13"/>
          <p:cNvSpPr/>
          <p:nvPr/>
        </p:nvSpPr>
        <p:spPr>
          <a:xfrm>
            <a:off x="502920" y="2249424"/>
            <a:ext cx="3578844" cy="91440"/>
          </a:xfrm>
          <a:prstGeom prst="rect">
            <a:avLst/>
          </a:prstGeom>
          <a:solidFill>
            <a:srgbClr val="2F7D4F"/>
          </a:solidFill>
          <a:ln/>
        </p:spPr>
      </p:sp>
      <p:pic>
        <p:nvPicPr>
          <p:cNvPr id="17" name="Image 1" descr="presentation">    </p:cNvPr>
          <p:cNvPicPr>
            <a:picLocks noChangeAspect="1"/>
          </p:cNvPicPr>
          <p:nvPr/>
        </p:nvPicPr>
        <p:blipFill>
          <a:blip r:embed="rId2"/>
          <a:stretch>
            <a:fillRect/>
          </a:stretch>
        </p:blipFill>
        <p:spPr>
          <a:xfrm>
            <a:off x="630936" y="2007108"/>
            <a:ext cx="246888" cy="246888"/>
          </a:xfrm>
          <a:prstGeom prst="rect">
            <a:avLst/>
          </a:prstGeom>
        </p:spPr>
      </p:pic>
      <p:sp>
        <p:nvSpPr>
          <p:cNvPr id="18" name="Text 14"/>
          <p:cNvSpPr txBox="1"/>
          <p:nvPr/>
        </p:nvSpPr>
        <p:spPr>
          <a:xfrm>
            <a:off x="960120" y="19202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교원 연수(15시간 기준)</a:t>
            </a:r>
            <a:endParaRPr lang="en-US" sz="1750" dirty="0"/>
          </a:p>
        </p:txBody>
      </p:sp>
      <p:sp>
        <p:nvSpPr>
          <p:cNvPr id="19" name="Text 15"/>
          <p:cNvSpPr txBox="1"/>
          <p:nvPr/>
        </p:nvSpPr>
        <p:spPr>
          <a:xfrm>
            <a:off x="667512" y="24688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부기 기반 독서수업 설계 실습</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차시 자료 편집과 기록장 활용</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수업 나눔과 사례 공유</a:t>
            </a:r>
            <a:endParaRPr lang="en-US" sz="1650" dirty="0"/>
          </a:p>
        </p:txBody>
      </p:sp>
      <p:sp>
        <p:nvSpPr>
          <p:cNvPr id="20" name="Shape 16"/>
          <p:cNvSpPr/>
          <p:nvPr/>
        </p:nvSpPr>
        <p:spPr>
          <a:xfrm>
            <a:off x="4282932" y="1920240"/>
            <a:ext cx="3578844" cy="1627632"/>
          </a:xfrm>
          <a:prstGeom prst="roundRect">
            <a:avLst>
              <a:gd name="adj" fmla="val 4494"/>
            </a:avLst>
          </a:prstGeom>
          <a:solidFill>
            <a:srgbClr val="FFFFFF"/>
          </a:solidFill>
          <a:ln w="9525">
            <a:solidFill>
              <a:srgbClr val="E2DCCB"/>
            </a:solidFill>
            <a:prstDash val="solid"/>
          </a:ln>
        </p:spPr>
      </p:sp>
      <p:sp>
        <p:nvSpPr>
          <p:cNvPr id="21" name="Shape 17"/>
          <p:cNvSpPr/>
          <p:nvPr/>
        </p:nvSpPr>
        <p:spPr>
          <a:xfrm>
            <a:off x="4282932" y="1920240"/>
            <a:ext cx="3578844" cy="420624"/>
          </a:xfrm>
          <a:prstGeom prst="roundRect">
            <a:avLst>
              <a:gd name="adj" fmla="val 17391"/>
            </a:avLst>
          </a:prstGeom>
          <a:solidFill>
            <a:srgbClr val="2B4637"/>
          </a:solidFill>
          <a:ln/>
        </p:spPr>
      </p:sp>
      <p:sp>
        <p:nvSpPr>
          <p:cNvPr id="22" name="Shape 18"/>
          <p:cNvSpPr/>
          <p:nvPr/>
        </p:nvSpPr>
        <p:spPr>
          <a:xfrm>
            <a:off x="4282932" y="2249424"/>
            <a:ext cx="3578844" cy="91440"/>
          </a:xfrm>
          <a:prstGeom prst="rect">
            <a:avLst/>
          </a:prstGeom>
          <a:solidFill>
            <a:srgbClr val="2B4637"/>
          </a:solidFill>
          <a:ln/>
        </p:spPr>
      </p:sp>
      <p:pic>
        <p:nvPicPr>
          <p:cNvPr id="23" name="Image 2" descr="map-pin">    </p:cNvPr>
          <p:cNvPicPr>
            <a:picLocks noChangeAspect="1"/>
          </p:cNvPicPr>
          <p:nvPr/>
        </p:nvPicPr>
        <p:blipFill>
          <a:blip r:embed="rId3"/>
          <a:stretch>
            <a:fillRect/>
          </a:stretch>
        </p:blipFill>
        <p:spPr>
          <a:xfrm>
            <a:off x="4410948" y="2007108"/>
            <a:ext cx="246888" cy="246888"/>
          </a:xfrm>
          <a:prstGeom prst="rect">
            <a:avLst/>
          </a:prstGeom>
        </p:spPr>
      </p:pic>
      <p:sp>
        <p:nvSpPr>
          <p:cNvPr id="24" name="Text 19"/>
          <p:cNvSpPr txBox="1"/>
          <p:nvPr/>
        </p:nvSpPr>
        <p:spPr>
          <a:xfrm>
            <a:off x="4740132" y="19202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학교별 온보딩</a:t>
            </a:r>
            <a:endParaRPr lang="en-US" sz="1750" dirty="0"/>
          </a:p>
        </p:txBody>
      </p:sp>
      <p:sp>
        <p:nvSpPr>
          <p:cNvPr id="25" name="Text 20"/>
          <p:cNvSpPr txBox="1"/>
          <p:nvPr/>
        </p:nvSpPr>
        <p:spPr>
          <a:xfrm>
            <a:off x="4447524" y="24688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개설, 기기와 전자칠판 점검</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담당교사 1:1 안내</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첫 수업 동행</a:t>
            </a:r>
            <a:endParaRPr lang="en-US" sz="1650" dirty="0"/>
          </a:p>
        </p:txBody>
      </p:sp>
      <p:sp>
        <p:nvSpPr>
          <p:cNvPr id="26" name="Shape 21"/>
          <p:cNvSpPr/>
          <p:nvPr/>
        </p:nvSpPr>
        <p:spPr>
          <a:xfrm>
            <a:off x="502920" y="3749040"/>
            <a:ext cx="3578844" cy="1627632"/>
          </a:xfrm>
          <a:prstGeom prst="roundRect">
            <a:avLst>
              <a:gd name="adj" fmla="val 4494"/>
            </a:avLst>
          </a:prstGeom>
          <a:solidFill>
            <a:srgbClr val="FFFFFF"/>
          </a:solidFill>
          <a:ln w="9525">
            <a:solidFill>
              <a:srgbClr val="E2DCCB"/>
            </a:solidFill>
            <a:prstDash val="solid"/>
          </a:ln>
        </p:spPr>
      </p:sp>
      <p:sp>
        <p:nvSpPr>
          <p:cNvPr id="27" name="Shape 22"/>
          <p:cNvSpPr/>
          <p:nvPr/>
        </p:nvSpPr>
        <p:spPr>
          <a:xfrm>
            <a:off x="502920" y="3749040"/>
            <a:ext cx="3578844" cy="420624"/>
          </a:xfrm>
          <a:prstGeom prst="roundRect">
            <a:avLst>
              <a:gd name="adj" fmla="val 17391"/>
            </a:avLst>
          </a:prstGeom>
          <a:solidFill>
            <a:srgbClr val="2B4637"/>
          </a:solidFill>
          <a:ln/>
        </p:spPr>
      </p:sp>
      <p:sp>
        <p:nvSpPr>
          <p:cNvPr id="28" name="Shape 23"/>
          <p:cNvSpPr/>
          <p:nvPr/>
        </p:nvSpPr>
        <p:spPr>
          <a:xfrm>
            <a:off x="502920" y="4078224"/>
            <a:ext cx="3578844" cy="91440"/>
          </a:xfrm>
          <a:prstGeom prst="rect">
            <a:avLst/>
          </a:prstGeom>
          <a:solidFill>
            <a:srgbClr val="2B4637"/>
          </a:solidFill>
          <a:ln/>
        </p:spPr>
      </p:sp>
      <p:pic>
        <p:nvPicPr>
          <p:cNvPr id="29" name="Image 3" descr="lifebuoy">    </p:cNvPr>
          <p:cNvPicPr>
            <a:picLocks noChangeAspect="1"/>
          </p:cNvPicPr>
          <p:nvPr/>
        </p:nvPicPr>
        <p:blipFill>
          <a:blip r:embed="rId4"/>
          <a:stretch>
            <a:fillRect/>
          </a:stretch>
        </p:blipFill>
        <p:spPr>
          <a:xfrm>
            <a:off x="630936" y="3835908"/>
            <a:ext cx="246888" cy="246888"/>
          </a:xfrm>
          <a:prstGeom prst="rect">
            <a:avLst/>
          </a:prstGeom>
        </p:spPr>
      </p:pic>
      <p:sp>
        <p:nvSpPr>
          <p:cNvPr id="30" name="Text 24"/>
          <p:cNvSpPr txBox="1"/>
          <p:nvPr/>
        </p:nvSpPr>
        <p:spPr>
          <a:xfrm>
            <a:off x="960120" y="37490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상시 지원</a:t>
            </a:r>
            <a:endParaRPr lang="en-US" sz="1750" dirty="0"/>
          </a:p>
        </p:txBody>
      </p:sp>
      <p:sp>
        <p:nvSpPr>
          <p:cNvPr id="31" name="Text 25"/>
          <p:cNvSpPr txBox="1"/>
          <p:nvPr/>
        </p:nvSpPr>
        <p:spPr>
          <a:xfrm>
            <a:off x="667512" y="42976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전용 헬프데스크와 월간 활용 소식</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사용 안내 4종과 사용법 영상</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미활용 학급 선제 지원</a:t>
            </a:r>
            <a:endParaRPr lang="en-US" sz="1650" dirty="0"/>
          </a:p>
        </p:txBody>
      </p:sp>
      <p:sp>
        <p:nvSpPr>
          <p:cNvPr id="32" name="Shape 26"/>
          <p:cNvSpPr/>
          <p:nvPr/>
        </p:nvSpPr>
        <p:spPr>
          <a:xfrm>
            <a:off x="4282932" y="3749040"/>
            <a:ext cx="3578844" cy="1627632"/>
          </a:xfrm>
          <a:prstGeom prst="roundRect">
            <a:avLst>
              <a:gd name="adj" fmla="val 4494"/>
            </a:avLst>
          </a:prstGeom>
          <a:solidFill>
            <a:srgbClr val="FFFFFF"/>
          </a:solidFill>
          <a:ln w="9525">
            <a:solidFill>
              <a:srgbClr val="E2DCCB"/>
            </a:solidFill>
            <a:prstDash val="solid"/>
          </a:ln>
        </p:spPr>
      </p:sp>
      <p:sp>
        <p:nvSpPr>
          <p:cNvPr id="33" name="Shape 27"/>
          <p:cNvSpPr/>
          <p:nvPr/>
        </p:nvSpPr>
        <p:spPr>
          <a:xfrm>
            <a:off x="4282932" y="3749040"/>
            <a:ext cx="3578844" cy="420624"/>
          </a:xfrm>
          <a:prstGeom prst="roundRect">
            <a:avLst>
              <a:gd name="adj" fmla="val 17391"/>
            </a:avLst>
          </a:prstGeom>
          <a:solidFill>
            <a:srgbClr val="2B4637"/>
          </a:solidFill>
          <a:ln/>
        </p:spPr>
      </p:sp>
      <p:sp>
        <p:nvSpPr>
          <p:cNvPr id="34" name="Shape 28"/>
          <p:cNvSpPr/>
          <p:nvPr/>
        </p:nvSpPr>
        <p:spPr>
          <a:xfrm>
            <a:off x="4282932" y="4078224"/>
            <a:ext cx="3578844" cy="91440"/>
          </a:xfrm>
          <a:prstGeom prst="rect">
            <a:avLst/>
          </a:prstGeom>
          <a:solidFill>
            <a:srgbClr val="2B4637"/>
          </a:solidFill>
          <a:ln/>
        </p:spPr>
      </p:sp>
      <p:pic>
        <p:nvPicPr>
          <p:cNvPr id="35" name="Image 4" descr="users-group">    </p:cNvPr>
          <p:cNvPicPr>
            <a:picLocks noChangeAspect="1"/>
          </p:cNvPicPr>
          <p:nvPr/>
        </p:nvPicPr>
        <p:blipFill>
          <a:blip r:embed="rId5"/>
          <a:stretch>
            <a:fillRect/>
          </a:stretch>
        </p:blipFill>
        <p:spPr>
          <a:xfrm>
            <a:off x="4410948" y="3835908"/>
            <a:ext cx="246888" cy="246888"/>
          </a:xfrm>
          <a:prstGeom prst="rect">
            <a:avLst/>
          </a:prstGeom>
        </p:spPr>
      </p:pic>
      <p:sp>
        <p:nvSpPr>
          <p:cNvPr id="36" name="Text 29"/>
          <p:cNvSpPr txBox="1"/>
          <p:nvPr/>
        </p:nvSpPr>
        <p:spPr>
          <a:xfrm>
            <a:off x="4740132" y="37490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교사 참여와 확산</a:t>
            </a:r>
            <a:endParaRPr lang="en-US" sz="1750" dirty="0"/>
          </a:p>
        </p:txBody>
      </p:sp>
      <p:sp>
        <p:nvSpPr>
          <p:cNvPr id="37" name="Text 30"/>
          <p:cNvSpPr txBox="1"/>
          <p:nvPr/>
        </p:nvSpPr>
        <p:spPr>
          <a:xfrm>
            <a:off x="4447524" y="42976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참여 교사 연구회와 활용 사례 공모전</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우수 수업을 다음 해 연수 자료로</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현장 의견을 기능 개선에 반영</a:t>
            </a:r>
            <a:endParaRPr lang="en-US" sz="1650" dirty="0"/>
          </a:p>
        </p:txBody>
      </p:sp>
      <p:pic>
        <p:nvPicPr>
          <p:cNvPr id="38" name="Image 5" descr="삽화">    </p:cNvPr>
          <p:cNvPicPr>
            <a:picLocks noChangeAspect="1"/>
          </p:cNvPicPr>
          <p:nvPr/>
        </p:nvPicPr>
        <p:blipFill>
          <a:blip r:embed="rId6"/>
          <a:stretch>
            <a:fillRect/>
          </a:stretch>
        </p:blipFill>
        <p:spPr>
          <a:xfrm>
            <a:off x="10497312" y="1810512"/>
            <a:ext cx="1188720" cy="1188720"/>
          </a:xfrm>
          <a:prstGeom prst="rect">
            <a:avLst/>
          </a:prstGeom>
        </p:spPr>
      </p:pic>
      <p:sp>
        <p:nvSpPr>
          <p:cNvPr id="39" name="Shape 31"/>
          <p:cNvSpPr/>
          <p:nvPr/>
        </p:nvSpPr>
        <p:spPr>
          <a:xfrm>
            <a:off x="8181815" y="2386584"/>
            <a:ext cx="118872" cy="118872"/>
          </a:xfrm>
          <a:prstGeom prst="ellipse">
            <a:avLst/>
          </a:prstGeom>
          <a:solidFill>
            <a:srgbClr val="2F7D4F"/>
          </a:solidFill>
          <a:ln/>
        </p:spPr>
      </p:sp>
      <p:sp>
        <p:nvSpPr>
          <p:cNvPr id="40" name="Text 32"/>
          <p:cNvSpPr txBox="1"/>
          <p:nvPr/>
        </p:nvSpPr>
        <p:spPr>
          <a:xfrm>
            <a:off x="8401271" y="224942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전담 조직 9명</a:t>
            </a:r>
            <a:endParaRPr lang="en-US" sz="1650" dirty="0"/>
          </a:p>
        </p:txBody>
      </p:sp>
      <p:sp>
        <p:nvSpPr>
          <p:cNvPr id="41" name="Shape 33"/>
          <p:cNvSpPr/>
          <p:nvPr/>
        </p:nvSpPr>
        <p:spPr>
          <a:xfrm>
            <a:off x="8181815" y="3090672"/>
            <a:ext cx="3504217" cy="398678"/>
          </a:xfrm>
          <a:prstGeom prst="roundRect">
            <a:avLst>
              <a:gd name="adj" fmla="val 13761"/>
            </a:avLst>
          </a:prstGeom>
          <a:solidFill>
            <a:srgbClr val="F7F4EC"/>
          </a:solidFill>
          <a:ln/>
        </p:spPr>
      </p:sp>
      <p:sp>
        <p:nvSpPr>
          <p:cNvPr id="42" name="Text 34"/>
          <p:cNvSpPr txBox="1"/>
          <p:nvPr/>
        </p:nvSpPr>
        <p:spPr>
          <a:xfrm>
            <a:off x="8346407" y="3090672"/>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총괄 PM</a:t>
            </a:r>
            <a:endParaRPr lang="en-US" sz="1600" dirty="0"/>
          </a:p>
        </p:txBody>
      </p:sp>
      <p:sp>
        <p:nvSpPr>
          <p:cNvPr id="43" name="Text 35"/>
          <p:cNvSpPr txBox="1"/>
          <p:nvPr/>
        </p:nvSpPr>
        <p:spPr>
          <a:xfrm>
            <a:off x="10863072" y="3090672"/>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1명</a:t>
            </a:r>
            <a:endParaRPr lang="en-US" sz="1800" dirty="0"/>
          </a:p>
        </p:txBody>
      </p:sp>
      <p:sp>
        <p:nvSpPr>
          <p:cNvPr id="44" name="Shape 36"/>
          <p:cNvSpPr/>
          <p:nvPr/>
        </p:nvSpPr>
        <p:spPr>
          <a:xfrm>
            <a:off x="8181815" y="3562502"/>
            <a:ext cx="3504217" cy="398678"/>
          </a:xfrm>
          <a:prstGeom prst="roundRect">
            <a:avLst>
              <a:gd name="adj" fmla="val 13761"/>
            </a:avLst>
          </a:prstGeom>
          <a:solidFill>
            <a:srgbClr val="FFFFFF"/>
          </a:solidFill>
          <a:ln w="9525">
            <a:solidFill>
              <a:srgbClr val="E2DCCB"/>
            </a:solidFill>
            <a:prstDash val="solid"/>
          </a:ln>
        </p:spPr>
      </p:sp>
      <p:sp>
        <p:nvSpPr>
          <p:cNvPr id="45" name="Text 37"/>
          <p:cNvSpPr txBox="1"/>
          <p:nvPr/>
        </p:nvSpPr>
        <p:spPr>
          <a:xfrm>
            <a:off x="8346407" y="3562502"/>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수업과 콘텐츠</a:t>
            </a:r>
            <a:endParaRPr lang="en-US" sz="1600" dirty="0"/>
          </a:p>
        </p:txBody>
      </p:sp>
      <p:sp>
        <p:nvSpPr>
          <p:cNvPr id="46" name="Text 38"/>
          <p:cNvSpPr txBox="1"/>
          <p:nvPr/>
        </p:nvSpPr>
        <p:spPr>
          <a:xfrm>
            <a:off x="10863072" y="3562502"/>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2명</a:t>
            </a:r>
            <a:endParaRPr lang="en-US" sz="1800" dirty="0"/>
          </a:p>
        </p:txBody>
      </p:sp>
      <p:sp>
        <p:nvSpPr>
          <p:cNvPr id="47" name="Shape 39"/>
          <p:cNvSpPr/>
          <p:nvPr/>
        </p:nvSpPr>
        <p:spPr>
          <a:xfrm>
            <a:off x="8181815" y="4034333"/>
            <a:ext cx="3504217" cy="398678"/>
          </a:xfrm>
          <a:prstGeom prst="roundRect">
            <a:avLst>
              <a:gd name="adj" fmla="val 13761"/>
            </a:avLst>
          </a:prstGeom>
          <a:solidFill>
            <a:srgbClr val="F7F4EC"/>
          </a:solidFill>
          <a:ln/>
        </p:spPr>
      </p:sp>
      <p:sp>
        <p:nvSpPr>
          <p:cNvPr id="48" name="Text 40"/>
          <p:cNvSpPr txBox="1"/>
          <p:nvPr/>
        </p:nvSpPr>
        <p:spPr>
          <a:xfrm>
            <a:off x="8346407" y="4034333"/>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기술 운영</a:t>
            </a:r>
            <a:endParaRPr lang="en-US" sz="1600" dirty="0"/>
          </a:p>
        </p:txBody>
      </p:sp>
      <p:sp>
        <p:nvSpPr>
          <p:cNvPr id="49" name="Text 41"/>
          <p:cNvSpPr txBox="1"/>
          <p:nvPr/>
        </p:nvSpPr>
        <p:spPr>
          <a:xfrm>
            <a:off x="10863072" y="4034333"/>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2명</a:t>
            </a:r>
            <a:endParaRPr lang="en-US" sz="1800" dirty="0"/>
          </a:p>
        </p:txBody>
      </p:sp>
      <p:sp>
        <p:nvSpPr>
          <p:cNvPr id="50" name="Shape 42"/>
          <p:cNvSpPr/>
          <p:nvPr/>
        </p:nvSpPr>
        <p:spPr>
          <a:xfrm>
            <a:off x="8181815" y="4506163"/>
            <a:ext cx="3504217" cy="398678"/>
          </a:xfrm>
          <a:prstGeom prst="roundRect">
            <a:avLst>
              <a:gd name="adj" fmla="val 13761"/>
            </a:avLst>
          </a:prstGeom>
          <a:solidFill>
            <a:srgbClr val="FFFFFF"/>
          </a:solidFill>
          <a:ln w="9525">
            <a:solidFill>
              <a:srgbClr val="E2DCCB"/>
            </a:solidFill>
            <a:prstDash val="solid"/>
          </a:ln>
        </p:spPr>
      </p:sp>
      <p:sp>
        <p:nvSpPr>
          <p:cNvPr id="51" name="Text 43"/>
          <p:cNvSpPr txBox="1"/>
          <p:nvPr/>
        </p:nvSpPr>
        <p:spPr>
          <a:xfrm>
            <a:off x="8346407" y="4506163"/>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현장 지원</a:t>
            </a:r>
            <a:endParaRPr lang="en-US" sz="1600" dirty="0"/>
          </a:p>
        </p:txBody>
      </p:sp>
      <p:sp>
        <p:nvSpPr>
          <p:cNvPr id="52" name="Text 44"/>
          <p:cNvSpPr txBox="1"/>
          <p:nvPr/>
        </p:nvSpPr>
        <p:spPr>
          <a:xfrm>
            <a:off x="10863072" y="4506163"/>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3명</a:t>
            </a:r>
            <a:endParaRPr lang="en-US" sz="1800" dirty="0"/>
          </a:p>
        </p:txBody>
      </p:sp>
      <p:sp>
        <p:nvSpPr>
          <p:cNvPr id="53" name="Shape 45"/>
          <p:cNvSpPr/>
          <p:nvPr/>
        </p:nvSpPr>
        <p:spPr>
          <a:xfrm>
            <a:off x="8181815" y="4977994"/>
            <a:ext cx="3504217" cy="398678"/>
          </a:xfrm>
          <a:prstGeom prst="roundRect">
            <a:avLst>
              <a:gd name="adj" fmla="val 13761"/>
            </a:avLst>
          </a:prstGeom>
          <a:solidFill>
            <a:srgbClr val="F7F4EC"/>
          </a:solidFill>
          <a:ln/>
        </p:spPr>
      </p:sp>
      <p:sp>
        <p:nvSpPr>
          <p:cNvPr id="54" name="Text 46"/>
          <p:cNvSpPr txBox="1"/>
          <p:nvPr/>
        </p:nvSpPr>
        <p:spPr>
          <a:xfrm>
            <a:off x="8346407" y="4977994"/>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헬프데스크</a:t>
            </a:r>
            <a:endParaRPr lang="en-US" sz="1600" dirty="0"/>
          </a:p>
        </p:txBody>
      </p:sp>
      <p:sp>
        <p:nvSpPr>
          <p:cNvPr id="55" name="Text 47"/>
          <p:cNvSpPr txBox="1"/>
          <p:nvPr/>
        </p:nvSpPr>
        <p:spPr>
          <a:xfrm>
            <a:off x="10863072" y="4977994"/>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1명</a:t>
            </a:r>
            <a:endParaRPr lang="en-US" sz="1800" dirty="0"/>
          </a:p>
        </p:txBody>
      </p:sp>
      <p:sp>
        <p:nvSpPr>
          <p:cNvPr id="56" name="Shape 48"/>
          <p:cNvSpPr/>
          <p:nvPr/>
        </p:nvSpPr>
        <p:spPr>
          <a:xfrm>
            <a:off x="502920" y="5522976"/>
            <a:ext cx="11183112" cy="749808"/>
          </a:xfrm>
          <a:prstGeom prst="roundRect">
            <a:avLst>
              <a:gd name="adj" fmla="val 12195"/>
            </a:avLst>
          </a:prstGeom>
          <a:solidFill>
            <a:srgbClr val="20342A"/>
          </a:solidFill>
          <a:ln/>
        </p:spPr>
      </p:sp>
      <p:sp>
        <p:nvSpPr>
          <p:cNvPr id="57" name="Text 49"/>
          <p:cNvSpPr txBox="1"/>
          <p:nvPr/>
        </p:nvSpPr>
        <p:spPr>
          <a:xfrm>
            <a:off x="731520" y="5522976"/>
            <a:ext cx="1737360" cy="749808"/>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연수에서 교실까지</a:t>
            </a:r>
            <a:endParaRPr lang="en-US" sz="1650" dirty="0"/>
          </a:p>
        </p:txBody>
      </p:sp>
      <p:sp>
        <p:nvSpPr>
          <p:cNvPr id="58" name="Shape 50"/>
          <p:cNvSpPr/>
          <p:nvPr/>
        </p:nvSpPr>
        <p:spPr>
          <a:xfrm>
            <a:off x="2514600" y="5660136"/>
            <a:ext cx="1563624" cy="475488"/>
          </a:xfrm>
          <a:prstGeom prst="roundRect">
            <a:avLst>
              <a:gd name="adj" fmla="val 50000"/>
            </a:avLst>
          </a:prstGeom>
          <a:solidFill>
            <a:srgbClr val="2E4636"/>
          </a:solidFill>
          <a:ln/>
        </p:spPr>
      </p:sp>
      <p:sp>
        <p:nvSpPr>
          <p:cNvPr id="59" name="Text 51"/>
          <p:cNvSpPr txBox="1"/>
          <p:nvPr/>
        </p:nvSpPr>
        <p:spPr>
          <a:xfrm>
            <a:off x="2514600"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교원 연수 15시간</a:t>
            </a:r>
            <a:endParaRPr lang="en-US" sz="1500" dirty="0"/>
          </a:p>
        </p:txBody>
      </p:sp>
      <p:sp>
        <p:nvSpPr>
          <p:cNvPr id="60" name="Shape 52"/>
          <p:cNvSpPr/>
          <p:nvPr/>
        </p:nvSpPr>
        <p:spPr>
          <a:xfrm>
            <a:off x="4151376" y="5779008"/>
            <a:ext cx="137160" cy="237744"/>
          </a:xfrm>
          <a:prstGeom prst="chevron">
            <a:avLst/>
          </a:prstGeom>
          <a:solidFill>
            <a:srgbClr val="F2D58A"/>
          </a:solidFill>
          <a:ln/>
        </p:spPr>
      </p:sp>
      <p:sp>
        <p:nvSpPr>
          <p:cNvPr id="61" name="Shape 53"/>
          <p:cNvSpPr/>
          <p:nvPr/>
        </p:nvSpPr>
        <p:spPr>
          <a:xfrm>
            <a:off x="4370832" y="5660136"/>
            <a:ext cx="1563624" cy="475488"/>
          </a:xfrm>
          <a:prstGeom prst="roundRect">
            <a:avLst>
              <a:gd name="adj" fmla="val 50000"/>
            </a:avLst>
          </a:prstGeom>
          <a:solidFill>
            <a:srgbClr val="2E4636"/>
          </a:solidFill>
          <a:ln/>
        </p:spPr>
      </p:sp>
      <p:sp>
        <p:nvSpPr>
          <p:cNvPr id="62" name="Text 54"/>
          <p:cNvSpPr txBox="1"/>
          <p:nvPr/>
        </p:nvSpPr>
        <p:spPr>
          <a:xfrm>
            <a:off x="4370832"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학급 개설과 코드 배포</a:t>
            </a:r>
            <a:endParaRPr lang="en-US" sz="1500" dirty="0"/>
          </a:p>
        </p:txBody>
      </p:sp>
      <p:sp>
        <p:nvSpPr>
          <p:cNvPr id="63" name="Shape 55"/>
          <p:cNvSpPr/>
          <p:nvPr/>
        </p:nvSpPr>
        <p:spPr>
          <a:xfrm>
            <a:off x="6007608" y="5779008"/>
            <a:ext cx="137160" cy="237744"/>
          </a:xfrm>
          <a:prstGeom prst="chevron">
            <a:avLst/>
          </a:prstGeom>
          <a:solidFill>
            <a:srgbClr val="F2D58A"/>
          </a:solidFill>
          <a:ln/>
        </p:spPr>
      </p:sp>
      <p:sp>
        <p:nvSpPr>
          <p:cNvPr id="64" name="Shape 56"/>
          <p:cNvSpPr/>
          <p:nvPr/>
        </p:nvSpPr>
        <p:spPr>
          <a:xfrm>
            <a:off x="6227064" y="5660136"/>
            <a:ext cx="1563624" cy="475488"/>
          </a:xfrm>
          <a:prstGeom prst="roundRect">
            <a:avLst>
              <a:gd name="adj" fmla="val 50000"/>
            </a:avLst>
          </a:prstGeom>
          <a:solidFill>
            <a:srgbClr val="F2D58A"/>
          </a:solidFill>
          <a:ln/>
        </p:spPr>
      </p:sp>
      <p:sp>
        <p:nvSpPr>
          <p:cNvPr id="65" name="Text 57"/>
          <p:cNvSpPr txBox="1"/>
          <p:nvPr/>
        </p:nvSpPr>
        <p:spPr>
          <a:xfrm>
            <a:off x="6227064"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첫 수업 동행</a:t>
            </a:r>
            <a:endParaRPr lang="en-US" sz="1500" dirty="0"/>
          </a:p>
        </p:txBody>
      </p:sp>
      <p:sp>
        <p:nvSpPr>
          <p:cNvPr id="66" name="Shape 58"/>
          <p:cNvSpPr/>
          <p:nvPr/>
        </p:nvSpPr>
        <p:spPr>
          <a:xfrm>
            <a:off x="7863840" y="5779008"/>
            <a:ext cx="137160" cy="237744"/>
          </a:xfrm>
          <a:prstGeom prst="chevron">
            <a:avLst/>
          </a:prstGeom>
          <a:solidFill>
            <a:srgbClr val="F2D58A"/>
          </a:solidFill>
          <a:ln/>
        </p:spPr>
      </p:sp>
      <p:sp>
        <p:nvSpPr>
          <p:cNvPr id="67" name="Shape 59"/>
          <p:cNvSpPr/>
          <p:nvPr/>
        </p:nvSpPr>
        <p:spPr>
          <a:xfrm>
            <a:off x="8083296" y="5660136"/>
            <a:ext cx="1563624" cy="475488"/>
          </a:xfrm>
          <a:prstGeom prst="roundRect">
            <a:avLst>
              <a:gd name="adj" fmla="val 50000"/>
            </a:avLst>
          </a:prstGeom>
          <a:solidFill>
            <a:srgbClr val="2E4636"/>
          </a:solidFill>
          <a:ln/>
        </p:spPr>
      </p:sp>
      <p:sp>
        <p:nvSpPr>
          <p:cNvPr id="68" name="Text 60"/>
          <p:cNvSpPr txBox="1"/>
          <p:nvPr/>
        </p:nvSpPr>
        <p:spPr>
          <a:xfrm>
            <a:off x="8083296"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수업 나눔과 피드백</a:t>
            </a:r>
            <a:endParaRPr lang="en-US" sz="1500" dirty="0"/>
          </a:p>
        </p:txBody>
      </p:sp>
      <p:sp>
        <p:nvSpPr>
          <p:cNvPr id="69" name="Shape 61"/>
          <p:cNvSpPr/>
          <p:nvPr/>
        </p:nvSpPr>
        <p:spPr>
          <a:xfrm>
            <a:off x="9720072" y="5779008"/>
            <a:ext cx="137160" cy="237744"/>
          </a:xfrm>
          <a:prstGeom prst="chevron">
            <a:avLst/>
          </a:prstGeom>
          <a:solidFill>
            <a:srgbClr val="F2D58A"/>
          </a:solidFill>
          <a:ln/>
        </p:spPr>
      </p:sp>
      <p:sp>
        <p:nvSpPr>
          <p:cNvPr id="70" name="Shape 62"/>
          <p:cNvSpPr/>
          <p:nvPr/>
        </p:nvSpPr>
        <p:spPr>
          <a:xfrm>
            <a:off x="9939528" y="5660136"/>
            <a:ext cx="1563624" cy="475488"/>
          </a:xfrm>
          <a:prstGeom prst="roundRect">
            <a:avLst>
              <a:gd name="adj" fmla="val 50000"/>
            </a:avLst>
          </a:prstGeom>
          <a:solidFill>
            <a:srgbClr val="2E4636"/>
          </a:solidFill>
          <a:ln/>
        </p:spPr>
      </p:sp>
      <p:sp>
        <p:nvSpPr>
          <p:cNvPr id="71" name="Text 63"/>
          <p:cNvSpPr txBox="1"/>
          <p:nvPr/>
        </p:nvSpPr>
        <p:spPr>
          <a:xfrm>
            <a:off x="9939528"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연구회, 다음 해 연수</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대상별 홍보와 성과 확산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교육청, 교사, 학부모, 학생에게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브로슈어 8종</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으로 대상마다 다른 말을 건넵니다</a:t>
            </a:r>
            <a:endParaRPr lang="en-US" sz="1400" dirty="0"/>
          </a:p>
        </p:txBody>
      </p:sp>
      <p:sp>
        <p:nvSpPr>
          <p:cNvPr id="10" name="Text 7"/>
          <p:cNvSpPr txBox="1"/>
          <p:nvPr/>
        </p:nvSpPr>
        <p:spPr>
          <a:xfrm>
            <a:off x="191767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7750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홍보 방향은 부기 운영 방향 협의(2026. 10. 14.)의 대상별 홍보 원칙을 따름. 브로슈어는 A4 앞뒤 한 장, 종류별 PDF와 PPT를 따로 드림. 보도자료와 사례집은 교육청과 협의해 함께 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29</a:t>
            </a:r>
            <a:endParaRPr lang="en-US" sz="1250" dirty="0"/>
          </a:p>
        </p:txBody>
      </p:sp>
      <p:sp>
        <p:nvSpPr>
          <p:cNvPr id="14" name="Shape 11"/>
          <p:cNvSpPr/>
          <p:nvPr/>
        </p:nvSpPr>
        <p:spPr>
          <a:xfrm>
            <a:off x="502920" y="1920240"/>
            <a:ext cx="2658618" cy="3127248"/>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649224" y="2029968"/>
            <a:ext cx="512064" cy="512064"/>
          </a:xfrm>
          <a:prstGeom prst="ellipse">
            <a:avLst/>
          </a:prstGeom>
          <a:solidFill>
            <a:srgbClr val="FFFFFF"/>
          </a:solidFill>
          <a:ln/>
        </p:spPr>
      </p:sp>
      <p:pic>
        <p:nvPicPr>
          <p:cNvPr id="16" name="Image 1" descr="building-bank">    </p:cNvPr>
          <p:cNvPicPr>
            <a:picLocks noChangeAspect="1"/>
          </p:cNvPicPr>
          <p:nvPr/>
        </p:nvPicPr>
        <p:blipFill>
          <a:blip r:embed="rId2"/>
          <a:stretch>
            <a:fillRect/>
          </a:stretch>
        </p:blipFill>
        <p:spPr>
          <a:xfrm>
            <a:off x="756757" y="2137501"/>
            <a:ext cx="296997" cy="296997"/>
          </a:xfrm>
          <a:prstGeom prst="rect">
            <a:avLst/>
          </a:prstGeom>
        </p:spPr>
      </p:pic>
      <p:sp>
        <p:nvSpPr>
          <p:cNvPr id="17" name="Text 13"/>
          <p:cNvSpPr txBox="1"/>
          <p:nvPr/>
        </p:nvSpPr>
        <p:spPr>
          <a:xfrm>
            <a:off x="1252728"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교육청</a:t>
            </a:r>
            <a:endParaRPr lang="en-US" sz="1800" dirty="0"/>
          </a:p>
        </p:txBody>
      </p:sp>
      <p:sp>
        <p:nvSpPr>
          <p:cNvPr id="18" name="Text 14"/>
          <p:cNvSpPr txBox="1"/>
          <p:nvPr/>
        </p:nvSpPr>
        <p:spPr>
          <a:xfrm>
            <a:off x="1252728"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수치와 정책 연계</a:t>
            </a:r>
            <a:endParaRPr lang="en-US" sz="1400" dirty="0"/>
          </a:p>
        </p:txBody>
      </p:sp>
      <p:sp>
        <p:nvSpPr>
          <p:cNvPr id="19" name="Shape 15"/>
          <p:cNvSpPr/>
          <p:nvPr/>
        </p:nvSpPr>
        <p:spPr>
          <a:xfrm>
            <a:off x="448057" y="2651760"/>
            <a:ext cx="1420747" cy="1993392"/>
          </a:xfrm>
          <a:prstGeom prst="roundRect">
            <a:avLst>
              <a:gd name="adj" fmla="val 1287"/>
            </a:avLst>
          </a:prstGeom>
          <a:solidFill>
            <a:srgbClr val="E2DCCB"/>
          </a:solidFill>
          <a:ln/>
        </p:spPr>
      </p:sp>
      <p:pic>
        <p:nvPicPr>
          <p:cNvPr id="20" name="Image 2" descr="성과 지표 브로슈어">    </p:cNvPr>
          <p:cNvPicPr>
            <a:picLocks noChangeAspect="1"/>
          </p:cNvPicPr>
          <p:nvPr/>
        </p:nvPicPr>
        <p:blipFill>
          <a:blip r:embed="rId3"/>
          <a:stretch>
            <a:fillRect/>
          </a:stretch>
        </p:blipFill>
        <p:spPr>
          <a:xfrm>
            <a:off x="466345" y="2670048"/>
            <a:ext cx="1384171" cy="1956816"/>
          </a:xfrm>
          <a:prstGeom prst="rect">
            <a:avLst/>
          </a:prstGeom>
        </p:spPr>
      </p:pic>
      <p:sp>
        <p:nvSpPr>
          <p:cNvPr id="21" name="Text 16"/>
          <p:cNvSpPr txBox="1"/>
          <p:nvPr/>
        </p:nvSpPr>
        <p:spPr>
          <a:xfrm>
            <a:off x="374905"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성과 지표</a:t>
            </a:r>
            <a:endParaRPr lang="en-US" sz="1250" dirty="0"/>
          </a:p>
        </p:txBody>
      </p:sp>
      <p:sp>
        <p:nvSpPr>
          <p:cNvPr id="22" name="Shape 17"/>
          <p:cNvSpPr/>
          <p:nvPr/>
        </p:nvSpPr>
        <p:spPr>
          <a:xfrm>
            <a:off x="1795654" y="2651760"/>
            <a:ext cx="1420747" cy="1993392"/>
          </a:xfrm>
          <a:prstGeom prst="roundRect">
            <a:avLst>
              <a:gd name="adj" fmla="val 1287"/>
            </a:avLst>
          </a:prstGeom>
          <a:solidFill>
            <a:srgbClr val="E2DCCB"/>
          </a:solidFill>
          <a:ln/>
        </p:spPr>
      </p:sp>
      <p:pic>
        <p:nvPicPr>
          <p:cNvPr id="23" name="Image 3" descr="정책 연계 브로슈어">    </p:cNvPr>
          <p:cNvPicPr>
            <a:picLocks noChangeAspect="1"/>
          </p:cNvPicPr>
          <p:nvPr/>
        </p:nvPicPr>
        <p:blipFill>
          <a:blip r:embed="rId4"/>
          <a:stretch>
            <a:fillRect/>
          </a:stretch>
        </p:blipFill>
        <p:spPr>
          <a:xfrm>
            <a:off x="1813942" y="2670048"/>
            <a:ext cx="1384171" cy="1956816"/>
          </a:xfrm>
          <a:prstGeom prst="rect">
            <a:avLst/>
          </a:prstGeom>
        </p:spPr>
      </p:pic>
      <p:sp>
        <p:nvSpPr>
          <p:cNvPr id="24" name="Text 18"/>
          <p:cNvSpPr txBox="1"/>
          <p:nvPr/>
        </p:nvSpPr>
        <p:spPr>
          <a:xfrm>
            <a:off x="1722502"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정책 연계</a:t>
            </a:r>
            <a:endParaRPr lang="en-US" sz="1250" dirty="0"/>
          </a:p>
        </p:txBody>
      </p:sp>
      <p:sp>
        <p:nvSpPr>
          <p:cNvPr id="25" name="Shape 19"/>
          <p:cNvSpPr/>
          <p:nvPr/>
        </p:nvSpPr>
        <p:spPr>
          <a:xfrm>
            <a:off x="3344418" y="1920240"/>
            <a:ext cx="2658618" cy="3127248"/>
          </a:xfrm>
          <a:prstGeom prst="roundRect">
            <a:avLst>
              <a:gd name="adj" fmla="val 3439"/>
            </a:avLst>
          </a:prstGeom>
          <a:solidFill>
            <a:srgbClr val="FFFFFF"/>
          </a:solidFill>
          <a:ln w="9525">
            <a:solidFill>
              <a:srgbClr val="E2DCCB"/>
            </a:solidFill>
            <a:prstDash val="solid"/>
          </a:ln>
        </p:spPr>
      </p:sp>
      <p:sp>
        <p:nvSpPr>
          <p:cNvPr id="26" name="Shape 20"/>
          <p:cNvSpPr/>
          <p:nvPr/>
        </p:nvSpPr>
        <p:spPr>
          <a:xfrm>
            <a:off x="3490722" y="2029968"/>
            <a:ext cx="512064" cy="512064"/>
          </a:xfrm>
          <a:prstGeom prst="ellipse">
            <a:avLst/>
          </a:prstGeom>
          <a:solidFill>
            <a:srgbClr val="E6F0E7"/>
          </a:solidFill>
          <a:ln/>
        </p:spPr>
      </p:sp>
      <p:pic>
        <p:nvPicPr>
          <p:cNvPr id="27" name="Image 4" descr="chalkboard">    </p:cNvPr>
          <p:cNvPicPr>
            <a:picLocks noChangeAspect="1"/>
          </p:cNvPicPr>
          <p:nvPr/>
        </p:nvPicPr>
        <p:blipFill>
          <a:blip r:embed="rId5"/>
          <a:stretch>
            <a:fillRect/>
          </a:stretch>
        </p:blipFill>
        <p:spPr>
          <a:xfrm>
            <a:off x="3598255" y="2137501"/>
            <a:ext cx="296997" cy="296997"/>
          </a:xfrm>
          <a:prstGeom prst="rect">
            <a:avLst/>
          </a:prstGeom>
        </p:spPr>
      </p:pic>
      <p:sp>
        <p:nvSpPr>
          <p:cNvPr id="28" name="Text 21"/>
          <p:cNvSpPr txBox="1"/>
          <p:nvPr/>
        </p:nvSpPr>
        <p:spPr>
          <a:xfrm>
            <a:off x="4094226"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교사</a:t>
            </a:r>
            <a:endParaRPr lang="en-US" sz="1800" dirty="0"/>
          </a:p>
        </p:txBody>
      </p:sp>
      <p:sp>
        <p:nvSpPr>
          <p:cNvPr id="29" name="Text 22"/>
          <p:cNvSpPr txBox="1"/>
          <p:nvPr/>
        </p:nvSpPr>
        <p:spPr>
          <a:xfrm>
            <a:off x="4094226"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수업이 쉬워짐</a:t>
            </a:r>
            <a:endParaRPr lang="en-US" sz="1400" dirty="0"/>
          </a:p>
        </p:txBody>
      </p:sp>
      <p:sp>
        <p:nvSpPr>
          <p:cNvPr id="30" name="Shape 23"/>
          <p:cNvSpPr/>
          <p:nvPr/>
        </p:nvSpPr>
        <p:spPr>
          <a:xfrm>
            <a:off x="3289555" y="2651760"/>
            <a:ext cx="1420747" cy="1993392"/>
          </a:xfrm>
          <a:prstGeom prst="roundRect">
            <a:avLst>
              <a:gd name="adj" fmla="val 1287"/>
            </a:avLst>
          </a:prstGeom>
          <a:solidFill>
            <a:srgbClr val="E2DCCB"/>
          </a:solidFill>
          <a:ln/>
        </p:spPr>
      </p:sp>
      <p:pic>
        <p:nvPicPr>
          <p:cNvPr id="31" name="Image 5" descr="준비된 수업 브로슈어">    </p:cNvPr>
          <p:cNvPicPr>
            <a:picLocks noChangeAspect="1"/>
          </p:cNvPicPr>
          <p:nvPr/>
        </p:nvPicPr>
        <p:blipFill>
          <a:blip r:embed="rId6"/>
          <a:stretch>
            <a:fillRect/>
          </a:stretch>
        </p:blipFill>
        <p:spPr>
          <a:xfrm>
            <a:off x="3307843" y="2670048"/>
            <a:ext cx="1384171" cy="1956816"/>
          </a:xfrm>
          <a:prstGeom prst="rect">
            <a:avLst/>
          </a:prstGeom>
        </p:spPr>
      </p:pic>
      <p:sp>
        <p:nvSpPr>
          <p:cNvPr id="32" name="Text 24"/>
          <p:cNvSpPr txBox="1"/>
          <p:nvPr/>
        </p:nvSpPr>
        <p:spPr>
          <a:xfrm>
            <a:off x="3216403"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준비된 수업</a:t>
            </a:r>
            <a:endParaRPr lang="en-US" sz="1250" dirty="0"/>
          </a:p>
        </p:txBody>
      </p:sp>
      <p:sp>
        <p:nvSpPr>
          <p:cNvPr id="33" name="Shape 25"/>
          <p:cNvSpPr/>
          <p:nvPr/>
        </p:nvSpPr>
        <p:spPr>
          <a:xfrm>
            <a:off x="4637152" y="2651760"/>
            <a:ext cx="1420747" cy="1993392"/>
          </a:xfrm>
          <a:prstGeom prst="roundRect">
            <a:avLst>
              <a:gd name="adj" fmla="val 1287"/>
            </a:avLst>
          </a:prstGeom>
          <a:solidFill>
            <a:srgbClr val="E2DCCB"/>
          </a:solidFill>
          <a:ln/>
        </p:spPr>
      </p:sp>
      <p:pic>
        <p:nvPicPr>
          <p:cNvPr id="34" name="Image 6" descr="10차시 수업 예시 브로슈어">    </p:cNvPr>
          <p:cNvPicPr>
            <a:picLocks noChangeAspect="1"/>
          </p:cNvPicPr>
          <p:nvPr/>
        </p:nvPicPr>
        <p:blipFill>
          <a:blip r:embed="rId7"/>
          <a:stretch>
            <a:fillRect/>
          </a:stretch>
        </p:blipFill>
        <p:spPr>
          <a:xfrm>
            <a:off x="4655440" y="2670048"/>
            <a:ext cx="1384171" cy="1956816"/>
          </a:xfrm>
          <a:prstGeom prst="rect">
            <a:avLst/>
          </a:prstGeom>
        </p:spPr>
      </p:pic>
      <p:sp>
        <p:nvSpPr>
          <p:cNvPr id="35" name="Text 26"/>
          <p:cNvSpPr txBox="1"/>
          <p:nvPr/>
        </p:nvSpPr>
        <p:spPr>
          <a:xfrm>
            <a:off x="4564000"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10차시 수업 예시</a:t>
            </a:r>
            <a:endParaRPr lang="en-US" sz="1250" dirty="0"/>
          </a:p>
        </p:txBody>
      </p:sp>
      <p:sp>
        <p:nvSpPr>
          <p:cNvPr id="36" name="Shape 27"/>
          <p:cNvSpPr/>
          <p:nvPr/>
        </p:nvSpPr>
        <p:spPr>
          <a:xfrm>
            <a:off x="6185916" y="1920240"/>
            <a:ext cx="2658618" cy="3127248"/>
          </a:xfrm>
          <a:prstGeom prst="roundRect">
            <a:avLst>
              <a:gd name="adj" fmla="val 3439"/>
            </a:avLst>
          </a:prstGeom>
          <a:solidFill>
            <a:srgbClr val="FBF5E6"/>
          </a:solidFill>
          <a:ln w="9525">
            <a:solidFill>
              <a:srgbClr val="E2DCCB"/>
            </a:solidFill>
            <a:prstDash val="solid"/>
          </a:ln>
        </p:spPr>
      </p:sp>
      <p:sp>
        <p:nvSpPr>
          <p:cNvPr id="37" name="Shape 28"/>
          <p:cNvSpPr/>
          <p:nvPr/>
        </p:nvSpPr>
        <p:spPr>
          <a:xfrm>
            <a:off x="6332220" y="2029968"/>
            <a:ext cx="512064" cy="512064"/>
          </a:xfrm>
          <a:prstGeom prst="ellipse">
            <a:avLst/>
          </a:prstGeom>
          <a:solidFill>
            <a:srgbClr val="FFFFFF"/>
          </a:solidFill>
          <a:ln/>
        </p:spPr>
      </p:sp>
      <p:pic>
        <p:nvPicPr>
          <p:cNvPr id="38" name="Image 7" descr="home-heart">    </p:cNvPr>
          <p:cNvPicPr>
            <a:picLocks noChangeAspect="1"/>
          </p:cNvPicPr>
          <p:nvPr/>
        </p:nvPicPr>
        <p:blipFill>
          <a:blip r:embed="rId8"/>
          <a:stretch>
            <a:fillRect/>
          </a:stretch>
        </p:blipFill>
        <p:spPr>
          <a:xfrm>
            <a:off x="6439753" y="2137501"/>
            <a:ext cx="296997" cy="296997"/>
          </a:xfrm>
          <a:prstGeom prst="rect">
            <a:avLst/>
          </a:prstGeom>
        </p:spPr>
      </p:pic>
      <p:sp>
        <p:nvSpPr>
          <p:cNvPr id="39" name="Text 29"/>
          <p:cNvSpPr txBox="1"/>
          <p:nvPr/>
        </p:nvSpPr>
        <p:spPr>
          <a:xfrm>
            <a:off x="6935724"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학부모</a:t>
            </a:r>
            <a:endParaRPr lang="en-US" sz="1800" dirty="0"/>
          </a:p>
        </p:txBody>
      </p:sp>
      <p:sp>
        <p:nvSpPr>
          <p:cNvPr id="40" name="Text 30"/>
          <p:cNvSpPr txBox="1"/>
          <p:nvPr/>
        </p:nvSpPr>
        <p:spPr>
          <a:xfrm>
            <a:off x="6935724"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아이의 6년 독서 기록</a:t>
            </a:r>
            <a:endParaRPr lang="en-US" sz="1400" dirty="0"/>
          </a:p>
        </p:txBody>
      </p:sp>
      <p:sp>
        <p:nvSpPr>
          <p:cNvPr id="41" name="Shape 31"/>
          <p:cNvSpPr/>
          <p:nvPr/>
        </p:nvSpPr>
        <p:spPr>
          <a:xfrm>
            <a:off x="6131053" y="2651760"/>
            <a:ext cx="1420747" cy="1993392"/>
          </a:xfrm>
          <a:prstGeom prst="roundRect">
            <a:avLst>
              <a:gd name="adj" fmla="val 1287"/>
            </a:avLst>
          </a:prstGeom>
          <a:solidFill>
            <a:srgbClr val="E2DCCB"/>
          </a:solidFill>
          <a:ln/>
        </p:spPr>
      </p:sp>
      <p:pic>
        <p:nvPicPr>
          <p:cNvPr id="42" name="Image 8" descr="공부와 마음의 힘 브로슈어">    </p:cNvPr>
          <p:cNvPicPr>
            <a:picLocks noChangeAspect="1"/>
          </p:cNvPicPr>
          <p:nvPr/>
        </p:nvPicPr>
        <p:blipFill>
          <a:blip r:embed="rId9"/>
          <a:stretch>
            <a:fillRect/>
          </a:stretch>
        </p:blipFill>
        <p:spPr>
          <a:xfrm>
            <a:off x="6149341" y="2670048"/>
            <a:ext cx="1384171" cy="1956816"/>
          </a:xfrm>
          <a:prstGeom prst="rect">
            <a:avLst/>
          </a:prstGeom>
        </p:spPr>
      </p:pic>
      <p:sp>
        <p:nvSpPr>
          <p:cNvPr id="43" name="Text 32"/>
          <p:cNvSpPr txBox="1"/>
          <p:nvPr/>
        </p:nvSpPr>
        <p:spPr>
          <a:xfrm>
            <a:off x="6057901"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공부와 마음의 힘</a:t>
            </a:r>
            <a:endParaRPr lang="en-US" sz="1250" dirty="0"/>
          </a:p>
        </p:txBody>
      </p:sp>
      <p:sp>
        <p:nvSpPr>
          <p:cNvPr id="44" name="Shape 33"/>
          <p:cNvSpPr/>
          <p:nvPr/>
        </p:nvSpPr>
        <p:spPr>
          <a:xfrm>
            <a:off x="7478650" y="2651760"/>
            <a:ext cx="1420747" cy="1993392"/>
          </a:xfrm>
          <a:prstGeom prst="roundRect">
            <a:avLst>
              <a:gd name="adj" fmla="val 1287"/>
            </a:avLst>
          </a:prstGeom>
          <a:solidFill>
            <a:srgbClr val="E2DCCB"/>
          </a:solidFill>
          <a:ln/>
        </p:spPr>
      </p:sp>
      <p:pic>
        <p:nvPicPr>
          <p:cNvPr id="45" name="Image 9" descr="6년 독서 기록 브로슈어">    </p:cNvPr>
          <p:cNvPicPr>
            <a:picLocks noChangeAspect="1"/>
          </p:cNvPicPr>
          <p:nvPr/>
        </p:nvPicPr>
        <p:blipFill>
          <a:blip r:embed="rId10"/>
          <a:stretch>
            <a:fillRect/>
          </a:stretch>
        </p:blipFill>
        <p:spPr>
          <a:xfrm>
            <a:off x="7496938" y="2670048"/>
            <a:ext cx="1384171" cy="1956816"/>
          </a:xfrm>
          <a:prstGeom prst="rect">
            <a:avLst/>
          </a:prstGeom>
        </p:spPr>
      </p:pic>
      <p:sp>
        <p:nvSpPr>
          <p:cNvPr id="46" name="Text 34"/>
          <p:cNvSpPr txBox="1"/>
          <p:nvPr/>
        </p:nvSpPr>
        <p:spPr>
          <a:xfrm>
            <a:off x="7405498"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6년 독서 기록</a:t>
            </a:r>
            <a:endParaRPr lang="en-US" sz="1250" dirty="0"/>
          </a:p>
        </p:txBody>
      </p:sp>
      <p:sp>
        <p:nvSpPr>
          <p:cNvPr id="47" name="Shape 35"/>
          <p:cNvSpPr/>
          <p:nvPr/>
        </p:nvSpPr>
        <p:spPr>
          <a:xfrm>
            <a:off x="9027414" y="1920240"/>
            <a:ext cx="2658618" cy="3127248"/>
          </a:xfrm>
          <a:prstGeom prst="roundRect">
            <a:avLst>
              <a:gd name="adj" fmla="val 3439"/>
            </a:avLst>
          </a:prstGeom>
          <a:solidFill>
            <a:srgbClr val="FFFFFF"/>
          </a:solidFill>
          <a:ln w="9525">
            <a:solidFill>
              <a:srgbClr val="E2DCCB"/>
            </a:solidFill>
            <a:prstDash val="solid"/>
          </a:ln>
        </p:spPr>
      </p:sp>
      <p:sp>
        <p:nvSpPr>
          <p:cNvPr id="48" name="Shape 36"/>
          <p:cNvSpPr/>
          <p:nvPr/>
        </p:nvSpPr>
        <p:spPr>
          <a:xfrm>
            <a:off x="9173718" y="2029968"/>
            <a:ext cx="512064" cy="512064"/>
          </a:xfrm>
          <a:prstGeom prst="ellipse">
            <a:avLst/>
          </a:prstGeom>
          <a:solidFill>
            <a:srgbClr val="E6F0E7"/>
          </a:solidFill>
          <a:ln/>
        </p:spPr>
      </p:sp>
      <p:pic>
        <p:nvPicPr>
          <p:cNvPr id="49" name="Image 10" descr="mood-kid">    </p:cNvPr>
          <p:cNvPicPr>
            <a:picLocks noChangeAspect="1"/>
          </p:cNvPicPr>
          <p:nvPr/>
        </p:nvPicPr>
        <p:blipFill>
          <a:blip r:embed="rId11"/>
          <a:stretch>
            <a:fillRect/>
          </a:stretch>
        </p:blipFill>
        <p:spPr>
          <a:xfrm>
            <a:off x="9281251" y="2137501"/>
            <a:ext cx="296997" cy="296997"/>
          </a:xfrm>
          <a:prstGeom prst="rect">
            <a:avLst/>
          </a:prstGeom>
        </p:spPr>
      </p:pic>
      <p:sp>
        <p:nvSpPr>
          <p:cNvPr id="50" name="Text 37"/>
          <p:cNvSpPr txBox="1"/>
          <p:nvPr/>
        </p:nvSpPr>
        <p:spPr>
          <a:xfrm>
            <a:off x="9777222"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학생</a:t>
            </a:r>
            <a:endParaRPr lang="en-US" sz="1800" dirty="0"/>
          </a:p>
        </p:txBody>
      </p:sp>
      <p:sp>
        <p:nvSpPr>
          <p:cNvPr id="51" name="Text 38"/>
          <p:cNvSpPr txBox="1"/>
          <p:nvPr/>
        </p:nvSpPr>
        <p:spPr>
          <a:xfrm>
            <a:off x="9777222"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읽는 즐거움</a:t>
            </a:r>
            <a:endParaRPr lang="en-US" sz="1400" dirty="0"/>
          </a:p>
        </p:txBody>
      </p:sp>
      <p:sp>
        <p:nvSpPr>
          <p:cNvPr id="52" name="Shape 39"/>
          <p:cNvSpPr/>
          <p:nvPr/>
        </p:nvSpPr>
        <p:spPr>
          <a:xfrm>
            <a:off x="8972551" y="2651760"/>
            <a:ext cx="1420747" cy="1993392"/>
          </a:xfrm>
          <a:prstGeom prst="roundRect">
            <a:avLst>
              <a:gd name="adj" fmla="val 1287"/>
            </a:avLst>
          </a:prstGeom>
          <a:solidFill>
            <a:srgbClr val="E2DCCB"/>
          </a:solidFill>
          <a:ln/>
        </p:spPr>
      </p:sp>
      <p:pic>
        <p:nvPicPr>
          <p:cNvPr id="53" name="Image 11" descr="다 읽으면 열려요 브로슈어">    </p:cNvPr>
          <p:cNvPicPr>
            <a:picLocks noChangeAspect="1"/>
          </p:cNvPicPr>
          <p:nvPr/>
        </p:nvPicPr>
        <p:blipFill>
          <a:blip r:embed="rId12"/>
          <a:stretch>
            <a:fillRect/>
          </a:stretch>
        </p:blipFill>
        <p:spPr>
          <a:xfrm>
            <a:off x="8990839" y="2670048"/>
            <a:ext cx="1384171" cy="1956816"/>
          </a:xfrm>
          <a:prstGeom prst="rect">
            <a:avLst/>
          </a:prstGeom>
        </p:spPr>
      </p:pic>
      <p:sp>
        <p:nvSpPr>
          <p:cNvPr id="54" name="Text 40"/>
          <p:cNvSpPr txBox="1"/>
          <p:nvPr/>
        </p:nvSpPr>
        <p:spPr>
          <a:xfrm>
            <a:off x="8899399"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다 읽으면 열려요</a:t>
            </a:r>
            <a:endParaRPr lang="en-US" sz="1250" dirty="0"/>
          </a:p>
        </p:txBody>
      </p:sp>
      <p:sp>
        <p:nvSpPr>
          <p:cNvPr id="55" name="Shape 41"/>
          <p:cNvSpPr/>
          <p:nvPr/>
        </p:nvSpPr>
        <p:spPr>
          <a:xfrm>
            <a:off x="10320148" y="2651760"/>
            <a:ext cx="1420747" cy="1993392"/>
          </a:xfrm>
          <a:prstGeom prst="roundRect">
            <a:avLst>
              <a:gd name="adj" fmla="val 1287"/>
            </a:avLst>
          </a:prstGeom>
          <a:solidFill>
            <a:srgbClr val="E2DCCB"/>
          </a:solidFill>
          <a:ln/>
        </p:spPr>
      </p:sp>
      <p:pic>
        <p:nvPicPr>
          <p:cNvPr id="56" name="Image 12" descr="인물과 대화 브로슈어">    </p:cNvPr>
          <p:cNvPicPr>
            <a:picLocks noChangeAspect="1"/>
          </p:cNvPicPr>
          <p:nvPr/>
        </p:nvPicPr>
        <p:blipFill>
          <a:blip r:embed="rId13"/>
          <a:stretch>
            <a:fillRect/>
          </a:stretch>
        </p:blipFill>
        <p:spPr>
          <a:xfrm>
            <a:off x="10338436" y="2670048"/>
            <a:ext cx="1384171" cy="1956816"/>
          </a:xfrm>
          <a:prstGeom prst="rect">
            <a:avLst/>
          </a:prstGeom>
        </p:spPr>
      </p:pic>
      <p:sp>
        <p:nvSpPr>
          <p:cNvPr id="57" name="Text 42"/>
          <p:cNvSpPr txBox="1"/>
          <p:nvPr/>
        </p:nvSpPr>
        <p:spPr>
          <a:xfrm>
            <a:off x="10246996"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인물과 대화</a:t>
            </a:r>
            <a:endParaRPr lang="en-US" sz="1250" dirty="0"/>
          </a:p>
        </p:txBody>
      </p:sp>
      <p:sp>
        <p:nvSpPr>
          <p:cNvPr id="58" name="Shape 43"/>
          <p:cNvSpPr/>
          <p:nvPr/>
        </p:nvSpPr>
        <p:spPr>
          <a:xfrm>
            <a:off x="502920" y="5212080"/>
            <a:ext cx="11183112" cy="1060704"/>
          </a:xfrm>
          <a:prstGeom prst="roundRect">
            <a:avLst>
              <a:gd name="adj" fmla="val 8621"/>
            </a:avLst>
          </a:prstGeom>
          <a:solidFill>
            <a:srgbClr val="20342A"/>
          </a:solidFill>
          <a:ln/>
        </p:spPr>
      </p:sp>
      <p:sp>
        <p:nvSpPr>
          <p:cNvPr id="59" name="Text 44"/>
          <p:cNvSpPr txBox="1"/>
          <p:nvPr/>
        </p:nvSpPr>
        <p:spPr>
          <a:xfrm>
            <a:off x="731520" y="5266944"/>
            <a:ext cx="2743200" cy="310896"/>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성과 확산 순서</a:t>
            </a:r>
            <a:endParaRPr lang="en-US" sz="1650" dirty="0"/>
          </a:p>
        </p:txBody>
      </p:sp>
      <p:sp>
        <p:nvSpPr>
          <p:cNvPr id="60" name="Shape 45"/>
          <p:cNvSpPr/>
          <p:nvPr/>
        </p:nvSpPr>
        <p:spPr>
          <a:xfrm>
            <a:off x="731520" y="5632704"/>
            <a:ext cx="1896466" cy="530352"/>
          </a:xfrm>
          <a:prstGeom prst="roundRect">
            <a:avLst>
              <a:gd name="adj" fmla="val 17241"/>
            </a:avLst>
          </a:prstGeom>
          <a:solidFill>
            <a:srgbClr val="2E4636"/>
          </a:solidFill>
          <a:ln/>
        </p:spPr>
      </p:sp>
      <p:sp>
        <p:nvSpPr>
          <p:cNvPr id="61" name="Text 46"/>
          <p:cNvSpPr txBox="1"/>
          <p:nvPr/>
        </p:nvSpPr>
        <p:spPr>
          <a:xfrm>
            <a:off x="804672"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참여 학교 운영</a:t>
            </a:r>
            <a:endParaRPr lang="en-US" sz="1500" dirty="0"/>
          </a:p>
        </p:txBody>
      </p:sp>
      <p:sp>
        <p:nvSpPr>
          <p:cNvPr id="62" name="Shape 47"/>
          <p:cNvSpPr/>
          <p:nvPr/>
        </p:nvSpPr>
        <p:spPr>
          <a:xfrm>
            <a:off x="2701138" y="5788152"/>
            <a:ext cx="146304" cy="219456"/>
          </a:xfrm>
          <a:prstGeom prst="chevron">
            <a:avLst/>
          </a:prstGeom>
          <a:solidFill>
            <a:srgbClr val="C08A1E"/>
          </a:solidFill>
          <a:ln/>
        </p:spPr>
      </p:sp>
      <p:sp>
        <p:nvSpPr>
          <p:cNvPr id="63" name="Shape 48"/>
          <p:cNvSpPr/>
          <p:nvPr/>
        </p:nvSpPr>
        <p:spPr>
          <a:xfrm>
            <a:off x="2938882" y="5632704"/>
            <a:ext cx="1896466" cy="530352"/>
          </a:xfrm>
          <a:prstGeom prst="roundRect">
            <a:avLst>
              <a:gd name="adj" fmla="val 17241"/>
            </a:avLst>
          </a:prstGeom>
          <a:solidFill>
            <a:srgbClr val="2E4636"/>
          </a:solidFill>
          <a:ln/>
        </p:spPr>
      </p:sp>
      <p:sp>
        <p:nvSpPr>
          <p:cNvPr id="64" name="Text 49"/>
          <p:cNvSpPr txBox="1"/>
          <p:nvPr/>
        </p:nvSpPr>
        <p:spPr>
          <a:xfrm>
            <a:off x="3012034"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우수 수업 사례 수집</a:t>
            </a:r>
            <a:endParaRPr lang="en-US" sz="1500" dirty="0"/>
          </a:p>
        </p:txBody>
      </p:sp>
      <p:sp>
        <p:nvSpPr>
          <p:cNvPr id="65" name="Shape 50"/>
          <p:cNvSpPr/>
          <p:nvPr/>
        </p:nvSpPr>
        <p:spPr>
          <a:xfrm>
            <a:off x="4908499" y="5788152"/>
            <a:ext cx="146304" cy="219456"/>
          </a:xfrm>
          <a:prstGeom prst="chevron">
            <a:avLst/>
          </a:prstGeom>
          <a:solidFill>
            <a:srgbClr val="C08A1E"/>
          </a:solidFill>
          <a:ln/>
        </p:spPr>
      </p:sp>
      <p:sp>
        <p:nvSpPr>
          <p:cNvPr id="66" name="Shape 51"/>
          <p:cNvSpPr/>
          <p:nvPr/>
        </p:nvSpPr>
        <p:spPr>
          <a:xfrm>
            <a:off x="5146243" y="5632704"/>
            <a:ext cx="1896466" cy="530352"/>
          </a:xfrm>
          <a:prstGeom prst="roundRect">
            <a:avLst>
              <a:gd name="adj" fmla="val 17241"/>
            </a:avLst>
          </a:prstGeom>
          <a:solidFill>
            <a:srgbClr val="2E4636"/>
          </a:solidFill>
          <a:ln/>
        </p:spPr>
      </p:sp>
      <p:sp>
        <p:nvSpPr>
          <p:cNvPr id="67" name="Text 52"/>
          <p:cNvSpPr txBox="1"/>
          <p:nvPr/>
        </p:nvSpPr>
        <p:spPr>
          <a:xfrm>
            <a:off x="5219395"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교사 연구회와 공모전</a:t>
            </a:r>
            <a:endParaRPr lang="en-US" sz="1500" dirty="0"/>
          </a:p>
        </p:txBody>
      </p:sp>
      <p:sp>
        <p:nvSpPr>
          <p:cNvPr id="68" name="Shape 53"/>
          <p:cNvSpPr/>
          <p:nvPr/>
        </p:nvSpPr>
        <p:spPr>
          <a:xfrm>
            <a:off x="7115861" y="5788152"/>
            <a:ext cx="146304" cy="219456"/>
          </a:xfrm>
          <a:prstGeom prst="chevron">
            <a:avLst/>
          </a:prstGeom>
          <a:solidFill>
            <a:srgbClr val="C08A1E"/>
          </a:solidFill>
          <a:ln/>
        </p:spPr>
      </p:sp>
      <p:sp>
        <p:nvSpPr>
          <p:cNvPr id="69" name="Shape 54"/>
          <p:cNvSpPr/>
          <p:nvPr/>
        </p:nvSpPr>
        <p:spPr>
          <a:xfrm>
            <a:off x="7353605" y="5632704"/>
            <a:ext cx="1896466" cy="530352"/>
          </a:xfrm>
          <a:prstGeom prst="roundRect">
            <a:avLst>
              <a:gd name="adj" fmla="val 17241"/>
            </a:avLst>
          </a:prstGeom>
          <a:solidFill>
            <a:srgbClr val="2E4636"/>
          </a:solidFill>
          <a:ln/>
        </p:spPr>
      </p:sp>
      <p:sp>
        <p:nvSpPr>
          <p:cNvPr id="70" name="Text 55"/>
          <p:cNvSpPr txBox="1"/>
          <p:nvPr/>
        </p:nvSpPr>
        <p:spPr>
          <a:xfrm>
            <a:off x="7426757"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사례집과 보도자료</a:t>
            </a:r>
            <a:endParaRPr lang="en-US" sz="1500" dirty="0"/>
          </a:p>
        </p:txBody>
      </p:sp>
      <p:sp>
        <p:nvSpPr>
          <p:cNvPr id="71" name="Shape 56"/>
          <p:cNvSpPr/>
          <p:nvPr/>
        </p:nvSpPr>
        <p:spPr>
          <a:xfrm>
            <a:off x="9323222" y="5788152"/>
            <a:ext cx="146304" cy="219456"/>
          </a:xfrm>
          <a:prstGeom prst="chevron">
            <a:avLst/>
          </a:prstGeom>
          <a:solidFill>
            <a:srgbClr val="C08A1E"/>
          </a:solidFill>
          <a:ln/>
        </p:spPr>
      </p:sp>
      <p:sp>
        <p:nvSpPr>
          <p:cNvPr id="72" name="Shape 57"/>
          <p:cNvSpPr/>
          <p:nvPr/>
        </p:nvSpPr>
        <p:spPr>
          <a:xfrm>
            <a:off x="9560966" y="5632704"/>
            <a:ext cx="1896466" cy="530352"/>
          </a:xfrm>
          <a:prstGeom prst="roundRect">
            <a:avLst>
              <a:gd name="adj" fmla="val 17241"/>
            </a:avLst>
          </a:prstGeom>
          <a:solidFill>
            <a:srgbClr val="2E4636"/>
          </a:solidFill>
          <a:ln/>
        </p:spPr>
      </p:sp>
      <p:sp>
        <p:nvSpPr>
          <p:cNvPr id="73" name="Text 58"/>
          <p:cNvSpPr txBox="1"/>
          <p:nvPr/>
        </p:nvSpPr>
        <p:spPr>
          <a:xfrm>
            <a:off x="9634118"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다음 학년도 확대</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교사 창작 도서 공모전과 박람회(안)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교실과 사회의 문제를 다룬 교사 창작 도서를 모아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모두가 쓰는 공공 콘텐츠</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로 만듭니다</a:t>
            </a:r>
            <a:endParaRPr lang="en-US" sz="1400" dirty="0"/>
          </a:p>
        </p:txBody>
      </p:sp>
      <p:sp>
        <p:nvSpPr>
          <p:cNvPr id="10" name="Text 7"/>
          <p:cNvSpPr txBox="1"/>
          <p:nvPr/>
        </p:nvSpPr>
        <p:spPr>
          <a:xfrm>
            <a:off x="165315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4201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공모전은 교육청과 협의해 정하는 제안(안). 박람회 수치는 「에듀플러스위크 2027 부기 부스 운영 제안」(2026. 10. 18., 교사 단체 뭉클 운영)의 계획값, 관람객 수 출처는 머니투데이.</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30</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공모전 진행 5단계</a:t>
            </a:r>
            <a:endParaRPr lang="en-US" sz="1650" dirty="0"/>
          </a:p>
        </p:txBody>
      </p:sp>
      <p:sp>
        <p:nvSpPr>
          <p:cNvPr id="16" name="Shape 13"/>
          <p:cNvSpPr/>
          <p:nvPr/>
        </p:nvSpPr>
        <p:spPr>
          <a:xfrm>
            <a:off x="502920" y="2340864"/>
            <a:ext cx="2090318" cy="1874520"/>
          </a:xfrm>
          <a:prstGeom prst="roundRect">
            <a:avLst>
              <a:gd name="adj" fmla="val 4878"/>
            </a:avLst>
          </a:prstGeom>
          <a:solidFill>
            <a:srgbClr val="FFFFFF"/>
          </a:solidFill>
          <a:ln w="9525">
            <a:solidFill>
              <a:srgbClr val="E2DCCB"/>
            </a:solidFill>
            <a:prstDash val="solid"/>
          </a:ln>
        </p:spPr>
      </p:sp>
      <p:sp>
        <p:nvSpPr>
          <p:cNvPr id="17" name="Shape 14"/>
          <p:cNvSpPr/>
          <p:nvPr/>
        </p:nvSpPr>
        <p:spPr>
          <a:xfrm>
            <a:off x="649224" y="2487168"/>
            <a:ext cx="512064" cy="512064"/>
          </a:xfrm>
          <a:prstGeom prst="ellipse">
            <a:avLst/>
          </a:prstGeom>
          <a:solidFill>
            <a:srgbClr val="E6F0E7"/>
          </a:solidFill>
          <a:ln/>
        </p:spPr>
      </p:sp>
      <p:pic>
        <p:nvPicPr>
          <p:cNvPr id="18" name="Image 1" descr="speakerphone">    </p:cNvPr>
          <p:cNvPicPr>
            <a:picLocks noChangeAspect="1"/>
          </p:cNvPicPr>
          <p:nvPr/>
        </p:nvPicPr>
        <p:blipFill>
          <a:blip r:embed="rId2"/>
          <a:stretch>
            <a:fillRect/>
          </a:stretch>
        </p:blipFill>
        <p:spPr>
          <a:xfrm>
            <a:off x="756757" y="2594701"/>
            <a:ext cx="296997" cy="296997"/>
          </a:xfrm>
          <a:prstGeom prst="rect">
            <a:avLst/>
          </a:prstGeom>
        </p:spPr>
      </p:pic>
      <p:sp>
        <p:nvSpPr>
          <p:cNvPr id="19" name="Shape 15"/>
          <p:cNvSpPr/>
          <p:nvPr/>
        </p:nvSpPr>
        <p:spPr>
          <a:xfrm>
            <a:off x="2136038" y="2523744"/>
            <a:ext cx="292608" cy="292608"/>
          </a:xfrm>
          <a:prstGeom prst="ellipse">
            <a:avLst/>
          </a:prstGeom>
          <a:solidFill>
            <a:srgbClr val="2F7D4F"/>
          </a:solidFill>
          <a:ln/>
        </p:spPr>
      </p:sp>
      <p:sp>
        <p:nvSpPr>
          <p:cNvPr id="20" name="Text 16"/>
          <p:cNvSpPr txBox="1"/>
          <p:nvPr/>
        </p:nvSpPr>
        <p:spPr>
          <a:xfrm>
            <a:off x="2136038"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649224"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공고</a:t>
            </a:r>
            <a:endParaRPr lang="en-US" sz="1650" dirty="0"/>
          </a:p>
        </p:txBody>
      </p:sp>
      <p:sp>
        <p:nvSpPr>
          <p:cNvPr id="22" name="Text 18"/>
          <p:cNvSpPr txBox="1"/>
          <p:nvPr/>
        </p:nvSpPr>
        <p:spPr>
          <a:xfrm>
            <a:off x="649224"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친구 관계, 다문화, 디지털 생활, 환경, 마음 건강 등 교실과 사회의 문제</a:t>
            </a:r>
            <a:endParaRPr lang="en-US" sz="1300" dirty="0"/>
          </a:p>
        </p:txBody>
      </p:sp>
      <p:sp>
        <p:nvSpPr>
          <p:cNvPr id="23" name="Shape 19"/>
          <p:cNvSpPr/>
          <p:nvPr/>
        </p:nvSpPr>
        <p:spPr>
          <a:xfrm>
            <a:off x="2620670" y="3159252"/>
            <a:ext cx="128016" cy="237744"/>
          </a:xfrm>
          <a:prstGeom prst="chevron">
            <a:avLst/>
          </a:prstGeom>
          <a:solidFill>
            <a:srgbClr val="C08A1E"/>
          </a:solidFill>
          <a:ln/>
        </p:spPr>
      </p:sp>
      <p:sp>
        <p:nvSpPr>
          <p:cNvPr id="24" name="Shape 20"/>
          <p:cNvSpPr/>
          <p:nvPr/>
        </p:nvSpPr>
        <p:spPr>
          <a:xfrm>
            <a:off x="2776118" y="2340864"/>
            <a:ext cx="2090318" cy="1874520"/>
          </a:xfrm>
          <a:prstGeom prst="roundRect">
            <a:avLst>
              <a:gd name="adj" fmla="val 4878"/>
            </a:avLst>
          </a:prstGeom>
          <a:solidFill>
            <a:srgbClr val="FFFFFF"/>
          </a:solidFill>
          <a:ln w="9525">
            <a:solidFill>
              <a:srgbClr val="E2DCCB"/>
            </a:solidFill>
            <a:prstDash val="solid"/>
          </a:ln>
        </p:spPr>
      </p:sp>
      <p:sp>
        <p:nvSpPr>
          <p:cNvPr id="25" name="Shape 21"/>
          <p:cNvSpPr/>
          <p:nvPr/>
        </p:nvSpPr>
        <p:spPr>
          <a:xfrm>
            <a:off x="2922422" y="2487168"/>
            <a:ext cx="512064" cy="512064"/>
          </a:xfrm>
          <a:prstGeom prst="ellipse">
            <a:avLst/>
          </a:prstGeom>
          <a:solidFill>
            <a:srgbClr val="E6F0E7"/>
          </a:solidFill>
          <a:ln/>
        </p:spPr>
      </p:sp>
      <p:pic>
        <p:nvPicPr>
          <p:cNvPr id="26" name="Image 2" descr="pencil">    </p:cNvPr>
          <p:cNvPicPr>
            <a:picLocks noChangeAspect="1"/>
          </p:cNvPicPr>
          <p:nvPr/>
        </p:nvPicPr>
        <p:blipFill>
          <a:blip r:embed="rId3"/>
          <a:stretch>
            <a:fillRect/>
          </a:stretch>
        </p:blipFill>
        <p:spPr>
          <a:xfrm>
            <a:off x="3029956" y="2594701"/>
            <a:ext cx="296997" cy="296997"/>
          </a:xfrm>
          <a:prstGeom prst="rect">
            <a:avLst/>
          </a:prstGeom>
        </p:spPr>
      </p:pic>
      <p:sp>
        <p:nvSpPr>
          <p:cNvPr id="27" name="Shape 22"/>
          <p:cNvSpPr/>
          <p:nvPr/>
        </p:nvSpPr>
        <p:spPr>
          <a:xfrm>
            <a:off x="4409237" y="2523744"/>
            <a:ext cx="292608" cy="292608"/>
          </a:xfrm>
          <a:prstGeom prst="ellipse">
            <a:avLst/>
          </a:prstGeom>
          <a:solidFill>
            <a:srgbClr val="2F7D4F"/>
          </a:solidFill>
          <a:ln/>
        </p:spPr>
      </p:sp>
      <p:sp>
        <p:nvSpPr>
          <p:cNvPr id="28" name="Text 23"/>
          <p:cNvSpPr txBox="1"/>
          <p:nvPr/>
        </p:nvSpPr>
        <p:spPr>
          <a:xfrm>
            <a:off x="4409237"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29" name="Text 24"/>
          <p:cNvSpPr txBox="1"/>
          <p:nvPr/>
        </p:nvSpPr>
        <p:spPr>
          <a:xfrm>
            <a:off x="2922422"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교사 창작</a:t>
            </a:r>
            <a:endParaRPr lang="en-US" sz="1650" dirty="0"/>
          </a:p>
        </p:txBody>
      </p:sp>
      <p:sp>
        <p:nvSpPr>
          <p:cNvPr id="30" name="Text 25"/>
          <p:cNvSpPr txBox="1"/>
          <p:nvPr/>
        </p:nvSpPr>
        <p:spPr>
          <a:xfrm>
            <a:off x="2922422"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현직 교사와 교사 단체가 학년 눈높이로 쓴 이야기</a:t>
            </a:r>
            <a:endParaRPr lang="en-US" sz="1300" dirty="0"/>
          </a:p>
        </p:txBody>
      </p:sp>
      <p:sp>
        <p:nvSpPr>
          <p:cNvPr id="31" name="Shape 26"/>
          <p:cNvSpPr/>
          <p:nvPr/>
        </p:nvSpPr>
        <p:spPr>
          <a:xfrm>
            <a:off x="4893869" y="3159252"/>
            <a:ext cx="128016" cy="237744"/>
          </a:xfrm>
          <a:prstGeom prst="chevron">
            <a:avLst/>
          </a:prstGeom>
          <a:solidFill>
            <a:srgbClr val="C08A1E"/>
          </a:solidFill>
          <a:ln/>
        </p:spPr>
      </p:sp>
      <p:sp>
        <p:nvSpPr>
          <p:cNvPr id="32" name="Shape 27"/>
          <p:cNvSpPr/>
          <p:nvPr/>
        </p:nvSpPr>
        <p:spPr>
          <a:xfrm>
            <a:off x="5049317" y="2340864"/>
            <a:ext cx="2090318" cy="1874520"/>
          </a:xfrm>
          <a:prstGeom prst="roundRect">
            <a:avLst>
              <a:gd name="adj" fmla="val 4878"/>
            </a:avLst>
          </a:prstGeom>
          <a:solidFill>
            <a:srgbClr val="FFFFFF"/>
          </a:solidFill>
          <a:ln w="9525">
            <a:solidFill>
              <a:srgbClr val="E2DCCB"/>
            </a:solidFill>
            <a:prstDash val="solid"/>
          </a:ln>
        </p:spPr>
      </p:sp>
      <p:sp>
        <p:nvSpPr>
          <p:cNvPr id="33" name="Shape 28"/>
          <p:cNvSpPr/>
          <p:nvPr/>
        </p:nvSpPr>
        <p:spPr>
          <a:xfrm>
            <a:off x="5195621" y="2487168"/>
            <a:ext cx="512064" cy="512064"/>
          </a:xfrm>
          <a:prstGeom prst="ellipse">
            <a:avLst/>
          </a:prstGeom>
          <a:solidFill>
            <a:srgbClr val="E6F0E7"/>
          </a:solidFill>
          <a:ln/>
        </p:spPr>
      </p:sp>
      <p:pic>
        <p:nvPicPr>
          <p:cNvPr id="34" name="Image 3" descr="award">    </p:cNvPr>
          <p:cNvPicPr>
            <a:picLocks noChangeAspect="1"/>
          </p:cNvPicPr>
          <p:nvPr/>
        </p:nvPicPr>
        <p:blipFill>
          <a:blip r:embed="rId4"/>
          <a:stretch>
            <a:fillRect/>
          </a:stretch>
        </p:blipFill>
        <p:spPr>
          <a:xfrm>
            <a:off x="5303154" y="2594701"/>
            <a:ext cx="296997" cy="296997"/>
          </a:xfrm>
          <a:prstGeom prst="rect">
            <a:avLst/>
          </a:prstGeom>
        </p:spPr>
      </p:pic>
      <p:sp>
        <p:nvSpPr>
          <p:cNvPr id="35" name="Shape 29"/>
          <p:cNvSpPr/>
          <p:nvPr/>
        </p:nvSpPr>
        <p:spPr>
          <a:xfrm>
            <a:off x="6682435" y="2523744"/>
            <a:ext cx="292608" cy="292608"/>
          </a:xfrm>
          <a:prstGeom prst="ellipse">
            <a:avLst/>
          </a:prstGeom>
          <a:solidFill>
            <a:srgbClr val="2F7D4F"/>
          </a:solidFill>
          <a:ln/>
        </p:spPr>
      </p:sp>
      <p:sp>
        <p:nvSpPr>
          <p:cNvPr id="36" name="Text 30"/>
          <p:cNvSpPr txBox="1"/>
          <p:nvPr/>
        </p:nvSpPr>
        <p:spPr>
          <a:xfrm>
            <a:off x="6682435"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37" name="Text 31"/>
          <p:cNvSpPr txBox="1"/>
          <p:nvPr/>
        </p:nvSpPr>
        <p:spPr>
          <a:xfrm>
            <a:off x="5195621"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심사</a:t>
            </a:r>
            <a:endParaRPr lang="en-US" sz="1650" dirty="0"/>
          </a:p>
        </p:txBody>
      </p:sp>
      <p:sp>
        <p:nvSpPr>
          <p:cNvPr id="38" name="Text 32"/>
          <p:cNvSpPr txBox="1"/>
          <p:nvPr/>
        </p:nvSpPr>
        <p:spPr>
          <a:xfrm>
            <a:off x="5195621"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작가진, 교육청 추천 위원, 학생 독자단이 함께 고름</a:t>
            </a:r>
            <a:endParaRPr lang="en-US" sz="1300" dirty="0"/>
          </a:p>
        </p:txBody>
      </p:sp>
      <p:sp>
        <p:nvSpPr>
          <p:cNvPr id="39" name="Shape 33"/>
          <p:cNvSpPr/>
          <p:nvPr/>
        </p:nvSpPr>
        <p:spPr>
          <a:xfrm>
            <a:off x="7167067" y="3159252"/>
            <a:ext cx="128016" cy="237744"/>
          </a:xfrm>
          <a:prstGeom prst="chevron">
            <a:avLst/>
          </a:prstGeom>
          <a:solidFill>
            <a:srgbClr val="C08A1E"/>
          </a:solidFill>
          <a:ln/>
        </p:spPr>
      </p:sp>
      <p:sp>
        <p:nvSpPr>
          <p:cNvPr id="40" name="Shape 34"/>
          <p:cNvSpPr/>
          <p:nvPr/>
        </p:nvSpPr>
        <p:spPr>
          <a:xfrm>
            <a:off x="7322515" y="2340864"/>
            <a:ext cx="2090318" cy="1874520"/>
          </a:xfrm>
          <a:prstGeom prst="roundRect">
            <a:avLst>
              <a:gd name="adj" fmla="val 4878"/>
            </a:avLst>
          </a:prstGeom>
          <a:solidFill>
            <a:srgbClr val="E6F0E7"/>
          </a:solidFill>
          <a:ln w="9525">
            <a:solidFill>
              <a:srgbClr val="E2DCCB"/>
            </a:solidFill>
            <a:prstDash val="solid"/>
          </a:ln>
        </p:spPr>
      </p:sp>
      <p:sp>
        <p:nvSpPr>
          <p:cNvPr id="41" name="Shape 35"/>
          <p:cNvSpPr/>
          <p:nvPr/>
        </p:nvSpPr>
        <p:spPr>
          <a:xfrm>
            <a:off x="7468819" y="2487168"/>
            <a:ext cx="512064" cy="512064"/>
          </a:xfrm>
          <a:prstGeom prst="ellipse">
            <a:avLst/>
          </a:prstGeom>
          <a:solidFill>
            <a:srgbClr val="FFFFFF"/>
          </a:solidFill>
          <a:ln/>
        </p:spPr>
      </p:sp>
      <p:pic>
        <p:nvPicPr>
          <p:cNvPr id="42" name="Image 4" descr="books">    </p:cNvPr>
          <p:cNvPicPr>
            <a:picLocks noChangeAspect="1"/>
          </p:cNvPicPr>
          <p:nvPr/>
        </p:nvPicPr>
        <p:blipFill>
          <a:blip r:embed="rId5"/>
          <a:stretch>
            <a:fillRect/>
          </a:stretch>
        </p:blipFill>
        <p:spPr>
          <a:xfrm>
            <a:off x="7576353" y="2594701"/>
            <a:ext cx="296997" cy="296997"/>
          </a:xfrm>
          <a:prstGeom prst="rect">
            <a:avLst/>
          </a:prstGeom>
        </p:spPr>
      </p:pic>
      <p:sp>
        <p:nvSpPr>
          <p:cNvPr id="43" name="Shape 36"/>
          <p:cNvSpPr/>
          <p:nvPr/>
        </p:nvSpPr>
        <p:spPr>
          <a:xfrm>
            <a:off x="8955634" y="2523744"/>
            <a:ext cx="292608" cy="292608"/>
          </a:xfrm>
          <a:prstGeom prst="ellipse">
            <a:avLst/>
          </a:prstGeom>
          <a:solidFill>
            <a:srgbClr val="2F7D4F"/>
          </a:solidFill>
          <a:ln/>
        </p:spPr>
      </p:sp>
      <p:sp>
        <p:nvSpPr>
          <p:cNvPr id="44" name="Text 37"/>
          <p:cNvSpPr txBox="1"/>
          <p:nvPr/>
        </p:nvSpPr>
        <p:spPr>
          <a:xfrm>
            <a:off x="8955634"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45" name="Text 38"/>
          <p:cNvSpPr txBox="1"/>
          <p:nvPr/>
        </p:nvSpPr>
        <p:spPr>
          <a:xfrm>
            <a:off x="7468819"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부기 수록</a:t>
            </a:r>
            <a:endParaRPr lang="en-US" sz="1650" dirty="0"/>
          </a:p>
        </p:txBody>
      </p:sp>
      <p:sp>
        <p:nvSpPr>
          <p:cNvPr id="46" name="Text 39"/>
          <p:cNvSpPr txBox="1"/>
          <p:nvPr/>
        </p:nvSpPr>
        <p:spPr>
          <a:xfrm>
            <a:off x="7468819"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삽화, 낱말 뜻, 독후활동, 다국어를 붙여 300권에 더함</a:t>
            </a:r>
            <a:endParaRPr lang="en-US" sz="1300" dirty="0"/>
          </a:p>
        </p:txBody>
      </p:sp>
      <p:sp>
        <p:nvSpPr>
          <p:cNvPr id="47" name="Shape 40"/>
          <p:cNvSpPr/>
          <p:nvPr/>
        </p:nvSpPr>
        <p:spPr>
          <a:xfrm>
            <a:off x="9440266" y="3159252"/>
            <a:ext cx="128016" cy="237744"/>
          </a:xfrm>
          <a:prstGeom prst="chevron">
            <a:avLst/>
          </a:prstGeom>
          <a:solidFill>
            <a:srgbClr val="C08A1E"/>
          </a:solidFill>
          <a:ln/>
        </p:spPr>
      </p:sp>
      <p:sp>
        <p:nvSpPr>
          <p:cNvPr id="48" name="Shape 41"/>
          <p:cNvSpPr/>
          <p:nvPr/>
        </p:nvSpPr>
        <p:spPr>
          <a:xfrm>
            <a:off x="9595714" y="2340864"/>
            <a:ext cx="2090318" cy="1874520"/>
          </a:xfrm>
          <a:prstGeom prst="roundRect">
            <a:avLst>
              <a:gd name="adj" fmla="val 4878"/>
            </a:avLst>
          </a:prstGeom>
          <a:solidFill>
            <a:srgbClr val="FBF5E6"/>
          </a:solidFill>
          <a:ln w="9525">
            <a:solidFill>
              <a:srgbClr val="E2DCCB"/>
            </a:solidFill>
            <a:prstDash val="solid"/>
          </a:ln>
        </p:spPr>
      </p:sp>
      <p:sp>
        <p:nvSpPr>
          <p:cNvPr id="49" name="Shape 42"/>
          <p:cNvSpPr/>
          <p:nvPr/>
        </p:nvSpPr>
        <p:spPr>
          <a:xfrm>
            <a:off x="9742018" y="2487168"/>
            <a:ext cx="512064" cy="512064"/>
          </a:xfrm>
          <a:prstGeom prst="ellipse">
            <a:avLst/>
          </a:prstGeom>
          <a:solidFill>
            <a:srgbClr val="E6F0E7"/>
          </a:solidFill>
          <a:ln/>
        </p:spPr>
      </p:sp>
      <p:pic>
        <p:nvPicPr>
          <p:cNvPr id="50" name="Image 5" descr="world">    </p:cNvPr>
          <p:cNvPicPr>
            <a:picLocks noChangeAspect="1"/>
          </p:cNvPicPr>
          <p:nvPr/>
        </p:nvPicPr>
        <p:blipFill>
          <a:blip r:embed="rId6"/>
          <a:stretch>
            <a:fillRect/>
          </a:stretch>
        </p:blipFill>
        <p:spPr>
          <a:xfrm>
            <a:off x="9849551" y="2594701"/>
            <a:ext cx="296997" cy="296997"/>
          </a:xfrm>
          <a:prstGeom prst="rect">
            <a:avLst/>
          </a:prstGeom>
        </p:spPr>
      </p:pic>
      <p:sp>
        <p:nvSpPr>
          <p:cNvPr id="51" name="Shape 43"/>
          <p:cNvSpPr/>
          <p:nvPr/>
        </p:nvSpPr>
        <p:spPr>
          <a:xfrm>
            <a:off x="11228832" y="2523744"/>
            <a:ext cx="292608" cy="292608"/>
          </a:xfrm>
          <a:prstGeom prst="ellipse">
            <a:avLst/>
          </a:prstGeom>
          <a:solidFill>
            <a:srgbClr val="C08A1E"/>
          </a:solidFill>
          <a:ln/>
        </p:spPr>
      </p:sp>
      <p:sp>
        <p:nvSpPr>
          <p:cNvPr id="52" name="Text 44"/>
          <p:cNvSpPr txBox="1"/>
          <p:nvPr/>
        </p:nvSpPr>
        <p:spPr>
          <a:xfrm>
            <a:off x="11228832"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5</a:t>
            </a:r>
            <a:endParaRPr lang="en-US" sz="1400" dirty="0"/>
          </a:p>
        </p:txBody>
      </p:sp>
      <p:sp>
        <p:nvSpPr>
          <p:cNvPr id="53" name="Text 45"/>
          <p:cNvSpPr txBox="1"/>
          <p:nvPr/>
        </p:nvSpPr>
        <p:spPr>
          <a:xfrm>
            <a:off x="9742018"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확산</a:t>
            </a:r>
            <a:endParaRPr lang="en-US" sz="1650" dirty="0"/>
          </a:p>
        </p:txBody>
      </p:sp>
      <p:sp>
        <p:nvSpPr>
          <p:cNvPr id="54" name="Text 46"/>
          <p:cNvSpPr txBox="1"/>
          <p:nvPr/>
        </p:nvSpPr>
        <p:spPr>
          <a:xfrm>
            <a:off x="9742018"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박람회 전시, 수상작 사례집, 해외 한국어 교육 활용</a:t>
            </a:r>
            <a:endParaRPr lang="en-US" sz="1300" dirty="0"/>
          </a:p>
        </p:txBody>
      </p:sp>
      <p:sp>
        <p:nvSpPr>
          <p:cNvPr id="55" name="Shape 47"/>
          <p:cNvSpPr/>
          <p:nvPr/>
        </p:nvSpPr>
        <p:spPr>
          <a:xfrm>
            <a:off x="502920" y="4398264"/>
            <a:ext cx="5321362" cy="1874520"/>
          </a:xfrm>
          <a:prstGeom prst="roundRect">
            <a:avLst>
              <a:gd name="adj" fmla="val 4878"/>
            </a:avLst>
          </a:prstGeom>
          <a:solidFill>
            <a:srgbClr val="20342A"/>
          </a:solidFill>
          <a:ln/>
        </p:spPr>
      </p:sp>
      <p:sp>
        <p:nvSpPr>
          <p:cNvPr id="56" name="Text 48"/>
          <p:cNvSpPr txBox="1"/>
          <p:nvPr/>
        </p:nvSpPr>
        <p:spPr>
          <a:xfrm>
            <a:off x="704088" y="4471416"/>
            <a:ext cx="4955602" cy="347472"/>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교사 콘텐츠가 모이면</a:t>
            </a:r>
            <a:endParaRPr lang="en-US" sz="1650" dirty="0"/>
          </a:p>
        </p:txBody>
      </p:sp>
      <p:sp>
        <p:nvSpPr>
          <p:cNvPr id="57" name="Text 49"/>
          <p:cNvSpPr txBox="1"/>
          <p:nvPr/>
        </p:nvSpPr>
        <p:spPr>
          <a:xfrm>
            <a:off x="704088" y="4855464"/>
            <a:ext cx="4955602" cy="1362456"/>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교실에서 겪는 문제를 교사가 이야기로 풀어 쓴 </a:t>
            </a:r>
            <a:pPr indent="0" marL="0">
              <a:lnSpc>
                <a:spcPct val="118000"/>
              </a:lnSpc>
              <a:buNone/>
            </a:pPr>
            <a:r>
              <a:rPr lang="en-US" sz="1400" dirty="0">
                <a:solidFill>
                  <a:srgbClr val="2F7D4F"/>
                </a:solidFill>
                <a:latin typeface="Freesentation 7 Bold" pitchFamily="34" charset="0"/>
                <a:ea typeface="Freesentation 7 Bold" pitchFamily="34" charset="-122"/>
                <a:cs typeface="Freesentation 7 Bold" pitchFamily="34" charset="-120"/>
              </a:rPr>
              <a:t>한국 고유의 콘텐츠</a:t>
            </a:r>
            <a:pPr indent="0" marL="0">
              <a:lnSpc>
                <a:spcPct val="118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가 쌓입니다.</a:t>
            </a:r>
            <a:endParaRPr lang="en-US" sz="1650" dirty="0"/>
          </a:p>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창작한 교사의 이름을 걸고 수록하며, 저작권은 창작 교사에게 둡니다(안).</a:t>
            </a:r>
            <a:endParaRPr lang="en-US" sz="1650" dirty="0"/>
          </a:p>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수상작은 시도 학교가 함께 쓰는 공공 독서 자료가 되고 다국어로 해외에 소개합니다.</a:t>
            </a:r>
            <a:endParaRPr lang="en-US" sz="1650" dirty="0"/>
          </a:p>
        </p:txBody>
      </p:sp>
      <p:sp>
        <p:nvSpPr>
          <p:cNvPr id="58" name="Shape 50"/>
          <p:cNvSpPr/>
          <p:nvPr/>
        </p:nvSpPr>
        <p:spPr>
          <a:xfrm>
            <a:off x="6098602" y="4398264"/>
            <a:ext cx="5587430" cy="1874520"/>
          </a:xfrm>
          <a:prstGeom prst="roundRect">
            <a:avLst>
              <a:gd name="adj" fmla="val 4878"/>
            </a:avLst>
          </a:prstGeom>
          <a:solidFill>
            <a:srgbClr val="FFFFFF"/>
          </a:solidFill>
          <a:ln w="9525">
            <a:solidFill>
              <a:srgbClr val="E2DCCB"/>
            </a:solidFill>
            <a:prstDash val="solid"/>
          </a:ln>
        </p:spPr>
      </p:sp>
      <p:sp>
        <p:nvSpPr>
          <p:cNvPr id="59" name="Text 51"/>
          <p:cNvSpPr txBox="1"/>
          <p:nvPr/>
        </p:nvSpPr>
        <p:spPr>
          <a:xfrm>
            <a:off x="6281482" y="4471416"/>
            <a:ext cx="5221670" cy="347472"/>
          </a:xfrm>
          <a:prstGeom prst="rect">
            <a:avLst/>
          </a:prstGeom>
          <a:noFill/>
          <a:ln/>
        </p:spPr>
        <p:txBody>
          <a:bodyPr wrap="square" lIns="0" tIns="0" rIns="0" bIns="0" rtlCol="0" anchor="ctr"/>
          <a:lstStyle/>
          <a:p>
            <a:pPr indent="0" marL="0">
              <a:lnSpc>
                <a:spcPct val="112000"/>
              </a:lnSpc>
              <a:buNone/>
            </a:pPr>
            <a:r>
              <a:rPr lang="en-US" sz="1600" dirty="0">
                <a:solidFill>
                  <a:srgbClr val="20342A"/>
                </a:solidFill>
                <a:latin typeface="Freesentation 7 Bold" pitchFamily="34" charset="0"/>
                <a:ea typeface="Freesentation 7 Bold" pitchFamily="34" charset="-122"/>
                <a:cs typeface="Freesentation 7 Bold" pitchFamily="34" charset="-120"/>
              </a:rPr>
              <a:t>박람회 예시  에듀플러스위크 2027 부기 부스</a:t>
            </a:r>
            <a:endParaRPr lang="en-US" sz="1600" dirty="0"/>
          </a:p>
        </p:txBody>
      </p:sp>
      <p:sp>
        <p:nvSpPr>
          <p:cNvPr id="60" name="Shape 52"/>
          <p:cNvSpPr/>
          <p:nvPr/>
        </p:nvSpPr>
        <p:spPr>
          <a:xfrm>
            <a:off x="6281482" y="4855464"/>
            <a:ext cx="1667405" cy="1307592"/>
          </a:xfrm>
          <a:prstGeom prst="roundRect">
            <a:avLst>
              <a:gd name="adj" fmla="val 5594"/>
            </a:avLst>
          </a:prstGeom>
          <a:solidFill>
            <a:srgbClr val="FBF5E6"/>
          </a:solidFill>
          <a:ln/>
        </p:spPr>
      </p:sp>
      <p:sp>
        <p:nvSpPr>
          <p:cNvPr id="61" name="Text 53"/>
          <p:cNvSpPr txBox="1"/>
          <p:nvPr/>
        </p:nvSpPr>
        <p:spPr>
          <a:xfrm>
            <a:off x="6354634" y="4892040"/>
            <a:ext cx="1521101" cy="719176"/>
          </a:xfrm>
          <a:prstGeom prst="rect">
            <a:avLst/>
          </a:prstGeom>
          <a:noFill/>
          <a:ln/>
        </p:spPr>
        <p:txBody>
          <a:bodyPr wrap="square" lIns="0" tIns="0" rIns="0" bIns="0" rtlCol="0" anchor="ctr"/>
          <a:lstStyle/>
          <a:p>
            <a:pPr algn="ctr" indent="0" marL="0">
              <a:buNone/>
            </a:pPr>
            <a:r>
              <a:rPr lang="en-US" sz="1800" dirty="0">
                <a:solidFill>
                  <a:srgbClr val="20342A"/>
                </a:solidFill>
                <a:latin typeface="Freesentation 9 Black" pitchFamily="34" charset="0"/>
                <a:ea typeface="Freesentation 9 Black" pitchFamily="34" charset="-122"/>
                <a:cs typeface="Freesentation 9 Black" pitchFamily="34" charset="-120"/>
              </a:rPr>
              <a:t>2,000~3,000</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명</a:t>
            </a:r>
            <a:endParaRPr lang="en-US" sz="1800" dirty="0"/>
          </a:p>
        </p:txBody>
      </p:sp>
      <p:sp>
        <p:nvSpPr>
          <p:cNvPr id="62" name="Text 54"/>
          <p:cNvSpPr txBox="1"/>
          <p:nvPr/>
        </p:nvSpPr>
        <p:spPr>
          <a:xfrm>
            <a:off x="6354634" y="5574640"/>
            <a:ext cx="1521101" cy="549189"/>
          </a:xfrm>
          <a:prstGeom prst="rect">
            <a:avLst/>
          </a:prstGeom>
          <a:noFill/>
          <a:ln/>
        </p:spPr>
        <p:txBody>
          <a:bodyPr wrap="square" lIns="0" tIns="0" rIns="0" bIns="0" rtlCol="0" anchor="t"/>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부스 예상 참여</a:t>
            </a:r>
            <a:endParaRPr lang="en-US" sz="1250" dirty="0"/>
          </a:p>
        </p:txBody>
      </p:sp>
      <p:sp>
        <p:nvSpPr>
          <p:cNvPr id="63" name="Shape 55"/>
          <p:cNvSpPr/>
          <p:nvPr/>
        </p:nvSpPr>
        <p:spPr>
          <a:xfrm>
            <a:off x="8058615" y="4855464"/>
            <a:ext cx="1667405" cy="1307592"/>
          </a:xfrm>
          <a:prstGeom prst="roundRect">
            <a:avLst>
              <a:gd name="adj" fmla="val 5594"/>
            </a:avLst>
          </a:prstGeom>
          <a:solidFill>
            <a:srgbClr val="E6F0E7"/>
          </a:solidFill>
          <a:ln/>
        </p:spPr>
      </p:sp>
      <p:sp>
        <p:nvSpPr>
          <p:cNvPr id="64" name="Text 56"/>
          <p:cNvSpPr txBox="1"/>
          <p:nvPr/>
        </p:nvSpPr>
        <p:spPr>
          <a:xfrm>
            <a:off x="8131767" y="4892040"/>
            <a:ext cx="1521101" cy="719176"/>
          </a:xfrm>
          <a:prstGeom prst="rect">
            <a:avLst/>
          </a:prstGeom>
          <a:noFill/>
          <a:ln/>
        </p:spPr>
        <p:txBody>
          <a:bodyPr wrap="square" lIns="0" tIns="0" rIns="0" bIns="0" rtlCol="0" anchor="ctr"/>
          <a:lstStyle/>
          <a:p>
            <a:pPr algn="ctr" indent="0" marL="0">
              <a:buNone/>
            </a:pPr>
            <a:r>
              <a:rPr lang="en-US" sz="2050" dirty="0">
                <a:solidFill>
                  <a:srgbClr val="20342A"/>
                </a:solidFill>
                <a:latin typeface="Freesentation 9 Black" pitchFamily="34" charset="0"/>
                <a:ea typeface="Freesentation 9 Black" pitchFamily="34" charset="-122"/>
                <a:cs typeface="Freesentation 9 Black" pitchFamily="34" charset="-120"/>
              </a:rPr>
              <a:t>200~300</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명</a:t>
            </a:r>
            <a:endParaRPr lang="en-US" sz="2050" dirty="0"/>
          </a:p>
        </p:txBody>
      </p:sp>
      <p:sp>
        <p:nvSpPr>
          <p:cNvPr id="65" name="Text 57"/>
          <p:cNvSpPr txBox="1"/>
          <p:nvPr/>
        </p:nvSpPr>
        <p:spPr>
          <a:xfrm>
            <a:off x="8131767" y="5574640"/>
            <a:ext cx="1521101" cy="549189"/>
          </a:xfrm>
          <a:prstGeom prst="rect">
            <a:avLst/>
          </a:prstGeom>
          <a:noFill/>
          <a:ln/>
        </p:spPr>
        <p:txBody>
          <a:bodyPr wrap="square" lIns="0" tIns="0" rIns="0" bIns="0" rtlCol="0" anchor="t"/>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부기 선도교사단 구성</a:t>
            </a:r>
            <a:endParaRPr lang="en-US" sz="1250" dirty="0"/>
          </a:p>
        </p:txBody>
      </p:sp>
      <p:sp>
        <p:nvSpPr>
          <p:cNvPr id="66" name="Shape 58"/>
          <p:cNvSpPr/>
          <p:nvPr/>
        </p:nvSpPr>
        <p:spPr>
          <a:xfrm>
            <a:off x="9835747" y="4855464"/>
            <a:ext cx="1667405" cy="1307592"/>
          </a:xfrm>
          <a:prstGeom prst="roundRect">
            <a:avLst>
              <a:gd name="adj" fmla="val 5594"/>
            </a:avLst>
          </a:prstGeom>
          <a:solidFill>
            <a:srgbClr val="E6F0E7"/>
          </a:solidFill>
          <a:ln/>
        </p:spPr>
      </p:sp>
      <p:sp>
        <p:nvSpPr>
          <p:cNvPr id="67" name="Text 59"/>
          <p:cNvSpPr txBox="1"/>
          <p:nvPr/>
        </p:nvSpPr>
        <p:spPr>
          <a:xfrm>
            <a:off x="9908899" y="4892040"/>
            <a:ext cx="1521101" cy="719176"/>
          </a:xfrm>
          <a:prstGeom prst="rect">
            <a:avLst/>
          </a:prstGeom>
          <a:noFill/>
          <a:ln/>
        </p:spPr>
        <p:txBody>
          <a:bodyPr wrap="square" lIns="0" tIns="0" rIns="0" bIns="0" rtlCol="0" anchor="ctr"/>
          <a:lstStyle/>
          <a:p>
            <a:pPr algn="ctr" indent="0" marL="0">
              <a:buNone/>
            </a:pPr>
            <a:r>
              <a:rPr lang="en-US" sz="2050" dirty="0">
                <a:solidFill>
                  <a:srgbClr val="20342A"/>
                </a:solidFill>
                <a:latin typeface="Freesentation 9 Black" pitchFamily="34" charset="0"/>
                <a:ea typeface="Freesentation 9 Black" pitchFamily="34" charset="-122"/>
                <a:cs typeface="Freesentation 9 Black" pitchFamily="34" charset="-120"/>
              </a:rPr>
              <a:t>3.4</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만 명</a:t>
            </a:r>
            <a:endParaRPr lang="en-US" sz="2050" dirty="0"/>
          </a:p>
        </p:txBody>
      </p:sp>
      <p:sp>
        <p:nvSpPr>
          <p:cNvPr id="68" name="Text 60"/>
          <p:cNvSpPr txBox="1"/>
          <p:nvPr/>
        </p:nvSpPr>
        <p:spPr>
          <a:xfrm>
            <a:off x="9908899" y="5574640"/>
            <a:ext cx="1521101" cy="549189"/>
          </a:xfrm>
          <a:prstGeom prst="rect">
            <a:avLst/>
          </a:prstGeom>
          <a:noFill/>
          <a:ln/>
        </p:spPr>
        <p:txBody>
          <a:bodyPr wrap="square" lIns="0" tIns="0" rIns="0" bIns="0" rtlCol="0" anchor="t"/>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2026 행사 관람객</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사업비 구성</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학급 규모를 4개 구간으로 나눠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 형편에 맞게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사업비를 정합니다</a:t>
            </a:r>
            <a:endParaRPr lang="en-US" sz="1400" dirty="0"/>
          </a:p>
        </p:txBody>
      </p:sp>
      <p:sp>
        <p:nvSpPr>
          <p:cNvPr id="10" name="Text 7"/>
          <p:cNvSpPr txBox="1"/>
          <p:nvPr/>
        </p:nvSpPr>
        <p:spPr>
          <a:xfrm>
            <a:off x="246128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3389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구간별 금액은 기존 부기 사업 안내의 학교당 연 500만~2,000만 원(학급당 50만~77만 원) 범위에서 정한 안이며, 참여 학교 수와 학급 규모가 정해지면 산출내역서로 확정함.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31</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학급 규모별 연간 사업비(안)</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학교당</a:t>
            </a:r>
            <a:endParaRPr lang="en-US" sz="1650" dirty="0"/>
          </a:p>
        </p:txBody>
      </p:sp>
      <p:sp>
        <p:nvSpPr>
          <p:cNvPr id="16" name="Shape 13"/>
          <p:cNvSpPr/>
          <p:nvPr/>
        </p:nvSpPr>
        <p:spPr>
          <a:xfrm>
            <a:off x="502920" y="3493008"/>
            <a:ext cx="1604772" cy="822960"/>
          </a:xfrm>
          <a:prstGeom prst="roundRect">
            <a:avLst>
              <a:gd name="adj" fmla="val 8889"/>
            </a:avLst>
          </a:prstGeom>
          <a:solidFill>
            <a:srgbClr val="E6F0E7"/>
          </a:solidFill>
          <a:ln/>
        </p:spPr>
      </p:sp>
      <p:sp>
        <p:nvSpPr>
          <p:cNvPr id="17" name="Text 14"/>
          <p:cNvSpPr txBox="1"/>
          <p:nvPr/>
        </p:nvSpPr>
        <p:spPr>
          <a:xfrm>
            <a:off x="502920" y="3566160"/>
            <a:ext cx="1604772" cy="512064"/>
          </a:xfrm>
          <a:prstGeom prst="rect">
            <a:avLst/>
          </a:prstGeom>
          <a:noFill/>
          <a:ln/>
        </p:spPr>
        <p:txBody>
          <a:bodyPr wrap="square" lIns="0" tIns="0" rIns="0" bIns="0" rtlCol="0" anchor="ct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500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18" name="Text 15"/>
          <p:cNvSpPr txBox="1"/>
          <p:nvPr/>
        </p:nvSpPr>
        <p:spPr>
          <a:xfrm>
            <a:off x="502920" y="404164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소규모</a:t>
            </a:r>
            <a:endParaRPr lang="en-US" sz="1300" dirty="0"/>
          </a:p>
        </p:txBody>
      </p:sp>
      <p:sp>
        <p:nvSpPr>
          <p:cNvPr id="19" name="Text 16"/>
          <p:cNvSpPr txBox="1"/>
          <p:nvPr/>
        </p:nvSpPr>
        <p:spPr>
          <a:xfrm>
            <a:off x="502920"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6학급 이하</a:t>
            </a:r>
            <a:endParaRPr lang="en-US" sz="1550" dirty="0"/>
          </a:p>
        </p:txBody>
      </p:sp>
      <p:sp>
        <p:nvSpPr>
          <p:cNvPr id="20" name="Shape 17"/>
          <p:cNvSpPr/>
          <p:nvPr/>
        </p:nvSpPr>
        <p:spPr>
          <a:xfrm>
            <a:off x="2272284" y="3127248"/>
            <a:ext cx="1604772" cy="1188720"/>
          </a:xfrm>
          <a:prstGeom prst="roundRect">
            <a:avLst>
              <a:gd name="adj" fmla="val 6154"/>
            </a:avLst>
          </a:prstGeom>
          <a:solidFill>
            <a:srgbClr val="20342A"/>
          </a:solidFill>
          <a:ln/>
        </p:spPr>
      </p:sp>
      <p:sp>
        <p:nvSpPr>
          <p:cNvPr id="21" name="Text 18"/>
          <p:cNvSpPr txBox="1"/>
          <p:nvPr/>
        </p:nvSpPr>
        <p:spPr>
          <a:xfrm>
            <a:off x="2272284" y="3200400"/>
            <a:ext cx="1604772" cy="512064"/>
          </a:xfrm>
          <a:prstGeom prst="rect">
            <a:avLst/>
          </a:prstGeom>
          <a:noFill/>
          <a:ln/>
        </p:spPr>
        <p:txBody>
          <a:bodyPr wrap="square" lIns="0" tIns="0" rIns="0" bIns="0" rtlCol="0" anchor="ctr"/>
          <a:lstStyle/>
          <a:p>
            <a:pPr algn="ctr" indent="0" marL="0">
              <a:buNone/>
            </a:pPr>
            <a:r>
              <a:rPr lang="en-US" sz="2400" dirty="0">
                <a:solidFill>
                  <a:srgbClr val="F2D58A"/>
                </a:solidFill>
                <a:latin typeface="Freesentation 9 Black" pitchFamily="34" charset="0"/>
                <a:ea typeface="Freesentation 9 Black" pitchFamily="34" charset="-122"/>
                <a:cs typeface="Freesentation 9 Black" pitchFamily="34" charset="-120"/>
              </a:rPr>
              <a:t>1,000</a:t>
            </a:r>
            <a:pPr algn="ctr" indent="0" marL="0">
              <a:buNone/>
            </a:pPr>
            <a:r>
              <a:rPr lang="en-US" sz="1400" dirty="0">
                <a:solidFill>
                  <a:srgbClr val="F2D58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22" name="Text 19"/>
          <p:cNvSpPr txBox="1"/>
          <p:nvPr/>
        </p:nvSpPr>
        <p:spPr>
          <a:xfrm>
            <a:off x="2272284" y="367588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표준</a:t>
            </a:r>
            <a:endParaRPr lang="en-US" sz="1300" dirty="0"/>
          </a:p>
        </p:txBody>
      </p:sp>
      <p:sp>
        <p:nvSpPr>
          <p:cNvPr id="23" name="Text 20"/>
          <p:cNvSpPr txBox="1"/>
          <p:nvPr/>
        </p:nvSpPr>
        <p:spPr>
          <a:xfrm>
            <a:off x="2272284"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7~18학급</a:t>
            </a:r>
            <a:endParaRPr lang="en-US" sz="1550" dirty="0"/>
          </a:p>
        </p:txBody>
      </p:sp>
      <p:sp>
        <p:nvSpPr>
          <p:cNvPr id="24" name="Shape 21"/>
          <p:cNvSpPr/>
          <p:nvPr/>
        </p:nvSpPr>
        <p:spPr>
          <a:xfrm>
            <a:off x="4041648" y="2761488"/>
            <a:ext cx="1604772" cy="1554480"/>
          </a:xfrm>
          <a:prstGeom prst="roundRect">
            <a:avLst>
              <a:gd name="adj" fmla="val 4706"/>
            </a:avLst>
          </a:prstGeom>
          <a:solidFill>
            <a:srgbClr val="D3E6D6"/>
          </a:solidFill>
          <a:ln/>
        </p:spPr>
      </p:sp>
      <p:sp>
        <p:nvSpPr>
          <p:cNvPr id="25" name="Text 22"/>
          <p:cNvSpPr txBox="1"/>
          <p:nvPr/>
        </p:nvSpPr>
        <p:spPr>
          <a:xfrm>
            <a:off x="4041648" y="2834640"/>
            <a:ext cx="1604772" cy="512064"/>
          </a:xfrm>
          <a:prstGeom prst="rect">
            <a:avLst/>
          </a:prstGeom>
          <a:noFill/>
          <a:ln/>
        </p:spPr>
        <p:txBody>
          <a:bodyPr wrap="square" lIns="0" tIns="0" rIns="0" bIns="0" rtlCol="0" anchor="ct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1,500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26" name="Text 23"/>
          <p:cNvSpPr txBox="1"/>
          <p:nvPr/>
        </p:nvSpPr>
        <p:spPr>
          <a:xfrm>
            <a:off x="4041648" y="331012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중대규모</a:t>
            </a:r>
            <a:endParaRPr lang="en-US" sz="1300" dirty="0"/>
          </a:p>
        </p:txBody>
      </p:sp>
      <p:sp>
        <p:nvSpPr>
          <p:cNvPr id="27" name="Text 24"/>
          <p:cNvSpPr txBox="1"/>
          <p:nvPr/>
        </p:nvSpPr>
        <p:spPr>
          <a:xfrm>
            <a:off x="4041648"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19~30학급</a:t>
            </a:r>
            <a:endParaRPr lang="en-US" sz="1550" dirty="0"/>
          </a:p>
        </p:txBody>
      </p:sp>
      <p:sp>
        <p:nvSpPr>
          <p:cNvPr id="28" name="Shape 25"/>
          <p:cNvSpPr/>
          <p:nvPr/>
        </p:nvSpPr>
        <p:spPr>
          <a:xfrm>
            <a:off x="5811012" y="2395728"/>
            <a:ext cx="1604772" cy="1920240"/>
          </a:xfrm>
          <a:prstGeom prst="roundRect">
            <a:avLst>
              <a:gd name="adj" fmla="val 4558"/>
            </a:avLst>
          </a:prstGeom>
          <a:solidFill>
            <a:srgbClr val="BFD8C3"/>
          </a:solidFill>
          <a:ln/>
        </p:spPr>
      </p:sp>
      <p:sp>
        <p:nvSpPr>
          <p:cNvPr id="29" name="Text 26"/>
          <p:cNvSpPr txBox="1"/>
          <p:nvPr/>
        </p:nvSpPr>
        <p:spPr>
          <a:xfrm>
            <a:off x="5811012" y="2468880"/>
            <a:ext cx="1604772" cy="512064"/>
          </a:xfrm>
          <a:prstGeom prst="rect">
            <a:avLst/>
          </a:prstGeom>
          <a:noFill/>
          <a:ln/>
        </p:spPr>
        <p:txBody>
          <a:bodyPr wrap="square" lIns="0" tIns="0" rIns="0" bIns="0" rtlCol="0" anchor="ct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2,000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30" name="Text 27"/>
          <p:cNvSpPr txBox="1"/>
          <p:nvPr/>
        </p:nvSpPr>
        <p:spPr>
          <a:xfrm>
            <a:off x="5811012" y="294436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대규모</a:t>
            </a:r>
            <a:endParaRPr lang="en-US" sz="1300" dirty="0"/>
          </a:p>
        </p:txBody>
      </p:sp>
      <p:sp>
        <p:nvSpPr>
          <p:cNvPr id="31" name="Text 28"/>
          <p:cNvSpPr txBox="1"/>
          <p:nvPr/>
        </p:nvSpPr>
        <p:spPr>
          <a:xfrm>
            <a:off x="5811012"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31학급 이상</a:t>
            </a:r>
            <a:endParaRPr lang="en-US" sz="1550" dirty="0"/>
          </a:p>
        </p:txBody>
      </p:sp>
      <p:sp>
        <p:nvSpPr>
          <p:cNvPr id="32" name="Shape 29"/>
          <p:cNvSpPr/>
          <p:nvPr/>
        </p:nvSpPr>
        <p:spPr>
          <a:xfrm>
            <a:off x="502920" y="4315968"/>
            <a:ext cx="6912864" cy="0"/>
          </a:xfrm>
          <a:prstGeom prst="line">
            <a:avLst/>
          </a:prstGeom>
          <a:noFill/>
          <a:ln w="12700">
            <a:solidFill>
              <a:srgbClr val="D6CDB6"/>
            </a:solidFill>
            <a:prstDash val="solid"/>
          </a:ln>
        </p:spPr>
      </p:sp>
      <p:sp>
        <p:nvSpPr>
          <p:cNvPr id="33" name="Shape 30"/>
          <p:cNvSpPr/>
          <p:nvPr/>
        </p:nvSpPr>
        <p:spPr>
          <a:xfrm>
            <a:off x="502920" y="4873752"/>
            <a:ext cx="118872" cy="118872"/>
          </a:xfrm>
          <a:prstGeom prst="ellipse">
            <a:avLst/>
          </a:prstGeom>
          <a:solidFill>
            <a:srgbClr val="2F7D4F"/>
          </a:solidFill>
          <a:ln/>
        </p:spPr>
      </p:sp>
      <p:sp>
        <p:nvSpPr>
          <p:cNvPr id="34" name="Text 31"/>
          <p:cNvSpPr txBox="1"/>
          <p:nvPr/>
        </p:nvSpPr>
        <p:spPr>
          <a:xfrm>
            <a:off x="722376" y="4736592"/>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학교 한 곳이 1년 동안 받는 것</a:t>
            </a:r>
            <a:endParaRPr lang="en-US" sz="1650" dirty="0"/>
          </a:p>
        </p:txBody>
      </p:sp>
      <p:sp>
        <p:nvSpPr>
          <p:cNvPr id="35" name="Shape 32"/>
          <p:cNvSpPr/>
          <p:nvPr/>
        </p:nvSpPr>
        <p:spPr>
          <a:xfrm>
            <a:off x="502920" y="5193792"/>
            <a:ext cx="1632204" cy="1078992"/>
          </a:xfrm>
          <a:prstGeom prst="roundRect">
            <a:avLst>
              <a:gd name="adj" fmla="val 6780"/>
            </a:avLst>
          </a:prstGeom>
          <a:solidFill>
            <a:srgbClr val="FBF5E6"/>
          </a:solidFill>
          <a:ln w="9525">
            <a:solidFill>
              <a:srgbClr val="E2DCCB"/>
            </a:solidFill>
            <a:prstDash val="solid"/>
          </a:ln>
        </p:spPr>
      </p:sp>
      <p:sp>
        <p:nvSpPr>
          <p:cNvPr id="36" name="Shape 33"/>
          <p:cNvSpPr/>
          <p:nvPr/>
        </p:nvSpPr>
        <p:spPr>
          <a:xfrm>
            <a:off x="594360" y="5285232"/>
            <a:ext cx="384048" cy="384048"/>
          </a:xfrm>
          <a:prstGeom prst="ellipse">
            <a:avLst/>
          </a:prstGeom>
          <a:solidFill>
            <a:srgbClr val="FFFFFF"/>
          </a:solidFill>
          <a:ln/>
        </p:spPr>
      </p:sp>
      <p:pic>
        <p:nvPicPr>
          <p:cNvPr id="37" name="Image 1" descr="book-2">    </p:cNvPr>
          <p:cNvPicPr>
            <a:picLocks noChangeAspect="1"/>
          </p:cNvPicPr>
          <p:nvPr/>
        </p:nvPicPr>
        <p:blipFill>
          <a:blip r:embed="rId2"/>
          <a:stretch>
            <a:fillRect/>
          </a:stretch>
        </p:blipFill>
        <p:spPr>
          <a:xfrm>
            <a:off x="675010" y="5365882"/>
            <a:ext cx="222748" cy="222748"/>
          </a:xfrm>
          <a:prstGeom prst="rect">
            <a:avLst/>
          </a:prstGeom>
        </p:spPr>
      </p:pic>
      <p:sp>
        <p:nvSpPr>
          <p:cNvPr id="38" name="Text 34"/>
          <p:cNvSpPr txBox="1"/>
          <p:nvPr/>
        </p:nvSpPr>
        <p:spPr>
          <a:xfrm>
            <a:off x="103327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수업 콘텐츠</a:t>
            </a:r>
            <a:endParaRPr lang="en-US" sz="1450" dirty="0"/>
          </a:p>
        </p:txBody>
      </p:sp>
      <p:sp>
        <p:nvSpPr>
          <p:cNvPr id="39" name="Text 35"/>
          <p:cNvSpPr txBox="1"/>
          <p:nvPr/>
        </p:nvSpPr>
        <p:spPr>
          <a:xfrm>
            <a:off x="61264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300권, 다국어, 차시 자료</a:t>
            </a:r>
            <a:endParaRPr lang="en-US" sz="1300" dirty="0"/>
          </a:p>
        </p:txBody>
      </p:sp>
      <p:sp>
        <p:nvSpPr>
          <p:cNvPr id="40" name="Shape 36"/>
          <p:cNvSpPr/>
          <p:nvPr/>
        </p:nvSpPr>
        <p:spPr>
          <a:xfrm>
            <a:off x="2263140" y="5193792"/>
            <a:ext cx="1632204" cy="1078992"/>
          </a:xfrm>
          <a:prstGeom prst="roundRect">
            <a:avLst>
              <a:gd name="adj" fmla="val 6780"/>
            </a:avLst>
          </a:prstGeom>
          <a:solidFill>
            <a:srgbClr val="FFFFFF"/>
          </a:solidFill>
          <a:ln w="9525">
            <a:solidFill>
              <a:srgbClr val="E2DCCB"/>
            </a:solidFill>
            <a:prstDash val="solid"/>
          </a:ln>
        </p:spPr>
      </p:sp>
      <p:sp>
        <p:nvSpPr>
          <p:cNvPr id="41" name="Shape 37"/>
          <p:cNvSpPr/>
          <p:nvPr/>
        </p:nvSpPr>
        <p:spPr>
          <a:xfrm>
            <a:off x="2354580" y="5285232"/>
            <a:ext cx="384048" cy="384048"/>
          </a:xfrm>
          <a:prstGeom prst="ellipse">
            <a:avLst/>
          </a:prstGeom>
          <a:solidFill>
            <a:srgbClr val="E6F0E7"/>
          </a:solidFill>
          <a:ln/>
        </p:spPr>
      </p:sp>
      <p:pic>
        <p:nvPicPr>
          <p:cNvPr id="42" name="Image 2" descr="presentation">    </p:cNvPr>
          <p:cNvPicPr>
            <a:picLocks noChangeAspect="1"/>
          </p:cNvPicPr>
          <p:nvPr/>
        </p:nvPicPr>
        <p:blipFill>
          <a:blip r:embed="rId3"/>
          <a:stretch>
            <a:fillRect/>
          </a:stretch>
        </p:blipFill>
        <p:spPr>
          <a:xfrm>
            <a:off x="2435230" y="5365882"/>
            <a:ext cx="222748" cy="222748"/>
          </a:xfrm>
          <a:prstGeom prst="rect">
            <a:avLst/>
          </a:prstGeom>
        </p:spPr>
      </p:pic>
      <p:sp>
        <p:nvSpPr>
          <p:cNvPr id="43" name="Text 38"/>
          <p:cNvSpPr txBox="1"/>
          <p:nvPr/>
        </p:nvSpPr>
        <p:spPr>
          <a:xfrm>
            <a:off x="279349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찾아가는 연수</a:t>
            </a:r>
            <a:endParaRPr lang="en-US" sz="1450" dirty="0"/>
          </a:p>
        </p:txBody>
      </p:sp>
      <p:sp>
        <p:nvSpPr>
          <p:cNvPr id="44" name="Text 39"/>
          <p:cNvSpPr txBox="1"/>
          <p:nvPr/>
        </p:nvSpPr>
        <p:spPr>
          <a:xfrm>
            <a:off x="237286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연수 15시간, 온보딩</a:t>
            </a:r>
            <a:endParaRPr lang="en-US" sz="1300" dirty="0"/>
          </a:p>
        </p:txBody>
      </p:sp>
      <p:sp>
        <p:nvSpPr>
          <p:cNvPr id="45" name="Shape 40"/>
          <p:cNvSpPr/>
          <p:nvPr/>
        </p:nvSpPr>
        <p:spPr>
          <a:xfrm>
            <a:off x="4023360" y="5193792"/>
            <a:ext cx="1632204" cy="1078992"/>
          </a:xfrm>
          <a:prstGeom prst="roundRect">
            <a:avLst>
              <a:gd name="adj" fmla="val 6780"/>
            </a:avLst>
          </a:prstGeom>
          <a:solidFill>
            <a:srgbClr val="FBF5E6"/>
          </a:solidFill>
          <a:ln w="9525">
            <a:solidFill>
              <a:srgbClr val="E2DCCB"/>
            </a:solidFill>
            <a:prstDash val="solid"/>
          </a:ln>
        </p:spPr>
      </p:sp>
      <p:sp>
        <p:nvSpPr>
          <p:cNvPr id="46" name="Shape 41"/>
          <p:cNvSpPr/>
          <p:nvPr/>
        </p:nvSpPr>
        <p:spPr>
          <a:xfrm>
            <a:off x="4114800" y="5285232"/>
            <a:ext cx="384048" cy="384048"/>
          </a:xfrm>
          <a:prstGeom prst="ellipse">
            <a:avLst/>
          </a:prstGeom>
          <a:solidFill>
            <a:srgbClr val="FFFFFF"/>
          </a:solidFill>
          <a:ln/>
        </p:spPr>
      </p:sp>
      <p:pic>
        <p:nvPicPr>
          <p:cNvPr id="47" name="Image 3" descr="lifebuoy">    </p:cNvPr>
          <p:cNvPicPr>
            <a:picLocks noChangeAspect="1"/>
          </p:cNvPicPr>
          <p:nvPr/>
        </p:nvPicPr>
        <p:blipFill>
          <a:blip r:embed="rId4"/>
          <a:stretch>
            <a:fillRect/>
          </a:stretch>
        </p:blipFill>
        <p:spPr>
          <a:xfrm>
            <a:off x="4195450" y="5365882"/>
            <a:ext cx="222748" cy="222748"/>
          </a:xfrm>
          <a:prstGeom prst="rect">
            <a:avLst/>
          </a:prstGeom>
        </p:spPr>
      </p:pic>
      <p:sp>
        <p:nvSpPr>
          <p:cNvPr id="48" name="Text 42"/>
          <p:cNvSpPr txBox="1"/>
          <p:nvPr/>
        </p:nvSpPr>
        <p:spPr>
          <a:xfrm>
            <a:off x="455371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상시 운영지원</a:t>
            </a:r>
            <a:endParaRPr lang="en-US" sz="1450" dirty="0"/>
          </a:p>
        </p:txBody>
      </p:sp>
      <p:sp>
        <p:nvSpPr>
          <p:cNvPr id="49" name="Text 43"/>
          <p:cNvSpPr txBox="1"/>
          <p:nvPr/>
        </p:nvSpPr>
        <p:spPr>
          <a:xfrm>
            <a:off x="413308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헬프데스크, 학급 지원</a:t>
            </a:r>
            <a:endParaRPr lang="en-US" sz="1300" dirty="0"/>
          </a:p>
        </p:txBody>
      </p:sp>
      <p:sp>
        <p:nvSpPr>
          <p:cNvPr id="50" name="Shape 44"/>
          <p:cNvSpPr/>
          <p:nvPr/>
        </p:nvSpPr>
        <p:spPr>
          <a:xfrm>
            <a:off x="5783580" y="5193792"/>
            <a:ext cx="1632204" cy="1078992"/>
          </a:xfrm>
          <a:prstGeom prst="roundRect">
            <a:avLst>
              <a:gd name="adj" fmla="val 6780"/>
            </a:avLst>
          </a:prstGeom>
          <a:solidFill>
            <a:srgbClr val="FFFFFF"/>
          </a:solidFill>
          <a:ln w="9525">
            <a:solidFill>
              <a:srgbClr val="E2DCCB"/>
            </a:solidFill>
            <a:prstDash val="solid"/>
          </a:ln>
        </p:spPr>
      </p:sp>
      <p:sp>
        <p:nvSpPr>
          <p:cNvPr id="51" name="Shape 45"/>
          <p:cNvSpPr/>
          <p:nvPr/>
        </p:nvSpPr>
        <p:spPr>
          <a:xfrm>
            <a:off x="5875020" y="5285232"/>
            <a:ext cx="384048" cy="384048"/>
          </a:xfrm>
          <a:prstGeom prst="ellipse">
            <a:avLst/>
          </a:prstGeom>
          <a:solidFill>
            <a:srgbClr val="E6F0E7"/>
          </a:solidFill>
          <a:ln/>
        </p:spPr>
      </p:sp>
      <p:pic>
        <p:nvPicPr>
          <p:cNvPr id="52" name="Image 4" descr="chart-bar">    </p:cNvPr>
          <p:cNvPicPr>
            <a:picLocks noChangeAspect="1"/>
          </p:cNvPicPr>
          <p:nvPr/>
        </p:nvPicPr>
        <p:blipFill>
          <a:blip r:embed="rId5"/>
          <a:stretch>
            <a:fillRect/>
          </a:stretch>
        </p:blipFill>
        <p:spPr>
          <a:xfrm>
            <a:off x="5955670" y="5365882"/>
            <a:ext cx="222748" cy="222748"/>
          </a:xfrm>
          <a:prstGeom prst="rect">
            <a:avLst/>
          </a:prstGeom>
        </p:spPr>
      </p:pic>
      <p:sp>
        <p:nvSpPr>
          <p:cNvPr id="53" name="Text 46"/>
          <p:cNvSpPr txBox="1"/>
          <p:nvPr/>
        </p:nvSpPr>
        <p:spPr>
          <a:xfrm>
            <a:off x="631393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성과 자료</a:t>
            </a:r>
            <a:endParaRPr lang="en-US" sz="1450" dirty="0"/>
          </a:p>
        </p:txBody>
      </p:sp>
      <p:sp>
        <p:nvSpPr>
          <p:cNvPr id="54" name="Text 47"/>
          <p:cNvSpPr txBox="1"/>
          <p:nvPr/>
        </p:nvSpPr>
        <p:spPr>
          <a:xfrm>
            <a:off x="589330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월간, 분기, 종료 보고</a:t>
            </a:r>
            <a:endParaRPr lang="en-US" sz="1300" dirty="0"/>
          </a:p>
        </p:txBody>
      </p:sp>
      <p:sp>
        <p:nvSpPr>
          <p:cNvPr id="55" name="Shape 48"/>
          <p:cNvSpPr/>
          <p:nvPr/>
        </p:nvSpPr>
        <p:spPr>
          <a:xfrm>
            <a:off x="7735824" y="1920240"/>
            <a:ext cx="3950208" cy="4352544"/>
          </a:xfrm>
          <a:prstGeom prst="roundRect">
            <a:avLst>
              <a:gd name="adj" fmla="val 2778"/>
            </a:avLst>
          </a:prstGeom>
          <a:solidFill>
            <a:srgbClr val="20342A"/>
          </a:solidFill>
          <a:ln/>
        </p:spPr>
      </p:sp>
      <p:sp>
        <p:nvSpPr>
          <p:cNvPr id="56" name="Text 49"/>
          <p:cNvSpPr txBox="1"/>
          <p:nvPr/>
        </p:nvSpPr>
        <p:spPr>
          <a:xfrm>
            <a:off x="8010144" y="2148840"/>
            <a:ext cx="3447288" cy="365760"/>
          </a:xfrm>
          <a:prstGeom prst="rect">
            <a:avLst/>
          </a:prstGeom>
          <a:noFill/>
          <a:ln/>
        </p:spPr>
        <p:txBody>
          <a:bodyPr wrap="square" lIns="0" tIns="0" rIns="0" bIns="0" rtlCol="0" anchor="t"/>
          <a:lstStyle/>
          <a:p>
            <a:pPr indent="0" marL="0">
              <a:lnSpc>
                <a:spcPct val="112000"/>
              </a:lnSpc>
              <a:buNone/>
            </a:pPr>
            <a:r>
              <a:rPr lang="en-US" sz="1600" dirty="0">
                <a:solidFill>
                  <a:srgbClr val="DCE6DD"/>
                </a:solidFill>
                <a:latin typeface="Freesentation 5 Medium" pitchFamily="34" charset="0"/>
                <a:ea typeface="Freesentation 5 Medium" pitchFamily="34" charset="-122"/>
                <a:cs typeface="Freesentation 5 Medium" pitchFamily="34" charset="-120"/>
              </a:rPr>
              <a:t>표준 학교(7~18학급) 연간</a:t>
            </a:r>
            <a:endParaRPr lang="en-US" sz="1600" dirty="0"/>
          </a:p>
        </p:txBody>
      </p:sp>
      <p:sp>
        <p:nvSpPr>
          <p:cNvPr id="57" name="Text 50"/>
          <p:cNvSpPr txBox="1"/>
          <p:nvPr/>
        </p:nvSpPr>
        <p:spPr>
          <a:xfrm>
            <a:off x="8010144" y="2514600"/>
            <a:ext cx="3538728" cy="868680"/>
          </a:xfrm>
          <a:prstGeom prst="rect">
            <a:avLst/>
          </a:prstGeom>
          <a:noFill/>
          <a:ln/>
        </p:spPr>
        <p:txBody>
          <a:bodyPr wrap="square" lIns="0" tIns="0" rIns="0" bIns="0" rtlCol="0" anchor="ctr"/>
          <a:lstStyle/>
          <a:p>
            <a:pPr indent="0" marL="0">
              <a:buNone/>
            </a:pPr>
            <a:r>
              <a:rPr lang="en-US" sz="5400" dirty="0">
                <a:solidFill>
                  <a:srgbClr val="F2D58A"/>
                </a:solidFill>
                <a:latin typeface="Freesentation 9 Black" pitchFamily="34" charset="0"/>
                <a:ea typeface="Freesentation 9 Black" pitchFamily="34" charset="-122"/>
                <a:cs typeface="Freesentation 9 Black" pitchFamily="34" charset="-120"/>
              </a:rPr>
              <a:t>1,000</a:t>
            </a:r>
            <a:pPr indent="0" marL="0">
              <a:buNone/>
            </a:pPr>
            <a:r>
              <a:rPr lang="en-US" sz="2250" dirty="0">
                <a:solidFill>
                  <a:srgbClr val="F2D58A"/>
                </a:solidFill>
                <a:latin typeface="Freesentation 7 Bold" pitchFamily="34" charset="0"/>
                <a:ea typeface="Freesentation 7 Bold" pitchFamily="34" charset="-122"/>
                <a:cs typeface="Freesentation 7 Bold" pitchFamily="34" charset="-120"/>
              </a:rPr>
              <a:t> 만 원</a:t>
            </a:r>
            <a:endParaRPr lang="en-US" sz="5400" dirty="0"/>
          </a:p>
        </p:txBody>
      </p:sp>
      <p:sp>
        <p:nvSpPr>
          <p:cNvPr id="58" name="Shape 51"/>
          <p:cNvSpPr/>
          <p:nvPr/>
        </p:nvSpPr>
        <p:spPr>
          <a:xfrm>
            <a:off x="8010144" y="3493008"/>
            <a:ext cx="3401568" cy="0"/>
          </a:xfrm>
          <a:prstGeom prst="line">
            <a:avLst/>
          </a:prstGeom>
          <a:noFill/>
          <a:ln w="9525">
            <a:solidFill>
              <a:srgbClr val="4A6656"/>
            </a:solidFill>
            <a:prstDash val="solid"/>
          </a:ln>
        </p:spPr>
      </p:sp>
      <p:sp>
        <p:nvSpPr>
          <p:cNvPr id="59" name="Shape 52"/>
          <p:cNvSpPr/>
          <p:nvPr/>
        </p:nvSpPr>
        <p:spPr>
          <a:xfrm>
            <a:off x="8010144" y="3657600"/>
            <a:ext cx="493776" cy="493776"/>
          </a:xfrm>
          <a:prstGeom prst="ellipse">
            <a:avLst/>
          </a:prstGeom>
          <a:solidFill>
            <a:srgbClr val="2E4636"/>
          </a:solidFill>
          <a:ln/>
        </p:spPr>
      </p:sp>
      <p:pic>
        <p:nvPicPr>
          <p:cNvPr id="60" name="Image 5" descr="adjustments-horizontal">    </p:cNvPr>
          <p:cNvPicPr>
            <a:picLocks noChangeAspect="1"/>
          </p:cNvPicPr>
          <p:nvPr/>
        </p:nvPicPr>
        <p:blipFill>
          <a:blip r:embed="rId6"/>
          <a:stretch>
            <a:fillRect/>
          </a:stretch>
        </p:blipFill>
        <p:spPr>
          <a:xfrm>
            <a:off x="8110728" y="3758184"/>
            <a:ext cx="292608" cy="292608"/>
          </a:xfrm>
          <a:prstGeom prst="rect">
            <a:avLst/>
          </a:prstGeom>
        </p:spPr>
      </p:pic>
      <p:sp>
        <p:nvSpPr>
          <p:cNvPr id="61" name="Text 53"/>
          <p:cNvSpPr txBox="1"/>
          <p:nvPr/>
        </p:nvSpPr>
        <p:spPr>
          <a:xfrm>
            <a:off x="8631936" y="365760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학급 수 4개 구간 차등</a:t>
            </a:r>
            <a:endParaRPr lang="en-US" sz="1500" dirty="0"/>
          </a:p>
        </p:txBody>
      </p:sp>
      <p:sp>
        <p:nvSpPr>
          <p:cNvPr id="62" name="Shape 54"/>
          <p:cNvSpPr/>
          <p:nvPr/>
        </p:nvSpPr>
        <p:spPr>
          <a:xfrm>
            <a:off x="8010144" y="4297680"/>
            <a:ext cx="493776" cy="493776"/>
          </a:xfrm>
          <a:prstGeom prst="ellipse">
            <a:avLst/>
          </a:prstGeom>
          <a:solidFill>
            <a:srgbClr val="2E4636"/>
          </a:solidFill>
          <a:ln/>
        </p:spPr>
      </p:sp>
      <p:pic>
        <p:nvPicPr>
          <p:cNvPr id="63" name="Image 6" descr="users">    </p:cNvPr>
          <p:cNvPicPr>
            <a:picLocks noChangeAspect="1"/>
          </p:cNvPicPr>
          <p:nvPr/>
        </p:nvPicPr>
        <p:blipFill>
          <a:blip r:embed="rId7"/>
          <a:stretch>
            <a:fillRect/>
          </a:stretch>
        </p:blipFill>
        <p:spPr>
          <a:xfrm>
            <a:off x="8110728" y="4398264"/>
            <a:ext cx="292608" cy="292608"/>
          </a:xfrm>
          <a:prstGeom prst="rect">
            <a:avLst/>
          </a:prstGeom>
        </p:spPr>
      </p:pic>
      <p:sp>
        <p:nvSpPr>
          <p:cNvPr id="64" name="Text 55"/>
          <p:cNvSpPr txBox="1"/>
          <p:nvPr/>
        </p:nvSpPr>
        <p:spPr>
          <a:xfrm>
            <a:off x="8631936" y="429768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학급당 50만~77만 원 범위</a:t>
            </a:r>
            <a:endParaRPr lang="en-US" sz="1500" dirty="0"/>
          </a:p>
        </p:txBody>
      </p:sp>
      <p:sp>
        <p:nvSpPr>
          <p:cNvPr id="65" name="Shape 56"/>
          <p:cNvSpPr/>
          <p:nvPr/>
        </p:nvSpPr>
        <p:spPr>
          <a:xfrm>
            <a:off x="8010144" y="4937760"/>
            <a:ext cx="493776" cy="493776"/>
          </a:xfrm>
          <a:prstGeom prst="ellipse">
            <a:avLst/>
          </a:prstGeom>
          <a:solidFill>
            <a:srgbClr val="2E4636"/>
          </a:solidFill>
          <a:ln/>
        </p:spPr>
      </p:sp>
      <p:pic>
        <p:nvPicPr>
          <p:cNvPr id="66" name="Image 7" descr="school">    </p:cNvPr>
          <p:cNvPicPr>
            <a:picLocks noChangeAspect="1"/>
          </p:cNvPicPr>
          <p:nvPr/>
        </p:nvPicPr>
        <p:blipFill>
          <a:blip r:embed="rId8"/>
          <a:stretch>
            <a:fillRect/>
          </a:stretch>
        </p:blipFill>
        <p:spPr>
          <a:xfrm>
            <a:off x="8110728" y="5038344"/>
            <a:ext cx="292608" cy="292608"/>
          </a:xfrm>
          <a:prstGeom prst="rect">
            <a:avLst/>
          </a:prstGeom>
        </p:spPr>
      </p:pic>
      <p:sp>
        <p:nvSpPr>
          <p:cNvPr id="67" name="Text 57"/>
          <p:cNvSpPr txBox="1"/>
          <p:nvPr/>
        </p:nvSpPr>
        <p:spPr>
          <a:xfrm>
            <a:off x="8631936" y="493776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연수와 온보딩 예산 먼저 확보</a:t>
            </a:r>
            <a:endParaRPr lang="en-US" sz="1500" dirty="0"/>
          </a:p>
        </p:txBody>
      </p:sp>
      <p:sp>
        <p:nvSpPr>
          <p:cNvPr id="68" name="Shape 58"/>
          <p:cNvSpPr/>
          <p:nvPr/>
        </p:nvSpPr>
        <p:spPr>
          <a:xfrm>
            <a:off x="8010144" y="5577840"/>
            <a:ext cx="493776" cy="493776"/>
          </a:xfrm>
          <a:prstGeom prst="ellipse">
            <a:avLst/>
          </a:prstGeom>
          <a:solidFill>
            <a:srgbClr val="2E4636"/>
          </a:solidFill>
          <a:ln/>
        </p:spPr>
      </p:sp>
      <p:pic>
        <p:nvPicPr>
          <p:cNvPr id="69" name="Image 8" descr="trending-up">    </p:cNvPr>
          <p:cNvPicPr>
            <a:picLocks noChangeAspect="1"/>
          </p:cNvPicPr>
          <p:nvPr/>
        </p:nvPicPr>
        <p:blipFill>
          <a:blip r:embed="rId9"/>
          <a:stretch>
            <a:fillRect/>
          </a:stretch>
        </p:blipFill>
        <p:spPr>
          <a:xfrm>
            <a:off x="8110728" y="5678424"/>
            <a:ext cx="292608" cy="292608"/>
          </a:xfrm>
          <a:prstGeom prst="rect">
            <a:avLst/>
          </a:prstGeom>
        </p:spPr>
      </p:pic>
      <p:sp>
        <p:nvSpPr>
          <p:cNvPr id="70" name="Text 59"/>
          <p:cNvSpPr txBox="1"/>
          <p:nvPr/>
        </p:nvSpPr>
        <p:spPr>
          <a:xfrm>
            <a:off x="8631936" y="557784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집행 잔액은 참여 학교 확대에</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수행 기관 역량</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공공 독서교육 185건, 누적 93억 원의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수행 실적</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이 사업의 안정성을 뒷받침합니다</a:t>
            </a:r>
            <a:endParaRPr lang="en-US" sz="1400" dirty="0"/>
          </a:p>
        </p:txBody>
      </p:sp>
      <p:sp>
        <p:nvSpPr>
          <p:cNvPr id="10" name="Text 7"/>
          <p:cNvSpPr txBox="1"/>
          <p:nvPr/>
        </p:nvSpPr>
        <p:spPr>
          <a:xfrm>
            <a:off x="184581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4935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실적은 제안기관 집계(나라장터 등 공공계약, 2018~2020년은 법인 전환 전 개인사업자 명의, 관계사 포함). 확정 수치는 실적증명서로 제출.</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32</a:t>
            </a:r>
            <a:endParaRPr lang="en-US" sz="1250" dirty="0"/>
          </a:p>
        </p:txBody>
      </p:sp>
      <p:sp>
        <p:nvSpPr>
          <p:cNvPr id="14" name="Shape 11"/>
          <p:cNvSpPr/>
          <p:nvPr/>
        </p:nvSpPr>
        <p:spPr>
          <a:xfrm>
            <a:off x="502920" y="1920240"/>
            <a:ext cx="2858747" cy="896112"/>
          </a:xfrm>
          <a:prstGeom prst="roundRect">
            <a:avLst>
              <a:gd name="adj" fmla="val 8163"/>
            </a:avLst>
          </a:prstGeom>
          <a:solidFill>
            <a:srgbClr val="FBF5E6"/>
          </a:solidFill>
          <a:ln/>
        </p:spPr>
      </p:sp>
      <p:sp>
        <p:nvSpPr>
          <p:cNvPr id="15" name="Text 12"/>
          <p:cNvSpPr txBox="1"/>
          <p:nvPr/>
        </p:nvSpPr>
        <p:spPr>
          <a:xfrm>
            <a:off x="649224" y="2029968"/>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185</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건</a:t>
            </a:r>
            <a:endParaRPr lang="en-US" sz="1650" dirty="0"/>
          </a:p>
        </p:txBody>
      </p:sp>
      <p:sp>
        <p:nvSpPr>
          <p:cNvPr id="16" name="Text 13"/>
          <p:cNvSpPr txBox="1"/>
          <p:nvPr/>
        </p:nvSpPr>
        <p:spPr>
          <a:xfrm>
            <a:off x="649224" y="2487168"/>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공공 독서교육 계약(2018~2026)</a:t>
            </a:r>
            <a:endParaRPr lang="en-US" sz="1550" dirty="0"/>
          </a:p>
        </p:txBody>
      </p:sp>
      <p:sp>
        <p:nvSpPr>
          <p:cNvPr id="17" name="Shape 14"/>
          <p:cNvSpPr/>
          <p:nvPr/>
        </p:nvSpPr>
        <p:spPr>
          <a:xfrm>
            <a:off x="3544547" y="1920240"/>
            <a:ext cx="2858747" cy="896112"/>
          </a:xfrm>
          <a:prstGeom prst="roundRect">
            <a:avLst>
              <a:gd name="adj" fmla="val 8163"/>
            </a:avLst>
          </a:prstGeom>
          <a:solidFill>
            <a:srgbClr val="FFFFFF"/>
          </a:solidFill>
          <a:ln/>
        </p:spPr>
      </p:sp>
      <p:sp>
        <p:nvSpPr>
          <p:cNvPr id="18" name="Text 15"/>
          <p:cNvSpPr txBox="1"/>
          <p:nvPr/>
        </p:nvSpPr>
        <p:spPr>
          <a:xfrm>
            <a:off x="3690851" y="2029968"/>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93.0</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억 원</a:t>
            </a:r>
            <a:endParaRPr lang="en-US" sz="1650" dirty="0"/>
          </a:p>
        </p:txBody>
      </p:sp>
      <p:sp>
        <p:nvSpPr>
          <p:cNvPr id="19" name="Text 16"/>
          <p:cNvSpPr txBox="1"/>
          <p:nvPr/>
        </p:nvSpPr>
        <p:spPr>
          <a:xfrm>
            <a:off x="3690851" y="2487168"/>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누적 계약금액</a:t>
            </a:r>
            <a:endParaRPr lang="en-US" sz="1550" dirty="0"/>
          </a:p>
        </p:txBody>
      </p:sp>
      <p:sp>
        <p:nvSpPr>
          <p:cNvPr id="20" name="Shape 17"/>
          <p:cNvSpPr/>
          <p:nvPr/>
        </p:nvSpPr>
        <p:spPr>
          <a:xfrm>
            <a:off x="502920" y="2944368"/>
            <a:ext cx="2858747" cy="896112"/>
          </a:xfrm>
          <a:prstGeom prst="roundRect">
            <a:avLst>
              <a:gd name="adj" fmla="val 8163"/>
            </a:avLst>
          </a:prstGeom>
          <a:solidFill>
            <a:srgbClr val="FFFFFF"/>
          </a:solidFill>
          <a:ln/>
        </p:spPr>
      </p:sp>
      <p:sp>
        <p:nvSpPr>
          <p:cNvPr id="21" name="Text 18"/>
          <p:cNvSpPr txBox="1"/>
          <p:nvPr/>
        </p:nvSpPr>
        <p:spPr>
          <a:xfrm>
            <a:off x="649224" y="3054096"/>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65</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개</a:t>
            </a:r>
            <a:endParaRPr lang="en-US" sz="1650" dirty="0"/>
          </a:p>
        </p:txBody>
      </p:sp>
      <p:sp>
        <p:nvSpPr>
          <p:cNvPr id="22" name="Text 19"/>
          <p:cNvSpPr txBox="1"/>
          <p:nvPr/>
        </p:nvSpPr>
        <p:spPr>
          <a:xfrm>
            <a:off x="649224" y="3511296"/>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발주기관, 13개 시도와 중앙부처</a:t>
            </a:r>
            <a:endParaRPr lang="en-US" sz="1550" dirty="0"/>
          </a:p>
        </p:txBody>
      </p:sp>
      <p:sp>
        <p:nvSpPr>
          <p:cNvPr id="23" name="Shape 20"/>
          <p:cNvSpPr/>
          <p:nvPr/>
        </p:nvSpPr>
        <p:spPr>
          <a:xfrm>
            <a:off x="3544547" y="2944368"/>
            <a:ext cx="2858747" cy="896112"/>
          </a:xfrm>
          <a:prstGeom prst="roundRect">
            <a:avLst>
              <a:gd name="adj" fmla="val 8163"/>
            </a:avLst>
          </a:prstGeom>
          <a:solidFill>
            <a:srgbClr val="FBF5E6"/>
          </a:solidFill>
          <a:ln/>
        </p:spPr>
      </p:sp>
      <p:sp>
        <p:nvSpPr>
          <p:cNvPr id="24" name="Text 21"/>
          <p:cNvSpPr txBox="1"/>
          <p:nvPr/>
        </p:nvSpPr>
        <p:spPr>
          <a:xfrm>
            <a:off x="3690851" y="3054096"/>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46</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곳</a:t>
            </a:r>
            <a:endParaRPr lang="en-US" sz="1650" dirty="0"/>
          </a:p>
        </p:txBody>
      </p:sp>
      <p:sp>
        <p:nvSpPr>
          <p:cNvPr id="25" name="Text 22"/>
          <p:cNvSpPr txBox="1"/>
          <p:nvPr/>
        </p:nvSpPr>
        <p:spPr>
          <a:xfrm>
            <a:off x="3690851" y="3511296"/>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다시 맡긴 기관, 발주기관의 71%</a:t>
            </a:r>
            <a:endParaRPr lang="en-US" sz="1550" dirty="0"/>
          </a:p>
        </p:txBody>
      </p:sp>
      <p:sp>
        <p:nvSpPr>
          <p:cNvPr id="26" name="Shape 23"/>
          <p:cNvSpPr/>
          <p:nvPr/>
        </p:nvSpPr>
        <p:spPr>
          <a:xfrm>
            <a:off x="502920" y="4123944"/>
            <a:ext cx="118872" cy="118872"/>
          </a:xfrm>
          <a:prstGeom prst="ellipse">
            <a:avLst/>
          </a:prstGeom>
          <a:solidFill>
            <a:srgbClr val="2F7D4F"/>
          </a:solidFill>
          <a:ln/>
        </p:spPr>
      </p:sp>
      <p:sp>
        <p:nvSpPr>
          <p:cNvPr id="27" name="Text 24"/>
          <p:cNvSpPr txBox="1"/>
          <p:nvPr/>
        </p:nvSpPr>
        <p:spPr>
          <a:xfrm>
            <a:off x="722376" y="3986784"/>
            <a:ext cx="5900374"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발주기관 65곳 지역 분포</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단위: 곳</a:t>
            </a:r>
            <a:endParaRPr lang="en-US" sz="1650" dirty="0"/>
          </a:p>
        </p:txBody>
      </p:sp>
      <p:graphicFrame>
        <p:nvGraphicFramePr>
          <p:cNvPr id="28" name="Chart 0" descr=""/>
          <p:cNvGraphicFramePr/>
          <p:nvPr/>
        </p:nvGraphicFramePr>
        <p:xfrm>
          <a:off x="502920" y="4352544"/>
          <a:ext cx="5900374" cy="1920240"/>
        </p:xfrm>
        <a:graphic xmlns:a="http://schemas.openxmlformats.org/drawingml/2006/main">
          <a:graphicData uri="http://schemas.openxmlformats.org/drawingml/2006/chart">
            <c:chart xmlns:c="http://schemas.openxmlformats.org/drawingml/2006/chart" r:id="rId2"/>
          </a:graphicData>
        </a:graphic>
      </p:graphicFrame>
      <p:sp>
        <p:nvSpPr>
          <p:cNvPr id="29" name="Shape 25"/>
          <p:cNvSpPr/>
          <p:nvPr/>
        </p:nvSpPr>
        <p:spPr>
          <a:xfrm>
            <a:off x="6769054" y="2020824"/>
            <a:ext cx="118872" cy="118872"/>
          </a:xfrm>
          <a:prstGeom prst="ellipse">
            <a:avLst/>
          </a:prstGeom>
          <a:solidFill>
            <a:srgbClr val="2F7D4F"/>
          </a:solidFill>
          <a:ln/>
        </p:spPr>
      </p:sp>
      <p:sp>
        <p:nvSpPr>
          <p:cNvPr id="30" name="Text 26"/>
          <p:cNvSpPr txBox="1"/>
          <p:nvPr/>
        </p:nvSpPr>
        <p:spPr>
          <a:xfrm>
            <a:off x="6988510"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일반 현황</a:t>
            </a:r>
            <a:endParaRPr lang="en-US" sz="16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769054" y="2331720"/>
          <a:ext cx="4916978" cy="914400"/>
        </p:xfrm>
        <a:graphic>
          <a:graphicData uri="http://schemas.openxmlformats.org/drawingml/2006/table">
            <a:tbl>
              <a:tblPr/>
              <a:tblGrid>
                <a:gridCol w="1188720"/>
                <a:gridCol w="3728258"/>
              </a:tblGrid>
              <a:tr h="43891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구분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내용</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설립</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2008년, 2021년 법인 전환</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분야</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교육서비스, 위탁교육, 평생교육</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등록</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평생교육시설, 교육용 소프트웨어 공급자, 소프트웨어사업자(디지털콘텐츠개발)</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지식재산</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특허 등록 「아바타 기반 도서 등장인물 대화형 독서 활동」, 특허 출원 제10-2025-0124373호</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부기 개발</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교육 콘텐츠 기업: 부기 사업팀, 현직 교사 콘텐츠 개발팀, 외부 작가진</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32" name="Shape 27"/>
          <p:cNvSpPr/>
          <p:nvPr/>
        </p:nvSpPr>
        <p:spPr>
          <a:xfrm>
            <a:off x="6769054" y="5541264"/>
            <a:ext cx="4916978" cy="731520"/>
          </a:xfrm>
          <a:prstGeom prst="roundRect">
            <a:avLst>
              <a:gd name="adj" fmla="val 12500"/>
            </a:avLst>
          </a:prstGeom>
          <a:solidFill>
            <a:srgbClr val="20342A"/>
          </a:solidFill>
          <a:ln/>
        </p:spPr>
      </p:sp>
      <p:sp>
        <p:nvSpPr>
          <p:cNvPr id="33" name="Text 28"/>
          <p:cNvSpPr txBox="1"/>
          <p:nvPr/>
        </p:nvSpPr>
        <p:spPr>
          <a:xfrm>
            <a:off x="6970222" y="5541264"/>
            <a:ext cx="4551218" cy="731520"/>
          </a:xfrm>
          <a:prstGeom prst="rect">
            <a:avLst/>
          </a:prstGeom>
          <a:noFill/>
          <a:ln/>
        </p:spPr>
        <p:txBody>
          <a:bodyPr wrap="square" lIns="0" tIns="0" rIns="0" bIns="0" rtlCol="0" anchor="ctr"/>
          <a:lstStyle/>
          <a:p>
            <a:pPr indent="0" marL="0">
              <a:lnSpc>
                <a:spcPct val="120000"/>
              </a:lnSpc>
              <a:buNone/>
            </a:pPr>
            <a:r>
              <a:rPr lang="en-US" sz="1500" dirty="0">
                <a:solidFill>
                  <a:srgbClr val="F2D58A"/>
                </a:solidFill>
                <a:latin typeface="Freesentation 7 Bold" pitchFamily="34" charset="0"/>
                <a:ea typeface="Freesentation 7 Bold" pitchFamily="34" charset="-122"/>
                <a:cs typeface="Freesentation 7 Bold" pitchFamily="34" charset="-120"/>
              </a:rPr>
              <a:t>교육청 사업  </a:t>
            </a:r>
            <a:pPr indent="0" marL="0">
              <a:lnSpc>
                <a:spcPct val="120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교육위탁 159건, 63.1억 원(2020~2026), 교육청 발주 25건, 미래교육원 체험 27만 명</a:t>
            </a:r>
            <a:endParaRPr lang="en-US" sz="16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성과 목표와 연차별 성장(안)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독서 참여 95%, 6년 안에 완독 2배와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읽기 기초 미달 학생 절반</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목표(안)로 삼습니다</a:t>
            </a:r>
            <a:endParaRPr lang="en-US" sz="1400" dirty="0"/>
          </a:p>
        </p:txBody>
      </p:sp>
      <p:sp>
        <p:nvSpPr>
          <p:cNvPr id="10" name="Text 7"/>
          <p:cNvSpPr txBox="1"/>
          <p:nvPr/>
        </p:nvSpPr>
        <p:spPr>
          <a:xfrm>
            <a:off x="165628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3889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목표(안)는 기존 부기 사업 안내와 지난 부기 제안서(2026. 10. 2.)의 성과지표를 옮기고, 3년차와 6년차 값은 같은 운영이 이어진다는 가정에서 정한 안으로 교육청과 협의해 확정함. 측정은 플랫폼 자동 집계와 학기 초, 학기 말 설문. 완독률 = 완독한 권수 ÷ 읽기 시작한 권수.</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33</a:t>
            </a:r>
            <a:endParaRPr lang="en-US" sz="12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6240488" cy="914400"/>
        </p:xfrm>
        <a:graphic>
          <a:graphicData uri="http://schemas.openxmlformats.org/drawingml/2006/table">
            <a:tbl>
              <a:tblPr/>
              <a:tblGrid>
                <a:gridCol w="914400"/>
                <a:gridCol w="2011680"/>
                <a:gridCol w="1078992"/>
                <a:gridCol w="1078992"/>
                <a:gridCol w="1156424"/>
              </a:tblGrid>
              <a:tr h="62179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영역</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지표(자동 집계)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1년차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3년차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6년차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독서량</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1인 월평균 완독 권수</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증가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50%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증가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2배</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어휘력</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진단 평균 정답률</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5%p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10%p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15%p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문해력</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「천천히 다지기」 학생 비율</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감소</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40%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감소</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절반</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이하</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참여</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독후활동과 인물 대화 참여</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유지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수업</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독서수업 운영 학급 비율</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80%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만족도</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학생, 교사 만족도(설문)</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Shape 11"/>
          <p:cNvSpPr/>
          <p:nvPr/>
        </p:nvSpPr>
        <p:spPr>
          <a:xfrm>
            <a:off x="7063448" y="2020824"/>
            <a:ext cx="118872" cy="118872"/>
          </a:xfrm>
          <a:prstGeom prst="ellipse">
            <a:avLst/>
          </a:prstGeom>
          <a:solidFill>
            <a:srgbClr val="2F7D4F"/>
          </a:solidFill>
          <a:ln/>
        </p:spPr>
      </p:sp>
      <p:sp>
        <p:nvSpPr>
          <p:cNvPr id="16" name="Text 12"/>
          <p:cNvSpPr txBox="1"/>
          <p:nvPr/>
        </p:nvSpPr>
        <p:spPr>
          <a:xfrm>
            <a:off x="7282904" y="1883664"/>
            <a:ext cx="4622584"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지표 변화 전망(안)</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시작 = 100</a:t>
            </a:r>
            <a:endParaRPr lang="en-US" sz="1650" dirty="0"/>
          </a:p>
        </p:txBody>
      </p:sp>
      <p:graphicFrame>
        <p:nvGraphicFramePr>
          <p:cNvPr id="17" name="Chart 0" descr=""/>
          <p:cNvGraphicFramePr/>
          <p:nvPr/>
        </p:nvGraphicFramePr>
        <p:xfrm>
          <a:off x="7017728" y="2304288"/>
          <a:ext cx="4714024" cy="3127248"/>
        </p:xfrm>
        <a:graphic xmlns:a="http://schemas.openxmlformats.org/drawingml/2006/main">
          <a:graphicData uri="http://schemas.openxmlformats.org/drawingml/2006/chart">
            <c:chart xmlns:c="http://schemas.openxmlformats.org/drawingml/2006/chart" r:id="rId2"/>
          </a:graphicData>
        </a:graphic>
      </p:graphicFrame>
      <p:sp>
        <p:nvSpPr>
          <p:cNvPr id="18" name="Shape 13"/>
          <p:cNvSpPr/>
          <p:nvPr/>
        </p:nvSpPr>
        <p:spPr>
          <a:xfrm>
            <a:off x="7063448" y="5541264"/>
            <a:ext cx="4622584" cy="731520"/>
          </a:xfrm>
          <a:prstGeom prst="roundRect">
            <a:avLst>
              <a:gd name="adj" fmla="val 12500"/>
            </a:avLst>
          </a:prstGeom>
          <a:solidFill>
            <a:srgbClr val="20342A"/>
          </a:solidFill>
          <a:ln/>
        </p:spPr>
      </p:sp>
      <p:sp>
        <p:nvSpPr>
          <p:cNvPr id="19" name="Text 14"/>
          <p:cNvSpPr txBox="1"/>
          <p:nvPr/>
        </p:nvSpPr>
        <p:spPr>
          <a:xfrm>
            <a:off x="7246328" y="5541264"/>
            <a:ext cx="4256824" cy="731520"/>
          </a:xfrm>
          <a:prstGeom prst="rect">
            <a:avLst/>
          </a:prstGeom>
          <a:noFill/>
          <a:ln/>
        </p:spPr>
        <p:txBody>
          <a:bodyPr wrap="square" lIns="0" tIns="0" rIns="0" bIns="0" rtlCol="0" anchor="ctr"/>
          <a:lstStyle/>
          <a:p>
            <a:pPr indent="0" marL="0">
              <a:lnSpc>
                <a:spcPct val="120000"/>
              </a:lnSpc>
              <a:buNone/>
            </a:pPr>
            <a:r>
              <a:rPr lang="en-US" sz="1450" dirty="0">
                <a:solidFill>
                  <a:srgbClr val="F2D58A"/>
                </a:solidFill>
                <a:latin typeface="Freesentation 7 Bold" pitchFamily="34" charset="0"/>
                <a:ea typeface="Freesentation 7 Bold" pitchFamily="34" charset="-122"/>
                <a:cs typeface="Freesentation 7 Bold" pitchFamily="34" charset="-120"/>
              </a:rPr>
              <a:t>교육청이 매달 받는 숫자  </a:t>
            </a:r>
            <a:endParaRPr lang="en-US" sz="1650" dirty="0"/>
          </a:p>
          <a:p>
            <a:pPr indent="0" marL="0">
              <a:lnSpc>
                <a:spcPct val="120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학교별 완독, 완독률, 어휘력 변화, 운영 학급, 연수 이수 교사</a:t>
            </a:r>
            <a:endParaRPr lang="en-US" sz="16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교육 효과 연구 용역(안)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숫자와 교사의 말을 함께 담는 연구로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정책에 반영할 근거</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를 만듭니다</a:t>
            </a:r>
            <a:endParaRPr lang="en-US" sz="1400" dirty="0"/>
          </a:p>
        </p:txBody>
      </p:sp>
      <p:sp>
        <p:nvSpPr>
          <p:cNvPr id="10" name="Text 7"/>
          <p:cNvSpPr txBox="1"/>
          <p:nvPr/>
        </p:nvSpPr>
        <p:spPr>
          <a:xfrm>
            <a:off x="242483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7034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연구 기관, 척도, 표본 크기는 교육청과 협의해 정함. 연구 윤리 심의와 보호자 동의를 거친 학생 자료만 쓰며, 결과는 효과가 나타나지 않은 항목도 함께 보고함.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34</a:t>
            </a:r>
            <a:endParaRPr lang="en-US" sz="1250" dirty="0"/>
          </a:p>
        </p:txBody>
      </p:sp>
      <p:sp>
        <p:nvSpPr>
          <p:cNvPr id="14" name="Shape 11"/>
          <p:cNvSpPr/>
          <p:nvPr/>
        </p:nvSpPr>
        <p:spPr>
          <a:xfrm>
            <a:off x="502920" y="1920240"/>
            <a:ext cx="5454396" cy="457200"/>
          </a:xfrm>
          <a:prstGeom prst="roundRect">
            <a:avLst>
              <a:gd name="adj" fmla="val 16000"/>
            </a:avLst>
          </a:prstGeom>
          <a:solidFill>
            <a:srgbClr val="2B4637"/>
          </a:solidFill>
          <a:ln/>
        </p:spPr>
      </p:sp>
      <p:pic>
        <p:nvPicPr>
          <p:cNvPr id="15" name="Image 1" descr="chart-bar">    </p:cNvPr>
          <p:cNvPicPr>
            <a:picLocks noChangeAspect="1"/>
          </p:cNvPicPr>
          <p:nvPr/>
        </p:nvPicPr>
        <p:blipFill>
          <a:blip r:embed="rId2"/>
          <a:stretch>
            <a:fillRect/>
          </a:stretch>
        </p:blipFill>
        <p:spPr>
          <a:xfrm>
            <a:off x="649224" y="2011680"/>
            <a:ext cx="274320" cy="274320"/>
          </a:xfrm>
          <a:prstGeom prst="rect">
            <a:avLst/>
          </a:prstGeom>
        </p:spPr>
      </p:pic>
      <p:sp>
        <p:nvSpPr>
          <p:cNvPr id="16" name="Text 12"/>
          <p:cNvSpPr txBox="1"/>
          <p:nvPr/>
        </p:nvSpPr>
        <p:spPr>
          <a:xfrm>
            <a:off x="1014984" y="1920240"/>
            <a:ext cx="4814316" cy="457200"/>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양적 연구  얼마나 달라졌는가</a:t>
            </a:r>
            <a:endParaRPr lang="en-US" sz="1800" dirty="0"/>
          </a:p>
        </p:txBody>
      </p:sp>
      <p:sp>
        <p:nvSpPr>
          <p:cNvPr id="17" name="Shape 13"/>
          <p:cNvSpPr/>
          <p:nvPr/>
        </p:nvSpPr>
        <p:spPr>
          <a:xfrm>
            <a:off x="502920" y="2468880"/>
            <a:ext cx="5454396" cy="738378"/>
          </a:xfrm>
          <a:prstGeom prst="roundRect">
            <a:avLst>
              <a:gd name="adj" fmla="val 9907"/>
            </a:avLst>
          </a:prstGeom>
          <a:solidFill>
            <a:srgbClr val="FBF5E6"/>
          </a:solidFill>
          <a:ln w="9525">
            <a:solidFill>
              <a:srgbClr val="E2DCCB"/>
            </a:solidFill>
            <a:prstDash val="solid"/>
          </a:ln>
        </p:spPr>
      </p:sp>
      <p:sp>
        <p:nvSpPr>
          <p:cNvPr id="18" name="Text 14"/>
          <p:cNvSpPr txBox="1"/>
          <p:nvPr/>
        </p:nvSpPr>
        <p:spPr>
          <a:xfrm>
            <a:off x="667512" y="2468880"/>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수업 집중도</a:t>
            </a:r>
            <a:endParaRPr lang="en-US" sz="1650" dirty="0"/>
          </a:p>
        </p:txBody>
      </p:sp>
      <p:sp>
        <p:nvSpPr>
          <p:cNvPr id="19" name="Text 15"/>
          <p:cNvSpPr txBox="1"/>
          <p:nvPr/>
        </p:nvSpPr>
        <p:spPr>
          <a:xfrm>
            <a:off x="2286000" y="2468880"/>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교사 관찰 척도, 몰입 자기 보고</a:t>
            </a:r>
            <a:endParaRPr lang="en-US" sz="1500" dirty="0"/>
          </a:p>
        </p:txBody>
      </p:sp>
      <p:sp>
        <p:nvSpPr>
          <p:cNvPr id="20" name="Shape 16"/>
          <p:cNvSpPr/>
          <p:nvPr/>
        </p:nvSpPr>
        <p:spPr>
          <a:xfrm>
            <a:off x="502920" y="3271266"/>
            <a:ext cx="5454396" cy="738378"/>
          </a:xfrm>
          <a:prstGeom prst="roundRect">
            <a:avLst>
              <a:gd name="adj" fmla="val 9907"/>
            </a:avLst>
          </a:prstGeom>
          <a:solidFill>
            <a:srgbClr val="FFFFFF"/>
          </a:solidFill>
          <a:ln w="9525">
            <a:solidFill>
              <a:srgbClr val="E2DCCB"/>
            </a:solidFill>
            <a:prstDash val="solid"/>
          </a:ln>
        </p:spPr>
      </p:sp>
      <p:sp>
        <p:nvSpPr>
          <p:cNvPr id="21" name="Text 17"/>
          <p:cNvSpPr txBox="1"/>
          <p:nvPr/>
        </p:nvSpPr>
        <p:spPr>
          <a:xfrm>
            <a:off x="667512" y="3271266"/>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친구 관계</a:t>
            </a:r>
            <a:endParaRPr lang="en-US" sz="1650" dirty="0"/>
          </a:p>
        </p:txBody>
      </p:sp>
      <p:sp>
        <p:nvSpPr>
          <p:cNvPr id="22" name="Text 18"/>
          <p:cNvSpPr txBox="1"/>
          <p:nvPr/>
        </p:nvSpPr>
        <p:spPr>
          <a:xfrm>
            <a:off x="2286000" y="3271266"/>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공감 척도, 학급 분위기</a:t>
            </a:r>
            <a:endParaRPr lang="en-US" sz="1500" dirty="0"/>
          </a:p>
        </p:txBody>
      </p:sp>
      <p:sp>
        <p:nvSpPr>
          <p:cNvPr id="23" name="Shape 19"/>
          <p:cNvSpPr/>
          <p:nvPr/>
        </p:nvSpPr>
        <p:spPr>
          <a:xfrm>
            <a:off x="502920" y="4073652"/>
            <a:ext cx="5454396" cy="738378"/>
          </a:xfrm>
          <a:prstGeom prst="roundRect">
            <a:avLst>
              <a:gd name="adj" fmla="val 9907"/>
            </a:avLst>
          </a:prstGeom>
          <a:solidFill>
            <a:srgbClr val="FBF5E6"/>
          </a:solidFill>
          <a:ln w="9525">
            <a:solidFill>
              <a:srgbClr val="E2DCCB"/>
            </a:solidFill>
            <a:prstDash val="solid"/>
          </a:ln>
        </p:spPr>
      </p:sp>
      <p:sp>
        <p:nvSpPr>
          <p:cNvPr id="24" name="Text 20"/>
          <p:cNvSpPr txBox="1"/>
          <p:nvPr/>
        </p:nvSpPr>
        <p:spPr>
          <a:xfrm>
            <a:off x="667512" y="4073652"/>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마음 건강</a:t>
            </a:r>
            <a:endParaRPr lang="en-US" sz="1650" dirty="0"/>
          </a:p>
        </p:txBody>
      </p:sp>
      <p:sp>
        <p:nvSpPr>
          <p:cNvPr id="25" name="Text 21"/>
          <p:cNvSpPr txBox="1"/>
          <p:nvPr/>
        </p:nvSpPr>
        <p:spPr>
          <a:xfrm>
            <a:off x="2286000" y="4073652"/>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우울감, 정서, 자기 효능감 척도</a:t>
            </a:r>
            <a:endParaRPr lang="en-US" sz="1500" dirty="0"/>
          </a:p>
        </p:txBody>
      </p:sp>
      <p:sp>
        <p:nvSpPr>
          <p:cNvPr id="26" name="Shape 22"/>
          <p:cNvSpPr/>
          <p:nvPr/>
        </p:nvSpPr>
        <p:spPr>
          <a:xfrm>
            <a:off x="502920" y="4876038"/>
            <a:ext cx="5454396" cy="738378"/>
          </a:xfrm>
          <a:prstGeom prst="roundRect">
            <a:avLst>
              <a:gd name="adj" fmla="val 9907"/>
            </a:avLst>
          </a:prstGeom>
          <a:solidFill>
            <a:srgbClr val="FFFFFF"/>
          </a:solidFill>
          <a:ln w="9525">
            <a:solidFill>
              <a:srgbClr val="E2DCCB"/>
            </a:solidFill>
            <a:prstDash val="solid"/>
          </a:ln>
        </p:spPr>
      </p:sp>
      <p:sp>
        <p:nvSpPr>
          <p:cNvPr id="27" name="Text 23"/>
          <p:cNvSpPr txBox="1"/>
          <p:nvPr/>
        </p:nvSpPr>
        <p:spPr>
          <a:xfrm>
            <a:off x="667512" y="4876038"/>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독서와 문해력</a:t>
            </a:r>
            <a:endParaRPr lang="en-US" sz="1650" dirty="0"/>
          </a:p>
        </p:txBody>
      </p:sp>
      <p:sp>
        <p:nvSpPr>
          <p:cNvPr id="28" name="Text 24"/>
          <p:cNvSpPr txBox="1"/>
          <p:nvPr/>
        </p:nvSpPr>
        <p:spPr>
          <a:xfrm>
            <a:off x="2286000" y="4876038"/>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완독 권수, 어휘력 회차별 변화</a:t>
            </a:r>
            <a:endParaRPr lang="en-US" sz="1500" dirty="0"/>
          </a:p>
        </p:txBody>
      </p:sp>
      <p:sp>
        <p:nvSpPr>
          <p:cNvPr id="29" name="Shape 25"/>
          <p:cNvSpPr/>
          <p:nvPr/>
        </p:nvSpPr>
        <p:spPr>
          <a:xfrm>
            <a:off x="502920" y="5705856"/>
            <a:ext cx="5454396" cy="566928"/>
          </a:xfrm>
          <a:prstGeom prst="roundRect">
            <a:avLst>
              <a:gd name="adj" fmla="val 12903"/>
            </a:avLst>
          </a:prstGeom>
          <a:solidFill>
            <a:srgbClr val="E6F0E7"/>
          </a:solidFill>
          <a:ln/>
        </p:spPr>
      </p:sp>
      <p:sp>
        <p:nvSpPr>
          <p:cNvPr id="30" name="Text 26"/>
          <p:cNvSpPr txBox="1"/>
          <p:nvPr/>
        </p:nvSpPr>
        <p:spPr>
          <a:xfrm>
            <a:off x="667512" y="5705856"/>
            <a:ext cx="5125212" cy="566928"/>
          </a:xfrm>
          <a:prstGeom prst="rect">
            <a:avLst/>
          </a:prstGeom>
          <a:noFill/>
          <a:ln/>
        </p:spPr>
        <p:txBody>
          <a:bodyPr wrap="square" lIns="0" tIns="0" rIns="0" bIns="0" rtlCol="0" anchor="ctr"/>
          <a:lstStyle/>
          <a:p>
            <a:pPr indent="0" marL="0">
              <a:lnSpc>
                <a:spcPct val="112000"/>
              </a:lnSpc>
              <a:buNone/>
            </a:pPr>
            <a:r>
              <a:rPr lang="en-US" sz="1450" dirty="0">
                <a:solidFill>
                  <a:srgbClr val="1F2B20"/>
                </a:solidFill>
                <a:latin typeface="Freesentation 5 Medium" pitchFamily="34" charset="0"/>
                <a:ea typeface="Freesentation 5 Medium" pitchFamily="34" charset="-122"/>
                <a:cs typeface="Freesentation 5 Medium" pitchFamily="34" charset="-120"/>
              </a:rPr>
              <a:t>참여 학급과 비교 학급, 3월과 7월 같은 문항</a:t>
            </a:r>
            <a:endParaRPr lang="en-US" sz="1450" dirty="0"/>
          </a:p>
        </p:txBody>
      </p:sp>
      <p:sp>
        <p:nvSpPr>
          <p:cNvPr id="31" name="Shape 27"/>
          <p:cNvSpPr/>
          <p:nvPr/>
        </p:nvSpPr>
        <p:spPr>
          <a:xfrm>
            <a:off x="6231636" y="1920240"/>
            <a:ext cx="5454396" cy="457200"/>
          </a:xfrm>
          <a:prstGeom prst="roundRect">
            <a:avLst>
              <a:gd name="adj" fmla="val 16000"/>
            </a:avLst>
          </a:prstGeom>
          <a:solidFill>
            <a:srgbClr val="2F7D4F"/>
          </a:solidFill>
          <a:ln/>
        </p:spPr>
      </p:sp>
      <p:pic>
        <p:nvPicPr>
          <p:cNvPr id="32" name="Image 2" descr="messages">    </p:cNvPr>
          <p:cNvPicPr>
            <a:picLocks noChangeAspect="1"/>
          </p:cNvPicPr>
          <p:nvPr/>
        </p:nvPicPr>
        <p:blipFill>
          <a:blip r:embed="rId3"/>
          <a:stretch>
            <a:fillRect/>
          </a:stretch>
        </p:blipFill>
        <p:spPr>
          <a:xfrm>
            <a:off x="6377940" y="2011680"/>
            <a:ext cx="274320" cy="274320"/>
          </a:xfrm>
          <a:prstGeom prst="rect">
            <a:avLst/>
          </a:prstGeom>
        </p:spPr>
      </p:pic>
      <p:sp>
        <p:nvSpPr>
          <p:cNvPr id="33" name="Text 28"/>
          <p:cNvSpPr txBox="1"/>
          <p:nvPr/>
        </p:nvSpPr>
        <p:spPr>
          <a:xfrm>
            <a:off x="6743700" y="1920240"/>
            <a:ext cx="4814316" cy="457200"/>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질적 연구  어떻게 달라졌는가</a:t>
            </a:r>
            <a:endParaRPr lang="en-US" sz="1800" dirty="0"/>
          </a:p>
        </p:txBody>
      </p:sp>
      <p:sp>
        <p:nvSpPr>
          <p:cNvPr id="34" name="Shape 29"/>
          <p:cNvSpPr/>
          <p:nvPr/>
        </p:nvSpPr>
        <p:spPr>
          <a:xfrm>
            <a:off x="6231636" y="2468880"/>
            <a:ext cx="5454396" cy="738378"/>
          </a:xfrm>
          <a:prstGeom prst="roundRect">
            <a:avLst>
              <a:gd name="adj" fmla="val 9907"/>
            </a:avLst>
          </a:prstGeom>
          <a:solidFill>
            <a:srgbClr val="FBF5E6"/>
          </a:solidFill>
          <a:ln w="9525">
            <a:solidFill>
              <a:srgbClr val="E2DCCB"/>
            </a:solidFill>
            <a:prstDash val="solid"/>
          </a:ln>
        </p:spPr>
      </p:sp>
      <p:sp>
        <p:nvSpPr>
          <p:cNvPr id="35" name="Text 30"/>
          <p:cNvSpPr txBox="1"/>
          <p:nvPr/>
        </p:nvSpPr>
        <p:spPr>
          <a:xfrm>
            <a:off x="6396228" y="2468880"/>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교사 면담</a:t>
            </a:r>
            <a:endParaRPr lang="en-US" sz="1650" dirty="0"/>
          </a:p>
        </p:txBody>
      </p:sp>
      <p:sp>
        <p:nvSpPr>
          <p:cNvPr id="36" name="Text 31"/>
          <p:cNvSpPr txBox="1"/>
          <p:nvPr/>
        </p:nvSpPr>
        <p:spPr>
          <a:xfrm>
            <a:off x="8014716" y="2468880"/>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반 분위기와 학생 관계의 변화</a:t>
            </a:r>
            <a:endParaRPr lang="en-US" sz="1500" dirty="0"/>
          </a:p>
        </p:txBody>
      </p:sp>
      <p:sp>
        <p:nvSpPr>
          <p:cNvPr id="37" name="Shape 32"/>
          <p:cNvSpPr/>
          <p:nvPr/>
        </p:nvSpPr>
        <p:spPr>
          <a:xfrm>
            <a:off x="6231636" y="3271266"/>
            <a:ext cx="5454396" cy="738378"/>
          </a:xfrm>
          <a:prstGeom prst="roundRect">
            <a:avLst>
              <a:gd name="adj" fmla="val 9907"/>
            </a:avLst>
          </a:prstGeom>
          <a:solidFill>
            <a:srgbClr val="FFFFFF"/>
          </a:solidFill>
          <a:ln w="9525">
            <a:solidFill>
              <a:srgbClr val="E2DCCB"/>
            </a:solidFill>
            <a:prstDash val="solid"/>
          </a:ln>
        </p:spPr>
      </p:sp>
      <p:sp>
        <p:nvSpPr>
          <p:cNvPr id="38" name="Text 33"/>
          <p:cNvSpPr txBox="1"/>
          <p:nvPr/>
        </p:nvSpPr>
        <p:spPr>
          <a:xfrm>
            <a:off x="6396228" y="3271266"/>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수업 관찰</a:t>
            </a:r>
            <a:endParaRPr lang="en-US" sz="1650" dirty="0"/>
          </a:p>
        </p:txBody>
      </p:sp>
      <p:sp>
        <p:nvSpPr>
          <p:cNvPr id="39" name="Text 34"/>
          <p:cNvSpPr txBox="1"/>
          <p:nvPr/>
        </p:nvSpPr>
        <p:spPr>
          <a:xfrm>
            <a:off x="8014716" y="3271266"/>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온책읽기 차시 참관 기록</a:t>
            </a:r>
            <a:endParaRPr lang="en-US" sz="1500" dirty="0"/>
          </a:p>
        </p:txBody>
      </p:sp>
      <p:sp>
        <p:nvSpPr>
          <p:cNvPr id="40" name="Shape 35"/>
          <p:cNvSpPr/>
          <p:nvPr/>
        </p:nvSpPr>
        <p:spPr>
          <a:xfrm>
            <a:off x="6231636" y="4073652"/>
            <a:ext cx="5454396" cy="738378"/>
          </a:xfrm>
          <a:prstGeom prst="roundRect">
            <a:avLst>
              <a:gd name="adj" fmla="val 9907"/>
            </a:avLst>
          </a:prstGeom>
          <a:solidFill>
            <a:srgbClr val="FBF5E6"/>
          </a:solidFill>
          <a:ln w="9525">
            <a:solidFill>
              <a:srgbClr val="E2DCCB"/>
            </a:solidFill>
            <a:prstDash val="solid"/>
          </a:ln>
        </p:spPr>
      </p:sp>
      <p:sp>
        <p:nvSpPr>
          <p:cNvPr id="41" name="Text 36"/>
          <p:cNvSpPr txBox="1"/>
          <p:nvPr/>
        </p:nvSpPr>
        <p:spPr>
          <a:xfrm>
            <a:off x="6396228" y="4073652"/>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학생의 글</a:t>
            </a:r>
            <a:endParaRPr lang="en-US" sz="1650" dirty="0"/>
          </a:p>
        </p:txBody>
      </p:sp>
      <p:sp>
        <p:nvSpPr>
          <p:cNvPr id="42" name="Text 37"/>
          <p:cNvSpPr txBox="1"/>
          <p:nvPr/>
        </p:nvSpPr>
        <p:spPr>
          <a:xfrm>
            <a:off x="8014716" y="4073652"/>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편지, 말풍선 등 독후활동 글 분석</a:t>
            </a:r>
            <a:endParaRPr lang="en-US" sz="1500" dirty="0"/>
          </a:p>
        </p:txBody>
      </p:sp>
      <p:sp>
        <p:nvSpPr>
          <p:cNvPr id="43" name="Shape 38"/>
          <p:cNvSpPr/>
          <p:nvPr/>
        </p:nvSpPr>
        <p:spPr>
          <a:xfrm>
            <a:off x="6231636" y="4876038"/>
            <a:ext cx="5454396" cy="738378"/>
          </a:xfrm>
          <a:prstGeom prst="roundRect">
            <a:avLst>
              <a:gd name="adj" fmla="val 9907"/>
            </a:avLst>
          </a:prstGeom>
          <a:solidFill>
            <a:srgbClr val="FFFFFF"/>
          </a:solidFill>
          <a:ln w="9525">
            <a:solidFill>
              <a:srgbClr val="E2DCCB"/>
            </a:solidFill>
            <a:prstDash val="solid"/>
          </a:ln>
        </p:spPr>
      </p:sp>
      <p:sp>
        <p:nvSpPr>
          <p:cNvPr id="44" name="Text 39"/>
          <p:cNvSpPr txBox="1"/>
          <p:nvPr/>
        </p:nvSpPr>
        <p:spPr>
          <a:xfrm>
            <a:off x="6396228" y="4876038"/>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사례집</a:t>
            </a:r>
            <a:endParaRPr lang="en-US" sz="1650" dirty="0"/>
          </a:p>
        </p:txBody>
      </p:sp>
      <p:sp>
        <p:nvSpPr>
          <p:cNvPr id="45" name="Text 40"/>
          <p:cNvSpPr txBox="1"/>
          <p:nvPr/>
        </p:nvSpPr>
        <p:spPr>
          <a:xfrm>
            <a:off x="8014716" y="4876038"/>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이름을 밝힌 수업 사례와 학생 후기</a:t>
            </a:r>
            <a:endParaRPr lang="en-US" sz="1500" dirty="0"/>
          </a:p>
        </p:txBody>
      </p:sp>
      <p:sp>
        <p:nvSpPr>
          <p:cNvPr id="46" name="Shape 41"/>
          <p:cNvSpPr/>
          <p:nvPr/>
        </p:nvSpPr>
        <p:spPr>
          <a:xfrm>
            <a:off x="6231636" y="5705856"/>
            <a:ext cx="5454396" cy="566928"/>
          </a:xfrm>
          <a:prstGeom prst="roundRect">
            <a:avLst>
              <a:gd name="adj" fmla="val 12903"/>
            </a:avLst>
          </a:prstGeom>
          <a:solidFill>
            <a:srgbClr val="E6F0E7"/>
          </a:solidFill>
          <a:ln/>
        </p:spPr>
      </p:sp>
      <p:sp>
        <p:nvSpPr>
          <p:cNvPr id="47" name="Text 42"/>
          <p:cNvSpPr txBox="1"/>
          <p:nvPr/>
        </p:nvSpPr>
        <p:spPr>
          <a:xfrm>
            <a:off x="6396228" y="5705856"/>
            <a:ext cx="5125212" cy="566928"/>
          </a:xfrm>
          <a:prstGeom prst="rect">
            <a:avLst/>
          </a:prstGeom>
          <a:noFill/>
          <a:ln/>
        </p:spPr>
        <p:txBody>
          <a:bodyPr wrap="square" lIns="0" tIns="0" rIns="0" bIns="0" rtlCol="0" anchor="ctr"/>
          <a:lstStyle/>
          <a:p>
            <a:pPr indent="0" marL="0">
              <a:lnSpc>
                <a:spcPct val="112000"/>
              </a:lnSpc>
              <a:buNone/>
            </a:pPr>
            <a:r>
              <a:rPr lang="en-US" sz="1450" dirty="0">
                <a:solidFill>
                  <a:srgbClr val="1F2B20"/>
                </a:solidFill>
                <a:latin typeface="Freesentation 5 Medium" pitchFamily="34" charset="0"/>
                <a:ea typeface="Freesentation 5 Medium" pitchFamily="34" charset="-122"/>
                <a:cs typeface="Freesentation 5 Medium" pitchFamily="34" charset="-120"/>
              </a:rPr>
              <a:t>독서수업 운영 모델과 정책 제안으로 정리</a:t>
            </a:r>
            <a:endParaRPr lang="en-US" sz="14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선도교사단 운영 현황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경상남도 내 초등학교 30곳</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의 선도교사단과 수업을 운영하며 현장 의견을 반영합니다</a:t>
            </a:r>
            <a:endParaRPr lang="en-US" sz="1400" dirty="0"/>
          </a:p>
        </p:txBody>
      </p:sp>
      <p:sp>
        <p:nvSpPr>
          <p:cNvPr id="10" name="Text 7"/>
          <p:cNvSpPr txBox="1"/>
          <p:nvPr/>
        </p:nvSpPr>
        <p:spPr>
          <a:xfrm>
            <a:off x="172293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97224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선도교사단 계정 현황(2026. 10. 28.), 선도교사단 온오프라인 운영 결과 종합(2026. 9. 20.~10. 21.).</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35</a:t>
            </a:r>
            <a:endParaRPr lang="en-US" sz="1250" dirty="0"/>
          </a:p>
        </p:txBody>
      </p:sp>
      <p:sp>
        <p:nvSpPr>
          <p:cNvPr id="14" name="Shape 11"/>
          <p:cNvSpPr/>
          <p:nvPr/>
        </p:nvSpPr>
        <p:spPr>
          <a:xfrm>
            <a:off x="502920" y="1920240"/>
            <a:ext cx="2644902" cy="1051560"/>
          </a:xfrm>
          <a:prstGeom prst="roundRect">
            <a:avLst>
              <a:gd name="adj" fmla="val 6957"/>
            </a:avLst>
          </a:prstGeom>
          <a:solidFill>
            <a:srgbClr val="FBF5E6"/>
          </a:solidFill>
          <a:ln/>
        </p:spPr>
      </p:sp>
      <p:sp>
        <p:nvSpPr>
          <p:cNvPr id="15" name="Text 12"/>
          <p:cNvSpPr txBox="1"/>
          <p:nvPr/>
        </p:nvSpPr>
        <p:spPr>
          <a:xfrm>
            <a:off x="649224" y="2029968"/>
            <a:ext cx="2370582" cy="502920"/>
          </a:xfrm>
          <a:prstGeom prst="rect">
            <a:avLst/>
          </a:prstGeom>
          <a:noFill/>
          <a:ln/>
        </p:spPr>
        <p:txBody>
          <a:bodyPr wrap="square" lIns="0" tIns="0" rIns="0" bIns="0" rtlCol="0" anchor="ct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30</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곳</a:t>
            </a:r>
            <a:endParaRPr lang="en-US" sz="1650" dirty="0"/>
          </a:p>
        </p:txBody>
      </p:sp>
      <p:sp>
        <p:nvSpPr>
          <p:cNvPr id="16" name="Text 13"/>
          <p:cNvSpPr txBox="1"/>
          <p:nvPr/>
        </p:nvSpPr>
        <p:spPr>
          <a:xfrm>
            <a:off x="649224" y="2569464"/>
            <a:ext cx="2370582" cy="329184"/>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경상남도 내 초등학교</a:t>
            </a:r>
            <a:endParaRPr lang="en-US" sz="1550" dirty="0"/>
          </a:p>
        </p:txBody>
      </p:sp>
      <p:sp>
        <p:nvSpPr>
          <p:cNvPr id="17" name="Shape 14"/>
          <p:cNvSpPr/>
          <p:nvPr/>
        </p:nvSpPr>
        <p:spPr>
          <a:xfrm>
            <a:off x="3348990" y="1920240"/>
            <a:ext cx="2644902" cy="1051560"/>
          </a:xfrm>
          <a:prstGeom prst="roundRect">
            <a:avLst>
              <a:gd name="adj" fmla="val 6957"/>
            </a:avLst>
          </a:prstGeom>
          <a:solidFill>
            <a:srgbClr val="FFFFFF"/>
          </a:solidFill>
          <a:ln/>
        </p:spPr>
      </p:sp>
      <p:sp>
        <p:nvSpPr>
          <p:cNvPr id="18" name="Text 15"/>
          <p:cNvSpPr txBox="1"/>
          <p:nvPr/>
        </p:nvSpPr>
        <p:spPr>
          <a:xfrm>
            <a:off x="3495294" y="2029968"/>
            <a:ext cx="2370582" cy="502920"/>
          </a:xfrm>
          <a:prstGeom prst="rect">
            <a:avLst/>
          </a:prstGeom>
          <a:noFill/>
          <a:ln/>
        </p:spPr>
        <p:txBody>
          <a:bodyPr wrap="square" lIns="0" tIns="0" rIns="0" bIns="0" rtlCol="0" anchor="ct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72</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학급</a:t>
            </a:r>
            <a:endParaRPr lang="en-US" sz="1650" dirty="0"/>
          </a:p>
        </p:txBody>
      </p:sp>
      <p:sp>
        <p:nvSpPr>
          <p:cNvPr id="19" name="Text 16"/>
          <p:cNvSpPr txBox="1"/>
          <p:nvPr/>
        </p:nvSpPr>
        <p:spPr>
          <a:xfrm>
            <a:off x="3495294" y="2569464"/>
            <a:ext cx="2370582" cy="329184"/>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온오프라인 운영 결과 집계</a:t>
            </a:r>
            <a:endParaRPr lang="en-US" sz="1550" dirty="0"/>
          </a:p>
        </p:txBody>
      </p:sp>
      <p:sp>
        <p:nvSpPr>
          <p:cNvPr id="20" name="Shape 17"/>
          <p:cNvSpPr/>
          <p:nvPr/>
        </p:nvSpPr>
        <p:spPr>
          <a:xfrm>
            <a:off x="6195060" y="1920240"/>
            <a:ext cx="2644902" cy="1051560"/>
          </a:xfrm>
          <a:prstGeom prst="roundRect">
            <a:avLst>
              <a:gd name="adj" fmla="val 6957"/>
            </a:avLst>
          </a:prstGeom>
          <a:solidFill>
            <a:srgbClr val="FFFFFF"/>
          </a:solidFill>
          <a:ln/>
        </p:spPr>
      </p:sp>
      <p:sp>
        <p:nvSpPr>
          <p:cNvPr id="21" name="Text 18"/>
          <p:cNvSpPr txBox="1"/>
          <p:nvPr/>
        </p:nvSpPr>
        <p:spPr>
          <a:xfrm>
            <a:off x="6341364" y="2029968"/>
            <a:ext cx="2370582" cy="502920"/>
          </a:xfrm>
          <a:prstGeom prst="rect">
            <a:avLst/>
          </a:prstGeom>
          <a:noFill/>
          <a:ln/>
        </p:spPr>
        <p:txBody>
          <a:bodyPr wrap="square" lIns="0" tIns="0" rIns="0" bIns="0" rtlCol="0" anchor="ct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1,196</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명</a:t>
            </a:r>
            <a:endParaRPr lang="en-US" sz="1650" dirty="0"/>
          </a:p>
        </p:txBody>
      </p:sp>
      <p:sp>
        <p:nvSpPr>
          <p:cNvPr id="22" name="Text 19"/>
          <p:cNvSpPr txBox="1"/>
          <p:nvPr/>
        </p:nvSpPr>
        <p:spPr>
          <a:xfrm>
            <a:off x="6341364" y="2569464"/>
            <a:ext cx="2370582" cy="329184"/>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집계 기간 실제 사용 학생</a:t>
            </a:r>
            <a:endParaRPr lang="en-US" sz="1550" dirty="0"/>
          </a:p>
        </p:txBody>
      </p:sp>
      <p:sp>
        <p:nvSpPr>
          <p:cNvPr id="23" name="Shape 20"/>
          <p:cNvSpPr/>
          <p:nvPr/>
        </p:nvSpPr>
        <p:spPr>
          <a:xfrm>
            <a:off x="9041130" y="1920240"/>
            <a:ext cx="2644902" cy="1051560"/>
          </a:xfrm>
          <a:prstGeom prst="roundRect">
            <a:avLst>
              <a:gd name="adj" fmla="val 6957"/>
            </a:avLst>
          </a:prstGeom>
          <a:solidFill>
            <a:srgbClr val="FFFFFF"/>
          </a:solidFill>
          <a:ln/>
        </p:spPr>
      </p:sp>
      <p:sp>
        <p:nvSpPr>
          <p:cNvPr id="24" name="Text 21"/>
          <p:cNvSpPr txBox="1"/>
          <p:nvPr/>
        </p:nvSpPr>
        <p:spPr>
          <a:xfrm>
            <a:off x="9187434" y="2029968"/>
            <a:ext cx="2370582" cy="502920"/>
          </a:xfrm>
          <a:prstGeom prst="rect">
            <a:avLst/>
          </a:prstGeom>
          <a:noFill/>
          <a:ln/>
        </p:spPr>
        <p:txBody>
          <a:bodyPr wrap="square" lIns="0" tIns="0" rIns="0" bIns="0" rtlCol="0" anchor="ct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26,924</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권</a:t>
            </a:r>
            <a:endParaRPr lang="en-US" sz="1650" dirty="0"/>
          </a:p>
        </p:txBody>
      </p:sp>
      <p:sp>
        <p:nvSpPr>
          <p:cNvPr id="25" name="Text 22"/>
          <p:cNvSpPr txBox="1"/>
          <p:nvPr/>
        </p:nvSpPr>
        <p:spPr>
          <a:xfrm>
            <a:off x="9187434" y="2569464"/>
            <a:ext cx="2370582" cy="329184"/>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집계 기간 완독 기록</a:t>
            </a:r>
            <a:endParaRPr lang="en-US" sz="1550" dirty="0"/>
          </a:p>
        </p:txBody>
      </p:sp>
      <p:sp>
        <p:nvSpPr>
          <p:cNvPr id="26" name="Shape 23"/>
          <p:cNvSpPr/>
          <p:nvPr/>
        </p:nvSpPr>
        <p:spPr>
          <a:xfrm>
            <a:off x="502920" y="3392424"/>
            <a:ext cx="118872" cy="118872"/>
          </a:xfrm>
          <a:prstGeom prst="ellipse">
            <a:avLst/>
          </a:prstGeom>
          <a:solidFill>
            <a:srgbClr val="2F7D4F"/>
          </a:solidFill>
          <a:ln/>
        </p:spPr>
      </p:sp>
      <p:sp>
        <p:nvSpPr>
          <p:cNvPr id="27" name="Text 24"/>
          <p:cNvSpPr txBox="1"/>
          <p:nvPr/>
        </p:nvSpPr>
        <p:spPr>
          <a:xfrm>
            <a:off x="722376" y="3255264"/>
            <a:ext cx="11183112"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교실에서 쓰고, 학생의 반응을 보고, 다음 수업을 고칩니다</a:t>
            </a:r>
            <a:endParaRPr lang="en-US" sz="1650" dirty="0"/>
          </a:p>
        </p:txBody>
      </p:sp>
      <p:sp>
        <p:nvSpPr>
          <p:cNvPr id="28" name="Shape 25"/>
          <p:cNvSpPr/>
          <p:nvPr/>
        </p:nvSpPr>
        <p:spPr>
          <a:xfrm>
            <a:off x="502920" y="3858768"/>
            <a:ext cx="11183112" cy="548640"/>
          </a:xfrm>
          <a:prstGeom prst="roundRect">
            <a:avLst>
              <a:gd name="adj" fmla="val 13333"/>
            </a:avLst>
          </a:prstGeom>
          <a:solidFill>
            <a:srgbClr val="E6F0E7"/>
          </a:solidFill>
          <a:ln w="9525">
            <a:solidFill>
              <a:srgbClr val="E2DCCB"/>
            </a:solidFill>
            <a:prstDash val="solid"/>
          </a:ln>
        </p:spPr>
      </p:sp>
      <p:sp>
        <p:nvSpPr>
          <p:cNvPr id="29" name="Text 26"/>
          <p:cNvSpPr txBox="1"/>
          <p:nvPr/>
        </p:nvSpPr>
        <p:spPr>
          <a:xfrm>
            <a:off x="685800" y="3858768"/>
            <a:ext cx="1051560" cy="548640"/>
          </a:xfrm>
          <a:prstGeom prst="rect">
            <a:avLst/>
          </a:prstGeom>
          <a:noFill/>
          <a:ln/>
        </p:spPr>
        <p:txBody>
          <a:bodyPr wrap="square" lIns="0" tIns="0" rIns="0" bIns="0" rtlCol="0" anchor="ctr"/>
          <a:lstStyle/>
          <a:p>
            <a:pP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수업 전</a:t>
            </a:r>
            <a:endParaRPr lang="en-US" sz="1800" dirty="0"/>
          </a:p>
        </p:txBody>
      </p:sp>
      <p:sp>
        <p:nvSpPr>
          <p:cNvPr id="30" name="Text 27"/>
          <p:cNvSpPr txBox="1"/>
          <p:nvPr/>
        </p:nvSpPr>
        <p:spPr>
          <a:xfrm>
            <a:off x="1874520" y="3858768"/>
            <a:ext cx="9628632" cy="548640"/>
          </a:xfrm>
          <a:prstGeom prst="rect">
            <a:avLst/>
          </a:prstGeom>
          <a:noFill/>
          <a:ln/>
        </p:spPr>
        <p:txBody>
          <a:bodyPr wrap="square" lIns="0" tIns="0" rIns="0" bIns="0" rtlCol="0" anchor="ctr"/>
          <a:lstStyle/>
          <a:p>
            <a:pPr indent="0" marL="0">
              <a:lnSpc>
                <a:spcPct val="112000"/>
              </a:lnSpc>
              <a:buNone/>
            </a:pPr>
            <a:r>
              <a:rPr lang="en-US" sz="1600" dirty="0">
                <a:solidFill>
                  <a:srgbClr val="2E3A30"/>
                </a:solidFill>
                <a:latin typeface="Freesentation 4 Regular" pitchFamily="34" charset="0"/>
                <a:ea typeface="Freesentation 4 Regular" pitchFamily="34" charset="-122"/>
                <a:cs typeface="Freesentation 4 Regular" pitchFamily="34" charset="-120"/>
              </a:rPr>
              <a:t>우리 반의 듣기, 관계, 표현에서 풀고 싶은 문제를 고릅니다.</a:t>
            </a:r>
            <a:endParaRPr lang="en-US" sz="1600" dirty="0"/>
          </a:p>
        </p:txBody>
      </p:sp>
      <p:sp>
        <p:nvSpPr>
          <p:cNvPr id="31" name="Shape 28"/>
          <p:cNvSpPr/>
          <p:nvPr/>
        </p:nvSpPr>
        <p:spPr>
          <a:xfrm>
            <a:off x="502920" y="4498848"/>
            <a:ext cx="11183112" cy="548640"/>
          </a:xfrm>
          <a:prstGeom prst="roundRect">
            <a:avLst>
              <a:gd name="adj" fmla="val 13333"/>
            </a:avLst>
          </a:prstGeom>
          <a:solidFill>
            <a:srgbClr val="FFFFFF"/>
          </a:solidFill>
          <a:ln w="9525">
            <a:solidFill>
              <a:srgbClr val="E2DCCB"/>
            </a:solidFill>
            <a:prstDash val="solid"/>
          </a:ln>
        </p:spPr>
      </p:sp>
      <p:sp>
        <p:nvSpPr>
          <p:cNvPr id="32" name="Text 29"/>
          <p:cNvSpPr txBox="1"/>
          <p:nvPr/>
        </p:nvSpPr>
        <p:spPr>
          <a:xfrm>
            <a:off x="685800" y="4498848"/>
            <a:ext cx="1051560" cy="548640"/>
          </a:xfrm>
          <a:prstGeom prst="rect">
            <a:avLst/>
          </a:prstGeom>
          <a:noFill/>
          <a:ln/>
        </p:spPr>
        <p:txBody>
          <a:bodyPr wrap="square" lIns="0" tIns="0" rIns="0" bIns="0" rtlCol="0" anchor="ctr"/>
          <a:lstStyle/>
          <a:p>
            <a:pP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수업 중</a:t>
            </a:r>
            <a:endParaRPr lang="en-US" sz="1800" dirty="0"/>
          </a:p>
        </p:txBody>
      </p:sp>
      <p:sp>
        <p:nvSpPr>
          <p:cNvPr id="33" name="Text 30"/>
          <p:cNvSpPr txBox="1"/>
          <p:nvPr/>
        </p:nvSpPr>
        <p:spPr>
          <a:xfrm>
            <a:off x="1874520" y="4498848"/>
            <a:ext cx="9628632" cy="548640"/>
          </a:xfrm>
          <a:prstGeom prst="rect">
            <a:avLst/>
          </a:prstGeom>
          <a:noFill/>
          <a:ln/>
        </p:spPr>
        <p:txBody>
          <a:bodyPr wrap="square" lIns="0" tIns="0" rIns="0" bIns="0" rtlCol="0" anchor="ctr"/>
          <a:lstStyle/>
          <a:p>
            <a:pPr indent="0" marL="0">
              <a:lnSpc>
                <a:spcPct val="112000"/>
              </a:lnSpc>
              <a:buNone/>
            </a:pPr>
            <a:r>
              <a:rPr lang="en-US" sz="1600" dirty="0">
                <a:solidFill>
                  <a:srgbClr val="2E3A30"/>
                </a:solidFill>
                <a:latin typeface="Freesentation 4 Regular" pitchFamily="34" charset="0"/>
                <a:ea typeface="Freesentation 4 Regular" pitchFamily="34" charset="-122"/>
                <a:cs typeface="Freesentation 4 Regular" pitchFamily="34" charset="-120"/>
              </a:rPr>
              <a:t>같은 책을 읽고 인물의 감정과 선택을 이야기합니다. 온라인과 인쇄 활동지를 함께 씁니다.</a:t>
            </a:r>
            <a:endParaRPr lang="en-US" sz="1600" dirty="0"/>
          </a:p>
        </p:txBody>
      </p:sp>
      <p:sp>
        <p:nvSpPr>
          <p:cNvPr id="34" name="Shape 31"/>
          <p:cNvSpPr/>
          <p:nvPr/>
        </p:nvSpPr>
        <p:spPr>
          <a:xfrm>
            <a:off x="502920" y="5138928"/>
            <a:ext cx="11183112" cy="548640"/>
          </a:xfrm>
          <a:prstGeom prst="roundRect">
            <a:avLst>
              <a:gd name="adj" fmla="val 13333"/>
            </a:avLst>
          </a:prstGeom>
          <a:solidFill>
            <a:srgbClr val="E6F0E7"/>
          </a:solidFill>
          <a:ln w="9525">
            <a:solidFill>
              <a:srgbClr val="E2DCCB"/>
            </a:solidFill>
            <a:prstDash val="solid"/>
          </a:ln>
        </p:spPr>
      </p:sp>
      <p:sp>
        <p:nvSpPr>
          <p:cNvPr id="35" name="Text 32"/>
          <p:cNvSpPr txBox="1"/>
          <p:nvPr/>
        </p:nvSpPr>
        <p:spPr>
          <a:xfrm>
            <a:off x="685800" y="5138928"/>
            <a:ext cx="1051560" cy="548640"/>
          </a:xfrm>
          <a:prstGeom prst="rect">
            <a:avLst/>
          </a:prstGeom>
          <a:noFill/>
          <a:ln/>
        </p:spPr>
        <p:txBody>
          <a:bodyPr wrap="square" lIns="0" tIns="0" rIns="0" bIns="0" rtlCol="0" anchor="ctr"/>
          <a:lstStyle/>
          <a:p>
            <a:pP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수업 후</a:t>
            </a:r>
            <a:endParaRPr lang="en-US" sz="1800" dirty="0"/>
          </a:p>
        </p:txBody>
      </p:sp>
      <p:sp>
        <p:nvSpPr>
          <p:cNvPr id="36" name="Text 33"/>
          <p:cNvSpPr txBox="1"/>
          <p:nvPr/>
        </p:nvSpPr>
        <p:spPr>
          <a:xfrm>
            <a:off x="1874520" y="5138928"/>
            <a:ext cx="9628632" cy="548640"/>
          </a:xfrm>
          <a:prstGeom prst="rect">
            <a:avLst/>
          </a:prstGeom>
          <a:noFill/>
          <a:ln/>
        </p:spPr>
        <p:txBody>
          <a:bodyPr wrap="square" lIns="0" tIns="0" rIns="0" bIns="0" rtlCol="0" anchor="ctr"/>
          <a:lstStyle/>
          <a:p>
            <a:pPr indent="0" marL="0">
              <a:lnSpc>
                <a:spcPct val="112000"/>
              </a:lnSpc>
              <a:buNone/>
            </a:pPr>
            <a:r>
              <a:rPr lang="en-US" sz="1600" dirty="0">
                <a:solidFill>
                  <a:srgbClr val="2E3A30"/>
                </a:solidFill>
                <a:latin typeface="Freesentation 4 Regular" pitchFamily="34" charset="0"/>
                <a:ea typeface="Freesentation 4 Regular" pitchFamily="34" charset="-122"/>
                <a:cs typeface="Freesentation 4 Regular" pitchFamily="34" charset="-120"/>
              </a:rPr>
              <a:t>학생의 답과 교사의 관찰을 살펴 질문, 활동, 읽기 도움을 보완합니다.</a:t>
            </a:r>
            <a:endParaRPr lang="en-US" sz="1600" dirty="0"/>
          </a:p>
        </p:txBody>
      </p:sp>
      <p:sp>
        <p:nvSpPr>
          <p:cNvPr id="37" name="Shape 34"/>
          <p:cNvSpPr/>
          <p:nvPr/>
        </p:nvSpPr>
        <p:spPr>
          <a:xfrm>
            <a:off x="502920" y="5742432"/>
            <a:ext cx="11183112" cy="530352"/>
          </a:xfrm>
          <a:prstGeom prst="roundRect">
            <a:avLst>
              <a:gd name="adj" fmla="val 13793"/>
            </a:avLst>
          </a:prstGeom>
          <a:solidFill>
            <a:srgbClr val="20342A"/>
          </a:solidFill>
          <a:ln/>
        </p:spPr>
      </p:sp>
      <p:pic>
        <p:nvPicPr>
          <p:cNvPr id="38" name="Image 1" descr="school">    </p:cNvPr>
          <p:cNvPicPr>
            <a:picLocks noChangeAspect="1"/>
          </p:cNvPicPr>
          <p:nvPr/>
        </p:nvPicPr>
        <p:blipFill>
          <a:blip r:embed="rId2"/>
          <a:stretch>
            <a:fillRect/>
          </a:stretch>
        </p:blipFill>
        <p:spPr>
          <a:xfrm>
            <a:off x="685800" y="5861304"/>
            <a:ext cx="292608" cy="292608"/>
          </a:xfrm>
          <a:prstGeom prst="rect">
            <a:avLst/>
          </a:prstGeom>
        </p:spPr>
      </p:pic>
      <p:sp>
        <p:nvSpPr>
          <p:cNvPr id="39" name="Text 35"/>
          <p:cNvSpPr txBox="1"/>
          <p:nvPr/>
        </p:nvSpPr>
        <p:spPr>
          <a:xfrm>
            <a:off x="1106424" y="5742432"/>
            <a:ext cx="10396728" cy="530352"/>
          </a:xfrm>
          <a:prstGeom prst="rect">
            <a:avLst/>
          </a:prstGeom>
          <a:noFill/>
          <a:ln/>
        </p:spPr>
        <p:txBody>
          <a:bodyPr wrap="square" lIns="0" tIns="0" rIns="0" bIns="0" rtlCol="0" anchor="ct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읽은 권수와 함께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학생이 듣고, 감정을 헤아리고, 자기 생각을 표현한 장면</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을 살핍니다.</a:t>
            </a:r>
            <a:endParaRPr lang="en-US" sz="16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선도교사단 온오프라인 운영 결과 종합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1850" dirty="0">
                <a:solidFill>
                  <a:srgbClr val="1F2B20"/>
                </a:solidFill>
                <a:latin typeface="Freesentation 6 SemiBold" pitchFamily="34" charset="0"/>
                <a:ea typeface="Freesentation 6 SemiBold" pitchFamily="34" charset="-122"/>
                <a:cs typeface="Freesentation 6 SemiBold" pitchFamily="34" charset="-120"/>
              </a:rPr>
              <a:t>선도교사단 72학급의 온오프라인 운영 결과, 한 달 동안 </a:t>
            </a:r>
            <a:pPr algn="ctr" indent="0" marL="0">
              <a:lnSpc>
                <a:spcPct val="112000"/>
              </a:lnSpc>
              <a:buNone/>
            </a:pPr>
            <a:r>
              <a:rPr lang="en-US" sz="1850" dirty="0">
                <a:solidFill>
                  <a:srgbClr val="20342A"/>
                </a:solidFill>
                <a:highlight>
                  <a:srgbClr val="F3DD9B"/>
                </a:highlight>
                <a:latin typeface="Freesentation 7 Bold" pitchFamily="34" charset="0"/>
                <a:ea typeface="Freesentation 7 Bold" pitchFamily="34" charset="-122"/>
                <a:cs typeface="Freesentation 7 Bold" pitchFamily="34" charset="-120"/>
              </a:rPr>
              <a:t>완독 2만 6,924권, 독후활동 1,816건</a:t>
            </a:r>
            <a:pPr algn="ctr" indent="0" marL="0">
              <a:lnSpc>
                <a:spcPct val="112000"/>
              </a:lnSpc>
              <a:buNone/>
            </a:pPr>
            <a:r>
              <a:rPr lang="en-US" sz="1850" dirty="0">
                <a:solidFill>
                  <a:srgbClr val="1F2B20"/>
                </a:solidFill>
                <a:latin typeface="Freesentation 6 SemiBold" pitchFamily="34" charset="0"/>
                <a:ea typeface="Freesentation 6 SemiBold" pitchFamily="34" charset="-122"/>
                <a:cs typeface="Freesentation 6 SemiBold" pitchFamily="34" charset="-120"/>
              </a:rPr>
              <a:t>을 기록했습니다</a:t>
            </a:r>
            <a:endParaRPr lang="en-US" sz="1400" dirty="0"/>
          </a:p>
        </p:txBody>
      </p:sp>
      <p:sp>
        <p:nvSpPr>
          <p:cNvPr id="10" name="Text 7"/>
          <p:cNvSpPr txBox="1"/>
          <p:nvPr/>
        </p:nvSpPr>
        <p:spPr>
          <a:xfrm>
            <a:off x="92019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77498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36</a:t>
            </a:r>
            <a:endParaRPr lang="en-US" sz="1250" dirty="0"/>
          </a:p>
        </p:txBody>
      </p:sp>
      <p:sp>
        <p:nvSpPr>
          <p:cNvPr id="13" name="Shape 10"/>
          <p:cNvSpPr/>
          <p:nvPr/>
        </p:nvSpPr>
        <p:spPr>
          <a:xfrm>
            <a:off x="502920" y="1920240"/>
            <a:ext cx="2658618" cy="1417320"/>
          </a:xfrm>
          <a:prstGeom prst="roundRect">
            <a:avLst>
              <a:gd name="adj" fmla="val 6452"/>
            </a:avLst>
          </a:prstGeom>
          <a:solidFill>
            <a:srgbClr val="FFFFFF"/>
          </a:solidFill>
          <a:ln w="9525">
            <a:solidFill>
              <a:srgbClr val="E2DCCB"/>
            </a:solidFill>
            <a:prstDash val="solid"/>
          </a:ln>
        </p:spPr>
      </p:sp>
      <p:sp>
        <p:nvSpPr>
          <p:cNvPr id="14" name="Text 11"/>
          <p:cNvSpPr txBox="1"/>
          <p:nvPr/>
        </p:nvSpPr>
        <p:spPr>
          <a:xfrm>
            <a:off x="722376"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학급</a:t>
            </a:r>
            <a:endParaRPr lang="en-US" sz="1650" dirty="0"/>
          </a:p>
        </p:txBody>
      </p:sp>
      <p:sp>
        <p:nvSpPr>
          <p:cNvPr id="15" name="Text 12"/>
          <p:cNvSpPr txBox="1"/>
          <p:nvPr/>
        </p:nvSpPr>
        <p:spPr>
          <a:xfrm>
            <a:off x="722376"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72</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학급</a:t>
            </a:r>
            <a:endParaRPr lang="en-US" sz="4100" dirty="0"/>
          </a:p>
        </p:txBody>
      </p:sp>
      <p:sp>
        <p:nvSpPr>
          <p:cNvPr id="16" name="Shape 13"/>
          <p:cNvSpPr/>
          <p:nvPr/>
        </p:nvSpPr>
        <p:spPr>
          <a:xfrm>
            <a:off x="3344418" y="1920240"/>
            <a:ext cx="2658618" cy="1417320"/>
          </a:xfrm>
          <a:prstGeom prst="roundRect">
            <a:avLst>
              <a:gd name="adj" fmla="val 6452"/>
            </a:avLst>
          </a:prstGeom>
          <a:solidFill>
            <a:srgbClr val="FFFFFF"/>
          </a:solidFill>
          <a:ln w="9525">
            <a:solidFill>
              <a:srgbClr val="E2DCCB"/>
            </a:solidFill>
            <a:prstDash val="solid"/>
          </a:ln>
        </p:spPr>
      </p:sp>
      <p:sp>
        <p:nvSpPr>
          <p:cNvPr id="17" name="Text 14"/>
          <p:cNvSpPr txBox="1"/>
          <p:nvPr/>
        </p:nvSpPr>
        <p:spPr>
          <a:xfrm>
            <a:off x="3563874"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실제로 쓴 학생</a:t>
            </a:r>
            <a:endParaRPr lang="en-US" sz="1650" dirty="0"/>
          </a:p>
        </p:txBody>
      </p:sp>
      <p:sp>
        <p:nvSpPr>
          <p:cNvPr id="18" name="Text 15"/>
          <p:cNvSpPr txBox="1"/>
          <p:nvPr/>
        </p:nvSpPr>
        <p:spPr>
          <a:xfrm>
            <a:off x="3563874"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1,196</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명</a:t>
            </a:r>
            <a:endParaRPr lang="en-US" sz="4100" dirty="0"/>
          </a:p>
        </p:txBody>
      </p:sp>
      <p:sp>
        <p:nvSpPr>
          <p:cNvPr id="19" name="Shape 16"/>
          <p:cNvSpPr/>
          <p:nvPr/>
        </p:nvSpPr>
        <p:spPr>
          <a:xfrm>
            <a:off x="6185916" y="1920240"/>
            <a:ext cx="2658618" cy="1417320"/>
          </a:xfrm>
          <a:prstGeom prst="roundRect">
            <a:avLst>
              <a:gd name="adj" fmla="val 6452"/>
            </a:avLst>
          </a:prstGeom>
          <a:solidFill>
            <a:srgbClr val="FBF5E6"/>
          </a:solidFill>
          <a:ln w="9525">
            <a:solidFill>
              <a:srgbClr val="E2DCCB"/>
            </a:solidFill>
            <a:prstDash val="solid"/>
          </a:ln>
        </p:spPr>
      </p:sp>
      <p:sp>
        <p:nvSpPr>
          <p:cNvPr id="20" name="Text 17"/>
          <p:cNvSpPr txBox="1"/>
          <p:nvPr/>
        </p:nvSpPr>
        <p:spPr>
          <a:xfrm>
            <a:off x="6405372"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완독 기록</a:t>
            </a:r>
            <a:endParaRPr lang="en-US" sz="1650" dirty="0"/>
          </a:p>
        </p:txBody>
      </p:sp>
      <p:sp>
        <p:nvSpPr>
          <p:cNvPr id="21" name="Text 18"/>
          <p:cNvSpPr txBox="1"/>
          <p:nvPr/>
        </p:nvSpPr>
        <p:spPr>
          <a:xfrm>
            <a:off x="6405372"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26,924</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권</a:t>
            </a:r>
            <a:endParaRPr lang="en-US" sz="4100" dirty="0"/>
          </a:p>
        </p:txBody>
      </p:sp>
      <p:sp>
        <p:nvSpPr>
          <p:cNvPr id="22" name="Shape 19"/>
          <p:cNvSpPr/>
          <p:nvPr/>
        </p:nvSpPr>
        <p:spPr>
          <a:xfrm>
            <a:off x="9027414" y="1920240"/>
            <a:ext cx="2658618" cy="1417320"/>
          </a:xfrm>
          <a:prstGeom prst="roundRect">
            <a:avLst>
              <a:gd name="adj" fmla="val 6452"/>
            </a:avLst>
          </a:prstGeom>
          <a:solidFill>
            <a:srgbClr val="FFFFFF"/>
          </a:solidFill>
          <a:ln w="9525">
            <a:solidFill>
              <a:srgbClr val="E2DCCB"/>
            </a:solidFill>
            <a:prstDash val="solid"/>
          </a:ln>
        </p:spPr>
      </p:sp>
      <p:sp>
        <p:nvSpPr>
          <p:cNvPr id="23" name="Text 20"/>
          <p:cNvSpPr txBox="1"/>
          <p:nvPr/>
        </p:nvSpPr>
        <p:spPr>
          <a:xfrm>
            <a:off x="9246870"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학생 독후활동</a:t>
            </a:r>
            <a:endParaRPr lang="en-US" sz="1650" dirty="0"/>
          </a:p>
        </p:txBody>
      </p:sp>
      <p:sp>
        <p:nvSpPr>
          <p:cNvPr id="24" name="Text 21"/>
          <p:cNvSpPr txBox="1"/>
          <p:nvPr/>
        </p:nvSpPr>
        <p:spPr>
          <a:xfrm>
            <a:off x="9246870"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1,816</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건</a:t>
            </a:r>
            <a:endParaRPr lang="en-US" sz="4100" dirty="0"/>
          </a:p>
        </p:txBody>
      </p:sp>
      <p:sp>
        <p:nvSpPr>
          <p:cNvPr id="25" name="Shape 22"/>
          <p:cNvSpPr/>
          <p:nvPr/>
        </p:nvSpPr>
        <p:spPr>
          <a:xfrm>
            <a:off x="502920" y="3712464"/>
            <a:ext cx="118872" cy="118872"/>
          </a:xfrm>
          <a:prstGeom prst="ellipse">
            <a:avLst/>
          </a:prstGeom>
          <a:solidFill>
            <a:srgbClr val="2F7D4F"/>
          </a:solidFill>
          <a:ln/>
        </p:spPr>
      </p:sp>
      <p:sp>
        <p:nvSpPr>
          <p:cNvPr id="26" name="Text 23"/>
          <p:cNvSpPr txBox="1"/>
          <p:nvPr/>
        </p:nvSpPr>
        <p:spPr>
          <a:xfrm>
            <a:off x="722376" y="357530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학급당 한 달 실적</a:t>
            </a:r>
            <a:endParaRPr lang="en-US" sz="1650" dirty="0"/>
          </a:p>
        </p:txBody>
      </p:sp>
      <p:sp>
        <p:nvSpPr>
          <p:cNvPr id="27" name="Shape 24"/>
          <p:cNvSpPr/>
          <p:nvPr/>
        </p:nvSpPr>
        <p:spPr>
          <a:xfrm>
            <a:off x="502920" y="4050792"/>
            <a:ext cx="3605784" cy="1028700"/>
          </a:xfrm>
          <a:prstGeom prst="roundRect">
            <a:avLst>
              <a:gd name="adj" fmla="val 8889"/>
            </a:avLst>
          </a:prstGeom>
          <a:solidFill>
            <a:srgbClr val="E6F0E7"/>
          </a:solidFill>
          <a:ln w="9525">
            <a:solidFill>
              <a:srgbClr val="D3E6D6"/>
            </a:solidFill>
            <a:prstDash val="solid"/>
          </a:ln>
        </p:spPr>
      </p:sp>
      <p:sp>
        <p:nvSpPr>
          <p:cNvPr id="28" name="Text 25"/>
          <p:cNvSpPr txBox="1"/>
          <p:nvPr/>
        </p:nvSpPr>
        <p:spPr>
          <a:xfrm>
            <a:off x="722376" y="4050792"/>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22.3</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명</a:t>
            </a:r>
            <a:endParaRPr lang="en-US" sz="2800" dirty="0"/>
          </a:p>
        </p:txBody>
      </p:sp>
      <p:sp>
        <p:nvSpPr>
          <p:cNvPr id="29" name="Text 26"/>
          <p:cNvSpPr txBox="1"/>
          <p:nvPr/>
        </p:nvSpPr>
        <p:spPr>
          <a:xfrm>
            <a:off x="2606040" y="4050792"/>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등록 학생</a:t>
            </a:r>
            <a:endParaRPr lang="en-US" sz="1600" dirty="0"/>
          </a:p>
        </p:txBody>
      </p:sp>
      <p:sp>
        <p:nvSpPr>
          <p:cNvPr id="30" name="Shape 27"/>
          <p:cNvSpPr/>
          <p:nvPr/>
        </p:nvSpPr>
        <p:spPr>
          <a:xfrm>
            <a:off x="4291584" y="4050792"/>
            <a:ext cx="3605784" cy="1028700"/>
          </a:xfrm>
          <a:prstGeom prst="roundRect">
            <a:avLst>
              <a:gd name="adj" fmla="val 8889"/>
            </a:avLst>
          </a:prstGeom>
          <a:solidFill>
            <a:srgbClr val="FFFFFF"/>
          </a:solidFill>
          <a:ln w="9525">
            <a:solidFill>
              <a:srgbClr val="D3E6D6"/>
            </a:solidFill>
            <a:prstDash val="solid"/>
          </a:ln>
        </p:spPr>
      </p:sp>
      <p:sp>
        <p:nvSpPr>
          <p:cNvPr id="31" name="Text 28"/>
          <p:cNvSpPr txBox="1"/>
          <p:nvPr/>
        </p:nvSpPr>
        <p:spPr>
          <a:xfrm>
            <a:off x="4511040" y="4050792"/>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16.6</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명</a:t>
            </a:r>
            <a:endParaRPr lang="en-US" sz="2800" dirty="0"/>
          </a:p>
        </p:txBody>
      </p:sp>
      <p:sp>
        <p:nvSpPr>
          <p:cNvPr id="32" name="Text 29"/>
          <p:cNvSpPr txBox="1"/>
          <p:nvPr/>
        </p:nvSpPr>
        <p:spPr>
          <a:xfrm>
            <a:off x="6394704" y="4050792"/>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실제로 쓴 학생</a:t>
            </a:r>
            <a:endParaRPr lang="en-US" sz="1600" dirty="0"/>
          </a:p>
        </p:txBody>
      </p:sp>
      <p:sp>
        <p:nvSpPr>
          <p:cNvPr id="33" name="Shape 30"/>
          <p:cNvSpPr/>
          <p:nvPr/>
        </p:nvSpPr>
        <p:spPr>
          <a:xfrm>
            <a:off x="8080248" y="4050792"/>
            <a:ext cx="3605784" cy="1028700"/>
          </a:xfrm>
          <a:prstGeom prst="roundRect">
            <a:avLst>
              <a:gd name="adj" fmla="val 8889"/>
            </a:avLst>
          </a:prstGeom>
          <a:solidFill>
            <a:srgbClr val="E6F0E7"/>
          </a:solidFill>
          <a:ln w="9525">
            <a:solidFill>
              <a:srgbClr val="D3E6D6"/>
            </a:solidFill>
            <a:prstDash val="solid"/>
          </a:ln>
        </p:spPr>
      </p:sp>
      <p:sp>
        <p:nvSpPr>
          <p:cNvPr id="34" name="Text 31"/>
          <p:cNvSpPr txBox="1"/>
          <p:nvPr/>
        </p:nvSpPr>
        <p:spPr>
          <a:xfrm>
            <a:off x="8299704" y="4050792"/>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374</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권</a:t>
            </a:r>
            <a:endParaRPr lang="en-US" sz="2800" dirty="0"/>
          </a:p>
        </p:txBody>
      </p:sp>
      <p:sp>
        <p:nvSpPr>
          <p:cNvPr id="35" name="Text 32"/>
          <p:cNvSpPr txBox="1"/>
          <p:nvPr/>
        </p:nvSpPr>
        <p:spPr>
          <a:xfrm>
            <a:off x="10183368" y="4050792"/>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완독 기록</a:t>
            </a:r>
            <a:endParaRPr lang="en-US" sz="1600" dirty="0"/>
          </a:p>
        </p:txBody>
      </p:sp>
      <p:sp>
        <p:nvSpPr>
          <p:cNvPr id="36" name="Shape 33"/>
          <p:cNvSpPr/>
          <p:nvPr/>
        </p:nvSpPr>
        <p:spPr>
          <a:xfrm>
            <a:off x="502920" y="5244084"/>
            <a:ext cx="3605784" cy="1028700"/>
          </a:xfrm>
          <a:prstGeom prst="roundRect">
            <a:avLst>
              <a:gd name="adj" fmla="val 8889"/>
            </a:avLst>
          </a:prstGeom>
          <a:solidFill>
            <a:srgbClr val="FFFFFF"/>
          </a:solidFill>
          <a:ln w="9525">
            <a:solidFill>
              <a:srgbClr val="D3E6D6"/>
            </a:solidFill>
            <a:prstDash val="solid"/>
          </a:ln>
        </p:spPr>
      </p:sp>
      <p:sp>
        <p:nvSpPr>
          <p:cNvPr id="37" name="Text 34"/>
          <p:cNvSpPr txBox="1"/>
          <p:nvPr/>
        </p:nvSpPr>
        <p:spPr>
          <a:xfrm>
            <a:off x="722376" y="5244084"/>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105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건</a:t>
            </a:r>
            <a:endParaRPr lang="en-US" sz="2800" dirty="0"/>
          </a:p>
        </p:txBody>
      </p:sp>
      <p:sp>
        <p:nvSpPr>
          <p:cNvPr id="38" name="Text 35"/>
          <p:cNvSpPr txBox="1"/>
          <p:nvPr/>
        </p:nvSpPr>
        <p:spPr>
          <a:xfrm>
            <a:off x="2606040" y="5244084"/>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독후 퀴즈 통과</a:t>
            </a:r>
            <a:endParaRPr lang="en-US" sz="1600" dirty="0"/>
          </a:p>
        </p:txBody>
      </p:sp>
      <p:sp>
        <p:nvSpPr>
          <p:cNvPr id="39" name="Shape 36"/>
          <p:cNvSpPr/>
          <p:nvPr/>
        </p:nvSpPr>
        <p:spPr>
          <a:xfrm>
            <a:off x="4291584" y="5244084"/>
            <a:ext cx="3605784" cy="1028700"/>
          </a:xfrm>
          <a:prstGeom prst="roundRect">
            <a:avLst>
              <a:gd name="adj" fmla="val 8889"/>
            </a:avLst>
          </a:prstGeom>
          <a:solidFill>
            <a:srgbClr val="E6F0E7"/>
          </a:solidFill>
          <a:ln w="9525">
            <a:solidFill>
              <a:srgbClr val="D3E6D6"/>
            </a:solidFill>
            <a:prstDash val="solid"/>
          </a:ln>
        </p:spPr>
      </p:sp>
      <p:sp>
        <p:nvSpPr>
          <p:cNvPr id="40" name="Text 37"/>
          <p:cNvSpPr txBox="1"/>
          <p:nvPr/>
        </p:nvSpPr>
        <p:spPr>
          <a:xfrm>
            <a:off x="4511040" y="5244084"/>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25.2</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건</a:t>
            </a:r>
            <a:endParaRPr lang="en-US" sz="2800" dirty="0"/>
          </a:p>
        </p:txBody>
      </p:sp>
      <p:sp>
        <p:nvSpPr>
          <p:cNvPr id="41" name="Text 38"/>
          <p:cNvSpPr txBox="1"/>
          <p:nvPr/>
        </p:nvSpPr>
        <p:spPr>
          <a:xfrm>
            <a:off x="6394704" y="5244084"/>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학생 독후활동</a:t>
            </a:r>
            <a:endParaRPr lang="en-US" sz="1600" dirty="0"/>
          </a:p>
        </p:txBody>
      </p:sp>
      <p:sp>
        <p:nvSpPr>
          <p:cNvPr id="42" name="Shape 39"/>
          <p:cNvSpPr/>
          <p:nvPr/>
        </p:nvSpPr>
        <p:spPr>
          <a:xfrm>
            <a:off x="8080248" y="5244084"/>
            <a:ext cx="3605784" cy="1028700"/>
          </a:xfrm>
          <a:prstGeom prst="roundRect">
            <a:avLst>
              <a:gd name="adj" fmla="val 8889"/>
            </a:avLst>
          </a:prstGeom>
          <a:solidFill>
            <a:srgbClr val="FFFFFF"/>
          </a:solidFill>
          <a:ln w="9525">
            <a:solidFill>
              <a:srgbClr val="D3E6D6"/>
            </a:solidFill>
            <a:prstDash val="solid"/>
          </a:ln>
        </p:spPr>
      </p:sp>
      <p:sp>
        <p:nvSpPr>
          <p:cNvPr id="43" name="Text 40"/>
          <p:cNvSpPr txBox="1"/>
          <p:nvPr/>
        </p:nvSpPr>
        <p:spPr>
          <a:xfrm>
            <a:off x="8299704" y="5244084"/>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15.5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회</a:t>
            </a:r>
            <a:endParaRPr lang="en-US" sz="2800" dirty="0"/>
          </a:p>
        </p:txBody>
      </p:sp>
      <p:sp>
        <p:nvSpPr>
          <p:cNvPr id="44" name="Text 41"/>
          <p:cNvSpPr txBox="1"/>
          <p:nvPr/>
        </p:nvSpPr>
        <p:spPr>
          <a:xfrm>
            <a:off x="10183368" y="5244084"/>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어휘력 진단 응시</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 학교 수업 현장</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교실에서 함께, 태블릿으로 혼자 읽으며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한 달 완독 2만 6,924권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이 쌓였습니다</a:t>
            </a:r>
            <a:endParaRPr lang="en-US" sz="1400" dirty="0"/>
          </a:p>
        </p:txBody>
      </p:sp>
      <p:sp>
        <p:nvSpPr>
          <p:cNvPr id="10" name="Text 7"/>
          <p:cNvSpPr txBox="1"/>
          <p:nvPr/>
        </p:nvSpPr>
        <p:spPr>
          <a:xfrm>
            <a:off x="198744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0772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사진: 석산초 4학년, 6학년 부기 수업(2026. 9.~10., 교사 제공, 홍보 사용 동의, 학생 얼굴 흐림 처리)과 가정에서 태블릿으로 읽는 모습. 숫자: 선도교사단 운영 결과와 부기 운영 서버 기록(2026. 9. 20.~10. 21.).</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37</a:t>
            </a:r>
            <a:endParaRPr lang="en-US" sz="1250" dirty="0"/>
          </a:p>
        </p:txBody>
      </p:sp>
      <p:sp>
        <p:nvSpPr>
          <p:cNvPr id="14" name="Shape 11"/>
          <p:cNvSpPr/>
          <p:nvPr/>
        </p:nvSpPr>
        <p:spPr>
          <a:xfrm>
            <a:off x="502920" y="1920240"/>
            <a:ext cx="3617976" cy="1668780"/>
          </a:xfrm>
          <a:prstGeom prst="roundRect">
            <a:avLst>
              <a:gd name="adj" fmla="val 4384"/>
            </a:avLst>
          </a:prstGeom>
          <a:solidFill>
            <a:srgbClr val="FFFFFF"/>
          </a:solidFill>
          <a:ln w="9525">
            <a:solidFill>
              <a:srgbClr val="E2DCCB"/>
            </a:solidFill>
            <a:prstDash val="solid"/>
          </a:ln>
        </p:spPr>
      </p:sp>
      <p:pic>
        <p:nvPicPr>
          <p:cNvPr id="15" name="Image 1" descr="친구와 함께 읽기">    </p:cNvPr>
          <p:cNvPicPr>
            <a:picLocks noChangeAspect="1"/>
          </p:cNvPicPr>
          <p:nvPr/>
        </p:nvPicPr>
        <p:blipFill>
          <a:blip r:embed="rId2"/>
          <a:stretch>
            <a:fillRect/>
          </a:stretch>
        </p:blipFill>
        <p:spPr>
          <a:xfrm>
            <a:off x="557784" y="1975104"/>
            <a:ext cx="3508248" cy="1559052"/>
          </a:xfrm>
          <a:prstGeom prst="rect">
            <a:avLst/>
          </a:prstGeom>
        </p:spPr>
      </p:pic>
      <p:sp>
        <p:nvSpPr>
          <p:cNvPr id="16" name="Shape 12"/>
          <p:cNvSpPr/>
          <p:nvPr/>
        </p:nvSpPr>
        <p:spPr>
          <a:xfrm>
            <a:off x="612648" y="3204972"/>
            <a:ext cx="1322451" cy="274320"/>
          </a:xfrm>
          <a:prstGeom prst="roundRect">
            <a:avLst>
              <a:gd name="adj" fmla="val 50000"/>
            </a:avLst>
          </a:prstGeom>
          <a:solidFill>
            <a:srgbClr val="20342A">
              <a:alpha val="92000"/>
            </a:srgbClr>
          </a:solidFill>
          <a:ln/>
        </p:spPr>
      </p:sp>
      <p:sp>
        <p:nvSpPr>
          <p:cNvPr id="17" name="Text 13"/>
          <p:cNvSpPr txBox="1"/>
          <p:nvPr/>
        </p:nvSpPr>
        <p:spPr>
          <a:xfrm>
            <a:off x="612648" y="3204972"/>
            <a:ext cx="132245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친구와 함께 읽기</a:t>
            </a:r>
            <a:endParaRPr lang="en-US" sz="1300" dirty="0"/>
          </a:p>
        </p:txBody>
      </p:sp>
      <p:sp>
        <p:nvSpPr>
          <p:cNvPr id="18" name="Shape 14"/>
          <p:cNvSpPr/>
          <p:nvPr/>
        </p:nvSpPr>
        <p:spPr>
          <a:xfrm>
            <a:off x="4285488" y="1920240"/>
            <a:ext cx="3617976" cy="1668780"/>
          </a:xfrm>
          <a:prstGeom prst="roundRect">
            <a:avLst>
              <a:gd name="adj" fmla="val 4384"/>
            </a:avLst>
          </a:prstGeom>
          <a:solidFill>
            <a:srgbClr val="FFFFFF"/>
          </a:solidFill>
          <a:ln w="9525">
            <a:solidFill>
              <a:srgbClr val="E2DCCB"/>
            </a:solidFill>
            <a:prstDash val="solid"/>
          </a:ln>
        </p:spPr>
      </p:sp>
      <p:pic>
        <p:nvPicPr>
          <p:cNvPr id="19" name="Image 2" descr="한 반이 같은 시간에 읽기">    </p:cNvPr>
          <p:cNvPicPr>
            <a:picLocks noChangeAspect="1"/>
          </p:cNvPicPr>
          <p:nvPr/>
        </p:nvPicPr>
        <p:blipFill>
          <a:blip r:embed="rId3"/>
          <a:stretch>
            <a:fillRect/>
          </a:stretch>
        </p:blipFill>
        <p:spPr>
          <a:xfrm>
            <a:off x="4340352" y="1975104"/>
            <a:ext cx="3508248" cy="1559052"/>
          </a:xfrm>
          <a:prstGeom prst="rect">
            <a:avLst/>
          </a:prstGeom>
        </p:spPr>
      </p:pic>
      <p:sp>
        <p:nvSpPr>
          <p:cNvPr id="20" name="Shape 15"/>
          <p:cNvSpPr/>
          <p:nvPr/>
        </p:nvSpPr>
        <p:spPr>
          <a:xfrm>
            <a:off x="4395216" y="3204972"/>
            <a:ext cx="1796034" cy="274320"/>
          </a:xfrm>
          <a:prstGeom prst="roundRect">
            <a:avLst>
              <a:gd name="adj" fmla="val 50000"/>
            </a:avLst>
          </a:prstGeom>
          <a:solidFill>
            <a:srgbClr val="20342A">
              <a:alpha val="92000"/>
            </a:srgbClr>
          </a:solidFill>
          <a:ln/>
        </p:spPr>
      </p:sp>
      <p:sp>
        <p:nvSpPr>
          <p:cNvPr id="21" name="Text 16"/>
          <p:cNvSpPr txBox="1"/>
          <p:nvPr/>
        </p:nvSpPr>
        <p:spPr>
          <a:xfrm>
            <a:off x="4395216" y="3204972"/>
            <a:ext cx="1796034"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한 반이 같은 시간에 읽기</a:t>
            </a:r>
            <a:endParaRPr lang="en-US" sz="1300" dirty="0"/>
          </a:p>
        </p:txBody>
      </p:sp>
      <p:sp>
        <p:nvSpPr>
          <p:cNvPr id="22" name="Shape 17"/>
          <p:cNvSpPr/>
          <p:nvPr/>
        </p:nvSpPr>
        <p:spPr>
          <a:xfrm>
            <a:off x="8068056" y="1920240"/>
            <a:ext cx="3617976" cy="1668780"/>
          </a:xfrm>
          <a:prstGeom prst="roundRect">
            <a:avLst>
              <a:gd name="adj" fmla="val 4384"/>
            </a:avLst>
          </a:prstGeom>
          <a:solidFill>
            <a:srgbClr val="FFFFFF"/>
          </a:solidFill>
          <a:ln w="9525">
            <a:solidFill>
              <a:srgbClr val="E2DCCB"/>
            </a:solidFill>
            <a:prstDash val="solid"/>
          </a:ln>
        </p:spPr>
      </p:sp>
      <p:pic>
        <p:nvPicPr>
          <p:cNvPr id="23" name="Image 3" descr="낱말을 눌러 뜻 보기">    </p:cNvPr>
          <p:cNvPicPr>
            <a:picLocks noChangeAspect="1"/>
          </p:cNvPicPr>
          <p:nvPr/>
        </p:nvPicPr>
        <p:blipFill>
          <a:blip r:embed="rId4"/>
          <a:stretch>
            <a:fillRect/>
          </a:stretch>
        </p:blipFill>
        <p:spPr>
          <a:xfrm>
            <a:off x="8122920" y="1975104"/>
            <a:ext cx="3508248" cy="1559052"/>
          </a:xfrm>
          <a:prstGeom prst="rect">
            <a:avLst/>
          </a:prstGeom>
        </p:spPr>
      </p:pic>
      <p:sp>
        <p:nvSpPr>
          <p:cNvPr id="24" name="Shape 18"/>
          <p:cNvSpPr/>
          <p:nvPr/>
        </p:nvSpPr>
        <p:spPr>
          <a:xfrm>
            <a:off x="8177784" y="3204972"/>
            <a:ext cx="1494282" cy="274320"/>
          </a:xfrm>
          <a:prstGeom prst="roundRect">
            <a:avLst>
              <a:gd name="adj" fmla="val 50000"/>
            </a:avLst>
          </a:prstGeom>
          <a:solidFill>
            <a:srgbClr val="20342A">
              <a:alpha val="92000"/>
            </a:srgbClr>
          </a:solidFill>
          <a:ln/>
        </p:spPr>
      </p:sp>
      <p:sp>
        <p:nvSpPr>
          <p:cNvPr id="25" name="Text 19"/>
          <p:cNvSpPr txBox="1"/>
          <p:nvPr/>
        </p:nvSpPr>
        <p:spPr>
          <a:xfrm>
            <a:off x="8177784" y="3204972"/>
            <a:ext cx="1494282"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낱말을 눌러 뜻 보기</a:t>
            </a:r>
            <a:endParaRPr lang="en-US" sz="1300" dirty="0"/>
          </a:p>
        </p:txBody>
      </p:sp>
      <p:sp>
        <p:nvSpPr>
          <p:cNvPr id="26" name="Shape 20"/>
          <p:cNvSpPr/>
          <p:nvPr/>
        </p:nvSpPr>
        <p:spPr>
          <a:xfrm>
            <a:off x="502920" y="3735324"/>
            <a:ext cx="3617976" cy="1668780"/>
          </a:xfrm>
          <a:prstGeom prst="roundRect">
            <a:avLst>
              <a:gd name="adj" fmla="val 4384"/>
            </a:avLst>
          </a:prstGeom>
          <a:solidFill>
            <a:srgbClr val="FFFFFF"/>
          </a:solidFill>
          <a:ln w="9525">
            <a:solidFill>
              <a:srgbClr val="E2DCCB"/>
            </a:solidFill>
            <a:prstDash val="solid"/>
          </a:ln>
        </p:spPr>
      </p:sp>
      <p:pic>
        <p:nvPicPr>
          <p:cNvPr id="27" name="Image 4" descr="6학년, 각자 고른 책 읽기">    </p:cNvPr>
          <p:cNvPicPr>
            <a:picLocks noChangeAspect="1"/>
          </p:cNvPicPr>
          <p:nvPr/>
        </p:nvPicPr>
        <p:blipFill>
          <a:blip r:embed="rId5"/>
          <a:stretch>
            <a:fillRect/>
          </a:stretch>
        </p:blipFill>
        <p:spPr>
          <a:xfrm>
            <a:off x="557784" y="3790188"/>
            <a:ext cx="3508248" cy="1559052"/>
          </a:xfrm>
          <a:prstGeom prst="rect">
            <a:avLst/>
          </a:prstGeom>
        </p:spPr>
      </p:pic>
      <p:sp>
        <p:nvSpPr>
          <p:cNvPr id="28" name="Shape 21"/>
          <p:cNvSpPr/>
          <p:nvPr/>
        </p:nvSpPr>
        <p:spPr>
          <a:xfrm>
            <a:off x="612648" y="5020056"/>
            <a:ext cx="1816989" cy="274320"/>
          </a:xfrm>
          <a:prstGeom prst="roundRect">
            <a:avLst>
              <a:gd name="adj" fmla="val 50000"/>
            </a:avLst>
          </a:prstGeom>
          <a:solidFill>
            <a:srgbClr val="20342A">
              <a:alpha val="92000"/>
            </a:srgbClr>
          </a:solidFill>
          <a:ln/>
        </p:spPr>
      </p:sp>
      <p:sp>
        <p:nvSpPr>
          <p:cNvPr id="29" name="Text 22"/>
          <p:cNvSpPr txBox="1"/>
          <p:nvPr/>
        </p:nvSpPr>
        <p:spPr>
          <a:xfrm>
            <a:off x="612648" y="5020056"/>
            <a:ext cx="1816989"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6학년, 각자 고른 책 읽기</a:t>
            </a:r>
            <a:endParaRPr lang="en-US" sz="1300" dirty="0"/>
          </a:p>
        </p:txBody>
      </p:sp>
      <p:sp>
        <p:nvSpPr>
          <p:cNvPr id="30" name="Shape 23"/>
          <p:cNvSpPr/>
          <p:nvPr/>
        </p:nvSpPr>
        <p:spPr>
          <a:xfrm>
            <a:off x="4285488" y="3735324"/>
            <a:ext cx="3617976" cy="1668780"/>
          </a:xfrm>
          <a:prstGeom prst="roundRect">
            <a:avLst>
              <a:gd name="adj" fmla="val 4384"/>
            </a:avLst>
          </a:prstGeom>
          <a:solidFill>
            <a:srgbClr val="FFFFFF"/>
          </a:solidFill>
          <a:ln w="9525">
            <a:solidFill>
              <a:srgbClr val="E2DCCB"/>
            </a:solidFill>
            <a:prstDash val="solid"/>
          </a:ln>
        </p:spPr>
      </p:sp>
      <p:pic>
        <p:nvPicPr>
          <p:cNvPr id="31" name="Image 5" descr="태블릿으로 혼자 읽기">    </p:cNvPr>
          <p:cNvPicPr>
            <a:picLocks noChangeAspect="1"/>
          </p:cNvPicPr>
          <p:nvPr/>
        </p:nvPicPr>
        <p:blipFill>
          <a:blip r:embed="rId6"/>
          <a:stretch>
            <a:fillRect/>
          </a:stretch>
        </p:blipFill>
        <p:spPr>
          <a:xfrm>
            <a:off x="4340352" y="3790188"/>
            <a:ext cx="3508248" cy="1559052"/>
          </a:xfrm>
          <a:prstGeom prst="rect">
            <a:avLst/>
          </a:prstGeom>
        </p:spPr>
      </p:pic>
      <p:sp>
        <p:nvSpPr>
          <p:cNvPr id="32" name="Shape 24"/>
          <p:cNvSpPr/>
          <p:nvPr/>
        </p:nvSpPr>
        <p:spPr>
          <a:xfrm>
            <a:off x="4395216" y="5020056"/>
            <a:ext cx="1582293" cy="274320"/>
          </a:xfrm>
          <a:prstGeom prst="roundRect">
            <a:avLst>
              <a:gd name="adj" fmla="val 50000"/>
            </a:avLst>
          </a:prstGeom>
          <a:solidFill>
            <a:srgbClr val="20342A">
              <a:alpha val="92000"/>
            </a:srgbClr>
          </a:solidFill>
          <a:ln/>
        </p:spPr>
      </p:sp>
      <p:sp>
        <p:nvSpPr>
          <p:cNvPr id="33" name="Text 25"/>
          <p:cNvSpPr txBox="1"/>
          <p:nvPr/>
        </p:nvSpPr>
        <p:spPr>
          <a:xfrm>
            <a:off x="4395216" y="5020056"/>
            <a:ext cx="1582293"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태블릿으로 혼자 읽기</a:t>
            </a:r>
            <a:endParaRPr lang="en-US" sz="1300" dirty="0"/>
          </a:p>
        </p:txBody>
      </p:sp>
      <p:sp>
        <p:nvSpPr>
          <p:cNvPr id="34" name="Shape 26"/>
          <p:cNvSpPr/>
          <p:nvPr/>
        </p:nvSpPr>
        <p:spPr>
          <a:xfrm>
            <a:off x="8068056" y="3735324"/>
            <a:ext cx="3617976" cy="1668780"/>
          </a:xfrm>
          <a:prstGeom prst="roundRect">
            <a:avLst>
              <a:gd name="adj" fmla="val 4384"/>
            </a:avLst>
          </a:prstGeom>
          <a:solidFill>
            <a:srgbClr val="FFFFFF"/>
          </a:solidFill>
          <a:ln w="9525">
            <a:solidFill>
              <a:srgbClr val="E2DCCB"/>
            </a:solidFill>
            <a:prstDash val="solid"/>
          </a:ln>
        </p:spPr>
      </p:sp>
      <p:pic>
        <p:nvPicPr>
          <p:cNvPr id="35" name="Image 6" descr="숲 산책하며 책 고르기">    </p:cNvPr>
          <p:cNvPicPr>
            <a:picLocks noChangeAspect="1"/>
          </p:cNvPicPr>
          <p:nvPr/>
        </p:nvPicPr>
        <p:blipFill>
          <a:blip r:embed="rId7"/>
          <a:stretch>
            <a:fillRect/>
          </a:stretch>
        </p:blipFill>
        <p:spPr>
          <a:xfrm>
            <a:off x="8122920" y="3790188"/>
            <a:ext cx="3508248" cy="1559052"/>
          </a:xfrm>
          <a:prstGeom prst="rect">
            <a:avLst/>
          </a:prstGeom>
        </p:spPr>
      </p:pic>
      <p:sp>
        <p:nvSpPr>
          <p:cNvPr id="36" name="Shape 27"/>
          <p:cNvSpPr/>
          <p:nvPr/>
        </p:nvSpPr>
        <p:spPr>
          <a:xfrm>
            <a:off x="8177784" y="5020056"/>
            <a:ext cx="1624203" cy="274320"/>
          </a:xfrm>
          <a:prstGeom prst="roundRect">
            <a:avLst>
              <a:gd name="adj" fmla="val 50000"/>
            </a:avLst>
          </a:prstGeom>
          <a:solidFill>
            <a:srgbClr val="20342A">
              <a:alpha val="92000"/>
            </a:srgbClr>
          </a:solidFill>
          <a:ln/>
        </p:spPr>
      </p:sp>
      <p:sp>
        <p:nvSpPr>
          <p:cNvPr id="37" name="Text 28"/>
          <p:cNvSpPr txBox="1"/>
          <p:nvPr/>
        </p:nvSpPr>
        <p:spPr>
          <a:xfrm>
            <a:off x="8177784" y="5020056"/>
            <a:ext cx="1624203"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숲 산책하며 책 고르기</a:t>
            </a:r>
            <a:endParaRPr lang="en-US" sz="1300" dirty="0"/>
          </a:p>
        </p:txBody>
      </p:sp>
      <p:sp>
        <p:nvSpPr>
          <p:cNvPr id="38" name="Shape 29"/>
          <p:cNvSpPr/>
          <p:nvPr/>
        </p:nvSpPr>
        <p:spPr>
          <a:xfrm>
            <a:off x="502920" y="5541264"/>
            <a:ext cx="11183112" cy="731520"/>
          </a:xfrm>
          <a:prstGeom prst="roundRect">
            <a:avLst>
              <a:gd name="adj" fmla="val 12500"/>
            </a:avLst>
          </a:prstGeom>
          <a:solidFill>
            <a:srgbClr val="20342A"/>
          </a:solidFill>
          <a:ln/>
        </p:spPr>
      </p:sp>
      <p:sp>
        <p:nvSpPr>
          <p:cNvPr id="39" name="Text 30"/>
          <p:cNvSpPr txBox="1"/>
          <p:nvPr/>
        </p:nvSpPr>
        <p:spPr>
          <a:xfrm>
            <a:off x="731520" y="5541264"/>
            <a:ext cx="3158464"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463 → 2,199</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권</a:t>
            </a:r>
            <a:endParaRPr lang="en-US" sz="2150" dirty="0"/>
          </a:p>
          <a:p>
            <a:pPr indent="0" marL="0">
              <a:lnSpc>
                <a:spcPct val="105000"/>
              </a:lnSpc>
              <a:buNone/>
            </a:pPr>
            <a:r>
              <a:rPr lang="en-US" sz="1250" dirty="0">
                <a:solidFill>
                  <a:srgbClr val="DCE6DD"/>
                </a:solidFill>
              </a:rPr>
              <a:t>설명회 주와 넷째 주 주간 완독</a:t>
            </a:r>
            <a:endParaRPr lang="en-US" sz="2150" dirty="0"/>
          </a:p>
        </p:txBody>
      </p:sp>
      <p:sp>
        <p:nvSpPr>
          <p:cNvPr id="40" name="Text 31"/>
          <p:cNvSpPr txBox="1"/>
          <p:nvPr/>
        </p:nvSpPr>
        <p:spPr>
          <a:xfrm>
            <a:off x="4072864" y="5541264"/>
            <a:ext cx="2339603"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373</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시간</a:t>
            </a:r>
            <a:endParaRPr lang="en-US" sz="2150" dirty="0"/>
          </a:p>
          <a:p>
            <a:pPr indent="0" marL="0">
              <a:lnSpc>
                <a:spcPct val="105000"/>
              </a:lnSpc>
              <a:buNone/>
            </a:pPr>
            <a:r>
              <a:rPr lang="en-US" sz="1250" dirty="0">
                <a:solidFill>
                  <a:srgbClr val="DCE6DD"/>
                </a:solidFill>
              </a:rPr>
              <a:t>학생 이용 시간, 46%가 책 읽기</a:t>
            </a:r>
            <a:endParaRPr lang="en-US" sz="2150" dirty="0"/>
          </a:p>
        </p:txBody>
      </p:sp>
      <p:sp>
        <p:nvSpPr>
          <p:cNvPr id="41" name="Text 32"/>
          <p:cNvSpPr txBox="1"/>
          <p:nvPr/>
        </p:nvSpPr>
        <p:spPr>
          <a:xfrm>
            <a:off x="6595346" y="5541264"/>
            <a:ext cx="2339603"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160</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점</a:t>
            </a:r>
            <a:endParaRPr lang="en-US" sz="2150" dirty="0"/>
          </a:p>
          <a:p>
            <a:pPr indent="0" marL="0">
              <a:lnSpc>
                <a:spcPct val="105000"/>
              </a:lnSpc>
              <a:buNone/>
            </a:pPr>
            <a:r>
              <a:rPr lang="en-US" sz="1250" dirty="0">
                <a:solidFill>
                  <a:srgbClr val="DCE6DD"/>
                </a:solidFill>
              </a:rPr>
              <a:t>우리 반 전시장 작품</a:t>
            </a:r>
            <a:endParaRPr lang="en-US" sz="2150" dirty="0"/>
          </a:p>
        </p:txBody>
      </p:sp>
      <p:sp>
        <p:nvSpPr>
          <p:cNvPr id="42" name="Text 33"/>
          <p:cNvSpPr txBox="1"/>
          <p:nvPr/>
        </p:nvSpPr>
        <p:spPr>
          <a:xfrm>
            <a:off x="9117829" y="5541264"/>
            <a:ext cx="2339603"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1,184</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개</a:t>
            </a:r>
            <a:endParaRPr lang="en-US" sz="2150" dirty="0"/>
          </a:p>
          <a:p>
            <a:pPr indent="0" marL="0">
              <a:lnSpc>
                <a:spcPct val="105000"/>
              </a:lnSpc>
              <a:buNone/>
            </a:pPr>
            <a:r>
              <a:rPr lang="en-US" sz="1250" dirty="0">
                <a:solidFill>
                  <a:srgbClr val="DCE6DD"/>
                </a:solidFill>
              </a:rPr>
              <a:t>읽는 중 남긴 문장 밑줄</a:t>
            </a:r>
            <a:endParaRPr lang="en-US" sz="2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 학교 현장 사례</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3개 학교 담임교사가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교실에서 본 학생의 변화</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를 직접 적어 보냈습니다</a:t>
            </a:r>
            <a:endParaRPr lang="en-US" sz="1400" dirty="0"/>
          </a:p>
        </p:txBody>
      </p:sp>
      <p:sp>
        <p:nvSpPr>
          <p:cNvPr id="10" name="Text 7"/>
          <p:cNvSpPr txBox="1"/>
          <p:nvPr/>
        </p:nvSpPr>
        <p:spPr>
          <a:xfrm>
            <a:off x="236443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33074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「2026. 부기 사용 결과 기록」(2026. 9. 10.~10. 16.) 가운데 홍보 사용에 동의한 후기 원문, 교사 이름은 성만 밝힘. 사진은 석산초 수업 장면이며 학생 얼굴은 모자이크 처리함.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38</a:t>
            </a:r>
            <a:endParaRPr lang="en-US" sz="1250" dirty="0"/>
          </a:p>
        </p:txBody>
      </p:sp>
      <p:sp>
        <p:nvSpPr>
          <p:cNvPr id="14" name="Shape 11"/>
          <p:cNvSpPr/>
          <p:nvPr/>
        </p:nvSpPr>
        <p:spPr>
          <a:xfrm>
            <a:off x="502920" y="1920240"/>
            <a:ext cx="3761652" cy="2365736"/>
          </a:xfrm>
          <a:prstGeom prst="roundRect">
            <a:avLst>
              <a:gd name="adj" fmla="val 3092"/>
            </a:avLst>
          </a:prstGeom>
          <a:solidFill>
            <a:srgbClr val="FFFFFF"/>
          </a:solidFill>
          <a:ln w="9525">
            <a:solidFill>
              <a:srgbClr val="E2DCCB"/>
            </a:solidFill>
            <a:prstDash val="solid"/>
          </a:ln>
        </p:spPr>
      </p:sp>
      <p:pic>
        <p:nvPicPr>
          <p:cNvPr id="15" name="Image 1" descr="석산초 부기 수업">    </p:cNvPr>
          <p:cNvPicPr>
            <a:picLocks noChangeAspect="1"/>
          </p:cNvPicPr>
          <p:nvPr/>
        </p:nvPicPr>
        <p:blipFill>
          <a:blip r:embed="rId2"/>
          <a:stretch>
            <a:fillRect/>
          </a:stretch>
        </p:blipFill>
        <p:spPr>
          <a:xfrm>
            <a:off x="557784" y="1975104"/>
            <a:ext cx="3651924" cy="2256008"/>
          </a:xfrm>
          <a:prstGeom prst="rect">
            <a:avLst/>
          </a:prstGeom>
        </p:spPr>
      </p:pic>
      <p:sp>
        <p:nvSpPr>
          <p:cNvPr id="16" name="Shape 12"/>
          <p:cNvSpPr/>
          <p:nvPr/>
        </p:nvSpPr>
        <p:spPr>
          <a:xfrm>
            <a:off x="612648" y="3901928"/>
            <a:ext cx="1322451" cy="274320"/>
          </a:xfrm>
          <a:prstGeom prst="roundRect">
            <a:avLst>
              <a:gd name="adj" fmla="val 50000"/>
            </a:avLst>
          </a:prstGeom>
          <a:solidFill>
            <a:srgbClr val="20342A">
              <a:alpha val="92000"/>
            </a:srgbClr>
          </a:solidFill>
          <a:ln/>
        </p:spPr>
      </p:sp>
      <p:sp>
        <p:nvSpPr>
          <p:cNvPr id="17" name="Text 13"/>
          <p:cNvSpPr txBox="1"/>
          <p:nvPr/>
        </p:nvSpPr>
        <p:spPr>
          <a:xfrm>
            <a:off x="612648" y="3901928"/>
            <a:ext cx="132245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석산초 부기 수업</a:t>
            </a:r>
            <a:endParaRPr lang="en-US" sz="1300" dirty="0"/>
          </a:p>
        </p:txBody>
      </p:sp>
      <p:sp>
        <p:nvSpPr>
          <p:cNvPr id="18" name="Shape 14"/>
          <p:cNvSpPr/>
          <p:nvPr/>
        </p:nvSpPr>
        <p:spPr>
          <a:xfrm>
            <a:off x="502920" y="4413992"/>
            <a:ext cx="1816818" cy="1858792"/>
          </a:xfrm>
          <a:prstGeom prst="roundRect">
            <a:avLst>
              <a:gd name="adj" fmla="val 4026"/>
            </a:avLst>
          </a:prstGeom>
          <a:solidFill>
            <a:srgbClr val="FFFFFF"/>
          </a:solidFill>
          <a:ln w="9525">
            <a:solidFill>
              <a:srgbClr val="E2DCCB"/>
            </a:solidFill>
            <a:prstDash val="solid"/>
          </a:ln>
        </p:spPr>
      </p:sp>
      <p:pic>
        <p:nvPicPr>
          <p:cNvPr id="19" name="Image 2" descr="화면">    </p:cNvPr>
          <p:cNvPicPr>
            <a:picLocks noChangeAspect="1"/>
          </p:cNvPicPr>
          <p:nvPr/>
        </p:nvPicPr>
        <p:blipFill>
          <a:blip r:embed="rId3"/>
          <a:stretch>
            <a:fillRect/>
          </a:stretch>
        </p:blipFill>
        <p:spPr>
          <a:xfrm>
            <a:off x="557784" y="4468856"/>
            <a:ext cx="1707090" cy="1749064"/>
          </a:xfrm>
          <a:prstGeom prst="rect">
            <a:avLst/>
          </a:prstGeom>
        </p:spPr>
      </p:pic>
      <p:sp>
        <p:nvSpPr>
          <p:cNvPr id="20" name="Shape 15"/>
          <p:cNvSpPr/>
          <p:nvPr/>
        </p:nvSpPr>
        <p:spPr>
          <a:xfrm>
            <a:off x="2447754" y="4413992"/>
            <a:ext cx="1816818" cy="1858792"/>
          </a:xfrm>
          <a:prstGeom prst="roundRect">
            <a:avLst>
              <a:gd name="adj" fmla="val 4026"/>
            </a:avLst>
          </a:prstGeom>
          <a:solidFill>
            <a:srgbClr val="FFFFFF"/>
          </a:solidFill>
          <a:ln w="9525">
            <a:solidFill>
              <a:srgbClr val="E2DCCB"/>
            </a:solidFill>
            <a:prstDash val="solid"/>
          </a:ln>
        </p:spPr>
      </p:sp>
      <p:pic>
        <p:nvPicPr>
          <p:cNvPr id="21" name="Image 3" descr="화면">    </p:cNvPr>
          <p:cNvPicPr>
            <a:picLocks noChangeAspect="1"/>
          </p:cNvPicPr>
          <p:nvPr/>
        </p:nvPicPr>
        <p:blipFill>
          <a:blip r:embed="rId4"/>
          <a:stretch>
            <a:fillRect/>
          </a:stretch>
        </p:blipFill>
        <p:spPr>
          <a:xfrm>
            <a:off x="2502618" y="4468856"/>
            <a:ext cx="1707090" cy="1749064"/>
          </a:xfrm>
          <a:prstGeom prst="rect">
            <a:avLst/>
          </a:prstGeom>
        </p:spPr>
      </p:pic>
      <p:sp>
        <p:nvSpPr>
          <p:cNvPr id="22" name="Shape 16"/>
          <p:cNvSpPr/>
          <p:nvPr/>
        </p:nvSpPr>
        <p:spPr>
          <a:xfrm>
            <a:off x="4538892" y="1920240"/>
            <a:ext cx="3491274" cy="2103120"/>
          </a:xfrm>
          <a:prstGeom prst="roundRect">
            <a:avLst>
              <a:gd name="adj" fmla="val 5217"/>
            </a:avLst>
          </a:prstGeom>
          <a:solidFill>
            <a:srgbClr val="FBF5E6"/>
          </a:solidFill>
          <a:ln/>
        </p:spPr>
      </p:sp>
      <p:pic>
        <p:nvPicPr>
          <p:cNvPr id="23" name="Image 4" descr="석산초 김○○ 교사">    </p:cNvPr>
          <p:cNvPicPr>
            <a:picLocks noChangeAspect="1"/>
          </p:cNvPicPr>
          <p:nvPr/>
        </p:nvPicPr>
        <p:blipFill>
          <a:blip r:embed="rId5"/>
          <a:stretch>
            <a:fillRect/>
          </a:stretch>
        </p:blipFill>
        <p:spPr>
          <a:xfrm>
            <a:off x="4685196" y="2048256"/>
            <a:ext cx="512064" cy="512064"/>
          </a:xfrm>
          <a:prstGeom prst="rect">
            <a:avLst/>
          </a:prstGeom>
        </p:spPr>
      </p:pic>
      <p:sp>
        <p:nvSpPr>
          <p:cNvPr id="24" name="Text 17"/>
          <p:cNvSpPr txBox="1"/>
          <p:nvPr/>
        </p:nvSpPr>
        <p:spPr>
          <a:xfrm>
            <a:off x="5288700" y="2029968"/>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석산초 김○○ 교사</a:t>
            </a:r>
            <a:endParaRPr lang="en-US" sz="1550" dirty="0"/>
          </a:p>
        </p:txBody>
      </p:sp>
      <p:sp>
        <p:nvSpPr>
          <p:cNvPr id="25" name="Text 18"/>
          <p:cNvSpPr txBox="1"/>
          <p:nvPr/>
        </p:nvSpPr>
        <p:spPr>
          <a:xfrm>
            <a:off x="5288700" y="2322576"/>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4학년  국어 독서단원 시간에 틈날 때마다 활용</a:t>
            </a:r>
            <a:endParaRPr lang="en-US" sz="1200" dirty="0"/>
          </a:p>
        </p:txBody>
      </p:sp>
      <p:sp>
        <p:nvSpPr>
          <p:cNvPr id="26" name="Text 19"/>
          <p:cNvSpPr txBox="1"/>
          <p:nvPr/>
        </p:nvSpPr>
        <p:spPr>
          <a:xfrm>
            <a:off x="4703484" y="2670048"/>
            <a:ext cx="3180378" cy="12618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400" dirty="0">
                <a:solidFill>
                  <a:srgbClr val="1F2B20"/>
                </a:solidFill>
                <a:latin typeface="Freesentation 5 Medium" pitchFamily="34" charset="0"/>
                <a:ea typeface="Freesentation 5 Medium" pitchFamily="34" charset="-122"/>
                <a:cs typeface="Freesentation 5 Medium" pitchFamily="34" charset="-120"/>
              </a:rPr>
              <a:t>아이들이 항상 읽을 책이 없고 두꺼운 책두께에 부담감을 느꼈는데 부기를 활용하니 책을 더 많이 읽게 된 것 같아요. 또 캐릭터 꾸미기를 아이들이 너무 좋아하여 쉬는시간에도 계속 읽고 있네요.</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27" name="Shape 20"/>
          <p:cNvSpPr/>
          <p:nvPr/>
        </p:nvSpPr>
        <p:spPr>
          <a:xfrm>
            <a:off x="8194758" y="1920240"/>
            <a:ext cx="3491274" cy="2103120"/>
          </a:xfrm>
          <a:prstGeom prst="roundRect">
            <a:avLst>
              <a:gd name="adj" fmla="val 5217"/>
            </a:avLst>
          </a:prstGeom>
          <a:solidFill>
            <a:srgbClr val="E6F0E7"/>
          </a:solidFill>
          <a:ln/>
        </p:spPr>
      </p:sp>
      <p:pic>
        <p:nvPicPr>
          <p:cNvPr id="28" name="Image 5" descr="석산초 배○○ 교사">    </p:cNvPr>
          <p:cNvPicPr>
            <a:picLocks noChangeAspect="1"/>
          </p:cNvPicPr>
          <p:nvPr/>
        </p:nvPicPr>
        <p:blipFill>
          <a:blip r:embed="rId6"/>
          <a:stretch>
            <a:fillRect/>
          </a:stretch>
        </p:blipFill>
        <p:spPr>
          <a:xfrm>
            <a:off x="8341062" y="2048256"/>
            <a:ext cx="512064" cy="512064"/>
          </a:xfrm>
          <a:prstGeom prst="rect">
            <a:avLst/>
          </a:prstGeom>
        </p:spPr>
      </p:pic>
      <p:sp>
        <p:nvSpPr>
          <p:cNvPr id="29" name="Text 21"/>
          <p:cNvSpPr txBox="1"/>
          <p:nvPr/>
        </p:nvSpPr>
        <p:spPr>
          <a:xfrm>
            <a:off x="8944566" y="2029968"/>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석산초 배○○ 교사</a:t>
            </a:r>
            <a:endParaRPr lang="en-US" sz="1550" dirty="0"/>
          </a:p>
        </p:txBody>
      </p:sp>
      <p:sp>
        <p:nvSpPr>
          <p:cNvPr id="30" name="Text 22"/>
          <p:cNvSpPr txBox="1"/>
          <p:nvPr/>
        </p:nvSpPr>
        <p:spPr>
          <a:xfrm>
            <a:off x="8944566" y="2322576"/>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어휘력 진단, 추천 도서, 독서 파티</a:t>
            </a:r>
            <a:endParaRPr lang="en-US" sz="1200" dirty="0"/>
          </a:p>
        </p:txBody>
      </p:sp>
      <p:sp>
        <p:nvSpPr>
          <p:cNvPr id="31" name="Text 23"/>
          <p:cNvSpPr txBox="1"/>
          <p:nvPr/>
        </p:nvSpPr>
        <p:spPr>
          <a:xfrm>
            <a:off x="8359350" y="2670048"/>
            <a:ext cx="3180378" cy="12618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400" dirty="0">
                <a:solidFill>
                  <a:srgbClr val="1F2B20"/>
                </a:solidFill>
                <a:latin typeface="Freesentation 5 Medium" pitchFamily="34" charset="0"/>
                <a:ea typeface="Freesentation 5 Medium" pitchFamily="34" charset="-122"/>
                <a:cs typeface="Freesentation 5 Medium" pitchFamily="34" charset="-120"/>
              </a:rPr>
              <a:t>학생들이 매우 흥미로워했음. 고학년의 경우, 저학년 책부터 탐독하며 호기심을 가짐. 독서 후, 간단한 문제로 읽었는지 확인하는 것이 좋았음.</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32" name="Shape 24"/>
          <p:cNvSpPr/>
          <p:nvPr/>
        </p:nvSpPr>
        <p:spPr>
          <a:xfrm>
            <a:off x="4538892" y="4169664"/>
            <a:ext cx="3491274" cy="2103120"/>
          </a:xfrm>
          <a:prstGeom prst="roundRect">
            <a:avLst>
              <a:gd name="adj" fmla="val 5217"/>
            </a:avLst>
          </a:prstGeom>
          <a:solidFill>
            <a:srgbClr val="E6F0E7"/>
          </a:solidFill>
          <a:ln/>
        </p:spPr>
      </p:sp>
      <p:pic>
        <p:nvPicPr>
          <p:cNvPr id="33" name="Image 6" descr="제석초 유○○ 교사">    </p:cNvPr>
          <p:cNvPicPr>
            <a:picLocks noChangeAspect="1"/>
          </p:cNvPicPr>
          <p:nvPr/>
        </p:nvPicPr>
        <p:blipFill>
          <a:blip r:embed="rId7"/>
          <a:stretch>
            <a:fillRect/>
          </a:stretch>
        </p:blipFill>
        <p:spPr>
          <a:xfrm>
            <a:off x="4685196" y="4297680"/>
            <a:ext cx="512064" cy="512064"/>
          </a:xfrm>
          <a:prstGeom prst="rect">
            <a:avLst/>
          </a:prstGeom>
        </p:spPr>
      </p:pic>
      <p:sp>
        <p:nvSpPr>
          <p:cNvPr id="34" name="Text 25"/>
          <p:cNvSpPr txBox="1"/>
          <p:nvPr/>
        </p:nvSpPr>
        <p:spPr>
          <a:xfrm>
            <a:off x="5288700" y="4279392"/>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제석초 유○○ 교사</a:t>
            </a:r>
            <a:endParaRPr lang="en-US" sz="1550" dirty="0"/>
          </a:p>
        </p:txBody>
      </p:sp>
      <p:sp>
        <p:nvSpPr>
          <p:cNvPr id="35" name="Text 26"/>
          <p:cNvSpPr txBox="1"/>
          <p:nvPr/>
        </p:nvSpPr>
        <p:spPr>
          <a:xfrm>
            <a:off x="5288700" y="4572000"/>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어휘력 진단과 학생 의견 수집</a:t>
            </a:r>
            <a:endParaRPr lang="en-US" sz="1200" dirty="0"/>
          </a:p>
        </p:txBody>
      </p:sp>
      <p:sp>
        <p:nvSpPr>
          <p:cNvPr id="36" name="Text 27"/>
          <p:cNvSpPr txBox="1"/>
          <p:nvPr/>
        </p:nvSpPr>
        <p:spPr>
          <a:xfrm>
            <a:off x="4703484" y="4919472"/>
            <a:ext cx="3180378" cy="12618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500" dirty="0">
                <a:solidFill>
                  <a:srgbClr val="1F2B20"/>
                </a:solidFill>
                <a:latin typeface="Freesentation 5 Medium" pitchFamily="34" charset="0"/>
                <a:ea typeface="Freesentation 5 Medium" pitchFamily="34" charset="-122"/>
                <a:cs typeface="Freesentation 5 Medium" pitchFamily="34" charset="-120"/>
              </a:rPr>
              <a:t>독서와 연관된 어휘력 진단 기능 참 좋은 것 같습니다.</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37" name="Shape 28"/>
          <p:cNvSpPr/>
          <p:nvPr/>
        </p:nvSpPr>
        <p:spPr>
          <a:xfrm>
            <a:off x="8194758" y="4169664"/>
            <a:ext cx="3491274" cy="2103120"/>
          </a:xfrm>
          <a:prstGeom prst="roundRect">
            <a:avLst>
              <a:gd name="adj" fmla="val 5217"/>
            </a:avLst>
          </a:prstGeom>
          <a:solidFill>
            <a:srgbClr val="FBF5E6"/>
          </a:solidFill>
          <a:ln/>
        </p:spPr>
      </p:sp>
      <p:pic>
        <p:nvPicPr>
          <p:cNvPr id="38" name="Image 7" descr="진해신항초 이○○ 교사">    </p:cNvPr>
          <p:cNvPicPr>
            <a:picLocks noChangeAspect="1"/>
          </p:cNvPicPr>
          <p:nvPr/>
        </p:nvPicPr>
        <p:blipFill>
          <a:blip r:embed="rId8"/>
          <a:stretch>
            <a:fillRect/>
          </a:stretch>
        </p:blipFill>
        <p:spPr>
          <a:xfrm>
            <a:off x="8341062" y="4297680"/>
            <a:ext cx="512064" cy="512064"/>
          </a:xfrm>
          <a:prstGeom prst="rect">
            <a:avLst/>
          </a:prstGeom>
        </p:spPr>
      </p:pic>
      <p:sp>
        <p:nvSpPr>
          <p:cNvPr id="39" name="Text 29"/>
          <p:cNvSpPr txBox="1"/>
          <p:nvPr/>
        </p:nvSpPr>
        <p:spPr>
          <a:xfrm>
            <a:off x="8944566" y="4279392"/>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진해신항초 이○○ 교사</a:t>
            </a:r>
            <a:endParaRPr lang="en-US" sz="1550" dirty="0"/>
          </a:p>
        </p:txBody>
      </p:sp>
      <p:sp>
        <p:nvSpPr>
          <p:cNvPr id="40" name="Text 30"/>
          <p:cNvSpPr txBox="1"/>
          <p:nvPr/>
        </p:nvSpPr>
        <p:spPr>
          <a:xfrm>
            <a:off x="8944566" y="4572000"/>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두 번의 후기와 개선</a:t>
            </a:r>
            <a:endParaRPr lang="en-US" sz="1200" dirty="0"/>
          </a:p>
        </p:txBody>
      </p:sp>
      <p:sp>
        <p:nvSpPr>
          <p:cNvPr id="41" name="Text 31"/>
          <p:cNvSpPr txBox="1"/>
          <p:nvPr/>
        </p:nvSpPr>
        <p:spPr>
          <a:xfrm>
            <a:off x="8359350" y="4919472"/>
            <a:ext cx="3180378" cy="8046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500" dirty="0">
                <a:solidFill>
                  <a:srgbClr val="1F2B20"/>
                </a:solidFill>
                <a:latin typeface="Freesentation 5 Medium" pitchFamily="34" charset="0"/>
                <a:ea typeface="Freesentation 5 Medium" pitchFamily="34" charset="-122"/>
                <a:cs typeface="Freesentation 5 Medium" pitchFamily="34" charset="-120"/>
              </a:rPr>
              <a:t>재미있다.(9. 10.)  아이들이 책을 보는데 관심은 가지지만 흥미가 약합니다.(9. 21.)</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42" name="Shape 32"/>
          <p:cNvSpPr/>
          <p:nvPr/>
        </p:nvSpPr>
        <p:spPr>
          <a:xfrm>
            <a:off x="8322774" y="5760720"/>
            <a:ext cx="3235242" cy="402336"/>
          </a:xfrm>
          <a:prstGeom prst="roundRect">
            <a:avLst>
              <a:gd name="adj" fmla="val 18182"/>
            </a:avLst>
          </a:prstGeom>
          <a:solidFill>
            <a:srgbClr val="FFFFFF"/>
          </a:solidFill>
          <a:ln/>
        </p:spPr>
      </p:sp>
      <p:sp>
        <p:nvSpPr>
          <p:cNvPr id="43" name="Text 33"/>
          <p:cNvSpPr txBox="1"/>
          <p:nvPr/>
        </p:nvSpPr>
        <p:spPr>
          <a:xfrm>
            <a:off x="8414214" y="5760720"/>
            <a:ext cx="3088938" cy="402336"/>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개선</a:t>
            </a:r>
            <a:pP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  이 의견에 맞춰 본문을 더 재미있게 새로 쓰는 중</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13025"/>
        </a:solidFill>
      </p:bgPr>
    </p:bg>
    <p:spTree>
      <p:nvGrpSpPr>
        <p:cNvPr id="1" name=""/>
        <p:cNvGrpSpPr/>
        <p:nvPr/>
      </p:nvGrpSpPr>
      <p:grpSpPr>
        <a:xfrm>
          <a:off x="0" y="0"/>
          <a:ext cx="0" cy="0"/>
          <a:chOff x="0" y="0"/>
          <a:chExt cx="0" cy="0"/>
        </a:xfrm>
      </p:grpSpPr>
      <p:pic>
        <p:nvPicPr>
          <p:cNvPr id="2" name="Image 0" descr="선도 학급 수업">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13025">
              <a:alpha val="86000"/>
            </a:srgbClr>
          </a:solidFill>
          <a:ln/>
        </p:spPr>
      </p:sp>
      <p:sp>
        <p:nvSpPr>
          <p:cNvPr id="4" name="Shape 1"/>
          <p:cNvSpPr/>
          <p:nvPr/>
        </p:nvSpPr>
        <p:spPr>
          <a:xfrm>
            <a:off x="7452360" y="2331720"/>
            <a:ext cx="4251960" cy="3749040"/>
          </a:xfrm>
          <a:prstGeom prst="roundRect">
            <a:avLst>
              <a:gd name="adj" fmla="val 2927"/>
            </a:avLst>
          </a:prstGeom>
          <a:solidFill>
            <a:srgbClr val="2E4636"/>
          </a:solidFill>
          <a:ln/>
        </p:spPr>
      </p:sp>
      <p:sp>
        <p:nvSpPr>
          <p:cNvPr id="5" name="Shape 2"/>
          <p:cNvSpPr/>
          <p:nvPr/>
        </p:nvSpPr>
        <p:spPr>
          <a:xfrm>
            <a:off x="7589520" y="2468880"/>
            <a:ext cx="3977640" cy="2237423"/>
          </a:xfrm>
          <a:prstGeom prst="roundRect">
            <a:avLst>
              <a:gd name="adj" fmla="val 3269"/>
            </a:avLst>
          </a:prstGeom>
          <a:solidFill>
            <a:srgbClr val="FFFFFF"/>
          </a:solidFill>
          <a:ln w="9525">
            <a:solidFill>
              <a:srgbClr val="E2DCCB"/>
            </a:solidFill>
            <a:prstDash val="solid"/>
          </a:ln>
        </p:spPr>
      </p:sp>
      <p:pic>
        <p:nvPicPr>
          <p:cNvPr id="6" name="Image 1" descr="화면">    </p:cNvPr>
          <p:cNvPicPr>
            <a:picLocks noChangeAspect="1"/>
          </p:cNvPicPr>
          <p:nvPr/>
        </p:nvPicPr>
        <p:blipFill>
          <a:blip r:embed="rId2"/>
          <a:stretch>
            <a:fillRect/>
          </a:stretch>
        </p:blipFill>
        <p:spPr>
          <a:xfrm>
            <a:off x="7589520" y="2468880"/>
            <a:ext cx="3977640" cy="2237423"/>
          </a:xfrm>
          <a:prstGeom prst="rect">
            <a:avLst/>
          </a:prstGeom>
        </p:spPr>
      </p:pic>
      <p:sp>
        <p:nvSpPr>
          <p:cNvPr id="7" name="Shape 3"/>
          <p:cNvSpPr/>
          <p:nvPr/>
        </p:nvSpPr>
        <p:spPr>
          <a:xfrm>
            <a:off x="9249156" y="3258407"/>
            <a:ext cx="658368" cy="658368"/>
          </a:xfrm>
          <a:prstGeom prst="ellipse">
            <a:avLst/>
          </a:prstGeom>
          <a:solidFill>
            <a:srgbClr val="20342A">
              <a:alpha val="85000"/>
            </a:srgbClr>
          </a:solidFill>
          <a:ln/>
        </p:spPr>
      </p:sp>
      <p:sp>
        <p:nvSpPr>
          <p:cNvPr id="8" name="Shape 4"/>
          <p:cNvSpPr/>
          <p:nvPr/>
        </p:nvSpPr>
        <p:spPr>
          <a:xfrm rot="5400000">
            <a:off x="9468612" y="3441287"/>
            <a:ext cx="292608" cy="292608"/>
          </a:xfrm>
          <a:prstGeom prst="triangle">
            <a:avLst/>
          </a:prstGeom>
          <a:solidFill>
            <a:srgbClr val="F2D58A"/>
          </a:solidFill>
          <a:ln/>
        </p:spPr>
      </p:sp>
      <p:sp>
        <p:nvSpPr>
          <p:cNvPr id="9" name="Shape 5"/>
          <p:cNvSpPr/>
          <p:nvPr/>
        </p:nvSpPr>
        <p:spPr>
          <a:xfrm>
            <a:off x="7589520" y="4843463"/>
            <a:ext cx="1100137" cy="1100137"/>
          </a:xfrm>
          <a:prstGeom prst="roundRect">
            <a:avLst>
              <a:gd name="adj" fmla="val 4987"/>
            </a:avLst>
          </a:prstGeom>
          <a:solidFill>
            <a:srgbClr val="FFFFFF"/>
          </a:solidFill>
          <a:ln/>
        </p:spPr>
      </p:sp>
      <p:pic>
        <p:nvPicPr>
          <p:cNvPr id="10" name="Image 2" descr="교육청용 부기 소개 영상 QR">    </p:cNvPr>
          <p:cNvPicPr>
            <a:picLocks noChangeAspect="1"/>
          </p:cNvPicPr>
          <p:nvPr/>
        </p:nvPicPr>
        <p:blipFill>
          <a:blip r:embed="rId3"/>
          <a:stretch>
            <a:fillRect/>
          </a:stretch>
        </p:blipFill>
        <p:spPr>
          <a:xfrm>
            <a:off x="7635240" y="4889183"/>
            <a:ext cx="1008697" cy="1008697"/>
          </a:xfrm>
          <a:prstGeom prst="rect">
            <a:avLst/>
          </a:prstGeom>
        </p:spPr>
      </p:pic>
      <p:sp>
        <p:nvSpPr>
          <p:cNvPr id="11" name="Text 6"/>
          <p:cNvSpPr txBox="1"/>
          <p:nvPr/>
        </p:nvSpPr>
        <p:spPr>
          <a:xfrm>
            <a:off x="8845106" y="4861751"/>
            <a:ext cx="2740343" cy="329184"/>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교육청용 부기 소개 영상</a:t>
            </a:r>
            <a:endParaRPr lang="en-US" sz="1650" dirty="0"/>
          </a:p>
        </p:txBody>
      </p:sp>
      <p:sp>
        <p:nvSpPr>
          <p:cNvPr id="12" name="Text 7"/>
          <p:cNvSpPr txBox="1"/>
          <p:nvPr/>
        </p:nvSpPr>
        <p:spPr>
          <a:xfrm>
            <a:off x="8845106" y="5209223"/>
            <a:ext cx="2740343" cy="716089"/>
          </a:xfrm>
          <a:prstGeom prst="rect">
            <a:avLst/>
          </a:prstGeom>
          <a:noFill/>
          <a:ln/>
        </p:spPr>
        <p:txBody>
          <a:bodyPr wrap="square" lIns="0" tIns="0" rIns="0" bIns="0" rtlCol="0" anchor="t"/>
          <a:lstStyle/>
          <a:p>
            <a:pPr indent="0" marL="0">
              <a:lnSpc>
                <a:spcPct val="125000"/>
              </a:lnSpc>
              <a:buNone/>
            </a:pPr>
            <a:r>
              <a:rPr lang="en-US" sz="1400" dirty="0">
                <a:solidFill>
                  <a:srgbClr val="DCE6DD"/>
                </a:solidFill>
                <a:latin typeface="Freesentation 4 Regular" pitchFamily="34" charset="0"/>
                <a:ea typeface="Freesentation 4 Regular" pitchFamily="34" charset="-122"/>
                <a:cs typeface="Freesentation 4 Regular" pitchFamily="34" charset="-120"/>
              </a:rPr>
              <a:t>3분 21초</a:t>
            </a:r>
            <a:endParaRPr lang="en-US" sz="1400" dirty="0"/>
          </a:p>
          <a:p>
            <a:pPr indent="0" marL="0">
              <a:lnSpc>
                <a:spcPct val="125000"/>
              </a:lnSpc>
              <a:buNone/>
            </a:pPr>
            <a:r>
              <a:rPr lang="en-US" sz="1400" dirty="0">
                <a:solidFill>
                  <a:srgbClr val="DCE6DD"/>
                </a:solidFill>
                <a:latin typeface="Freesentation 4 Regular" pitchFamily="34" charset="0"/>
                <a:ea typeface="Freesentation 4 Regular" pitchFamily="34" charset="-122"/>
                <a:cs typeface="Freesentation 4 Regular" pitchFamily="34" charset="-120"/>
              </a:rPr>
              <a:t>휴대폰 카메라로 QR을 비추면 재생됩니다.</a:t>
            </a:r>
            <a:endParaRPr lang="en-US" sz="1400" dirty="0"/>
          </a:p>
        </p:txBody>
      </p:sp>
      <p:sp>
        <p:nvSpPr>
          <p:cNvPr id="13" name="Text 8"/>
          <p:cNvSpPr txBox="1"/>
          <p:nvPr/>
        </p:nvSpPr>
        <p:spPr>
          <a:xfrm>
            <a:off x="594360" y="685800"/>
            <a:ext cx="7315200" cy="365760"/>
          </a:xfrm>
          <a:prstGeom prst="rect">
            <a:avLst/>
          </a:prstGeom>
          <a:noFill/>
          <a:ln/>
        </p:spPr>
        <p:txBody>
          <a:bodyPr wrap="square" lIns="0" tIns="0" rIns="0" bIns="0" rtlCol="0" anchor="t"/>
          <a:lstStyle/>
          <a:p>
            <a:pPr indent="0" marL="0">
              <a:lnSpc>
                <a:spcPct val="112000"/>
              </a:lnSpc>
              <a:buNone/>
            </a:pPr>
            <a:r>
              <a:rPr lang="en-US" sz="1800" dirty="0">
                <a:solidFill>
                  <a:srgbClr val="F2D58A"/>
                </a:solidFill>
                <a:latin typeface="Freesentation 6 SemiBold" pitchFamily="34" charset="0"/>
                <a:ea typeface="Freesentation 6 SemiBold" pitchFamily="34" charset="-122"/>
                <a:cs typeface="Freesentation 6 SemiBold" pitchFamily="34" charset="-120"/>
              </a:rPr>
              <a:t>부기 독서교육 통합운영 제안 요지</a:t>
            </a:r>
            <a:endParaRPr lang="en-US" sz="1800" dirty="0"/>
          </a:p>
        </p:txBody>
      </p:sp>
      <p:sp>
        <p:nvSpPr>
          <p:cNvPr id="14" name="Text 9"/>
          <p:cNvSpPr txBox="1"/>
          <p:nvPr/>
        </p:nvSpPr>
        <p:spPr>
          <a:xfrm>
            <a:off x="594360" y="1115568"/>
            <a:ext cx="10058400" cy="1828800"/>
          </a:xfrm>
          <a:prstGeom prst="rect">
            <a:avLst/>
          </a:prstGeom>
          <a:noFill/>
          <a:ln/>
        </p:spPr>
        <p:txBody>
          <a:bodyPr wrap="square" lIns="0" tIns="0" rIns="0" bIns="0" rtlCol="0" anchor="t"/>
          <a:lstStyle/>
          <a:p>
            <a:pPr indent="0" marL="0">
              <a:lnSpc>
                <a:spcPct val="115000"/>
              </a:lnSpc>
              <a:buNone/>
            </a:pPr>
            <a:r>
              <a:rPr lang="en-US" sz="3250" dirty="0">
                <a:solidFill>
                  <a:srgbClr val="FFFFFF"/>
                </a:solidFill>
                <a:latin typeface="Noto Serif KR Black" pitchFamily="34" charset="0"/>
                <a:ea typeface="Noto Serif KR Black" pitchFamily="34" charset="-122"/>
                <a:cs typeface="Noto Serif KR Black" pitchFamily="34" charset="-120"/>
              </a:rPr>
              <a:t>모든 학생에게 책을 제공하는 것을 넘어,</a:t>
            </a:r>
            <a:endParaRPr lang="en-US" sz="3250" dirty="0"/>
          </a:p>
          <a:p>
            <a:pPr indent="0" marL="0">
              <a:lnSpc>
                <a:spcPct val="115000"/>
              </a:lnSpc>
              <a:buNone/>
            </a:pPr>
            <a:r>
              <a:rPr lang="en-US" sz="3250" dirty="0">
                <a:solidFill>
                  <a:srgbClr val="F2D58A"/>
                </a:solidFill>
                <a:latin typeface="Noto Serif KR Black" pitchFamily="34" charset="0"/>
                <a:ea typeface="Noto Serif KR Black" pitchFamily="34" charset="-122"/>
                <a:cs typeface="Noto Serif KR Black" pitchFamily="34" charset="-120"/>
              </a:rPr>
              <a:t>모든 학생이 한 권을 끝까지 읽도록</a:t>
            </a:r>
            <a:endParaRPr lang="en-US" sz="3250" dirty="0"/>
          </a:p>
          <a:p>
            <a:pPr indent="0" marL="0">
              <a:lnSpc>
                <a:spcPct val="115000"/>
              </a:lnSpc>
              <a:buNone/>
            </a:pPr>
            <a:r>
              <a:rPr lang="en-US" sz="3250" dirty="0">
                <a:solidFill>
                  <a:srgbClr val="FFFFFF"/>
                </a:solidFill>
                <a:latin typeface="Noto Serif KR Black" pitchFamily="34" charset="0"/>
                <a:ea typeface="Noto Serif KR Black" pitchFamily="34" charset="-122"/>
                <a:cs typeface="Noto Serif KR Black" pitchFamily="34" charset="-120"/>
              </a:rPr>
              <a:t>학교의 독서수업을 지원하겠습니다.</a:t>
            </a:r>
            <a:endParaRPr lang="en-US" sz="3250" dirty="0"/>
          </a:p>
        </p:txBody>
      </p:sp>
      <p:sp>
        <p:nvSpPr>
          <p:cNvPr id="15" name="Shape 10"/>
          <p:cNvSpPr/>
          <p:nvPr/>
        </p:nvSpPr>
        <p:spPr>
          <a:xfrm>
            <a:off x="594360" y="3291840"/>
            <a:ext cx="1591056" cy="868680"/>
          </a:xfrm>
          <a:prstGeom prst="roundRect">
            <a:avLst>
              <a:gd name="adj" fmla="val 10526"/>
            </a:avLst>
          </a:prstGeom>
          <a:solidFill>
            <a:srgbClr val="2E4636">
              <a:alpha val="95000"/>
            </a:srgbClr>
          </a:solidFill>
          <a:ln/>
        </p:spPr>
      </p:sp>
      <p:sp>
        <p:nvSpPr>
          <p:cNvPr id="16" name="Text 11"/>
          <p:cNvSpPr txBox="1"/>
          <p:nvPr/>
        </p:nvSpPr>
        <p:spPr>
          <a:xfrm>
            <a:off x="594360"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72학급</a:t>
            </a:r>
            <a:endParaRPr lang="en-US" sz="1700" dirty="0"/>
          </a:p>
        </p:txBody>
      </p:sp>
      <p:sp>
        <p:nvSpPr>
          <p:cNvPr id="17" name="Text 12"/>
          <p:cNvSpPr txBox="1"/>
          <p:nvPr/>
        </p:nvSpPr>
        <p:spPr>
          <a:xfrm>
            <a:off x="594360"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선도교사단 운영</a:t>
            </a:r>
            <a:endParaRPr lang="en-US" sz="1150" dirty="0"/>
          </a:p>
        </p:txBody>
      </p:sp>
      <p:sp>
        <p:nvSpPr>
          <p:cNvPr id="18" name="Shape 13"/>
          <p:cNvSpPr/>
          <p:nvPr/>
        </p:nvSpPr>
        <p:spPr>
          <a:xfrm>
            <a:off x="2276856" y="3291840"/>
            <a:ext cx="1591056" cy="868680"/>
          </a:xfrm>
          <a:prstGeom prst="roundRect">
            <a:avLst>
              <a:gd name="adj" fmla="val 10526"/>
            </a:avLst>
          </a:prstGeom>
          <a:solidFill>
            <a:srgbClr val="2E4636">
              <a:alpha val="95000"/>
            </a:srgbClr>
          </a:solidFill>
          <a:ln/>
        </p:spPr>
      </p:sp>
      <p:sp>
        <p:nvSpPr>
          <p:cNvPr id="19" name="Text 14"/>
          <p:cNvSpPr txBox="1"/>
          <p:nvPr/>
        </p:nvSpPr>
        <p:spPr>
          <a:xfrm>
            <a:off x="2276856"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2만 6,924권</a:t>
            </a:r>
            <a:endParaRPr lang="en-US" sz="1700" dirty="0"/>
          </a:p>
        </p:txBody>
      </p:sp>
      <p:sp>
        <p:nvSpPr>
          <p:cNvPr id="20" name="Text 15"/>
          <p:cNvSpPr txBox="1"/>
          <p:nvPr/>
        </p:nvSpPr>
        <p:spPr>
          <a:xfrm>
            <a:off x="2276856"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한 달 완독</a:t>
            </a:r>
            <a:endParaRPr lang="en-US" sz="1150" dirty="0"/>
          </a:p>
        </p:txBody>
      </p:sp>
      <p:sp>
        <p:nvSpPr>
          <p:cNvPr id="21" name="Shape 16"/>
          <p:cNvSpPr/>
          <p:nvPr/>
        </p:nvSpPr>
        <p:spPr>
          <a:xfrm>
            <a:off x="3959352" y="3291840"/>
            <a:ext cx="1591056" cy="868680"/>
          </a:xfrm>
          <a:prstGeom prst="roundRect">
            <a:avLst>
              <a:gd name="adj" fmla="val 10526"/>
            </a:avLst>
          </a:prstGeom>
          <a:solidFill>
            <a:srgbClr val="2E4636">
              <a:alpha val="95000"/>
            </a:srgbClr>
          </a:solidFill>
          <a:ln/>
        </p:spPr>
      </p:sp>
      <p:sp>
        <p:nvSpPr>
          <p:cNvPr id="22" name="Text 17"/>
          <p:cNvSpPr txBox="1"/>
          <p:nvPr/>
        </p:nvSpPr>
        <p:spPr>
          <a:xfrm>
            <a:off x="3959352"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1,196명</a:t>
            </a:r>
            <a:endParaRPr lang="en-US" sz="1700" dirty="0"/>
          </a:p>
        </p:txBody>
      </p:sp>
      <p:sp>
        <p:nvSpPr>
          <p:cNvPr id="23" name="Text 18"/>
          <p:cNvSpPr txBox="1"/>
          <p:nvPr/>
        </p:nvSpPr>
        <p:spPr>
          <a:xfrm>
            <a:off x="3959352"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실제로 쓴 학생</a:t>
            </a:r>
            <a:endParaRPr lang="en-US" sz="1150" dirty="0"/>
          </a:p>
        </p:txBody>
      </p:sp>
      <p:sp>
        <p:nvSpPr>
          <p:cNvPr id="24" name="Shape 19"/>
          <p:cNvSpPr/>
          <p:nvPr/>
        </p:nvSpPr>
        <p:spPr>
          <a:xfrm>
            <a:off x="5641848" y="3291840"/>
            <a:ext cx="1591056" cy="868680"/>
          </a:xfrm>
          <a:prstGeom prst="roundRect">
            <a:avLst>
              <a:gd name="adj" fmla="val 10526"/>
            </a:avLst>
          </a:prstGeom>
          <a:solidFill>
            <a:srgbClr val="2E4636">
              <a:alpha val="95000"/>
            </a:srgbClr>
          </a:solidFill>
          <a:ln/>
        </p:spPr>
      </p:sp>
      <p:sp>
        <p:nvSpPr>
          <p:cNvPr id="25" name="Text 20"/>
          <p:cNvSpPr txBox="1"/>
          <p:nvPr/>
        </p:nvSpPr>
        <p:spPr>
          <a:xfrm>
            <a:off x="5641848"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300개 학교</a:t>
            </a:r>
            <a:endParaRPr lang="en-US" sz="1700" dirty="0"/>
          </a:p>
        </p:txBody>
      </p:sp>
      <p:sp>
        <p:nvSpPr>
          <p:cNvPr id="26" name="Text 21"/>
          <p:cNvSpPr txBox="1"/>
          <p:nvPr/>
        </p:nvSpPr>
        <p:spPr>
          <a:xfrm>
            <a:off x="5641848"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12월 확대</a:t>
            </a:r>
            <a:endParaRPr lang="en-US" sz="1150" dirty="0"/>
          </a:p>
        </p:txBody>
      </p:sp>
      <p:sp>
        <p:nvSpPr>
          <p:cNvPr id="27" name="Text 22"/>
          <p:cNvSpPr txBox="1"/>
          <p:nvPr/>
        </p:nvSpPr>
        <p:spPr>
          <a:xfrm>
            <a:off x="594360" y="4526280"/>
            <a:ext cx="6217920" cy="731520"/>
          </a:xfrm>
          <a:prstGeom prst="rect">
            <a:avLst/>
          </a:prstGeom>
          <a:noFill/>
          <a:ln/>
        </p:spPr>
        <p:txBody>
          <a:bodyPr wrap="square" lIns="0" tIns="0" rIns="0" bIns="0" rtlCol="0" anchor="t"/>
          <a:lstStyle/>
          <a:p>
            <a:pPr indent="0" marL="0">
              <a:lnSpc>
                <a:spcPct val="135000"/>
              </a:lnSpc>
              <a:buNone/>
            </a:pPr>
            <a:r>
              <a:rPr lang="en-US" sz="1750" dirty="0">
                <a:solidFill>
                  <a:srgbClr val="DCE6DD"/>
                </a:solidFill>
                <a:latin typeface="Freesentation 5 Medium" pitchFamily="34" charset="0"/>
                <a:ea typeface="Freesentation 5 Medium" pitchFamily="34" charset="-122"/>
                <a:cs typeface="Freesentation 5 Medium" pitchFamily="34" charset="-120"/>
              </a:rPr>
              <a:t>참여 학교의 완독률과 어휘력 변화를 학교별로 모아 매달 보고하고, 학년도 말 성과 자료로 드리겠습니다.</a:t>
            </a:r>
            <a:endParaRPr lang="en-US" sz="1750" dirty="0"/>
          </a:p>
        </p:txBody>
      </p:sp>
      <p:sp>
        <p:nvSpPr>
          <p:cNvPr id="28" name="Shape 23"/>
          <p:cNvSpPr/>
          <p:nvPr/>
        </p:nvSpPr>
        <p:spPr>
          <a:xfrm>
            <a:off x="594360" y="6263640"/>
            <a:ext cx="11064240" cy="0"/>
          </a:xfrm>
          <a:prstGeom prst="line">
            <a:avLst/>
          </a:prstGeom>
          <a:noFill/>
          <a:ln w="9525">
            <a:solidFill>
              <a:srgbClr val="4A6656"/>
            </a:solidFill>
            <a:prstDash val="solid"/>
          </a:ln>
        </p:spPr>
      </p:sp>
      <p:sp>
        <p:nvSpPr>
          <p:cNvPr id="29" name="Text 24"/>
          <p:cNvSpPr txBox="1"/>
          <p:nvPr/>
        </p:nvSpPr>
        <p:spPr>
          <a:xfrm>
            <a:off x="594360" y="6355080"/>
            <a:ext cx="10972800" cy="329184"/>
          </a:xfrm>
          <a:prstGeom prst="rect">
            <a:avLst/>
          </a:prstGeom>
          <a:noFill/>
          <a:ln/>
        </p:spPr>
        <p:txBody>
          <a:bodyPr wrap="square" lIns="0" tIns="0" rIns="0" bIns="0" rtlCol="0" anchor="ctr"/>
          <a:lstStyle/>
          <a:p>
            <a:pPr indent="0" marL="0">
              <a:lnSpc>
                <a:spcPct val="112000"/>
              </a:lnSpc>
              <a:buNone/>
            </a:pPr>
            <a:r>
              <a:rPr lang="en-US" sz="1450" dirty="0">
                <a:solidFill>
                  <a:srgbClr val="C9D6CB"/>
                </a:solidFill>
                <a:latin typeface="Freesentation 5 Medium" pitchFamily="34" charset="0"/>
                <a:ea typeface="Freesentation 5 Medium" pitchFamily="34" charset="-122"/>
                <a:cs typeface="Freesentation 5 Medium" pitchFamily="34" charset="-120"/>
              </a:rPr>
              <a:t>주식회사 엠에스이씨엠(MSECM)   문의 이예진   T. 055-715-8854   E. yeajin@msecm.co.kr   bookie.io.kr</a:t>
            </a:r>
            <a:endParaRPr lang="en-US" sz="14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429768" cy="274320"/>
          </a:xfrm>
          <a:prstGeom prst="roundRect">
            <a:avLst>
              <a:gd name="adj" fmla="val 10000"/>
            </a:avLst>
          </a:prstGeom>
          <a:solidFill>
            <a:srgbClr val="20342A"/>
          </a:solidFill>
          <a:ln/>
        </p:spPr>
      </p:sp>
      <p:sp>
        <p:nvSpPr>
          <p:cNvPr id="3" name="Text 1"/>
          <p:cNvSpPr txBox="1"/>
          <p:nvPr/>
        </p:nvSpPr>
        <p:spPr>
          <a:xfrm>
            <a:off x="502920" y="329184"/>
            <a:ext cx="429768" cy="27432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부록</a:t>
            </a:r>
            <a:endParaRPr lang="en-US" sz="1500" dirty="0"/>
          </a:p>
        </p:txBody>
      </p:sp>
      <p:sp>
        <p:nvSpPr>
          <p:cNvPr id="4" name="Text 2"/>
          <p:cNvSpPr txBox="1"/>
          <p:nvPr/>
        </p:nvSpPr>
        <p:spPr>
          <a:xfrm>
            <a:off x="1024128" y="329184"/>
            <a:ext cx="5486400" cy="274320"/>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6 SemiBold" pitchFamily="34" charset="0"/>
                <a:ea typeface="Freesentation 6 SemiBold" pitchFamily="34" charset="-122"/>
                <a:cs typeface="Freesentation 6 SemiBold" pitchFamily="34" charset="-120"/>
              </a:rPr>
              <a:t>부기 화면 자세히 보기</a:t>
            </a:r>
            <a:endParaRPr lang="en-US" sz="155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A1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어휘력 진단과 수준별 추천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30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20문항 진단 결과에 따라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3개 수준 서가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에서 알맞은 책을 고릅니다</a:t>
            </a:r>
            <a:endParaRPr lang="en-US" sz="1400" dirty="0"/>
          </a:p>
        </p:txBody>
      </p:sp>
      <p:sp>
        <p:nvSpPr>
          <p:cNvPr id="10" name="Text 7"/>
          <p:cNvSpPr txBox="1"/>
          <p:nvPr/>
        </p:nvSpPr>
        <p:spPr>
          <a:xfrm>
            <a:off x="253418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6099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결과는 CSV로 내려받음. 진단 결과는 교사 화면에 반 평균 정답률, 수준이 오른 학생 수, 진단 뒤 완독 권수로 모임.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300" dirty="0">
                <a:solidFill>
                  <a:srgbClr val="7B857B"/>
                </a:solidFill>
                <a:latin typeface="Freesentation 5 Medium" pitchFamily="34" charset="0"/>
                <a:ea typeface="Freesentation 5 Medium" pitchFamily="34" charset="-122"/>
                <a:cs typeface="Freesentation 5 Medium" pitchFamily="34" charset="-120"/>
              </a:rPr>
              <a:t>40</a:t>
            </a:r>
            <a:endParaRPr lang="en-US" sz="1300" dirty="0"/>
          </a:p>
        </p:txBody>
      </p:sp>
      <p:sp>
        <p:nvSpPr>
          <p:cNvPr id="14" name="Shape 11"/>
          <p:cNvSpPr/>
          <p:nvPr/>
        </p:nvSpPr>
        <p:spPr>
          <a:xfrm>
            <a:off x="935136" y="1920240"/>
            <a:ext cx="4676162" cy="2743200"/>
          </a:xfrm>
          <a:prstGeom prst="roundRect">
            <a:avLst>
              <a:gd name="adj" fmla="val 2667"/>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5" name="Image 1" descr="「문항 예시 보기」, 학생마다 다른 시험지">    </p:cNvPr>
          <p:cNvPicPr>
            <a:picLocks noChangeAspect="1"/>
          </p:cNvPicPr>
          <p:nvPr/>
        </p:nvPicPr>
        <p:blipFill>
          <a:blip r:embed="rId2"/>
          <a:stretch>
            <a:fillRect/>
          </a:stretch>
        </p:blipFill>
        <p:spPr>
          <a:xfrm>
            <a:off x="999144" y="1984248"/>
            <a:ext cx="4548146" cy="2615184"/>
          </a:xfrm>
          <a:prstGeom prst="rect">
            <a:avLst/>
          </a:prstGeom>
        </p:spPr>
      </p:pic>
      <p:sp>
        <p:nvSpPr>
          <p:cNvPr id="16" name="Shape 12"/>
          <p:cNvSpPr/>
          <p:nvPr/>
        </p:nvSpPr>
        <p:spPr>
          <a:xfrm>
            <a:off x="1044864" y="4279392"/>
            <a:ext cx="2697099" cy="274320"/>
          </a:xfrm>
          <a:prstGeom prst="roundRect">
            <a:avLst>
              <a:gd name="adj" fmla="val 50000"/>
            </a:avLst>
          </a:prstGeom>
          <a:solidFill>
            <a:srgbClr val="20342A">
              <a:alpha val="92000"/>
            </a:srgbClr>
          </a:solidFill>
          <a:ln/>
        </p:spPr>
      </p:sp>
      <p:sp>
        <p:nvSpPr>
          <p:cNvPr id="17" name="Text 13"/>
          <p:cNvSpPr txBox="1"/>
          <p:nvPr/>
        </p:nvSpPr>
        <p:spPr>
          <a:xfrm>
            <a:off x="1044864" y="4279392"/>
            <a:ext cx="2697099"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「문항 예시 보기」, 학생마다 다른 시험지</a:t>
            </a:r>
            <a:endParaRPr lang="en-US" sz="1350" dirty="0"/>
          </a:p>
        </p:txBody>
      </p:sp>
      <p:sp>
        <p:nvSpPr>
          <p:cNvPr id="18" name="Text 14"/>
          <p:cNvSpPr txBox="1"/>
          <p:nvPr/>
        </p:nvSpPr>
        <p:spPr>
          <a:xfrm>
            <a:off x="502920" y="4846320"/>
            <a:ext cx="5540595" cy="1426464"/>
          </a:xfrm>
          <a:prstGeom prst="rect">
            <a:avLst/>
          </a:prstGeom>
          <a:noFill/>
          <a:ln/>
        </p:spPr>
        <p:txBody>
          <a:bodyPr wrap="square" lIns="0" tIns="0" rIns="0" bIns="0" rtlCol="0" anchor="t"/>
          <a:lstStyle/>
          <a:p>
            <a:pPr marL="241300" indent="-241300">
              <a:lnSpc>
                <a:spcPct val="125000"/>
              </a:lnSpc>
              <a:spcAft>
                <a:spcPts val="2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낱말 20개로 읽기 수준을 보는 짧은 진단이라 한 화면에서 끝납니다.</a:t>
            </a:r>
            <a:endParaRPr lang="en-US" sz="1650" dirty="0"/>
          </a:p>
          <a:p>
            <a:pPr lvl="1" marL="330200" indent="-165100">
              <a:lnSpc>
                <a:spcPct val="125000"/>
              </a:lnSpc>
              <a:spcAft>
                <a:spcPts val="200"/>
              </a:spcAft>
              <a:buSzPct val="100000"/>
              <a:buChar char="-"/>
            </a:pPr>
            <a:r>
              <a:rPr lang="en-US" sz="1600" dirty="0">
                <a:solidFill>
                  <a:srgbClr val="4A564B"/>
                </a:solidFill>
                <a:latin typeface="Freesentation 4 Regular" pitchFamily="34" charset="0"/>
                <a:ea typeface="Freesentation 4 Regular" pitchFamily="34" charset="-122"/>
                <a:cs typeface="Freesentation 4 Regular" pitchFamily="34" charset="-120"/>
              </a:rPr>
              <a:t>교사가 회차를 열면 학생 홈에 「시작하기」 카드가 뜨고, 결과에 따라 학생마다 맞는 책을 골라 줍니다.</a:t>
            </a:r>
            <a:endParaRPr lang="en-US" sz="1650" dirty="0"/>
          </a:p>
        </p:txBody>
      </p:sp>
      <p:sp>
        <p:nvSpPr>
          <p:cNvPr id="19" name="Shape 15"/>
          <p:cNvSpPr/>
          <p:nvPr/>
        </p:nvSpPr>
        <p:spPr>
          <a:xfrm>
            <a:off x="6409275" y="2020824"/>
            <a:ext cx="118872" cy="118872"/>
          </a:xfrm>
          <a:prstGeom prst="ellipse">
            <a:avLst/>
          </a:prstGeom>
          <a:solidFill>
            <a:srgbClr val="2F7D4F"/>
          </a:solidFill>
          <a:ln/>
        </p:spPr>
      </p:sp>
      <p:sp>
        <p:nvSpPr>
          <p:cNvPr id="20" name="Text 16"/>
          <p:cNvSpPr txBox="1"/>
          <p:nvPr/>
        </p:nvSpPr>
        <p:spPr>
          <a:xfrm>
            <a:off x="6628731"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20문항의 짜임</a:t>
            </a:r>
            <a:endParaRPr lang="en-US" sz="165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6409275" y="2331720"/>
          <a:ext cx="5276757" cy="914400"/>
        </p:xfrm>
        <a:graphic>
          <a:graphicData uri="http://schemas.openxmlformats.org/drawingml/2006/table">
            <a:tbl>
              <a:tblPr/>
              <a:tblGrid>
                <a:gridCol w="1828800"/>
                <a:gridCol w="3447957"/>
              </a:tblGrid>
              <a:tr h="438912">
                <a:tc>
                  <a:txBody>
                    <a:bodyPr/>
                    <a:lstStyle/>
                    <a:p>
                      <a:pPr algn="ctr" indent="0" marL="0">
                        <a:buNone/>
                      </a:pPr>
                      <a:r>
                        <a:rPr lang="en-US" sz="1600" dirty="0">
                          <a:solidFill>
                            <a:srgbClr val="FFFFFF"/>
                          </a:solidFill>
                          <a:latin typeface="Freesentation 7 Bold" pitchFamily="34" charset="0"/>
                          <a:ea typeface="Freesentation 7 Bold" pitchFamily="34" charset="-122"/>
                          <a:cs typeface="Freesentation 7 Bold" pitchFamily="34" charset="-120"/>
                        </a:rPr>
                        <a:t>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600" dirty="0">
                          <a:solidFill>
                            <a:srgbClr val="FFFFFF"/>
                          </a:solidFill>
                          <a:latin typeface="Freesentation 7 Bold" pitchFamily="34" charset="0"/>
                          <a:ea typeface="Freesentation 7 Bold" pitchFamily="34" charset="-122"/>
                          <a:cs typeface="Freesentation 7 Bold" pitchFamily="34" charset="-120"/>
                        </a:rPr>
                        <a:t>내용</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뜻 고르기 6문항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낱말의 뜻을 보기에서 고름</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빈칸 채우기 14문항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문장 속 빈칸에 알맞은 낱말을 넣음</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한 단계 위 6문항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위 학년 책에서 뽑은 낱말로 앞선 어휘 확인</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22" name="Shape 17"/>
          <p:cNvSpPr/>
          <p:nvPr/>
        </p:nvSpPr>
        <p:spPr>
          <a:xfrm>
            <a:off x="6409275" y="4306824"/>
            <a:ext cx="118872" cy="118872"/>
          </a:xfrm>
          <a:prstGeom prst="ellipse">
            <a:avLst/>
          </a:prstGeom>
          <a:solidFill>
            <a:srgbClr val="2F7D4F"/>
          </a:solidFill>
          <a:ln/>
        </p:spPr>
      </p:sp>
      <p:sp>
        <p:nvSpPr>
          <p:cNvPr id="23" name="Text 18"/>
          <p:cNvSpPr txBox="1"/>
          <p:nvPr/>
        </p:nvSpPr>
        <p:spPr>
          <a:xfrm>
            <a:off x="6628731" y="4169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결과에 맞춘 「부기가 골라 준 책」</a:t>
            </a:r>
            <a:endParaRPr lang="en-US" sz="1650" dirty="0"/>
          </a:p>
        </p:txBody>
      </p:sp>
      <p:sp>
        <p:nvSpPr>
          <p:cNvPr id="24" name="Shape 19"/>
          <p:cNvSpPr/>
          <p:nvPr/>
        </p:nvSpPr>
        <p:spPr>
          <a:xfrm>
            <a:off x="6409275" y="4645152"/>
            <a:ext cx="1661383" cy="1170432"/>
          </a:xfrm>
          <a:prstGeom prst="roundRect">
            <a:avLst>
              <a:gd name="adj" fmla="val 7813"/>
            </a:avLst>
          </a:prstGeom>
          <a:solidFill>
            <a:srgbClr val="E6F0E7"/>
          </a:solidFill>
          <a:ln/>
        </p:spPr>
      </p:sp>
      <p:sp>
        <p:nvSpPr>
          <p:cNvPr id="25" name="Text 20"/>
          <p:cNvSpPr txBox="1"/>
          <p:nvPr/>
        </p:nvSpPr>
        <p:spPr>
          <a:xfrm>
            <a:off x="6409275" y="4736592"/>
            <a:ext cx="1661383" cy="457200"/>
          </a:xfrm>
          <a:prstGeom prst="rect">
            <a:avLst/>
          </a:prstGeom>
          <a:noFill/>
          <a:ln/>
        </p:spPr>
        <p:txBody>
          <a:bodyPr wrap="square" lIns="0" tIns="0" rIns="0" bIns="0" rtlCol="0" anchor="ctr"/>
          <a:lstStyle/>
          <a:p>
            <a:pPr algn="ctr" indent="0" marL="0">
              <a:lnSpc>
                <a:spcPct val="112000"/>
              </a:lnSpc>
              <a:buNone/>
            </a:pPr>
            <a:r>
              <a:rPr lang="en-US" sz="2400" dirty="0">
                <a:solidFill>
                  <a:srgbClr val="2F7D4F"/>
                </a:solidFill>
                <a:latin typeface="Noto Serif KR Black" pitchFamily="34" charset="0"/>
                <a:ea typeface="Noto Serif KR Black" pitchFamily="34" charset="-122"/>
                <a:cs typeface="Noto Serif KR Black" pitchFamily="34" charset="-120"/>
              </a:rPr>
              <a:t>상</a:t>
            </a:r>
            <a:endParaRPr lang="en-US" sz="2400" dirty="0"/>
          </a:p>
        </p:txBody>
      </p:sp>
      <p:sp>
        <p:nvSpPr>
          <p:cNvPr id="26" name="Text 21"/>
          <p:cNvSpPr txBox="1"/>
          <p:nvPr/>
        </p:nvSpPr>
        <p:spPr>
          <a:xfrm>
            <a:off x="6409275" y="5212080"/>
            <a:ext cx="1661383" cy="329184"/>
          </a:xfrm>
          <a:prstGeom prst="rect">
            <a:avLst/>
          </a:prstGeom>
          <a:noFill/>
          <a:ln/>
        </p:spPr>
        <p:txBody>
          <a:bodyPr wrap="square" lIns="0" tIns="0" rIns="0" bIns="0" rtlCol="0" anchor="ct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한 걸음 더</a:t>
            </a:r>
            <a:endParaRPr lang="en-US" sz="1650" dirty="0"/>
          </a:p>
        </p:txBody>
      </p:sp>
      <p:sp>
        <p:nvSpPr>
          <p:cNvPr id="27" name="Text 22"/>
          <p:cNvSpPr txBox="1"/>
          <p:nvPr/>
        </p:nvSpPr>
        <p:spPr>
          <a:xfrm>
            <a:off x="6500715" y="5559552"/>
            <a:ext cx="1478503" cy="210312"/>
          </a:xfrm>
          <a:prstGeom prst="rect">
            <a:avLst/>
          </a:prstGeom>
          <a:noFill/>
          <a:ln/>
        </p:spPr>
        <p:txBody>
          <a:bodyPr wrap="square" lIns="0" tIns="0" rIns="0" bIns="0" rtlCol="0" anchor="t"/>
          <a:lstStyle/>
          <a:p>
            <a:pPr algn="ctr" indent="0" marL="0">
              <a:lnSpc>
                <a:spcPct val="112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한 단계 높은 책</a:t>
            </a:r>
            <a:endParaRPr lang="en-US" sz="1550" dirty="0"/>
          </a:p>
        </p:txBody>
      </p:sp>
      <p:sp>
        <p:nvSpPr>
          <p:cNvPr id="28" name="Shape 23"/>
          <p:cNvSpPr/>
          <p:nvPr/>
        </p:nvSpPr>
        <p:spPr>
          <a:xfrm>
            <a:off x="8216962" y="4645152"/>
            <a:ext cx="1661383" cy="1170432"/>
          </a:xfrm>
          <a:prstGeom prst="roundRect">
            <a:avLst>
              <a:gd name="adj" fmla="val 7813"/>
            </a:avLst>
          </a:prstGeom>
          <a:solidFill>
            <a:srgbClr val="FBF5E6"/>
          </a:solidFill>
          <a:ln/>
        </p:spPr>
      </p:sp>
      <p:sp>
        <p:nvSpPr>
          <p:cNvPr id="29" name="Text 24"/>
          <p:cNvSpPr txBox="1"/>
          <p:nvPr/>
        </p:nvSpPr>
        <p:spPr>
          <a:xfrm>
            <a:off x="8216962" y="4736592"/>
            <a:ext cx="1661383" cy="457200"/>
          </a:xfrm>
          <a:prstGeom prst="rect">
            <a:avLst/>
          </a:prstGeom>
          <a:noFill/>
          <a:ln/>
        </p:spPr>
        <p:txBody>
          <a:bodyPr wrap="square" lIns="0" tIns="0" rIns="0" bIns="0" rtlCol="0" anchor="ctr"/>
          <a:lstStyle/>
          <a:p>
            <a:pPr algn="ctr" indent="0" marL="0">
              <a:lnSpc>
                <a:spcPct val="112000"/>
              </a:lnSpc>
              <a:buNone/>
            </a:pPr>
            <a:r>
              <a:rPr lang="en-US" sz="2400" dirty="0">
                <a:solidFill>
                  <a:srgbClr val="C08A1E"/>
                </a:solidFill>
                <a:latin typeface="Noto Serif KR Black" pitchFamily="34" charset="0"/>
                <a:ea typeface="Noto Serif KR Black" pitchFamily="34" charset="-122"/>
                <a:cs typeface="Noto Serif KR Black" pitchFamily="34" charset="-120"/>
              </a:rPr>
              <a:t>중</a:t>
            </a:r>
            <a:endParaRPr lang="en-US" sz="2400" dirty="0"/>
          </a:p>
        </p:txBody>
      </p:sp>
      <p:sp>
        <p:nvSpPr>
          <p:cNvPr id="30" name="Text 25"/>
          <p:cNvSpPr txBox="1"/>
          <p:nvPr/>
        </p:nvSpPr>
        <p:spPr>
          <a:xfrm>
            <a:off x="8216962" y="5212080"/>
            <a:ext cx="1661383" cy="329184"/>
          </a:xfrm>
          <a:prstGeom prst="rect">
            <a:avLst/>
          </a:prstGeom>
          <a:noFill/>
          <a:ln/>
        </p:spPr>
        <p:txBody>
          <a:bodyPr wrap="square" lIns="0" tIns="0" rIns="0" bIns="0" rtlCol="0" anchor="ct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내 학년 그대로</a:t>
            </a:r>
            <a:endParaRPr lang="en-US" sz="1650" dirty="0"/>
          </a:p>
        </p:txBody>
      </p:sp>
      <p:sp>
        <p:nvSpPr>
          <p:cNvPr id="31" name="Text 26"/>
          <p:cNvSpPr txBox="1"/>
          <p:nvPr/>
        </p:nvSpPr>
        <p:spPr>
          <a:xfrm>
            <a:off x="8308402" y="5559552"/>
            <a:ext cx="1478503" cy="210312"/>
          </a:xfrm>
          <a:prstGeom prst="rect">
            <a:avLst/>
          </a:prstGeom>
          <a:noFill/>
          <a:ln/>
        </p:spPr>
        <p:txBody>
          <a:bodyPr wrap="square" lIns="0" tIns="0" rIns="0" bIns="0" rtlCol="0" anchor="t"/>
          <a:lstStyle/>
          <a:p>
            <a:pPr algn="ctr" indent="0" marL="0">
              <a:lnSpc>
                <a:spcPct val="112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제 학년 책</a:t>
            </a:r>
            <a:endParaRPr lang="en-US" sz="1550" dirty="0"/>
          </a:p>
        </p:txBody>
      </p:sp>
      <p:sp>
        <p:nvSpPr>
          <p:cNvPr id="32" name="Shape 27"/>
          <p:cNvSpPr/>
          <p:nvPr/>
        </p:nvSpPr>
        <p:spPr>
          <a:xfrm>
            <a:off x="10024649" y="4645152"/>
            <a:ext cx="1661383" cy="1170432"/>
          </a:xfrm>
          <a:prstGeom prst="roundRect">
            <a:avLst>
              <a:gd name="adj" fmla="val 7813"/>
            </a:avLst>
          </a:prstGeom>
          <a:solidFill>
            <a:srgbClr val="F7EDE8"/>
          </a:solidFill>
          <a:ln/>
        </p:spPr>
      </p:sp>
      <p:sp>
        <p:nvSpPr>
          <p:cNvPr id="33" name="Text 28"/>
          <p:cNvSpPr txBox="1"/>
          <p:nvPr/>
        </p:nvSpPr>
        <p:spPr>
          <a:xfrm>
            <a:off x="10024649" y="4736592"/>
            <a:ext cx="1661383" cy="457200"/>
          </a:xfrm>
          <a:prstGeom prst="rect">
            <a:avLst/>
          </a:prstGeom>
          <a:noFill/>
          <a:ln/>
        </p:spPr>
        <p:txBody>
          <a:bodyPr wrap="square" lIns="0" tIns="0" rIns="0" bIns="0" rtlCol="0" anchor="ctr"/>
          <a:lstStyle/>
          <a:p>
            <a:pPr algn="ctr" indent="0" marL="0">
              <a:lnSpc>
                <a:spcPct val="112000"/>
              </a:lnSpc>
              <a:buNone/>
            </a:pPr>
            <a:r>
              <a:rPr lang="en-US" sz="2400" dirty="0">
                <a:solidFill>
                  <a:srgbClr val="B5482F"/>
                </a:solidFill>
                <a:latin typeface="Noto Serif KR Black" pitchFamily="34" charset="0"/>
                <a:ea typeface="Noto Serif KR Black" pitchFamily="34" charset="-122"/>
                <a:cs typeface="Noto Serif KR Black" pitchFamily="34" charset="-120"/>
              </a:rPr>
              <a:t>하</a:t>
            </a:r>
            <a:endParaRPr lang="en-US" sz="2400" dirty="0"/>
          </a:p>
        </p:txBody>
      </p:sp>
      <p:sp>
        <p:nvSpPr>
          <p:cNvPr id="34" name="Text 29"/>
          <p:cNvSpPr txBox="1"/>
          <p:nvPr/>
        </p:nvSpPr>
        <p:spPr>
          <a:xfrm>
            <a:off x="10024649" y="5212080"/>
            <a:ext cx="1661383" cy="329184"/>
          </a:xfrm>
          <a:prstGeom prst="rect">
            <a:avLst/>
          </a:prstGeom>
          <a:noFill/>
          <a:ln/>
        </p:spPr>
        <p:txBody>
          <a:bodyPr wrap="square" lIns="0" tIns="0" rIns="0" bIns="0" rtlCol="0" anchor="ct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천천히 다지기</a:t>
            </a:r>
            <a:endParaRPr lang="en-US" sz="1650" dirty="0"/>
          </a:p>
        </p:txBody>
      </p:sp>
      <p:sp>
        <p:nvSpPr>
          <p:cNvPr id="35" name="Text 30"/>
          <p:cNvSpPr txBox="1"/>
          <p:nvPr/>
        </p:nvSpPr>
        <p:spPr>
          <a:xfrm>
            <a:off x="10116089" y="5559552"/>
            <a:ext cx="1478503" cy="210312"/>
          </a:xfrm>
          <a:prstGeom prst="rect">
            <a:avLst/>
          </a:prstGeom>
          <a:noFill/>
          <a:ln/>
        </p:spPr>
        <p:txBody>
          <a:bodyPr wrap="square" lIns="0" tIns="0" rIns="0" bIns="0" rtlCol="0" anchor="t"/>
          <a:lstStyle/>
          <a:p>
            <a:pPr algn="ctr" indent="0" marL="0">
              <a:lnSpc>
                <a:spcPct val="112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조금 쉬운 책</a:t>
            </a:r>
            <a:endParaRPr lang="en-US" sz="1550" dirty="0"/>
          </a:p>
        </p:txBody>
      </p:sp>
      <p:sp>
        <p:nvSpPr>
          <p:cNvPr id="36" name="Text 31"/>
          <p:cNvSpPr txBox="1"/>
          <p:nvPr/>
        </p:nvSpPr>
        <p:spPr>
          <a:xfrm>
            <a:off x="6409275" y="5888736"/>
            <a:ext cx="5276757" cy="384048"/>
          </a:xfrm>
          <a:prstGeom prst="rect">
            <a:avLst/>
          </a:prstGeom>
          <a:noFill/>
          <a:ln/>
        </p:spPr>
        <p:txBody>
          <a:bodyPr wrap="square" lIns="0" tIns="0" rIns="0" bIns="0" rtlCol="0" anchor="ctr"/>
          <a:lstStyle/>
          <a:p>
            <a:pPr indent="0" marL="0">
              <a:lnSpc>
                <a:spcPct val="112000"/>
              </a:lnSpc>
              <a:buNone/>
            </a:pPr>
            <a:r>
              <a:rPr lang="en-US" sz="1550" dirty="0">
                <a:solidFill>
                  <a:srgbClr val="B5482F"/>
                </a:solidFill>
                <a:latin typeface="Freesentation 7 Bold" pitchFamily="34" charset="0"/>
                <a:ea typeface="Freesentation 7 Bold" pitchFamily="34" charset="-122"/>
                <a:cs typeface="Freesentation 7 Bold" pitchFamily="34" charset="-120"/>
              </a:rPr>
              <a:t>점수와 수준은 학생에게 보이지 않습니다.</a:t>
            </a:r>
            <a:endParaRPr lang="en-US" sz="15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429768" cy="274320"/>
          </a:xfrm>
          <a:prstGeom prst="roundRect">
            <a:avLst>
              <a:gd name="adj" fmla="val 10000"/>
            </a:avLst>
          </a:prstGeom>
          <a:solidFill>
            <a:srgbClr val="20342A"/>
          </a:solidFill>
          <a:ln/>
        </p:spPr>
      </p:sp>
      <p:sp>
        <p:nvSpPr>
          <p:cNvPr id="3" name="Text 1"/>
          <p:cNvSpPr txBox="1"/>
          <p:nvPr/>
        </p:nvSpPr>
        <p:spPr>
          <a:xfrm>
            <a:off x="502920" y="329184"/>
            <a:ext cx="429768" cy="27432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부록</a:t>
            </a:r>
            <a:endParaRPr lang="en-US" sz="1500" dirty="0"/>
          </a:p>
        </p:txBody>
      </p:sp>
      <p:sp>
        <p:nvSpPr>
          <p:cNvPr id="4" name="Text 2"/>
          <p:cNvSpPr txBox="1"/>
          <p:nvPr/>
        </p:nvSpPr>
        <p:spPr>
          <a:xfrm>
            <a:off x="1024128" y="329184"/>
            <a:ext cx="5486400" cy="274320"/>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6 SemiBold" pitchFamily="34" charset="0"/>
                <a:ea typeface="Freesentation 6 SemiBold" pitchFamily="34" charset="-122"/>
                <a:cs typeface="Freesentation 6 SemiBold" pitchFamily="34" charset="-120"/>
              </a:rPr>
              <a:t>부기 화면 자세히 보기</a:t>
            </a:r>
            <a:endParaRPr lang="en-US" sz="155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A2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책 밖 독서 활동 자료</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30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책갈피, 종이인형, 만들기 도안으로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책 밖에서도 독서가 계속</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됩니다</a:t>
            </a:r>
            <a:endParaRPr lang="en-US" sz="1400" dirty="0"/>
          </a:p>
        </p:txBody>
      </p:sp>
      <p:sp>
        <p:nvSpPr>
          <p:cNvPr id="10" name="Text 7"/>
          <p:cNvSpPr txBox="1"/>
          <p:nvPr/>
        </p:nvSpPr>
        <p:spPr>
          <a:xfrm>
            <a:off x="248003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1514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종이책 출간은 계획 단계, 부기 메타버스는 구상 단계이며 사업 제공 항목에 넣지 않음.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300" dirty="0">
                <a:solidFill>
                  <a:srgbClr val="7B857B"/>
                </a:solidFill>
                <a:latin typeface="Freesentation 5 Medium" pitchFamily="34" charset="0"/>
                <a:ea typeface="Freesentation 5 Medium" pitchFamily="34" charset="-122"/>
                <a:cs typeface="Freesentation 5 Medium" pitchFamily="34" charset="-120"/>
              </a:rPr>
              <a:t>41</a:t>
            </a:r>
            <a:endParaRPr lang="en-US" sz="1300" dirty="0"/>
          </a:p>
        </p:txBody>
      </p:sp>
      <p:sp>
        <p:nvSpPr>
          <p:cNvPr id="14" name="Shape 11"/>
          <p:cNvSpPr/>
          <p:nvPr/>
        </p:nvSpPr>
        <p:spPr>
          <a:xfrm>
            <a:off x="502920" y="1932051"/>
            <a:ext cx="3364992" cy="2061210"/>
          </a:xfrm>
          <a:prstGeom prst="roundRect">
            <a:avLst>
              <a:gd name="adj" fmla="val 354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5" name="Image 1" descr="부기 책갈피, 앞면 13종과 뒷면 3종">    </p:cNvPr>
          <p:cNvPicPr>
            <a:picLocks noChangeAspect="1"/>
          </p:cNvPicPr>
          <p:nvPr/>
        </p:nvPicPr>
        <p:blipFill>
          <a:blip r:embed="rId2"/>
          <a:stretch>
            <a:fillRect/>
          </a:stretch>
        </p:blipFill>
        <p:spPr>
          <a:xfrm>
            <a:off x="566928" y="1996059"/>
            <a:ext cx="3236976" cy="1933194"/>
          </a:xfrm>
          <a:prstGeom prst="rect">
            <a:avLst/>
          </a:prstGeom>
        </p:spPr>
      </p:pic>
      <p:sp>
        <p:nvSpPr>
          <p:cNvPr id="16" name="Shape 12"/>
          <p:cNvSpPr/>
          <p:nvPr/>
        </p:nvSpPr>
        <p:spPr>
          <a:xfrm>
            <a:off x="612648" y="3609213"/>
            <a:ext cx="2410714" cy="274320"/>
          </a:xfrm>
          <a:prstGeom prst="roundRect">
            <a:avLst>
              <a:gd name="adj" fmla="val 50000"/>
            </a:avLst>
          </a:prstGeom>
          <a:solidFill>
            <a:srgbClr val="20342A">
              <a:alpha val="92000"/>
            </a:srgbClr>
          </a:solidFill>
          <a:ln/>
        </p:spPr>
      </p:sp>
      <p:sp>
        <p:nvSpPr>
          <p:cNvPr id="17" name="Text 13"/>
          <p:cNvSpPr txBox="1"/>
          <p:nvPr/>
        </p:nvSpPr>
        <p:spPr>
          <a:xfrm>
            <a:off x="612648" y="3609213"/>
            <a:ext cx="2410714"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부기 책갈피, 앞면 13종과 뒷면 3종</a:t>
            </a:r>
            <a:endParaRPr lang="en-US" sz="1350" dirty="0"/>
          </a:p>
        </p:txBody>
      </p:sp>
      <p:sp>
        <p:nvSpPr>
          <p:cNvPr id="18" name="Shape 14"/>
          <p:cNvSpPr/>
          <p:nvPr/>
        </p:nvSpPr>
        <p:spPr>
          <a:xfrm>
            <a:off x="4339118" y="1920240"/>
            <a:ext cx="2788340"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9" name="Image 2" descr="내 책 옷장 책갈피 32종">    </p:cNvPr>
          <p:cNvPicPr>
            <a:picLocks noChangeAspect="1"/>
          </p:cNvPicPr>
          <p:nvPr/>
        </p:nvPicPr>
        <p:blipFill>
          <a:blip r:embed="rId3"/>
          <a:stretch>
            <a:fillRect/>
          </a:stretch>
        </p:blipFill>
        <p:spPr>
          <a:xfrm>
            <a:off x="4403126" y="1984248"/>
            <a:ext cx="2660324" cy="1956816"/>
          </a:xfrm>
          <a:prstGeom prst="rect">
            <a:avLst/>
          </a:prstGeom>
        </p:spPr>
      </p:pic>
      <p:sp>
        <p:nvSpPr>
          <p:cNvPr id="20" name="Shape 15"/>
          <p:cNvSpPr/>
          <p:nvPr/>
        </p:nvSpPr>
        <p:spPr>
          <a:xfrm>
            <a:off x="4448846" y="3621024"/>
            <a:ext cx="1698244" cy="274320"/>
          </a:xfrm>
          <a:prstGeom prst="roundRect">
            <a:avLst>
              <a:gd name="adj" fmla="val 50000"/>
            </a:avLst>
          </a:prstGeom>
          <a:solidFill>
            <a:srgbClr val="20342A">
              <a:alpha val="92000"/>
            </a:srgbClr>
          </a:solidFill>
          <a:ln/>
        </p:spPr>
      </p:sp>
      <p:sp>
        <p:nvSpPr>
          <p:cNvPr id="21" name="Text 16"/>
          <p:cNvSpPr txBox="1"/>
          <p:nvPr/>
        </p:nvSpPr>
        <p:spPr>
          <a:xfrm>
            <a:off x="4448846" y="3621024"/>
            <a:ext cx="1698244"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내 책 옷장 책갈피 32종</a:t>
            </a:r>
            <a:endParaRPr lang="en-US" sz="1350" dirty="0"/>
          </a:p>
        </p:txBody>
      </p:sp>
      <p:sp>
        <p:nvSpPr>
          <p:cNvPr id="22" name="Shape 17"/>
          <p:cNvSpPr/>
          <p:nvPr/>
        </p:nvSpPr>
        <p:spPr>
          <a:xfrm>
            <a:off x="653796" y="4187952"/>
            <a:ext cx="3063240"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3" name="Image 3" descr="「부기 이야기 극장」 종이인형 놀이책">    </p:cNvPr>
          <p:cNvPicPr>
            <a:picLocks noChangeAspect="1"/>
          </p:cNvPicPr>
          <p:nvPr/>
        </p:nvPicPr>
        <p:blipFill>
          <a:blip r:embed="rId4"/>
          <a:stretch>
            <a:fillRect/>
          </a:stretch>
        </p:blipFill>
        <p:spPr>
          <a:xfrm>
            <a:off x="717804" y="4251960"/>
            <a:ext cx="2935224" cy="1956816"/>
          </a:xfrm>
          <a:prstGeom prst="rect">
            <a:avLst/>
          </a:prstGeom>
        </p:spPr>
      </p:pic>
      <p:sp>
        <p:nvSpPr>
          <p:cNvPr id="24" name="Shape 18"/>
          <p:cNvSpPr/>
          <p:nvPr/>
        </p:nvSpPr>
        <p:spPr>
          <a:xfrm>
            <a:off x="763524" y="5888736"/>
            <a:ext cx="2455418" cy="274320"/>
          </a:xfrm>
          <a:prstGeom prst="roundRect">
            <a:avLst>
              <a:gd name="adj" fmla="val 50000"/>
            </a:avLst>
          </a:prstGeom>
          <a:solidFill>
            <a:srgbClr val="20342A">
              <a:alpha val="92000"/>
            </a:srgbClr>
          </a:solidFill>
          <a:ln/>
        </p:spPr>
      </p:sp>
      <p:sp>
        <p:nvSpPr>
          <p:cNvPr id="25" name="Text 19"/>
          <p:cNvSpPr txBox="1"/>
          <p:nvPr/>
        </p:nvSpPr>
        <p:spPr>
          <a:xfrm>
            <a:off x="763524" y="5888736"/>
            <a:ext cx="2455418"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「부기 이야기 극장」 종이인형 놀이책</a:t>
            </a:r>
            <a:endParaRPr lang="en-US" sz="1350" dirty="0"/>
          </a:p>
        </p:txBody>
      </p:sp>
      <p:sp>
        <p:nvSpPr>
          <p:cNvPr id="26" name="Shape 20"/>
          <p:cNvSpPr/>
          <p:nvPr/>
        </p:nvSpPr>
        <p:spPr>
          <a:xfrm>
            <a:off x="4287069" y="4187952"/>
            <a:ext cx="2892438"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7" name="Image 4" descr="스티커북 「양치기 소년」">    </p:cNvPr>
          <p:cNvPicPr>
            <a:picLocks noChangeAspect="1"/>
          </p:cNvPicPr>
          <p:nvPr/>
        </p:nvPicPr>
        <p:blipFill>
          <a:blip r:embed="rId5"/>
          <a:stretch>
            <a:fillRect/>
          </a:stretch>
        </p:blipFill>
        <p:spPr>
          <a:xfrm>
            <a:off x="4351077" y="4251960"/>
            <a:ext cx="2764422" cy="1956816"/>
          </a:xfrm>
          <a:prstGeom prst="rect">
            <a:avLst/>
          </a:prstGeom>
        </p:spPr>
      </p:pic>
      <p:sp>
        <p:nvSpPr>
          <p:cNvPr id="28" name="Shape 21"/>
          <p:cNvSpPr/>
          <p:nvPr/>
        </p:nvSpPr>
        <p:spPr>
          <a:xfrm>
            <a:off x="4396797" y="5888736"/>
            <a:ext cx="1721993" cy="274320"/>
          </a:xfrm>
          <a:prstGeom prst="roundRect">
            <a:avLst>
              <a:gd name="adj" fmla="val 50000"/>
            </a:avLst>
          </a:prstGeom>
          <a:solidFill>
            <a:srgbClr val="20342A">
              <a:alpha val="92000"/>
            </a:srgbClr>
          </a:solidFill>
          <a:ln/>
        </p:spPr>
      </p:sp>
      <p:sp>
        <p:nvSpPr>
          <p:cNvPr id="29" name="Text 22"/>
          <p:cNvSpPr txBox="1"/>
          <p:nvPr/>
        </p:nvSpPr>
        <p:spPr>
          <a:xfrm>
            <a:off x="4396797" y="5888736"/>
            <a:ext cx="1721993"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스티커북 「양치기 소년」</a:t>
            </a:r>
            <a:endParaRPr lang="en-US" sz="1350" dirty="0"/>
          </a:p>
        </p:txBody>
      </p:sp>
      <p:sp>
        <p:nvSpPr>
          <p:cNvPr id="30" name="Shape 23"/>
          <p:cNvSpPr/>
          <p:nvPr/>
        </p:nvSpPr>
        <p:spPr>
          <a:xfrm>
            <a:off x="7735824" y="1920240"/>
            <a:ext cx="3950208" cy="782726"/>
          </a:xfrm>
          <a:prstGeom prst="roundRect">
            <a:avLst>
              <a:gd name="adj" fmla="val 9346"/>
            </a:avLst>
          </a:prstGeom>
          <a:solidFill>
            <a:srgbClr val="FFFFFF"/>
          </a:solidFill>
          <a:ln w="9525">
            <a:solidFill>
              <a:srgbClr val="E2DCCB"/>
            </a:solidFill>
            <a:prstDash val="solid"/>
          </a:ln>
        </p:spPr>
      </p:sp>
      <p:sp>
        <p:nvSpPr>
          <p:cNvPr id="31" name="Text 24"/>
          <p:cNvSpPr txBox="1"/>
          <p:nvPr/>
        </p:nvSpPr>
        <p:spPr>
          <a:xfrm>
            <a:off x="7900416" y="1975104"/>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책갈피</a:t>
            </a:r>
            <a:endParaRPr lang="en-US" sz="1650" dirty="0"/>
          </a:p>
        </p:txBody>
      </p:sp>
      <p:sp>
        <p:nvSpPr>
          <p:cNvPr id="32" name="Text 25"/>
          <p:cNvSpPr txBox="1"/>
          <p:nvPr/>
        </p:nvSpPr>
        <p:spPr>
          <a:xfrm>
            <a:off x="7900416" y="2286000"/>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55×85mm 카드, 뒷면 QR로 읽기 화면 열기</a:t>
            </a:r>
            <a:endParaRPr lang="en-US" sz="1550" dirty="0"/>
          </a:p>
        </p:txBody>
      </p:sp>
      <p:sp>
        <p:nvSpPr>
          <p:cNvPr id="33" name="Shape 26"/>
          <p:cNvSpPr/>
          <p:nvPr/>
        </p:nvSpPr>
        <p:spPr>
          <a:xfrm>
            <a:off x="7735824" y="2812694"/>
            <a:ext cx="3950208" cy="782726"/>
          </a:xfrm>
          <a:prstGeom prst="roundRect">
            <a:avLst>
              <a:gd name="adj" fmla="val 9346"/>
            </a:avLst>
          </a:prstGeom>
          <a:solidFill>
            <a:srgbClr val="FFFFFF"/>
          </a:solidFill>
          <a:ln w="9525">
            <a:solidFill>
              <a:srgbClr val="E2DCCB"/>
            </a:solidFill>
            <a:prstDash val="solid"/>
          </a:ln>
        </p:spPr>
      </p:sp>
      <p:sp>
        <p:nvSpPr>
          <p:cNvPr id="34" name="Text 27"/>
          <p:cNvSpPr txBox="1"/>
          <p:nvPr/>
        </p:nvSpPr>
        <p:spPr>
          <a:xfrm>
            <a:off x="7900416" y="2867558"/>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종이인형 놀이책</a:t>
            </a:r>
            <a:endParaRPr lang="en-US" sz="1650" dirty="0"/>
          </a:p>
        </p:txBody>
      </p:sp>
      <p:sp>
        <p:nvSpPr>
          <p:cNvPr id="35" name="Text 28"/>
          <p:cNvSpPr txBox="1"/>
          <p:nvPr/>
        </p:nvSpPr>
        <p:spPr>
          <a:xfrm>
            <a:off x="7900416" y="3178454"/>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인물 옷을 입혀 장면을 다시 꾸미고 말풍선 카드를 씀</a:t>
            </a:r>
            <a:endParaRPr lang="en-US" sz="1550" dirty="0"/>
          </a:p>
        </p:txBody>
      </p:sp>
      <p:sp>
        <p:nvSpPr>
          <p:cNvPr id="36" name="Shape 29"/>
          <p:cNvSpPr/>
          <p:nvPr/>
        </p:nvSpPr>
        <p:spPr>
          <a:xfrm>
            <a:off x="7735824" y="3705149"/>
            <a:ext cx="3950208" cy="782726"/>
          </a:xfrm>
          <a:prstGeom prst="roundRect">
            <a:avLst>
              <a:gd name="adj" fmla="val 9346"/>
            </a:avLst>
          </a:prstGeom>
          <a:solidFill>
            <a:srgbClr val="FFFFFF"/>
          </a:solidFill>
          <a:ln w="9525">
            <a:solidFill>
              <a:srgbClr val="E2DCCB"/>
            </a:solidFill>
            <a:prstDash val="solid"/>
          </a:ln>
        </p:spPr>
      </p:sp>
      <p:sp>
        <p:nvSpPr>
          <p:cNvPr id="37" name="Text 30"/>
          <p:cNvSpPr txBox="1"/>
          <p:nvPr/>
        </p:nvSpPr>
        <p:spPr>
          <a:xfrm>
            <a:off x="7900416" y="3760013"/>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만들기 자료실</a:t>
            </a:r>
            <a:endParaRPr lang="en-US" sz="1650" dirty="0"/>
          </a:p>
        </p:txBody>
      </p:sp>
      <p:sp>
        <p:nvSpPr>
          <p:cNvPr id="38" name="Text 31"/>
          <p:cNvSpPr txBox="1"/>
          <p:nvPr/>
        </p:nvSpPr>
        <p:spPr>
          <a:xfrm>
            <a:off x="7900416" y="4070909"/>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스티커북 5권, 색칠 종이인형 23권, 삽화형 4권</a:t>
            </a:r>
            <a:endParaRPr lang="en-US" sz="1550" dirty="0"/>
          </a:p>
        </p:txBody>
      </p:sp>
      <p:sp>
        <p:nvSpPr>
          <p:cNvPr id="39" name="Shape 32"/>
          <p:cNvSpPr/>
          <p:nvPr/>
        </p:nvSpPr>
        <p:spPr>
          <a:xfrm>
            <a:off x="7735824" y="4597603"/>
            <a:ext cx="3950208" cy="782726"/>
          </a:xfrm>
          <a:prstGeom prst="roundRect">
            <a:avLst>
              <a:gd name="adj" fmla="val 9346"/>
            </a:avLst>
          </a:prstGeom>
          <a:solidFill>
            <a:srgbClr val="F7F4EC"/>
          </a:solidFill>
          <a:ln/>
        </p:spPr>
      </p:sp>
      <p:sp>
        <p:nvSpPr>
          <p:cNvPr id="40" name="Text 33"/>
          <p:cNvSpPr txBox="1"/>
          <p:nvPr/>
        </p:nvSpPr>
        <p:spPr>
          <a:xfrm>
            <a:off x="7900416" y="4652467"/>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7B857B"/>
                </a:solidFill>
                <a:latin typeface="Freesentation 7 Bold" pitchFamily="34" charset="0"/>
                <a:ea typeface="Freesentation 7 Bold" pitchFamily="34" charset="-122"/>
                <a:cs typeface="Freesentation 7 Bold" pitchFamily="34" charset="-120"/>
              </a:rPr>
              <a:t>종이책 연계(계획)</a:t>
            </a:r>
            <a:endParaRPr lang="en-US" sz="1650" dirty="0"/>
          </a:p>
        </p:txBody>
      </p:sp>
      <p:sp>
        <p:nvSpPr>
          <p:cNvPr id="41" name="Text 34"/>
          <p:cNvSpPr txBox="1"/>
          <p:nvPr/>
        </p:nvSpPr>
        <p:spPr>
          <a:xfrm>
            <a:off x="7900416" y="4963363"/>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신국판 비율 그림책으로 종이책 출간 예정</a:t>
            </a:r>
            <a:endParaRPr lang="en-US" sz="1550" dirty="0"/>
          </a:p>
        </p:txBody>
      </p:sp>
      <p:sp>
        <p:nvSpPr>
          <p:cNvPr id="42" name="Shape 35"/>
          <p:cNvSpPr/>
          <p:nvPr/>
        </p:nvSpPr>
        <p:spPr>
          <a:xfrm>
            <a:off x="7735824" y="5490058"/>
            <a:ext cx="3950208" cy="782726"/>
          </a:xfrm>
          <a:prstGeom prst="roundRect">
            <a:avLst>
              <a:gd name="adj" fmla="val 9346"/>
            </a:avLst>
          </a:prstGeom>
          <a:solidFill>
            <a:srgbClr val="F7F4EC"/>
          </a:solidFill>
          <a:ln/>
        </p:spPr>
      </p:sp>
      <p:sp>
        <p:nvSpPr>
          <p:cNvPr id="43" name="Text 36"/>
          <p:cNvSpPr txBox="1"/>
          <p:nvPr/>
        </p:nvSpPr>
        <p:spPr>
          <a:xfrm>
            <a:off x="7900416" y="5544922"/>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7B857B"/>
                </a:solidFill>
                <a:latin typeface="Freesentation 7 Bold" pitchFamily="34" charset="0"/>
                <a:ea typeface="Freesentation 7 Bold" pitchFamily="34" charset="-122"/>
                <a:cs typeface="Freesentation 7 Bold" pitchFamily="34" charset="-120"/>
              </a:rPr>
              <a:t>부기 메타버스(구상)</a:t>
            </a:r>
            <a:endParaRPr lang="en-US" sz="1650" dirty="0"/>
          </a:p>
        </p:txBody>
      </p:sp>
      <p:sp>
        <p:nvSpPr>
          <p:cNvPr id="44" name="Text 37"/>
          <p:cNvSpPr txBox="1"/>
          <p:nvPr/>
        </p:nvSpPr>
        <p:spPr>
          <a:xfrm>
            <a:off x="7900416" y="5855818"/>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책 속 세계로 들어가 인물과 이야기하는 공간 구상</a:t>
            </a:r>
            <a:endParaRPr lang="en-US" sz="15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BF6EA"/>
        </a:solidFill>
      </p:bgPr>
    </p:bg>
    <p:spTree>
      <p:nvGrpSpPr>
        <p:cNvPr id="1" name=""/>
        <p:cNvGrpSpPr/>
        <p:nvPr/>
      </p:nvGrpSpPr>
      <p:grpSpPr>
        <a:xfrm>
          <a:off x="0" y="0"/>
          <a:ext cx="0" cy="0"/>
          <a:chOff x="0" y="0"/>
          <a:chExt cx="0" cy="0"/>
        </a:xfrm>
      </p:grpSpPr>
      <p:pic>
        <p:nvPicPr>
          <p:cNvPr id="2" name="Image 0" descr="삽화">    </p:cNvPr>
          <p:cNvPicPr>
            <a:picLocks noChangeAspect="1"/>
          </p:cNvPicPr>
          <p:nvPr/>
        </p:nvPicPr>
        <p:blipFill>
          <a:blip r:embed="rId1"/>
          <a:stretch>
            <a:fillRect/>
          </a:stretch>
        </p:blipFill>
        <p:spPr>
          <a:xfrm>
            <a:off x="1968379" y="3429000"/>
            <a:ext cx="8224762" cy="2743200"/>
          </a:xfrm>
          <a:prstGeom prst="rect">
            <a:avLst/>
          </a:prstGeom>
        </p:spPr>
      </p:pic>
      <p:pic>
        <p:nvPicPr>
          <p:cNvPr id="3" name="Image 1" descr="부기">    </p:cNvPr>
          <p:cNvPicPr>
            <a:picLocks noChangeAspect="1"/>
          </p:cNvPicPr>
          <p:nvPr/>
        </p:nvPicPr>
        <p:blipFill>
          <a:blip r:embed="rId2"/>
          <a:stretch>
            <a:fillRect/>
          </a:stretch>
        </p:blipFill>
        <p:spPr>
          <a:xfrm>
            <a:off x="5733288" y="566928"/>
            <a:ext cx="731520" cy="731520"/>
          </a:xfrm>
          <a:prstGeom prst="rect">
            <a:avLst/>
          </a:prstGeom>
        </p:spPr>
      </p:pic>
      <p:sp>
        <p:nvSpPr>
          <p:cNvPr id="4" name="Text 0"/>
          <p:cNvSpPr txBox="1"/>
          <p:nvPr/>
        </p:nvSpPr>
        <p:spPr>
          <a:xfrm>
            <a:off x="0" y="1325880"/>
            <a:ext cx="12191695" cy="822960"/>
          </a:xfrm>
          <a:prstGeom prst="rect">
            <a:avLst/>
          </a:prstGeom>
          <a:noFill/>
          <a:ln/>
        </p:spPr>
        <p:txBody>
          <a:bodyPr wrap="square" lIns="0" tIns="0" rIns="0" bIns="0" rtlCol="0" anchor="ctr"/>
          <a:lstStyle/>
          <a:p>
            <a:pPr algn="ctr" indent="0" marL="0">
              <a:lnSpc>
                <a:spcPct val="112000"/>
              </a:lnSpc>
              <a:buNone/>
            </a:pPr>
            <a:r>
              <a:rPr lang="en-US" sz="4400" dirty="0">
                <a:solidFill>
                  <a:srgbClr val="20342A"/>
                </a:solidFill>
                <a:latin typeface="Noto Serif KR Black" pitchFamily="34" charset="0"/>
                <a:ea typeface="Noto Serif KR Black" pitchFamily="34" charset="-122"/>
                <a:cs typeface="Noto Serif KR Black" pitchFamily="34" charset="-120"/>
              </a:rPr>
              <a:t>감사합니다</a:t>
            </a:r>
            <a:endParaRPr lang="en-US" sz="4400" dirty="0"/>
          </a:p>
        </p:txBody>
      </p:sp>
      <p:sp>
        <p:nvSpPr>
          <p:cNvPr id="5" name="Text 1"/>
          <p:cNvSpPr txBox="1"/>
          <p:nvPr/>
        </p:nvSpPr>
        <p:spPr>
          <a:xfrm>
            <a:off x="0" y="2148840"/>
            <a:ext cx="12191695" cy="502920"/>
          </a:xfrm>
          <a:prstGeom prst="rect">
            <a:avLst/>
          </a:prstGeom>
          <a:noFill/>
          <a:ln/>
        </p:spPr>
        <p:txBody>
          <a:bodyPr wrap="square" lIns="0" tIns="0" rIns="0" bIns="0" rtlCol="0" anchor="ctr"/>
          <a:lstStyle/>
          <a:p>
            <a:pPr algn="ctr" indent="0" marL="0">
              <a:lnSpc>
                <a:spcPct val="112000"/>
              </a:lnSpc>
              <a:buNone/>
            </a:pPr>
            <a:r>
              <a:rPr lang="en-US" sz="2400" dirty="0">
                <a:solidFill>
                  <a:srgbClr val="C08A1E"/>
                </a:solidFill>
                <a:latin typeface="Noto Serif KR SemiBold" pitchFamily="34" charset="0"/>
                <a:ea typeface="Noto Serif KR SemiBold" pitchFamily="34" charset="-122"/>
                <a:cs typeface="Noto Serif KR SemiBold" pitchFamily="34" charset="-120"/>
              </a:rPr>
              <a:t>선생님들의 소망과 꿈을 지원합니다</a:t>
            </a:r>
            <a:endParaRPr lang="en-US" sz="2400" dirty="0"/>
          </a:p>
        </p:txBody>
      </p:sp>
      <p:sp>
        <p:nvSpPr>
          <p:cNvPr id="6" name="Text 2"/>
          <p:cNvSpPr txBox="1"/>
          <p:nvPr/>
        </p:nvSpPr>
        <p:spPr>
          <a:xfrm>
            <a:off x="0" y="2670048"/>
            <a:ext cx="12191695" cy="411480"/>
          </a:xfrm>
          <a:prstGeom prst="rect">
            <a:avLst/>
          </a:prstGeom>
          <a:noFill/>
          <a:ln/>
        </p:spPr>
        <p:txBody>
          <a:bodyPr wrap="square" lIns="0" tIns="0" rIns="0" bIns="0" rtlCol="0" anchor="ctr"/>
          <a:lstStyle/>
          <a:p>
            <a:pPr algn="ctr" indent="0" marL="0">
              <a:lnSpc>
                <a:spcPct val="112000"/>
              </a:lnSpc>
              <a:buNone/>
            </a:pPr>
            <a:r>
              <a:rPr lang="en-US" sz="1650" dirty="0">
                <a:solidFill>
                  <a:srgbClr val="4A564B"/>
                </a:solidFill>
                <a:latin typeface="Freesentation 5 Medium" pitchFamily="34" charset="0"/>
                <a:ea typeface="Freesentation 5 Medium" pitchFamily="34" charset="-122"/>
                <a:cs typeface="Freesentation 5 Medium" pitchFamily="34" charset="-120"/>
              </a:rPr>
              <a:t>학생은 한 권을 끝까지 읽고, 선생님은 원하는 독서수업을 하는 교실을 함께 만들겠습니다.</a:t>
            </a:r>
            <a:endParaRPr lang="en-US" sz="1650" dirty="0"/>
          </a:p>
        </p:txBody>
      </p:sp>
      <p:pic>
        <p:nvPicPr>
          <p:cNvPr id="7" name="Image 2" descr="MSECM">    </p:cNvPr>
          <p:cNvPicPr>
            <a:picLocks noChangeAspect="1"/>
          </p:cNvPicPr>
          <p:nvPr/>
        </p:nvPicPr>
        <p:blipFill>
          <a:blip r:embed="rId3"/>
          <a:stretch>
            <a:fillRect/>
          </a:stretch>
        </p:blipFill>
        <p:spPr>
          <a:xfrm>
            <a:off x="548640" y="6327648"/>
            <a:ext cx="1234440" cy="345175"/>
          </a:xfrm>
          <a:prstGeom prst="rect">
            <a:avLst/>
          </a:prstGeom>
        </p:spPr>
      </p:pic>
      <p:sp>
        <p:nvSpPr>
          <p:cNvPr id="8" name="Text 3"/>
          <p:cNvSpPr txBox="1"/>
          <p:nvPr/>
        </p:nvSpPr>
        <p:spPr>
          <a:xfrm>
            <a:off x="1920240" y="6291072"/>
            <a:ext cx="9692640" cy="384048"/>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5 Medium" pitchFamily="34" charset="0"/>
                <a:ea typeface="Freesentation 5 Medium" pitchFamily="34" charset="-122"/>
                <a:cs typeface="Freesentation 5 Medium" pitchFamily="34" charset="-120"/>
              </a:rPr>
              <a:t>주식회사 엠에스이씨엠(MSECM)   문의 이예진   T. 055-715-8854   E. yeajin@msecm.co.kr   bookie.io.kr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MSECM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부기(BOOKIE) 통합운영 제안서</dc:title>
  <dc:subject>PptxGenJS Presentation</dc:subject>
  <dc:creator>MSECM</dc:creator>
  <cp:lastModifiedBy>MSECM</cp:lastModifiedBy>
  <cp:revision>1</cp:revision>
  <dcterms:created xsi:type="dcterms:W3CDTF">2026-10-28T20:41:30Z</dcterms:created>
  <dcterms:modified xsi:type="dcterms:W3CDTF">2026-10-28T20:41:30Z</dcterms:modified>
</cp:coreProperties>
</file>