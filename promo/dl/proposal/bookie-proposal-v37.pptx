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0.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1.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Freesentation 4 Regular" pitchFamily="2" charset="1"/>
      <p:regular r:id="rIdCopyeditFont1"/>
    </p:embeddedFont>
    <p:embeddedFont>
      <p:font typeface="Freesentation 5 Medium" pitchFamily="2" charset="1"/>
      <p:regular r:id="rIdCopyeditFont2"/>
    </p:embeddedFont>
    <p:embeddedFont>
      <p:font typeface="Freesentation 6 SemiBold" pitchFamily="2" charset="1"/>
      <p:regular r:id="rIdCopyeditFont3"/>
    </p:embeddedFont>
    <p:embeddedFont>
      <p:font typeface="Freesentation 7 Bold" pitchFamily="2" charset="1"/>
      <p:regular r:id="rIdCopyeditFont4"/>
    </p:embeddedFont>
    <p:embeddedFont>
      <p:font typeface="Freesentation 8 ExtraBold" pitchFamily="2" charset="1"/>
      <p:regular r:id="rIdCopyeditFont5"/>
    </p:embeddedFont>
    <p:embeddedFont>
      <p:font typeface="Freesentation 9 Black" pitchFamily="2" charset="1"/>
      <p:regular r:id="rIdCopyeditFont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CopyeditFont1" Type="http://schemas.openxmlformats.org/officeDocument/2006/relationships/font" Target="fonts/copyedit-font1.fntdata"/><Relationship Id="rIdCopyeditFont2" Type="http://schemas.openxmlformats.org/officeDocument/2006/relationships/font" Target="fonts/copyedit-font2.fntdata"/><Relationship Id="rIdCopyeditFont3" Type="http://schemas.openxmlformats.org/officeDocument/2006/relationships/font" Target="fonts/copyedit-font3.fntdata"/><Relationship Id="rIdCopyeditFont4" Type="http://schemas.openxmlformats.org/officeDocument/2006/relationships/font" Target="fonts/copyedit-font4.fntdata"/><Relationship Id="rIdCopyeditFont5" Type="http://schemas.openxmlformats.org/officeDocument/2006/relationships/font" Target="fonts/copyedit-font5.fntdata"/><Relationship Id="rIdCopyeditFont6" Type="http://schemas.openxmlformats.org/officeDocument/2006/relationships/font" Target="fonts/copyedit-font6.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image" Target="../media/image-10-7.jpe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jpeg"/><Relationship Id="rId11" Type="http://schemas.openxmlformats.org/officeDocument/2006/relationships/image" Target="../media/image-11-11.jpeg"/><Relationship Id="rId12" Type="http://schemas.openxmlformats.org/officeDocument/2006/relationships/image" Target="../media/image-11-12.jpeg"/><Relationship Id="rId13" Type="http://schemas.openxmlformats.org/officeDocument/2006/relationships/image" Target="../media/image-11-13.jpe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image" Target="../media/image-14-5.jpe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image" Target="../media/image-15-2.jpeg"/><Relationship Id="rId4" Type="http://schemas.openxmlformats.org/officeDocument/2006/relationships/image" Target="../media/image-15-3.jpe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image" Target="../media/image-16-6.jpe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jpe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jpeg"/><Relationship Id="rId15" Type="http://schemas.openxmlformats.org/officeDocument/2006/relationships/image" Target="../media/image-18-15.jpeg"/><Relationship Id="rId16" Type="http://schemas.openxmlformats.org/officeDocument/2006/relationships/image" Target="../media/image-18-16.jpe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jpeg"/><Relationship Id="rId5" Type="http://schemas.openxmlformats.org/officeDocument/2006/relationships/image" Target="../media/image-20-5.jpeg"/><Relationship Id="rId6" Type="http://schemas.openxmlformats.org/officeDocument/2006/relationships/image" Target="../media/image-20-6.jpeg"/><Relationship Id="rId7" Type="http://schemas.openxmlformats.org/officeDocument/2006/relationships/image" Target="../media/image-20-7.jpeg"/><Relationship Id="rId8" Type="http://schemas.openxmlformats.org/officeDocument/2006/relationships/image" Target="../media/image-20-8.jpeg"/><Relationship Id="rId9" Type="http://schemas.openxmlformats.org/officeDocument/2006/relationships/image" Target="../media/image-20-9.jpeg"/><Relationship Id="rId10" Type="http://schemas.openxmlformats.org/officeDocument/2006/relationships/image" Target="../media/image-20-10.jpe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1"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jpe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27-1.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eg"/><Relationship Id="rId3" Type="http://schemas.openxmlformats.org/officeDocument/2006/relationships/image" Target="../media/image-29-3.jpe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eg"/><Relationship Id="rId3" Type="http://schemas.openxmlformats.org/officeDocument/2006/relationships/image" Target="../media/image-31-3.jpeg"/><Relationship Id="rId4" Type="http://schemas.openxmlformats.org/officeDocument/2006/relationships/image" Target="../media/image-31-4.jpeg"/><Relationship Id="rId5" Type="http://schemas.openxmlformats.org/officeDocument/2006/relationships/image" Target="../media/image-31-5.jpe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image" Target="../media/image-36-5.png"/><Relationship Id="rId6" Type="http://schemas.openxmlformats.org/officeDocument/2006/relationships/image" Target="../media/image-36-6.jpg"/><Relationship Id="rId7" Type="http://schemas.openxmlformats.org/officeDocument/2006/relationships/image" Target="../media/image-36-7.jpg"/><Relationship Id="rId8" Type="http://schemas.openxmlformats.org/officeDocument/2006/relationships/image" Target="../media/image-36-8.png"/><Relationship Id="rId9" Type="http://schemas.openxmlformats.org/officeDocument/2006/relationships/image" Target="../media/image-36-9.jpg"/><Relationship Id="rId10" Type="http://schemas.openxmlformats.org/officeDocument/2006/relationships/image" Target="../media/image-36-10.jpg"/><Relationship Id="rId11" Type="http://schemas.openxmlformats.org/officeDocument/2006/relationships/image" Target="../media/image-36-11.png"/><Relationship Id="rId12" Type="http://schemas.openxmlformats.org/officeDocument/2006/relationships/image" Target="../media/image-36-12.jpg"/><Relationship Id="rId13" Type="http://schemas.openxmlformats.org/officeDocument/2006/relationships/image" Target="../media/image-36-13.jpg"/><Relationship Id="rId14" Type="http://schemas.openxmlformats.org/officeDocument/2006/relationships/slideLayout" Target="../slideLayouts/slideLayout1.xml"/><Relationship Id="rId1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jpeg"/><Relationship Id="rId3" Type="http://schemas.openxmlformats.org/officeDocument/2006/relationships/image" Target="../media/image-44-3.jpeg"/><Relationship Id="rId4" Type="http://schemas.openxmlformats.org/officeDocument/2006/relationships/image" Target="../media/image-44-4.jpeg"/><Relationship Id="rId5" Type="http://schemas.openxmlformats.org/officeDocument/2006/relationships/image" Target="../media/image-44-5.jpeg"/><Relationship Id="rId6" Type="http://schemas.openxmlformats.org/officeDocument/2006/relationships/image" Target="../media/image-44-6.jpeg"/><Relationship Id="rId7" Type="http://schemas.openxmlformats.org/officeDocument/2006/relationships/image" Target="../media/image-44-7.jpe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jpeg"/><Relationship Id="rId3" Type="http://schemas.openxmlformats.org/officeDocument/2006/relationships/image" Target="../media/image-45-3.jpeg"/><Relationship Id="rId4" Type="http://schemas.openxmlformats.org/officeDocument/2006/relationships/image" Target="../media/image-45-4.jpe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image" Target="../media/image-46-2.jpe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image" Target="../media/image-48-5.jpe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noAutofit/>
          </a:bodyP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371600"/>
          </a:xfrm>
          <a:prstGeom prst="rect">
            <a:avLst/>
          </a:prstGeom>
          <a:noFill/>
          <a:ln/>
        </p:spPr>
        <p:txBody>
          <a:bodyPr wrap="square" lIns="0" tIns="0" rIns="0" bIns="0" rtlCol="0" anchor="t">
            <a:noAutofit/>
          </a:bodyPr>
          <a:lstStyle/>
          <a:p>
            <a:pPr indent="0" marL="0">
              <a:lnSpc>
                <a:spcPct val="110000"/>
              </a:lnSpc>
              <a:buNone/>
            </a:pPr>
            <a:r>
              <a:rPr lang="en-US" sz="3900" dirty="0">
                <a:solidFill>
                  <a:srgbClr val="20342A"/>
                </a:solidFill>
                <a:latin typeface="Noto Serif KR Black" pitchFamily="34" charset="0"/>
                <a:ea typeface="Noto Serif KR Black" pitchFamily="34" charset="-122"/>
                <a:cs typeface="Noto Serif KR Black" pitchFamily="34" charset="-120"/>
              </a:rPr>
              <a:t>독서수업 프로그램 부기 기반</a:t>
            </a:r>
            <a:endParaRPr lang="en-US" sz="3900" dirty="0"/>
          </a:p>
          <a:p>
            <a:pPr indent="0" marL="0">
              <a:lnSpc>
                <a:spcPct val="110000"/>
              </a:lnSpc>
              <a:buNone/>
            </a:pPr>
            <a:r>
              <a:rPr lang="en-US" sz="3900" dirty="0">
                <a:solidFill>
                  <a:srgbClr val="C08A1E"/>
                </a:solidFill>
                <a:latin typeface="Noto Serif KR Black" pitchFamily="34" charset="0"/>
                <a:ea typeface="Noto Serif KR Black" pitchFamily="34" charset="-122"/>
                <a:cs typeface="Noto Serif KR Black" pitchFamily="34" charset="-120"/>
              </a:rPr>
              <a:t>독서교육 위탁운영</a:t>
            </a:r>
            <a:endParaRPr lang="en-US" sz="3900" dirty="0"/>
          </a:p>
        </p:txBody>
      </p:sp>
      <p:sp>
        <p:nvSpPr>
          <p:cNvPr id="6" name="Text 2"/>
          <p:cNvSpPr txBox="1"/>
          <p:nvPr/>
        </p:nvSpPr>
        <p:spPr>
          <a:xfrm>
            <a:off x="502920" y="3108960"/>
            <a:ext cx="5669280" cy="420624"/>
          </a:xfrm>
          <a:prstGeom prst="rect">
            <a:avLst/>
          </a:prstGeom>
          <a:noFill/>
          <a:ln/>
        </p:spPr>
        <p:txBody>
          <a:bodyPr wrap="square" lIns="0" tIns="0" rIns="0" bIns="0" rtlCol="0" anchor="ctr">
            <a:noAutofit/>
          </a:bodyPr>
          <a:lstStyle/>
          <a:p>
            <a:pPr indent="0" marL="0">
              <a:lnSpc>
                <a:spcPct val="112000"/>
              </a:lnSpc>
              <a:buNone/>
            </a:pPr>
            <a:r>
              <a:rPr lang="en-US" sz="2050" dirty="0">
                <a:solidFill>
                  <a:srgbClr val="1F2B20"/>
                </a:solidFill>
                <a:latin typeface="Freesentation 6 SemiBold" pitchFamily="34" charset="0"/>
                <a:ea typeface="Freesentation 6 SemiBold" pitchFamily="34" charset="-122"/>
                <a:cs typeface="Freesentation 6 SemiBold" pitchFamily="34" charset="-120"/>
              </a:rPr>
              <a:t>읽고, 묻고, 스스로 생각하는 아이로</a:t>
            </a:r>
            <a:endParaRPr lang="en-US" sz="2050" dirty="0"/>
          </a:p>
        </p:txBody>
      </p:sp>
      <p:sp>
        <p:nvSpPr>
          <p:cNvPr id="7" name="Text 3"/>
          <p:cNvSpPr txBox="1"/>
          <p:nvPr/>
        </p:nvSpPr>
        <p:spPr>
          <a:xfrm>
            <a:off x="502920" y="3566160"/>
            <a:ext cx="5623560" cy="36576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독서로 교실의 문제를 풀고 </a:t>
            </a:r>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을 키우는 독서교육 제안서</a:t>
            </a:r>
            <a:endParaRPr lang="en-US" sz="1500" dirty="0"/>
          </a:p>
        </p:txBody>
      </p:sp>
      <p:sp>
        <p:nvSpPr>
          <p:cNvPr id="8" name="Shape 4"/>
          <p:cNvSpPr/>
          <p:nvPr/>
        </p:nvSpPr>
        <p:spPr>
          <a:xfrm>
            <a:off x="502920" y="4572000"/>
            <a:ext cx="2350008" cy="438912"/>
          </a:xfrm>
          <a:prstGeom prst="roundRect">
            <a:avLst>
              <a:gd name="adj" fmla="val 50000"/>
            </a:avLst>
          </a:prstGeom>
          <a:solidFill>
            <a:srgbClr val="20342A"/>
          </a:solidFill>
          <a:ln/>
        </p:spPr>
      </p:sp>
      <p:sp>
        <p:nvSpPr>
          <p:cNvPr id="9" name="Text 5"/>
          <p:cNvSpPr txBox="1"/>
          <p:nvPr/>
        </p:nvSpPr>
        <p:spPr>
          <a:xfrm>
            <a:off x="502920" y="4572000"/>
            <a:ext cx="2350008"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6ECD2"/>
                </a:solidFill>
                <a:latin typeface="Freesentation 7 Bold" pitchFamily="34" charset="0"/>
                <a:ea typeface="Freesentation 7 Bold" pitchFamily="34" charset="-122"/>
                <a:cs typeface="Freesentation 7 Bold" pitchFamily="34" charset="-120"/>
              </a:rPr>
              <a:t>명작 300권을 함께 끝까지 읽기</a:t>
            </a:r>
            <a:endParaRPr lang="en-US" sz="1300" dirty="0"/>
          </a:p>
        </p:txBody>
      </p:sp>
      <p:sp>
        <p:nvSpPr>
          <p:cNvPr id="10" name="Shape 6"/>
          <p:cNvSpPr/>
          <p:nvPr/>
        </p:nvSpPr>
        <p:spPr>
          <a:xfrm>
            <a:off x="2962656" y="4572000"/>
            <a:ext cx="1349502" cy="438912"/>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2962656" y="4572000"/>
            <a:ext cx="1349502"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깊이 있게 읽기</a:t>
            </a:r>
            <a:endParaRPr lang="en-US" sz="1300" dirty="0"/>
          </a:p>
        </p:txBody>
      </p:sp>
      <p:sp>
        <p:nvSpPr>
          <p:cNvPr id="12" name="Shape 8"/>
          <p:cNvSpPr/>
          <p:nvPr/>
        </p:nvSpPr>
        <p:spPr>
          <a:xfrm>
            <a:off x="4421886" y="4572000"/>
            <a:ext cx="1453515" cy="438912"/>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4421886" y="4572000"/>
            <a:ext cx="1453515"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읽고 표현하는 독후활동</a:t>
            </a:r>
            <a:endParaRPr lang="en-US" sz="1300" dirty="0"/>
          </a:p>
        </p:txBody>
      </p:sp>
      <p:sp>
        <p:nvSpPr>
          <p:cNvPr id="14" name="Shape 10"/>
          <p:cNvSpPr/>
          <p:nvPr/>
        </p:nvSpPr>
        <p:spPr>
          <a:xfrm>
            <a:off x="502920" y="5120640"/>
            <a:ext cx="1453515" cy="438912"/>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120640"/>
            <a:ext cx="1453515"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300" dirty="0"/>
          </a:p>
        </p:txBody>
      </p:sp>
      <p:sp>
        <p:nvSpPr>
          <p:cNvPr id="16" name="Shape 12"/>
          <p:cNvSpPr/>
          <p:nvPr/>
        </p:nvSpPr>
        <p:spPr>
          <a:xfrm>
            <a:off x="2066163" y="5120640"/>
            <a:ext cx="1503045" cy="438912"/>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066163" y="5120640"/>
            <a:ext cx="1503045"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교사 맞춤형 지원</a:t>
            </a:r>
            <a:endParaRPr lang="en-US" sz="1300" dirty="0"/>
          </a:p>
        </p:txBody>
      </p:sp>
      <p:sp>
        <p:nvSpPr>
          <p:cNvPr id="18" name="Shape 14"/>
          <p:cNvSpPr/>
          <p:nvPr/>
        </p:nvSpPr>
        <p:spPr>
          <a:xfrm>
            <a:off x="3678936" y="5120640"/>
            <a:ext cx="1503045" cy="438912"/>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678936" y="5120640"/>
            <a:ext cx="1503045" cy="438912"/>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성과 및 운영관리</a:t>
            </a:r>
            <a:endParaRPr lang="en-US" sz="13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noAutofit/>
          </a:bodyPr>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noAutofit/>
          </a:bodyPr>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noAutofit/>
          </a:bodyP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noAutofit/>
          </a:bodyP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정책의 수업 적용</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noAutofit/>
          </a:bodyP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명작 300권을 함께 끝까지 읽기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깊이 있게 읽기(캐릭터 대화)</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읽고 표현하는 독후활동,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맞춤형 지원, 성과 및 운영관리</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noAutofit/>
          </a:bodyP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29쪽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 향상</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책으로 기르는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6년 장기 활용 성장 전망</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noAutofit/>
          </a:bodyP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32쪽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noAutofit/>
          </a:bodyP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noAutofit/>
          </a:bodyPr>
          <a:lstStyle/>
          <a:p>
            <a:pPr indent="0" marL="0">
              <a:lnSpc>
                <a:spcPct val="112000"/>
              </a:lnSpc>
              <a:buNone/>
            </a:pPr>
            <a:r>
              <a:rPr lang="en-US" sz="1892"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892" dirty="0"/>
          </a:p>
        </p:txBody>
      </p:sp>
      <p:sp>
        <p:nvSpPr>
          <p:cNvPr id="33" name="Text 30"/>
          <p:cNvSpPr txBox="1"/>
          <p:nvPr/>
        </p:nvSpPr>
        <p:spPr>
          <a:xfrm>
            <a:off x="11109960" y="4114800"/>
            <a:ext cx="548640" cy="502920"/>
          </a:xfrm>
          <a:prstGeom prst="rect">
            <a:avLst/>
          </a:prstGeom>
          <a:noFill/>
          <a:ln/>
        </p:spPr>
        <p:txBody>
          <a:bodyPr wrap="square" lIns="0" tIns="0" rIns="0" bIns="0" rtlCol="0" anchor="ctr">
            <a:noAutofit/>
          </a:bodyP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38쪽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noAutofit/>
          </a:bodyPr>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내놓은 답을 판단하려면 학생이 직접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근거를 찾는 연습이</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필요합니다.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noAutofit/>
          </a:bodyPr>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r>
              <a:rPr lang="en-US" sz="1650" dirty="0">
                <a:solidFill>
                  <a:srgbClr val="1F2B20"/>
                </a:solidFill>
                <a:latin typeface="Freesentation 4 Regular" pitchFamily="34" charset="0"/>
                <a:ea typeface="Freesentation 4 Regular" pitchFamily="34" charset="-122"/>
                <a:cs typeface="Freesentation 4 Regular" pitchFamily="34" charset="-120"/>
              </a:rPr>
              <a:t> 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noAutofit/>
          </a:bodyPr>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이미 아는 내용과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noAutofit/>
          </a:bodyPr>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noAutofit/>
          </a:bodyPr>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noAutofit/>
          </a:bodyPr>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noAutofit/>
          </a:bodyP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부기는 학생에게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책 읽는 즐거움</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을 알려 주기 위해 시작했고, 직접 읽고 질문하고 표현한 기록은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학생의 소중한 자산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이 됩니다.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학급 고민을 다루는 독서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책을 읽고 대화하며 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합</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니다.</a:t>
            </a:r>
            <a:endParaRPr lang="en-US" sz="1400" dirty="0"/>
          </a:p>
        </p:txBody>
      </p:sp>
      <p:sp>
        <p:nvSpPr>
          <p:cNvPr id="10" name="Text 7"/>
          <p:cNvSpPr txBox="1"/>
          <p:nvPr/>
        </p:nvSpPr>
        <p:spPr>
          <a:xfrm>
            <a:off x="1459459"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35717"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인물의 처지와 자기 경험을 비교하는 수업의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noAutofit/>
          </a:bodyP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noAutofit/>
          </a:bodyP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noAutofit/>
          </a:bodyP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r>
              <a:rPr lang="en-US" sz="1550" dirty="0">
                <a:solidFill>
                  <a:srgbClr val="1F2B20"/>
                </a:solidFill>
                <a:latin typeface="Freesentation 4 Regular" pitchFamily="34" charset="0"/>
                <a:ea typeface="Freesentation 4 Regular" pitchFamily="34" charset="-122"/>
                <a:cs typeface="Freesentation 4 Regular" pitchFamily="34" charset="-120"/>
              </a:rPr>
              <a:t> 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noAutofit/>
          </a:bodyP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noAutofit/>
          </a:bodyP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r>
              <a:rPr lang="en-US" sz="1500" dirty="0">
                <a:solidFill>
                  <a:srgbClr val="1F2B20"/>
                </a:solidFill>
                <a:latin typeface="Freesentation 4 Regular" pitchFamily="34" charset="0"/>
                <a:ea typeface="Freesentation 4 Regular" pitchFamily="34" charset="-122"/>
                <a:cs typeface="Freesentation 4 Regular" pitchFamily="34" charset="-120"/>
              </a:rPr>
              <a:t> 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noAutofit/>
          </a:bodyP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책이 있어도 끝까지 읽기 어려운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noAutofit/>
          </a:bodyPr>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noAutofit/>
          </a:bodyPr>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 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noAutofit/>
          </a:bodyPr>
          <a:lstStyle/>
          <a:p>
            <a:pPr indent="0" marL="0">
              <a:lnSpc>
                <a:spcPct val="128000"/>
              </a:lnSpc>
              <a:buNone/>
            </a:pPr>
            <a:r>
              <a:rPr lang="en-US" sz="1504" dirty="0">
                <a:solidFill>
                  <a:srgbClr val="2E3A30"/>
                </a:solidFill>
                <a:latin typeface="Freesentation 4 Regular" pitchFamily="34" charset="0"/>
                <a:ea typeface="Freesentation 4 Regular" pitchFamily="34" charset="-122"/>
                <a:cs typeface="Freesentation 4 Regular" pitchFamily="34" charset="-120"/>
              </a:rPr>
              <a:t>모르는 낱말이 이어지면 문장을 이해하기 어렵습니다. 부기는 읽던 자리에서 뜻을 확인하게 돕습니다. 부기는 낱말을 누르면 학년 수준에 맞게 쉽게 쓴 뜻을 보여 줍니다.</a:t>
            </a:r>
            <a:endParaRPr lang="en-US" sz="150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noAutofit/>
          </a:bodyP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noAutofit/>
          </a:bodyPr>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noAutofit/>
          </a:bodyP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noAutofit/>
          </a:bodyPr>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noAutofit/>
          </a:bodyP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noAutofit/>
          </a:bodyPr>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noAutofit/>
          </a:bodyP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noAutofit/>
          </a:bodyPr>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noAutofit/>
          </a:bodyP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noAutofit/>
          </a:bodyPr>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학생이 읽다가 막힐 때 부기가 돕는 방법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 뜻풀이, 인물과의 대화, 독후활동으로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표현하도록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noAutofit/>
          </a:bodyPr>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noAutofit/>
          </a:bodyPr>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noAutofit/>
          </a:bodyPr>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noAutofit/>
          </a:bodyPr>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고민에 맞춰 함께 읽을 책과 수업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noAutofit/>
          </a:bodyPr>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noAutofit/>
          </a:bodyP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26,924권,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학교의 독서수업 운영에 필요한 읽기 자료, 교원 연수,</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상담을 제공합니다.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noAutofit/>
          </a:bodyPr>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noAutofit/>
          </a:bodyPr>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r>
              <a:rPr lang="en-US" sz="1650" dirty="0">
                <a:solidFill>
                  <a:srgbClr val="4A564B"/>
                </a:solidFill>
                <a:latin typeface="Freesentation 4 Regular" pitchFamily="34" charset="0"/>
                <a:ea typeface="Freesentation 4 Regular" pitchFamily="34" charset="-122"/>
                <a:cs typeface="Freesentation 4 Regular" pitchFamily="34" charset="-120"/>
              </a:rPr>
              <a:t> 읽기 수준에 맞는 도움, 교사가 고치는 차시 자료,</a:t>
            </a: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noAutofit/>
          </a:bodyP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noAutofit/>
          </a:bodyP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noAutofit/>
          </a:bodyP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독서수업 프로그램 부기 기반 독서교육 위탁운영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서비스 6가지(명작 300권, 캐릭터 대화, 독후활동, 독서 포트폴리오, 교사 맞춤형 지원, 성과 및 운영관리)</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위탁운영</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플랫폼, 교원 연수, 학교별 운영관리 10개 항목, 성과보고를 운영 기관이 맡음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noAutofit/>
          </a:bodyPr>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noAutofit/>
          </a:bodyP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학기별, 연간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noAutofit/>
          </a:bodyPr>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noAutofit/>
          </a:bodyP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noAutofit/>
          </a:bodyPr>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noAutofit/>
          </a:bodyP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플랫폼과 운영관리 10개 항목</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연수, 헬프데스크,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 6가지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 300권 읽기부터 학교별 운영관리까지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6가지 서비스</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한 사업으로 제공합니다</a:t>
            </a:r>
            <a:endParaRPr lang="en-US" sz="1400" dirty="0"/>
          </a:p>
        </p:txBody>
      </p:sp>
      <p:sp>
        <p:nvSpPr>
          <p:cNvPr id="10" name="Text 7"/>
          <p:cNvSpPr txBox="1"/>
          <p:nvPr/>
        </p:nvSpPr>
        <p:spPr>
          <a:xfrm>
            <a:off x="179583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9934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독후활동 1,816건은 선도교사단 72학급 온오프라인 운영 결과 종합(2026. 9. 20.~10. 21.). 캐릭터와 대화는 책마다 미리 쓴 질문으로 운영하며 특허 등록.</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sp>
        <p:nvSpPr>
          <p:cNvPr id="15" name="Shape 12"/>
          <p:cNvSpPr/>
          <p:nvPr/>
        </p:nvSpPr>
        <p:spPr>
          <a:xfrm>
            <a:off x="502920" y="1920240"/>
            <a:ext cx="3593592" cy="475488"/>
          </a:xfrm>
          <a:prstGeom prst="roundRect">
            <a:avLst>
              <a:gd name="adj" fmla="val 19231"/>
            </a:avLst>
          </a:prstGeom>
          <a:solidFill>
            <a:srgbClr val="2B4637"/>
          </a:solidFill>
          <a:ln/>
        </p:spPr>
      </p:sp>
      <p:sp>
        <p:nvSpPr>
          <p:cNvPr id="16" name="Shape 13"/>
          <p:cNvSpPr/>
          <p:nvPr/>
        </p:nvSpPr>
        <p:spPr>
          <a:xfrm>
            <a:off x="502920" y="2304288"/>
            <a:ext cx="3593592" cy="91440"/>
          </a:xfrm>
          <a:prstGeom prst="rect">
            <a:avLst/>
          </a:prstGeom>
          <a:solidFill>
            <a:srgbClr val="2B4637"/>
          </a:solidFill>
          <a:ln/>
        </p:spPr>
      </p:sp>
      <p:sp>
        <p:nvSpPr>
          <p:cNvPr id="17" name="Shape 14"/>
          <p:cNvSpPr/>
          <p:nvPr/>
        </p:nvSpPr>
        <p:spPr>
          <a:xfrm>
            <a:off x="621792" y="2002536"/>
            <a:ext cx="310896" cy="310896"/>
          </a:xfrm>
          <a:prstGeom prst="ellipse">
            <a:avLst/>
          </a:prstGeom>
          <a:solidFill>
            <a:srgbClr val="C08A1E"/>
          </a:solidFill>
          <a:ln/>
        </p:spPr>
      </p:sp>
      <p:sp>
        <p:nvSpPr>
          <p:cNvPr id="18" name="Text 15"/>
          <p:cNvSpPr txBox="1"/>
          <p:nvPr/>
        </p:nvSpPr>
        <p:spPr>
          <a:xfrm>
            <a:off x="621792" y="2002536"/>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19" name="Text 16"/>
          <p:cNvSpPr txBox="1"/>
          <p:nvPr/>
        </p:nvSpPr>
        <p:spPr>
          <a:xfrm>
            <a:off x="1014984" y="1920240"/>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명작 300권을 함께 끝까지 읽기</a:t>
            </a:r>
            <a:endParaRPr lang="en-US" sz="1550" dirty="0"/>
          </a:p>
        </p:txBody>
      </p:sp>
      <p:sp>
        <p:nvSpPr>
          <p:cNvPr id="20" name="Shape 17"/>
          <p:cNvSpPr/>
          <p:nvPr/>
        </p:nvSpPr>
        <p:spPr>
          <a:xfrm>
            <a:off x="612648" y="2505456"/>
            <a:ext cx="1389888" cy="1024128"/>
          </a:xfrm>
          <a:prstGeom prst="roundRect">
            <a:avLst>
              <a:gd name="adj" fmla="val 7143"/>
            </a:avLst>
          </a:prstGeom>
          <a:solidFill>
            <a:srgbClr val="FFFFFF"/>
          </a:solidFill>
          <a:ln w="9525">
            <a:solidFill>
              <a:srgbClr val="E2DCCB"/>
            </a:solidFill>
            <a:prstDash val="solid"/>
          </a:ln>
        </p:spPr>
      </p:sp>
      <p:pic>
        <p:nvPicPr>
          <p:cNvPr id="21" name="Image 1" descr="화면">    </p:cNvPr>
          <p:cNvPicPr>
            <a:picLocks noChangeAspect="1"/>
          </p:cNvPicPr>
          <p:nvPr/>
        </p:nvPicPr>
        <p:blipFill>
          <a:blip r:embed="rId2"/>
          <a:stretch>
            <a:fillRect/>
          </a:stretch>
        </p:blipFill>
        <p:spPr>
          <a:xfrm>
            <a:off x="649224" y="2542032"/>
            <a:ext cx="1316736" cy="950976"/>
          </a:xfrm>
          <a:prstGeom prst="rect">
            <a:avLst/>
          </a:prstGeom>
        </p:spPr>
      </p:pic>
      <p:sp>
        <p:nvSpPr>
          <p:cNvPr id="22" name="Text 18"/>
          <p:cNvSpPr txBox="1"/>
          <p:nvPr/>
        </p:nvSpPr>
        <p:spPr>
          <a:xfrm>
            <a:off x="2130552" y="2487168"/>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교실 수업을 위해 다시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명작을 반 전체가 낱말 뜻과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읽어주기로 끝까지 읽습니다.</a:t>
            </a:r>
            <a:endParaRPr lang="en-US" sz="1350" dirty="0"/>
          </a:p>
        </p:txBody>
      </p:sp>
      <p:sp>
        <p:nvSpPr>
          <p:cNvPr id="23" name="Shape 19"/>
          <p:cNvSpPr/>
          <p:nvPr/>
        </p:nvSpPr>
        <p:spPr>
          <a:xfrm>
            <a:off x="612648" y="3575304"/>
            <a:ext cx="3374136" cy="329184"/>
          </a:xfrm>
          <a:prstGeom prst="roundRect">
            <a:avLst>
              <a:gd name="adj" fmla="val 50000"/>
            </a:avLst>
          </a:prstGeom>
          <a:solidFill>
            <a:srgbClr val="E6F0E7"/>
          </a:solidFill>
          <a:ln/>
        </p:spPr>
      </p:sp>
      <p:sp>
        <p:nvSpPr>
          <p:cNvPr id="24" name="Text 20"/>
          <p:cNvSpPr txBox="1"/>
          <p:nvPr/>
        </p:nvSpPr>
        <p:spPr>
          <a:xfrm>
            <a:off x="612648" y="3575304"/>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학년별 50권, 6년 300권</a:t>
            </a:r>
            <a:endParaRPr lang="en-US" sz="1350" dirty="0"/>
          </a:p>
        </p:txBody>
      </p:sp>
      <p:sp>
        <p:nvSpPr>
          <p:cNvPr id="25" name="Shape 21"/>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sp>
        <p:nvSpPr>
          <p:cNvPr id="26" name="Shape 22"/>
          <p:cNvSpPr/>
          <p:nvPr/>
        </p:nvSpPr>
        <p:spPr>
          <a:xfrm>
            <a:off x="4297680" y="1920240"/>
            <a:ext cx="3593592" cy="475488"/>
          </a:xfrm>
          <a:prstGeom prst="roundRect">
            <a:avLst>
              <a:gd name="adj" fmla="val 19231"/>
            </a:avLst>
          </a:prstGeom>
          <a:solidFill>
            <a:srgbClr val="2B4637"/>
          </a:solidFill>
          <a:ln/>
        </p:spPr>
      </p:sp>
      <p:sp>
        <p:nvSpPr>
          <p:cNvPr id="27" name="Shape 23"/>
          <p:cNvSpPr/>
          <p:nvPr/>
        </p:nvSpPr>
        <p:spPr>
          <a:xfrm>
            <a:off x="4297680" y="2304288"/>
            <a:ext cx="3593592" cy="91440"/>
          </a:xfrm>
          <a:prstGeom prst="rect">
            <a:avLst/>
          </a:prstGeom>
          <a:solidFill>
            <a:srgbClr val="2B4637"/>
          </a:solidFill>
          <a:ln/>
        </p:spPr>
      </p:sp>
      <p:sp>
        <p:nvSpPr>
          <p:cNvPr id="28" name="Shape 24"/>
          <p:cNvSpPr/>
          <p:nvPr/>
        </p:nvSpPr>
        <p:spPr>
          <a:xfrm>
            <a:off x="4416552" y="2002536"/>
            <a:ext cx="310896" cy="310896"/>
          </a:xfrm>
          <a:prstGeom prst="ellipse">
            <a:avLst/>
          </a:prstGeom>
          <a:solidFill>
            <a:srgbClr val="C08A1E"/>
          </a:solidFill>
          <a:ln/>
        </p:spPr>
      </p:sp>
      <p:sp>
        <p:nvSpPr>
          <p:cNvPr id="29" name="Text 25"/>
          <p:cNvSpPr txBox="1"/>
          <p:nvPr/>
        </p:nvSpPr>
        <p:spPr>
          <a:xfrm>
            <a:off x="4416552" y="2002536"/>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0" name="Text 26"/>
          <p:cNvSpPr txBox="1"/>
          <p:nvPr/>
        </p:nvSpPr>
        <p:spPr>
          <a:xfrm>
            <a:off x="4809744" y="1920240"/>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깊이 있게 읽기(캐릭터 대화)</a:t>
            </a:r>
            <a:endParaRPr lang="en-US" sz="1550" dirty="0"/>
          </a:p>
        </p:txBody>
      </p:sp>
      <p:sp>
        <p:nvSpPr>
          <p:cNvPr id="31" name="Shape 27"/>
          <p:cNvSpPr/>
          <p:nvPr/>
        </p:nvSpPr>
        <p:spPr>
          <a:xfrm>
            <a:off x="4407408" y="2505456"/>
            <a:ext cx="1389888" cy="1024128"/>
          </a:xfrm>
          <a:prstGeom prst="roundRect">
            <a:avLst>
              <a:gd name="adj" fmla="val 7143"/>
            </a:avLst>
          </a:prstGeom>
          <a:solidFill>
            <a:srgbClr val="FFFFFF"/>
          </a:solidFill>
          <a:ln w="9525">
            <a:solidFill>
              <a:srgbClr val="E2DCCB"/>
            </a:solidFill>
            <a:prstDash val="solid"/>
          </a:ln>
        </p:spPr>
      </p:sp>
      <p:pic>
        <p:nvPicPr>
          <p:cNvPr id="32" name="Image 2" descr="화면">    </p:cNvPr>
          <p:cNvPicPr>
            <a:picLocks noChangeAspect="1"/>
          </p:cNvPicPr>
          <p:nvPr/>
        </p:nvPicPr>
        <p:blipFill>
          <a:blip r:embed="rId3"/>
          <a:stretch>
            <a:fillRect/>
          </a:stretch>
        </p:blipFill>
        <p:spPr>
          <a:xfrm>
            <a:off x="4443984" y="2542032"/>
            <a:ext cx="1316736" cy="950976"/>
          </a:xfrm>
          <a:prstGeom prst="rect">
            <a:avLst/>
          </a:prstGeom>
        </p:spPr>
      </p:pic>
      <p:sp>
        <p:nvSpPr>
          <p:cNvPr id="33" name="Text 28"/>
          <p:cNvSpPr txBox="1"/>
          <p:nvPr/>
        </p:nvSpPr>
        <p:spPr>
          <a:xfrm>
            <a:off x="5925312" y="2487168"/>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인물이 된 부기가 미리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질문을 묻고, 학생은 인물의</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자리에서 까닭을 답합니다.</a:t>
            </a:r>
            <a:endParaRPr lang="en-US" sz="1350" dirty="0"/>
          </a:p>
        </p:txBody>
      </p:sp>
      <p:sp>
        <p:nvSpPr>
          <p:cNvPr id="34" name="Shape 29"/>
          <p:cNvSpPr/>
          <p:nvPr/>
        </p:nvSpPr>
        <p:spPr>
          <a:xfrm>
            <a:off x="4407408" y="3575304"/>
            <a:ext cx="3374136" cy="329184"/>
          </a:xfrm>
          <a:prstGeom prst="roundRect">
            <a:avLst>
              <a:gd name="adj" fmla="val 50000"/>
            </a:avLst>
          </a:prstGeom>
          <a:solidFill>
            <a:srgbClr val="E6F0E7"/>
          </a:solidFill>
          <a:ln/>
        </p:spPr>
      </p:sp>
      <p:sp>
        <p:nvSpPr>
          <p:cNvPr id="35" name="Text 30"/>
          <p:cNvSpPr txBox="1"/>
          <p:nvPr/>
        </p:nvSpPr>
        <p:spPr>
          <a:xfrm>
            <a:off x="4407408" y="3575304"/>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책마다 미리 쓴 질문, 특허 등록</a:t>
            </a:r>
            <a:endParaRPr lang="en-US" sz="1350" dirty="0"/>
          </a:p>
        </p:txBody>
      </p:sp>
      <p:sp>
        <p:nvSpPr>
          <p:cNvPr id="36" name="Shape 31"/>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37" name="Shape 32"/>
          <p:cNvSpPr/>
          <p:nvPr/>
        </p:nvSpPr>
        <p:spPr>
          <a:xfrm>
            <a:off x="8092440" y="1920240"/>
            <a:ext cx="3593592" cy="475488"/>
          </a:xfrm>
          <a:prstGeom prst="roundRect">
            <a:avLst>
              <a:gd name="adj" fmla="val 19231"/>
            </a:avLst>
          </a:prstGeom>
          <a:solidFill>
            <a:srgbClr val="2B4637"/>
          </a:solidFill>
          <a:ln/>
        </p:spPr>
      </p:sp>
      <p:sp>
        <p:nvSpPr>
          <p:cNvPr id="38" name="Shape 33"/>
          <p:cNvSpPr/>
          <p:nvPr/>
        </p:nvSpPr>
        <p:spPr>
          <a:xfrm>
            <a:off x="8092440" y="2304288"/>
            <a:ext cx="3593592" cy="91440"/>
          </a:xfrm>
          <a:prstGeom prst="rect">
            <a:avLst/>
          </a:prstGeom>
          <a:solidFill>
            <a:srgbClr val="2B4637"/>
          </a:solidFill>
          <a:ln/>
        </p:spPr>
      </p:sp>
      <p:sp>
        <p:nvSpPr>
          <p:cNvPr id="39" name="Shape 34"/>
          <p:cNvSpPr/>
          <p:nvPr/>
        </p:nvSpPr>
        <p:spPr>
          <a:xfrm>
            <a:off x="8211312" y="2002536"/>
            <a:ext cx="310896" cy="310896"/>
          </a:xfrm>
          <a:prstGeom prst="ellipse">
            <a:avLst/>
          </a:prstGeom>
          <a:solidFill>
            <a:srgbClr val="C08A1E"/>
          </a:solidFill>
          <a:ln/>
        </p:spPr>
      </p:sp>
      <p:sp>
        <p:nvSpPr>
          <p:cNvPr id="40" name="Text 35"/>
          <p:cNvSpPr txBox="1"/>
          <p:nvPr/>
        </p:nvSpPr>
        <p:spPr>
          <a:xfrm>
            <a:off x="8211312" y="2002536"/>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1" name="Text 36"/>
          <p:cNvSpPr txBox="1"/>
          <p:nvPr/>
        </p:nvSpPr>
        <p:spPr>
          <a:xfrm>
            <a:off x="8604504" y="1920240"/>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읽고 표현하는 독후활동</a:t>
            </a:r>
            <a:endParaRPr lang="en-US" sz="1550" dirty="0"/>
          </a:p>
        </p:txBody>
      </p:sp>
      <p:sp>
        <p:nvSpPr>
          <p:cNvPr id="42" name="Shape 37"/>
          <p:cNvSpPr/>
          <p:nvPr/>
        </p:nvSpPr>
        <p:spPr>
          <a:xfrm>
            <a:off x="8202168" y="2505456"/>
            <a:ext cx="1389888" cy="1024128"/>
          </a:xfrm>
          <a:prstGeom prst="roundRect">
            <a:avLst>
              <a:gd name="adj" fmla="val 7143"/>
            </a:avLst>
          </a:prstGeom>
          <a:solidFill>
            <a:srgbClr val="FFFFFF"/>
          </a:solidFill>
          <a:ln w="9525">
            <a:solidFill>
              <a:srgbClr val="E2DCCB"/>
            </a:solidFill>
            <a:prstDash val="solid"/>
          </a:ln>
        </p:spPr>
      </p:sp>
      <p:pic>
        <p:nvPicPr>
          <p:cNvPr id="43" name="Image 3" descr="화면">    </p:cNvPr>
          <p:cNvPicPr>
            <a:picLocks noChangeAspect="1"/>
          </p:cNvPicPr>
          <p:nvPr/>
        </p:nvPicPr>
        <p:blipFill>
          <a:blip r:embed="rId4"/>
          <a:stretch>
            <a:fillRect/>
          </a:stretch>
        </p:blipFill>
        <p:spPr>
          <a:xfrm>
            <a:off x="8238744" y="2542032"/>
            <a:ext cx="1316736" cy="950976"/>
          </a:xfrm>
          <a:prstGeom prst="rect">
            <a:avLst/>
          </a:prstGeom>
        </p:spPr>
      </p:pic>
      <p:sp>
        <p:nvSpPr>
          <p:cNvPr id="44" name="Text 38"/>
          <p:cNvSpPr txBox="1"/>
          <p:nvPr/>
        </p:nvSpPr>
        <p:spPr>
          <a:xfrm>
            <a:off x="9720072" y="2487168"/>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카드 9가지마다 안내와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살펴볼 점이 정해져 있고, 수업</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20가지와 실물 자료까지.</a:t>
            </a:r>
            <a:endParaRPr lang="en-US" sz="1350" dirty="0"/>
          </a:p>
        </p:txBody>
      </p:sp>
      <p:sp>
        <p:nvSpPr>
          <p:cNvPr id="45" name="Shape 39"/>
          <p:cNvSpPr/>
          <p:nvPr/>
        </p:nvSpPr>
        <p:spPr>
          <a:xfrm>
            <a:off x="8202168" y="3575304"/>
            <a:ext cx="3374136" cy="329184"/>
          </a:xfrm>
          <a:prstGeom prst="roundRect">
            <a:avLst>
              <a:gd name="adj" fmla="val 50000"/>
            </a:avLst>
          </a:prstGeom>
          <a:solidFill>
            <a:srgbClr val="E6F0E7"/>
          </a:solidFill>
          <a:ln/>
        </p:spPr>
      </p:sp>
      <p:sp>
        <p:nvSpPr>
          <p:cNvPr id="46" name="Text 40"/>
          <p:cNvSpPr txBox="1"/>
          <p:nvPr/>
        </p:nvSpPr>
        <p:spPr>
          <a:xfrm>
            <a:off x="8202168" y="3575304"/>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한 달 독후활동 1,816건</a:t>
            </a:r>
            <a:endParaRPr lang="en-US" sz="1350" dirty="0"/>
          </a:p>
        </p:txBody>
      </p:sp>
      <p:sp>
        <p:nvSpPr>
          <p:cNvPr id="47" name="Shape 41"/>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sp>
        <p:nvSpPr>
          <p:cNvPr id="48" name="Shape 42"/>
          <p:cNvSpPr/>
          <p:nvPr/>
        </p:nvSpPr>
        <p:spPr>
          <a:xfrm>
            <a:off x="502920" y="4187952"/>
            <a:ext cx="3593592" cy="475488"/>
          </a:xfrm>
          <a:prstGeom prst="roundRect">
            <a:avLst>
              <a:gd name="adj" fmla="val 19231"/>
            </a:avLst>
          </a:prstGeom>
          <a:solidFill>
            <a:srgbClr val="2B4637"/>
          </a:solidFill>
          <a:ln/>
        </p:spPr>
      </p:sp>
      <p:sp>
        <p:nvSpPr>
          <p:cNvPr id="49" name="Shape 43"/>
          <p:cNvSpPr/>
          <p:nvPr/>
        </p:nvSpPr>
        <p:spPr>
          <a:xfrm>
            <a:off x="502920" y="4572000"/>
            <a:ext cx="3593592" cy="91440"/>
          </a:xfrm>
          <a:prstGeom prst="rect">
            <a:avLst/>
          </a:prstGeom>
          <a:solidFill>
            <a:srgbClr val="2B4637"/>
          </a:solidFill>
          <a:ln/>
        </p:spPr>
      </p:sp>
      <p:sp>
        <p:nvSpPr>
          <p:cNvPr id="50" name="Shape 44"/>
          <p:cNvSpPr/>
          <p:nvPr/>
        </p:nvSpPr>
        <p:spPr>
          <a:xfrm>
            <a:off x="621792" y="4270248"/>
            <a:ext cx="310896" cy="310896"/>
          </a:xfrm>
          <a:prstGeom prst="ellipse">
            <a:avLst/>
          </a:prstGeom>
          <a:solidFill>
            <a:srgbClr val="C08A1E"/>
          </a:solidFill>
          <a:ln/>
        </p:spPr>
      </p:sp>
      <p:sp>
        <p:nvSpPr>
          <p:cNvPr id="51" name="Text 45"/>
          <p:cNvSpPr txBox="1"/>
          <p:nvPr/>
        </p:nvSpPr>
        <p:spPr>
          <a:xfrm>
            <a:off x="621792" y="4270248"/>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6"/>
          <p:cNvSpPr txBox="1"/>
          <p:nvPr/>
        </p:nvSpPr>
        <p:spPr>
          <a:xfrm>
            <a:off x="1014984" y="4187952"/>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독서 포트폴리오</a:t>
            </a:r>
            <a:endParaRPr lang="en-US" sz="1550" dirty="0"/>
          </a:p>
        </p:txBody>
      </p:sp>
      <p:sp>
        <p:nvSpPr>
          <p:cNvPr id="53" name="Shape 47"/>
          <p:cNvSpPr/>
          <p:nvPr/>
        </p:nvSpPr>
        <p:spPr>
          <a:xfrm>
            <a:off x="612648" y="4773168"/>
            <a:ext cx="1389888" cy="1024128"/>
          </a:xfrm>
          <a:prstGeom prst="roundRect">
            <a:avLst>
              <a:gd name="adj" fmla="val 7143"/>
            </a:avLst>
          </a:prstGeom>
          <a:solidFill>
            <a:srgbClr val="FFFFFF"/>
          </a:solidFill>
          <a:ln w="9525">
            <a:solidFill>
              <a:srgbClr val="E2DCCB"/>
            </a:solidFill>
            <a:prstDash val="solid"/>
          </a:ln>
        </p:spPr>
      </p:sp>
      <p:pic>
        <p:nvPicPr>
          <p:cNvPr id="54" name="Image 4" descr="화면">    </p:cNvPr>
          <p:cNvPicPr>
            <a:picLocks noChangeAspect="1"/>
          </p:cNvPicPr>
          <p:nvPr/>
        </p:nvPicPr>
        <p:blipFill>
          <a:blip r:embed="rId5"/>
          <a:stretch>
            <a:fillRect/>
          </a:stretch>
        </p:blipFill>
        <p:spPr>
          <a:xfrm>
            <a:off x="649224" y="4809744"/>
            <a:ext cx="1316736" cy="950976"/>
          </a:xfrm>
          <a:prstGeom prst="rect">
            <a:avLst/>
          </a:prstGeom>
        </p:spPr>
      </p:pic>
      <p:sp>
        <p:nvSpPr>
          <p:cNvPr id="55" name="Text 48"/>
          <p:cNvSpPr txBox="1"/>
          <p:nvPr/>
        </p:nvSpPr>
        <p:spPr>
          <a:xfrm>
            <a:off x="2130552" y="4754880"/>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밑줄, 메모, 활동, 대화 기록이</a:t>
            </a:r>
            <a:r>
              <a:rPr lang="en-US" sz="1350" dirty="0">
                <a:solidFill>
                  <a:srgbClr val="2E3A30"/>
                </a:solidFill>
                <a:latin typeface="Freesentation 4 Regular" pitchFamily="34" charset="0"/>
                <a:ea typeface="Freesentation 4 Regular" pitchFamily="34" charset="-122"/>
                <a:cs typeface="Freesentation 4 Regular" pitchFamily="34" charset="-120"/>
              </a:rPr>
              <a:t> 다섯 칸에 모입니다.</a:t>
            </a:r>
            <a:r>
              <a:rPr lang="en-US" sz="1350" dirty="0">
                <a:solidFill>
                  <a:srgbClr val="2E3A30"/>
                </a:solidFill>
                <a:latin typeface="Freesentation 4 Regular" pitchFamily="34" charset="0"/>
                <a:ea typeface="Freesentation 4 Regular" pitchFamily="34" charset="-122"/>
                <a:cs typeface="Freesentation 4 Regular" pitchFamily="34" charset="-120"/>
              </a:rPr>
              <a:t> 기록을 보며 자신의 변화를 돌아봅니다.</a:t>
            </a:r>
            <a:endParaRPr lang="en-US" sz="1350" dirty="0"/>
          </a:p>
        </p:txBody>
      </p:sp>
      <p:sp>
        <p:nvSpPr>
          <p:cNvPr id="56" name="Shape 49"/>
          <p:cNvSpPr/>
          <p:nvPr/>
        </p:nvSpPr>
        <p:spPr>
          <a:xfrm>
            <a:off x="612648" y="5843016"/>
            <a:ext cx="3374136" cy="329184"/>
          </a:xfrm>
          <a:prstGeom prst="roundRect">
            <a:avLst>
              <a:gd name="adj" fmla="val 50000"/>
            </a:avLst>
          </a:prstGeom>
          <a:solidFill>
            <a:srgbClr val="E6F0E7"/>
          </a:solidFill>
          <a:ln/>
        </p:spPr>
      </p:sp>
      <p:sp>
        <p:nvSpPr>
          <p:cNvPr id="57" name="Text 50"/>
          <p:cNvSpPr txBox="1"/>
          <p:nvPr/>
        </p:nvSpPr>
        <p:spPr>
          <a:xfrm>
            <a:off x="612648" y="5843016"/>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1~6학년 6년 기록</a:t>
            </a:r>
            <a:endParaRPr lang="en-US" sz="1350" dirty="0"/>
          </a:p>
        </p:txBody>
      </p:sp>
      <p:sp>
        <p:nvSpPr>
          <p:cNvPr id="58" name="Shape 51"/>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59" name="Shape 52"/>
          <p:cNvSpPr/>
          <p:nvPr/>
        </p:nvSpPr>
        <p:spPr>
          <a:xfrm>
            <a:off x="4297680" y="4187952"/>
            <a:ext cx="3593592" cy="475488"/>
          </a:xfrm>
          <a:prstGeom prst="roundRect">
            <a:avLst>
              <a:gd name="adj" fmla="val 19231"/>
            </a:avLst>
          </a:prstGeom>
          <a:solidFill>
            <a:srgbClr val="2B4637"/>
          </a:solidFill>
          <a:ln/>
        </p:spPr>
      </p:sp>
      <p:sp>
        <p:nvSpPr>
          <p:cNvPr id="60" name="Shape 53"/>
          <p:cNvSpPr/>
          <p:nvPr/>
        </p:nvSpPr>
        <p:spPr>
          <a:xfrm>
            <a:off x="4297680" y="4572000"/>
            <a:ext cx="3593592" cy="91440"/>
          </a:xfrm>
          <a:prstGeom prst="rect">
            <a:avLst/>
          </a:prstGeom>
          <a:solidFill>
            <a:srgbClr val="2B4637"/>
          </a:solidFill>
          <a:ln/>
        </p:spPr>
      </p:sp>
      <p:sp>
        <p:nvSpPr>
          <p:cNvPr id="61" name="Shape 54"/>
          <p:cNvSpPr/>
          <p:nvPr/>
        </p:nvSpPr>
        <p:spPr>
          <a:xfrm>
            <a:off x="4416552" y="4270248"/>
            <a:ext cx="310896" cy="310896"/>
          </a:xfrm>
          <a:prstGeom prst="ellipse">
            <a:avLst/>
          </a:prstGeom>
          <a:solidFill>
            <a:srgbClr val="C08A1E"/>
          </a:solidFill>
          <a:ln/>
        </p:spPr>
      </p:sp>
      <p:sp>
        <p:nvSpPr>
          <p:cNvPr id="62" name="Text 55"/>
          <p:cNvSpPr txBox="1"/>
          <p:nvPr/>
        </p:nvSpPr>
        <p:spPr>
          <a:xfrm>
            <a:off x="4416552" y="4270248"/>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63" name="Text 56"/>
          <p:cNvSpPr txBox="1"/>
          <p:nvPr/>
        </p:nvSpPr>
        <p:spPr>
          <a:xfrm>
            <a:off x="4809744" y="4187952"/>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 맞춤형 지원</a:t>
            </a:r>
            <a:endParaRPr lang="en-US" sz="1550" dirty="0"/>
          </a:p>
        </p:txBody>
      </p:sp>
      <p:sp>
        <p:nvSpPr>
          <p:cNvPr id="64" name="Shape 57"/>
          <p:cNvSpPr/>
          <p:nvPr/>
        </p:nvSpPr>
        <p:spPr>
          <a:xfrm>
            <a:off x="4407408" y="4773168"/>
            <a:ext cx="1389888" cy="1024128"/>
          </a:xfrm>
          <a:prstGeom prst="roundRect">
            <a:avLst>
              <a:gd name="adj" fmla="val 7143"/>
            </a:avLst>
          </a:prstGeom>
          <a:solidFill>
            <a:srgbClr val="FFFFFF"/>
          </a:solidFill>
          <a:ln w="9525">
            <a:solidFill>
              <a:srgbClr val="E2DCCB"/>
            </a:solidFill>
            <a:prstDash val="solid"/>
          </a:ln>
        </p:spPr>
      </p:sp>
      <p:pic>
        <p:nvPicPr>
          <p:cNvPr id="65" name="Image 5" descr="화면">    </p:cNvPr>
          <p:cNvPicPr>
            <a:picLocks noChangeAspect="1"/>
          </p:cNvPicPr>
          <p:nvPr/>
        </p:nvPicPr>
        <p:blipFill>
          <a:blip r:embed="rId6"/>
          <a:stretch>
            <a:fillRect/>
          </a:stretch>
        </p:blipFill>
        <p:spPr>
          <a:xfrm>
            <a:off x="4443984" y="4809744"/>
            <a:ext cx="1316736" cy="950976"/>
          </a:xfrm>
          <a:prstGeom prst="rect">
            <a:avLst/>
          </a:prstGeom>
        </p:spPr>
      </p:pic>
      <p:sp>
        <p:nvSpPr>
          <p:cNvPr id="66" name="Text 58"/>
          <p:cNvSpPr txBox="1"/>
          <p:nvPr/>
        </p:nvSpPr>
        <p:spPr>
          <a:xfrm>
            <a:off x="5925312" y="4754880"/>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책부터, 또는 학급 고민부터</a:t>
            </a:r>
            <a:r>
              <a:rPr lang="en-US" sz="1350" dirty="0">
                <a:solidFill>
                  <a:srgbClr val="2E3A30"/>
                </a:solidFill>
                <a:latin typeface="Freesentation 4 Regular" pitchFamily="34" charset="0"/>
                <a:ea typeface="Freesentation 4 Regular" pitchFamily="34" charset="-122"/>
                <a:cs typeface="Freesentation 4 Regular" pitchFamily="34" charset="-120"/>
              </a:rPr>
              <a:t>학급 고민이나 책에 맞춰 질문과</a:t>
            </a:r>
            <a:r>
              <a:rPr lang="en-US" sz="1350" dirty="0">
                <a:solidFill>
                  <a:srgbClr val="2E3A30"/>
                </a:solidFill>
                <a:latin typeface="Freesentation 4 Regular" pitchFamily="34" charset="0"/>
                <a:ea typeface="Freesentation 4 Regular" pitchFamily="34" charset="-122"/>
                <a:cs typeface="Freesentation 4 Regular" pitchFamily="34" charset="-120"/>
              </a:rPr>
              <a:t>차시 자료를 받아 설계합니다.</a:t>
            </a:r>
            <a:endParaRPr lang="en-US" sz="1350" dirty="0"/>
          </a:p>
        </p:txBody>
      </p:sp>
      <p:sp>
        <p:nvSpPr>
          <p:cNvPr id="67" name="Shape 59"/>
          <p:cNvSpPr/>
          <p:nvPr/>
        </p:nvSpPr>
        <p:spPr>
          <a:xfrm>
            <a:off x="4407408" y="5843016"/>
            <a:ext cx="3374136" cy="329184"/>
          </a:xfrm>
          <a:prstGeom prst="roundRect">
            <a:avLst>
              <a:gd name="adj" fmla="val 50000"/>
            </a:avLst>
          </a:prstGeom>
          <a:solidFill>
            <a:srgbClr val="E6F0E7"/>
          </a:solidFill>
          <a:ln/>
        </p:spPr>
      </p:sp>
      <p:sp>
        <p:nvSpPr>
          <p:cNvPr id="68" name="Text 60"/>
          <p:cNvSpPr txBox="1"/>
          <p:nvPr/>
        </p:nvSpPr>
        <p:spPr>
          <a:xfrm>
            <a:off x="4407408" y="5843016"/>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학급 고민으로 수업 만들기, 자료 4종</a:t>
            </a:r>
            <a:endParaRPr lang="en-US" sz="1350" dirty="0"/>
          </a:p>
        </p:txBody>
      </p:sp>
      <p:sp>
        <p:nvSpPr>
          <p:cNvPr id="69" name="Shape 61"/>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sp>
        <p:nvSpPr>
          <p:cNvPr id="70" name="Shape 62"/>
          <p:cNvSpPr/>
          <p:nvPr/>
        </p:nvSpPr>
        <p:spPr>
          <a:xfrm>
            <a:off x="8092440" y="4187952"/>
            <a:ext cx="3593592" cy="475488"/>
          </a:xfrm>
          <a:prstGeom prst="roundRect">
            <a:avLst>
              <a:gd name="adj" fmla="val 19231"/>
            </a:avLst>
          </a:prstGeom>
          <a:solidFill>
            <a:srgbClr val="2B4637"/>
          </a:solidFill>
          <a:ln/>
        </p:spPr>
      </p:sp>
      <p:sp>
        <p:nvSpPr>
          <p:cNvPr id="71" name="Shape 63"/>
          <p:cNvSpPr/>
          <p:nvPr/>
        </p:nvSpPr>
        <p:spPr>
          <a:xfrm>
            <a:off x="8092440" y="4572000"/>
            <a:ext cx="3593592" cy="91440"/>
          </a:xfrm>
          <a:prstGeom prst="rect">
            <a:avLst/>
          </a:prstGeom>
          <a:solidFill>
            <a:srgbClr val="2B4637"/>
          </a:solidFill>
          <a:ln/>
        </p:spPr>
      </p:sp>
      <p:sp>
        <p:nvSpPr>
          <p:cNvPr id="72" name="Shape 64"/>
          <p:cNvSpPr/>
          <p:nvPr/>
        </p:nvSpPr>
        <p:spPr>
          <a:xfrm>
            <a:off x="8211312" y="4270248"/>
            <a:ext cx="310896" cy="310896"/>
          </a:xfrm>
          <a:prstGeom prst="ellipse">
            <a:avLst/>
          </a:prstGeom>
          <a:solidFill>
            <a:srgbClr val="C08A1E"/>
          </a:solidFill>
          <a:ln/>
        </p:spPr>
      </p:sp>
      <p:sp>
        <p:nvSpPr>
          <p:cNvPr id="73" name="Text 65"/>
          <p:cNvSpPr txBox="1"/>
          <p:nvPr/>
        </p:nvSpPr>
        <p:spPr>
          <a:xfrm>
            <a:off x="8211312" y="4270248"/>
            <a:ext cx="310896" cy="31089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74" name="Text 66"/>
          <p:cNvSpPr txBox="1"/>
          <p:nvPr/>
        </p:nvSpPr>
        <p:spPr>
          <a:xfrm>
            <a:off x="8604504" y="4187952"/>
            <a:ext cx="3026664" cy="47548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성과 및 운영관리</a:t>
            </a:r>
            <a:endParaRPr lang="en-US" sz="1550" dirty="0"/>
          </a:p>
        </p:txBody>
      </p:sp>
      <p:sp>
        <p:nvSpPr>
          <p:cNvPr id="75" name="Shape 67"/>
          <p:cNvSpPr/>
          <p:nvPr/>
        </p:nvSpPr>
        <p:spPr>
          <a:xfrm>
            <a:off x="8202168" y="4773168"/>
            <a:ext cx="1389888" cy="1024128"/>
          </a:xfrm>
          <a:prstGeom prst="roundRect">
            <a:avLst>
              <a:gd name="adj" fmla="val 7143"/>
            </a:avLst>
          </a:prstGeom>
          <a:solidFill>
            <a:srgbClr val="FFFFFF"/>
          </a:solidFill>
          <a:ln w="9525">
            <a:solidFill>
              <a:srgbClr val="E2DCCB"/>
            </a:solidFill>
            <a:prstDash val="solid"/>
          </a:ln>
        </p:spPr>
      </p:sp>
      <p:pic>
        <p:nvPicPr>
          <p:cNvPr id="76" name="Image 6" descr="화면">    </p:cNvPr>
          <p:cNvPicPr>
            <a:picLocks noChangeAspect="1"/>
          </p:cNvPicPr>
          <p:nvPr/>
        </p:nvPicPr>
        <p:blipFill>
          <a:blip r:embed="rId7"/>
          <a:stretch>
            <a:fillRect/>
          </a:stretch>
        </p:blipFill>
        <p:spPr>
          <a:xfrm>
            <a:off x="8238744" y="4809744"/>
            <a:ext cx="1316736" cy="950976"/>
          </a:xfrm>
          <a:prstGeom prst="rect">
            <a:avLst/>
          </a:prstGeom>
        </p:spPr>
      </p:pic>
      <p:sp>
        <p:nvSpPr>
          <p:cNvPr id="77" name="Text 68"/>
          <p:cNvSpPr txBox="1"/>
          <p:nvPr/>
        </p:nvSpPr>
        <p:spPr>
          <a:xfrm>
            <a:off x="9720072" y="4754880"/>
            <a:ext cx="1874520" cy="1060704"/>
          </a:xfrm>
          <a:prstGeom prst="rect">
            <a:avLst/>
          </a:prstGeom>
          <a:noFill/>
          <a:ln/>
        </p:spPr>
        <p:txBody>
          <a:bodyPr wrap="square" lIns="0" tIns="0" rIns="0" bIns="0" rtlCol="0" anchor="ctr">
            <a:noAutofit/>
          </a:bodyP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운영계획부터 연수, 현황 점검,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성과 보고, 기술 지원까지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 기관이 맡습니다.</a:t>
            </a:r>
            <a:endParaRPr lang="en-US" sz="1350" dirty="0"/>
          </a:p>
        </p:txBody>
      </p:sp>
      <p:sp>
        <p:nvSpPr>
          <p:cNvPr id="78" name="Shape 69"/>
          <p:cNvSpPr/>
          <p:nvPr/>
        </p:nvSpPr>
        <p:spPr>
          <a:xfrm>
            <a:off x="8202168" y="5843016"/>
            <a:ext cx="3374136" cy="329184"/>
          </a:xfrm>
          <a:prstGeom prst="roundRect">
            <a:avLst>
              <a:gd name="adj" fmla="val 50000"/>
            </a:avLst>
          </a:prstGeom>
          <a:solidFill>
            <a:srgbClr val="E6F0E7"/>
          </a:solidFill>
          <a:ln/>
        </p:spPr>
      </p:sp>
      <p:sp>
        <p:nvSpPr>
          <p:cNvPr id="79" name="Text 70"/>
          <p:cNvSpPr txBox="1"/>
          <p:nvPr/>
        </p:nvSpPr>
        <p:spPr>
          <a:xfrm>
            <a:off x="8202168" y="5843016"/>
            <a:ext cx="3374136" cy="329184"/>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학교별 운영관리 10개 항목</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300권을 함께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도서의 차별성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현직 교사와 작가가 원작의 줄거리와 주제를 살려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 모두 300권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다시 썼습니다</a:t>
            </a:r>
            <a:endParaRPr lang="en-US" sz="1400" dirty="0"/>
          </a:p>
        </p:txBody>
      </p:sp>
      <p:sp>
        <p:nvSpPr>
          <p:cNvPr id="10" name="Text 7"/>
          <p:cNvSpPr txBox="1"/>
          <p:nvPr/>
        </p:nvSpPr>
        <p:spPr>
          <a:xfrm>
            <a:off x="1299083"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96093"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왼쪽 표지는 학년별 대표 작품 두 권씩. 저작권이 끝난 작품과 작자 미상 전래 이야기만 골라 새로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1755648" cy="4352544"/>
          </a:xfrm>
          <a:prstGeom prst="roundRect">
            <a:avLst>
              <a:gd name="adj" fmla="val 5208"/>
            </a:avLst>
          </a:prstGeom>
          <a:solidFill>
            <a:srgbClr val="F7F4EC"/>
          </a:solidFill>
          <a:ln/>
        </p:spPr>
      </p:sp>
      <p:sp>
        <p:nvSpPr>
          <p:cNvPr id="15" name="Text 12"/>
          <p:cNvSpPr txBox="1"/>
          <p:nvPr/>
        </p:nvSpPr>
        <p:spPr>
          <a:xfrm>
            <a:off x="502920" y="1975104"/>
            <a:ext cx="1755648" cy="329184"/>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학년별 대표 작품</a:t>
            </a:r>
            <a:endParaRPr lang="en-US" sz="1400" dirty="0"/>
          </a:p>
        </p:txBody>
      </p:sp>
      <p:sp>
        <p:nvSpPr>
          <p:cNvPr id="16" name="Text 13"/>
          <p:cNvSpPr txBox="1"/>
          <p:nvPr/>
        </p:nvSpPr>
        <p:spPr>
          <a:xfrm>
            <a:off x="576072" y="2340864"/>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1학년</a:t>
            </a:r>
            <a:endParaRPr lang="en-US" sz="1300" dirty="0"/>
          </a:p>
        </p:txBody>
      </p:sp>
      <p:sp>
        <p:nvSpPr>
          <p:cNvPr id="17" name="Shape 14"/>
          <p:cNvSpPr/>
          <p:nvPr/>
        </p:nvSpPr>
        <p:spPr>
          <a:xfrm>
            <a:off x="1161288" y="2340864"/>
            <a:ext cx="418338" cy="557784"/>
          </a:xfrm>
          <a:prstGeom prst="roundRect">
            <a:avLst>
              <a:gd name="adj" fmla="val 17486"/>
            </a:avLst>
          </a:prstGeom>
          <a:solidFill>
            <a:srgbClr val="FFFFFF"/>
          </a:solidFill>
          <a:ln w="9525">
            <a:solidFill>
              <a:srgbClr val="E2DCCB"/>
            </a:solidFill>
            <a:prstDash val="solid"/>
          </a:ln>
        </p:spPr>
      </p:sp>
      <p:pic>
        <p:nvPicPr>
          <p:cNvPr id="18" name="Image 1" descr="1학년 표지">    </p:cNvPr>
          <p:cNvPicPr>
            <a:picLocks noChangeAspect="1"/>
          </p:cNvPicPr>
          <p:nvPr/>
        </p:nvPicPr>
        <p:blipFill>
          <a:blip r:embed="rId2"/>
          <a:stretch>
            <a:fillRect/>
          </a:stretch>
        </p:blipFill>
        <p:spPr>
          <a:xfrm>
            <a:off x="1179576" y="2359152"/>
            <a:ext cx="381762" cy="521208"/>
          </a:xfrm>
          <a:prstGeom prst="rect">
            <a:avLst/>
          </a:prstGeom>
        </p:spPr>
      </p:pic>
      <p:sp>
        <p:nvSpPr>
          <p:cNvPr id="19" name="Shape 15"/>
          <p:cNvSpPr/>
          <p:nvPr/>
        </p:nvSpPr>
        <p:spPr>
          <a:xfrm>
            <a:off x="1652778" y="2340864"/>
            <a:ext cx="418338" cy="557784"/>
          </a:xfrm>
          <a:prstGeom prst="roundRect">
            <a:avLst>
              <a:gd name="adj" fmla="val 17486"/>
            </a:avLst>
          </a:prstGeom>
          <a:solidFill>
            <a:srgbClr val="FFFFFF"/>
          </a:solidFill>
          <a:ln w="9525">
            <a:solidFill>
              <a:srgbClr val="E2DCCB"/>
            </a:solidFill>
            <a:prstDash val="solid"/>
          </a:ln>
        </p:spPr>
      </p:sp>
      <p:pic>
        <p:nvPicPr>
          <p:cNvPr id="20" name="Image 2" descr="1학년 표지">    </p:cNvPr>
          <p:cNvPicPr>
            <a:picLocks noChangeAspect="1"/>
          </p:cNvPicPr>
          <p:nvPr/>
        </p:nvPicPr>
        <p:blipFill>
          <a:blip r:embed="rId3"/>
          <a:stretch>
            <a:fillRect/>
          </a:stretch>
        </p:blipFill>
        <p:spPr>
          <a:xfrm>
            <a:off x="1671066" y="2359152"/>
            <a:ext cx="381762" cy="521208"/>
          </a:xfrm>
          <a:prstGeom prst="rect">
            <a:avLst/>
          </a:prstGeom>
        </p:spPr>
      </p:pic>
      <p:sp>
        <p:nvSpPr>
          <p:cNvPr id="21" name="Text 16"/>
          <p:cNvSpPr txBox="1"/>
          <p:nvPr/>
        </p:nvSpPr>
        <p:spPr>
          <a:xfrm>
            <a:off x="576072" y="2990088"/>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2학년</a:t>
            </a:r>
            <a:endParaRPr lang="en-US" sz="1300" dirty="0"/>
          </a:p>
        </p:txBody>
      </p:sp>
      <p:sp>
        <p:nvSpPr>
          <p:cNvPr id="22" name="Shape 17"/>
          <p:cNvSpPr/>
          <p:nvPr/>
        </p:nvSpPr>
        <p:spPr>
          <a:xfrm>
            <a:off x="1161288" y="2990088"/>
            <a:ext cx="418338" cy="557784"/>
          </a:xfrm>
          <a:prstGeom prst="roundRect">
            <a:avLst>
              <a:gd name="adj" fmla="val 17486"/>
            </a:avLst>
          </a:prstGeom>
          <a:solidFill>
            <a:srgbClr val="FFFFFF"/>
          </a:solidFill>
          <a:ln w="9525">
            <a:solidFill>
              <a:srgbClr val="E2DCCB"/>
            </a:solidFill>
            <a:prstDash val="solid"/>
          </a:ln>
        </p:spPr>
      </p:sp>
      <p:pic>
        <p:nvPicPr>
          <p:cNvPr id="23" name="Image 3" descr="2학년 표지">    </p:cNvPr>
          <p:cNvPicPr>
            <a:picLocks noChangeAspect="1"/>
          </p:cNvPicPr>
          <p:nvPr/>
        </p:nvPicPr>
        <p:blipFill>
          <a:blip r:embed="rId4"/>
          <a:stretch>
            <a:fillRect/>
          </a:stretch>
        </p:blipFill>
        <p:spPr>
          <a:xfrm>
            <a:off x="1179576" y="3008376"/>
            <a:ext cx="381762" cy="521208"/>
          </a:xfrm>
          <a:prstGeom prst="rect">
            <a:avLst/>
          </a:prstGeom>
        </p:spPr>
      </p:pic>
      <p:sp>
        <p:nvSpPr>
          <p:cNvPr id="24" name="Shape 18"/>
          <p:cNvSpPr/>
          <p:nvPr/>
        </p:nvSpPr>
        <p:spPr>
          <a:xfrm>
            <a:off x="1652778" y="2990088"/>
            <a:ext cx="418338" cy="557784"/>
          </a:xfrm>
          <a:prstGeom prst="roundRect">
            <a:avLst>
              <a:gd name="adj" fmla="val 17486"/>
            </a:avLst>
          </a:prstGeom>
          <a:solidFill>
            <a:srgbClr val="FFFFFF"/>
          </a:solidFill>
          <a:ln w="9525">
            <a:solidFill>
              <a:srgbClr val="E2DCCB"/>
            </a:solidFill>
            <a:prstDash val="solid"/>
          </a:ln>
        </p:spPr>
      </p:sp>
      <p:pic>
        <p:nvPicPr>
          <p:cNvPr id="25" name="Image 4" descr="2학년 표지">    </p:cNvPr>
          <p:cNvPicPr>
            <a:picLocks noChangeAspect="1"/>
          </p:cNvPicPr>
          <p:nvPr/>
        </p:nvPicPr>
        <p:blipFill>
          <a:blip r:embed="rId5"/>
          <a:stretch>
            <a:fillRect/>
          </a:stretch>
        </p:blipFill>
        <p:spPr>
          <a:xfrm>
            <a:off x="1671066" y="3008376"/>
            <a:ext cx="381762" cy="521208"/>
          </a:xfrm>
          <a:prstGeom prst="rect">
            <a:avLst/>
          </a:prstGeom>
        </p:spPr>
      </p:pic>
      <p:sp>
        <p:nvSpPr>
          <p:cNvPr id="26" name="Text 19"/>
          <p:cNvSpPr txBox="1"/>
          <p:nvPr/>
        </p:nvSpPr>
        <p:spPr>
          <a:xfrm>
            <a:off x="576072" y="3639312"/>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3학년</a:t>
            </a:r>
            <a:endParaRPr lang="en-US" sz="1300" dirty="0"/>
          </a:p>
        </p:txBody>
      </p:sp>
      <p:sp>
        <p:nvSpPr>
          <p:cNvPr id="27" name="Shape 20"/>
          <p:cNvSpPr/>
          <p:nvPr/>
        </p:nvSpPr>
        <p:spPr>
          <a:xfrm>
            <a:off x="1161288" y="3639312"/>
            <a:ext cx="418338" cy="557784"/>
          </a:xfrm>
          <a:prstGeom prst="roundRect">
            <a:avLst>
              <a:gd name="adj" fmla="val 17486"/>
            </a:avLst>
          </a:prstGeom>
          <a:solidFill>
            <a:srgbClr val="FFFFFF"/>
          </a:solidFill>
          <a:ln w="9525">
            <a:solidFill>
              <a:srgbClr val="E2DCCB"/>
            </a:solidFill>
            <a:prstDash val="solid"/>
          </a:ln>
        </p:spPr>
      </p:sp>
      <p:pic>
        <p:nvPicPr>
          <p:cNvPr id="28" name="Image 5" descr="3학년 표지">    </p:cNvPr>
          <p:cNvPicPr>
            <a:picLocks noChangeAspect="1"/>
          </p:cNvPicPr>
          <p:nvPr/>
        </p:nvPicPr>
        <p:blipFill>
          <a:blip r:embed="rId6"/>
          <a:stretch>
            <a:fillRect/>
          </a:stretch>
        </p:blipFill>
        <p:spPr>
          <a:xfrm>
            <a:off x="1179576" y="3657600"/>
            <a:ext cx="381762" cy="521208"/>
          </a:xfrm>
          <a:prstGeom prst="rect">
            <a:avLst/>
          </a:prstGeom>
        </p:spPr>
      </p:pic>
      <p:sp>
        <p:nvSpPr>
          <p:cNvPr id="29" name="Shape 21"/>
          <p:cNvSpPr/>
          <p:nvPr/>
        </p:nvSpPr>
        <p:spPr>
          <a:xfrm>
            <a:off x="1652778" y="3639312"/>
            <a:ext cx="418338" cy="557784"/>
          </a:xfrm>
          <a:prstGeom prst="roundRect">
            <a:avLst>
              <a:gd name="adj" fmla="val 17486"/>
            </a:avLst>
          </a:prstGeom>
          <a:solidFill>
            <a:srgbClr val="FFFFFF"/>
          </a:solidFill>
          <a:ln w="9525">
            <a:solidFill>
              <a:srgbClr val="E2DCCB"/>
            </a:solidFill>
            <a:prstDash val="solid"/>
          </a:ln>
        </p:spPr>
      </p:sp>
      <p:pic>
        <p:nvPicPr>
          <p:cNvPr id="30" name="Image 6" descr="3학년 표지">    </p:cNvPr>
          <p:cNvPicPr>
            <a:picLocks noChangeAspect="1"/>
          </p:cNvPicPr>
          <p:nvPr/>
        </p:nvPicPr>
        <p:blipFill>
          <a:blip r:embed="rId7"/>
          <a:stretch>
            <a:fillRect/>
          </a:stretch>
        </p:blipFill>
        <p:spPr>
          <a:xfrm>
            <a:off x="1671066" y="3657600"/>
            <a:ext cx="381762" cy="521208"/>
          </a:xfrm>
          <a:prstGeom prst="rect">
            <a:avLst/>
          </a:prstGeom>
        </p:spPr>
      </p:pic>
      <p:sp>
        <p:nvSpPr>
          <p:cNvPr id="31" name="Text 22"/>
          <p:cNvSpPr txBox="1"/>
          <p:nvPr/>
        </p:nvSpPr>
        <p:spPr>
          <a:xfrm>
            <a:off x="576072" y="4288536"/>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4학년</a:t>
            </a:r>
            <a:endParaRPr lang="en-US" sz="1300" dirty="0"/>
          </a:p>
        </p:txBody>
      </p:sp>
      <p:sp>
        <p:nvSpPr>
          <p:cNvPr id="32" name="Shape 23"/>
          <p:cNvSpPr/>
          <p:nvPr/>
        </p:nvSpPr>
        <p:spPr>
          <a:xfrm>
            <a:off x="1161288" y="4288536"/>
            <a:ext cx="418338" cy="557784"/>
          </a:xfrm>
          <a:prstGeom prst="roundRect">
            <a:avLst>
              <a:gd name="adj" fmla="val 17486"/>
            </a:avLst>
          </a:prstGeom>
          <a:solidFill>
            <a:srgbClr val="FFFFFF"/>
          </a:solidFill>
          <a:ln w="9525">
            <a:solidFill>
              <a:srgbClr val="E2DCCB"/>
            </a:solidFill>
            <a:prstDash val="solid"/>
          </a:ln>
        </p:spPr>
      </p:sp>
      <p:pic>
        <p:nvPicPr>
          <p:cNvPr id="33" name="Image 7" descr="4학년 표지">    </p:cNvPr>
          <p:cNvPicPr>
            <a:picLocks noChangeAspect="1"/>
          </p:cNvPicPr>
          <p:nvPr/>
        </p:nvPicPr>
        <p:blipFill>
          <a:blip r:embed="rId8"/>
          <a:stretch>
            <a:fillRect/>
          </a:stretch>
        </p:blipFill>
        <p:spPr>
          <a:xfrm>
            <a:off x="1179576" y="4306824"/>
            <a:ext cx="381762" cy="521208"/>
          </a:xfrm>
          <a:prstGeom prst="rect">
            <a:avLst/>
          </a:prstGeom>
        </p:spPr>
      </p:pic>
      <p:sp>
        <p:nvSpPr>
          <p:cNvPr id="34" name="Shape 24"/>
          <p:cNvSpPr/>
          <p:nvPr/>
        </p:nvSpPr>
        <p:spPr>
          <a:xfrm>
            <a:off x="1652778" y="4288536"/>
            <a:ext cx="418338" cy="557784"/>
          </a:xfrm>
          <a:prstGeom prst="roundRect">
            <a:avLst>
              <a:gd name="adj" fmla="val 17486"/>
            </a:avLst>
          </a:prstGeom>
          <a:solidFill>
            <a:srgbClr val="FFFFFF"/>
          </a:solidFill>
          <a:ln w="9525">
            <a:solidFill>
              <a:srgbClr val="E2DCCB"/>
            </a:solidFill>
            <a:prstDash val="solid"/>
          </a:ln>
        </p:spPr>
      </p:sp>
      <p:pic>
        <p:nvPicPr>
          <p:cNvPr id="35" name="Image 8" descr="4학년 표지">    </p:cNvPr>
          <p:cNvPicPr>
            <a:picLocks noChangeAspect="1"/>
          </p:cNvPicPr>
          <p:nvPr/>
        </p:nvPicPr>
        <p:blipFill>
          <a:blip r:embed="rId9"/>
          <a:stretch>
            <a:fillRect/>
          </a:stretch>
        </p:blipFill>
        <p:spPr>
          <a:xfrm>
            <a:off x="1671066" y="4306824"/>
            <a:ext cx="381762" cy="521208"/>
          </a:xfrm>
          <a:prstGeom prst="rect">
            <a:avLst/>
          </a:prstGeom>
        </p:spPr>
      </p:pic>
      <p:sp>
        <p:nvSpPr>
          <p:cNvPr id="36" name="Text 25"/>
          <p:cNvSpPr txBox="1"/>
          <p:nvPr/>
        </p:nvSpPr>
        <p:spPr>
          <a:xfrm>
            <a:off x="576072" y="4937760"/>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5학년</a:t>
            </a:r>
            <a:endParaRPr lang="en-US" sz="1300" dirty="0"/>
          </a:p>
        </p:txBody>
      </p:sp>
      <p:sp>
        <p:nvSpPr>
          <p:cNvPr id="37" name="Shape 26"/>
          <p:cNvSpPr/>
          <p:nvPr/>
        </p:nvSpPr>
        <p:spPr>
          <a:xfrm>
            <a:off x="1161288" y="4937760"/>
            <a:ext cx="418338" cy="557784"/>
          </a:xfrm>
          <a:prstGeom prst="roundRect">
            <a:avLst>
              <a:gd name="adj" fmla="val 17486"/>
            </a:avLst>
          </a:prstGeom>
          <a:solidFill>
            <a:srgbClr val="FFFFFF"/>
          </a:solidFill>
          <a:ln w="9525">
            <a:solidFill>
              <a:srgbClr val="E2DCCB"/>
            </a:solidFill>
            <a:prstDash val="solid"/>
          </a:ln>
        </p:spPr>
      </p:sp>
      <p:pic>
        <p:nvPicPr>
          <p:cNvPr id="38" name="Image 9" descr="5학년 표지">    </p:cNvPr>
          <p:cNvPicPr>
            <a:picLocks noChangeAspect="1"/>
          </p:cNvPicPr>
          <p:nvPr/>
        </p:nvPicPr>
        <p:blipFill>
          <a:blip r:embed="rId10"/>
          <a:stretch>
            <a:fillRect/>
          </a:stretch>
        </p:blipFill>
        <p:spPr>
          <a:xfrm>
            <a:off x="1179576" y="4956048"/>
            <a:ext cx="381762" cy="521208"/>
          </a:xfrm>
          <a:prstGeom prst="rect">
            <a:avLst/>
          </a:prstGeom>
        </p:spPr>
      </p:pic>
      <p:sp>
        <p:nvSpPr>
          <p:cNvPr id="39" name="Shape 27"/>
          <p:cNvSpPr/>
          <p:nvPr/>
        </p:nvSpPr>
        <p:spPr>
          <a:xfrm>
            <a:off x="1652778" y="4937760"/>
            <a:ext cx="418338" cy="557784"/>
          </a:xfrm>
          <a:prstGeom prst="roundRect">
            <a:avLst>
              <a:gd name="adj" fmla="val 17486"/>
            </a:avLst>
          </a:prstGeom>
          <a:solidFill>
            <a:srgbClr val="FFFFFF"/>
          </a:solidFill>
          <a:ln w="9525">
            <a:solidFill>
              <a:srgbClr val="E2DCCB"/>
            </a:solidFill>
            <a:prstDash val="solid"/>
          </a:ln>
        </p:spPr>
      </p:sp>
      <p:pic>
        <p:nvPicPr>
          <p:cNvPr id="40" name="Image 10" descr="5학년 표지">    </p:cNvPr>
          <p:cNvPicPr>
            <a:picLocks noChangeAspect="1"/>
          </p:cNvPicPr>
          <p:nvPr/>
        </p:nvPicPr>
        <p:blipFill>
          <a:blip r:embed="rId11"/>
          <a:stretch>
            <a:fillRect/>
          </a:stretch>
        </p:blipFill>
        <p:spPr>
          <a:xfrm>
            <a:off x="1671066" y="4956048"/>
            <a:ext cx="381762" cy="521208"/>
          </a:xfrm>
          <a:prstGeom prst="rect">
            <a:avLst/>
          </a:prstGeom>
        </p:spPr>
      </p:pic>
      <p:sp>
        <p:nvSpPr>
          <p:cNvPr id="41" name="Text 28"/>
          <p:cNvSpPr txBox="1"/>
          <p:nvPr/>
        </p:nvSpPr>
        <p:spPr>
          <a:xfrm>
            <a:off x="576072" y="5586984"/>
            <a:ext cx="566928" cy="557784"/>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6학년</a:t>
            </a:r>
            <a:endParaRPr lang="en-US" sz="1300" dirty="0"/>
          </a:p>
        </p:txBody>
      </p:sp>
      <p:sp>
        <p:nvSpPr>
          <p:cNvPr id="42" name="Shape 29"/>
          <p:cNvSpPr/>
          <p:nvPr/>
        </p:nvSpPr>
        <p:spPr>
          <a:xfrm>
            <a:off x="1161288" y="5586984"/>
            <a:ext cx="418338" cy="557784"/>
          </a:xfrm>
          <a:prstGeom prst="roundRect">
            <a:avLst>
              <a:gd name="adj" fmla="val 17486"/>
            </a:avLst>
          </a:prstGeom>
          <a:solidFill>
            <a:srgbClr val="FFFFFF"/>
          </a:solidFill>
          <a:ln w="9525">
            <a:solidFill>
              <a:srgbClr val="E2DCCB"/>
            </a:solidFill>
            <a:prstDash val="solid"/>
          </a:ln>
        </p:spPr>
      </p:sp>
      <p:pic>
        <p:nvPicPr>
          <p:cNvPr id="43" name="Image 11" descr="6학년 표지">    </p:cNvPr>
          <p:cNvPicPr>
            <a:picLocks noChangeAspect="1"/>
          </p:cNvPicPr>
          <p:nvPr/>
        </p:nvPicPr>
        <p:blipFill>
          <a:blip r:embed="rId12"/>
          <a:stretch>
            <a:fillRect/>
          </a:stretch>
        </p:blipFill>
        <p:spPr>
          <a:xfrm>
            <a:off x="1179576" y="5605272"/>
            <a:ext cx="381762" cy="521208"/>
          </a:xfrm>
          <a:prstGeom prst="rect">
            <a:avLst/>
          </a:prstGeom>
        </p:spPr>
      </p:pic>
      <p:sp>
        <p:nvSpPr>
          <p:cNvPr id="44" name="Shape 30"/>
          <p:cNvSpPr/>
          <p:nvPr/>
        </p:nvSpPr>
        <p:spPr>
          <a:xfrm>
            <a:off x="1652778" y="5586984"/>
            <a:ext cx="418338" cy="557784"/>
          </a:xfrm>
          <a:prstGeom prst="roundRect">
            <a:avLst>
              <a:gd name="adj" fmla="val 17486"/>
            </a:avLst>
          </a:prstGeom>
          <a:solidFill>
            <a:srgbClr val="FFFFFF"/>
          </a:solidFill>
          <a:ln w="9525">
            <a:solidFill>
              <a:srgbClr val="E2DCCB"/>
            </a:solidFill>
            <a:prstDash val="solid"/>
          </a:ln>
        </p:spPr>
      </p:sp>
      <p:pic>
        <p:nvPicPr>
          <p:cNvPr id="45" name="Image 12" descr="6학년 표지">    </p:cNvPr>
          <p:cNvPicPr>
            <a:picLocks noChangeAspect="1"/>
          </p:cNvPicPr>
          <p:nvPr/>
        </p:nvPicPr>
        <p:blipFill>
          <a:blip r:embed="rId13"/>
          <a:stretch>
            <a:fillRect/>
          </a:stretch>
        </p:blipFill>
        <p:spPr>
          <a:xfrm>
            <a:off x="1671066" y="5605272"/>
            <a:ext cx="381762" cy="521208"/>
          </a:xfrm>
          <a:prstGeom prst="rect">
            <a:avLst/>
          </a:prstGeom>
        </p:spPr>
      </p:pic>
      <p:sp>
        <p:nvSpPr>
          <p:cNvPr id="46" name="Shape 31"/>
          <p:cNvSpPr/>
          <p:nvPr/>
        </p:nvSpPr>
        <p:spPr>
          <a:xfrm>
            <a:off x="2478024"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47" name="Shape 32"/>
          <p:cNvSpPr/>
          <p:nvPr/>
        </p:nvSpPr>
        <p:spPr>
          <a:xfrm>
            <a:off x="2478024" y="1920240"/>
            <a:ext cx="2192274" cy="768096"/>
          </a:xfrm>
          <a:prstGeom prst="roundRect">
            <a:avLst>
              <a:gd name="adj" fmla="val 11905"/>
            </a:avLst>
          </a:prstGeom>
          <a:solidFill>
            <a:srgbClr val="2B4637"/>
          </a:solidFill>
          <a:ln/>
        </p:spPr>
      </p:sp>
      <p:sp>
        <p:nvSpPr>
          <p:cNvPr id="48" name="Shape 33"/>
          <p:cNvSpPr/>
          <p:nvPr/>
        </p:nvSpPr>
        <p:spPr>
          <a:xfrm>
            <a:off x="2478024" y="2596896"/>
            <a:ext cx="2192274" cy="91440"/>
          </a:xfrm>
          <a:prstGeom prst="rect">
            <a:avLst/>
          </a:prstGeom>
          <a:solidFill>
            <a:srgbClr val="2B4637"/>
          </a:solidFill>
          <a:ln/>
        </p:spPr>
      </p:sp>
      <p:sp>
        <p:nvSpPr>
          <p:cNvPr id="49" name="Text 34"/>
          <p:cNvSpPr txBox="1"/>
          <p:nvPr/>
        </p:nvSpPr>
        <p:spPr>
          <a:xfrm>
            <a:off x="2587752" y="1975104"/>
            <a:ext cx="402336" cy="658368"/>
          </a:xfrm>
          <a:prstGeom prst="rect">
            <a:avLst/>
          </a:prstGeom>
          <a:noFill/>
          <a:ln/>
        </p:spPr>
        <p:txBody>
          <a:bodyPr wrap="square" lIns="0" tIns="0" rIns="0" bIns="0" rtlCol="0" anchor="ctr">
            <a:noAutofit/>
          </a:bodyP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1</a:t>
            </a:r>
            <a:endParaRPr lang="en-US" sz="2600" dirty="0"/>
          </a:p>
        </p:txBody>
      </p:sp>
      <p:sp>
        <p:nvSpPr>
          <p:cNvPr id="50" name="Text 35"/>
          <p:cNvSpPr txBox="1"/>
          <p:nvPr/>
        </p:nvSpPr>
        <p:spPr>
          <a:xfrm>
            <a:off x="3008376" y="1920240"/>
            <a:ext cx="1607058" cy="768096"/>
          </a:xfrm>
          <a:prstGeom prst="rect">
            <a:avLst/>
          </a:prstGeom>
          <a:noFill/>
          <a:ln/>
        </p:spPr>
        <p:txBody>
          <a:bodyPr wrap="square" lIns="0" tIns="0" rIns="0" bIns="0" rtlCol="0" anchor="ctr">
            <a:noAutofit/>
          </a:bodyP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원작의 가치를 살린</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명작 재구성</a:t>
            </a:r>
            <a:endParaRPr lang="en-US" sz="1500" dirty="0"/>
          </a:p>
        </p:txBody>
      </p:sp>
      <p:sp>
        <p:nvSpPr>
          <p:cNvPr id="51" name="Text 36"/>
          <p:cNvSpPr txBox="1"/>
          <p:nvPr/>
        </p:nvSpPr>
        <p:spPr>
          <a:xfrm>
            <a:off x="2624328" y="2798064"/>
            <a:ext cx="1917954" cy="987552"/>
          </a:xfrm>
          <a:prstGeom prst="rect">
            <a:avLst/>
          </a:prstGeom>
          <a:noFill/>
          <a:ln/>
        </p:spPr>
        <p:txBody>
          <a:bodyPr wrap="square" lIns="0" tIns="0" rIns="0" bIns="0" rtlCol="0" anchor="t">
            <a:noAutofit/>
          </a:bodyPr>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원작의 줄거리, 인물, 주제와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정서를 지키며 학생 눈높이에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맞게 다시 썼습니다.</a:t>
            </a:r>
            <a:endParaRPr lang="en-US" sz="1350" dirty="0"/>
          </a:p>
        </p:txBody>
      </p:sp>
      <p:sp>
        <p:nvSpPr>
          <p:cNvPr id="52" name="Shape 37"/>
          <p:cNvSpPr/>
          <p:nvPr/>
        </p:nvSpPr>
        <p:spPr>
          <a:xfrm>
            <a:off x="2569464" y="3840480"/>
            <a:ext cx="2009394" cy="822960"/>
          </a:xfrm>
          <a:prstGeom prst="roundRect">
            <a:avLst>
              <a:gd name="adj" fmla="val 8889"/>
            </a:avLst>
          </a:prstGeom>
          <a:solidFill>
            <a:srgbClr val="E6F0E7"/>
          </a:solidFill>
          <a:ln/>
        </p:spPr>
      </p:sp>
      <p:sp>
        <p:nvSpPr>
          <p:cNvPr id="53" name="Text 38"/>
          <p:cNvSpPr txBox="1"/>
          <p:nvPr/>
        </p:nvSpPr>
        <p:spPr>
          <a:xfrm>
            <a:off x="2660904" y="3895344"/>
            <a:ext cx="1826514" cy="237744"/>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54" name="Text 39"/>
          <p:cNvSpPr txBox="1"/>
          <p:nvPr/>
        </p:nvSpPr>
        <p:spPr>
          <a:xfrm>
            <a:off x="2660904" y="4123944"/>
            <a:ext cx="1881378" cy="512064"/>
          </a:xfrm>
          <a:prstGeom prst="rect">
            <a:avLst/>
          </a:prstGeom>
          <a:noFill/>
          <a:ln/>
        </p:spPr>
        <p:txBody>
          <a:bodyPr wrap="square" lIns="0" tIns="0" rIns="0" bIns="0" rtlCol="0" anchor="t">
            <a:noAutofit/>
          </a:bodyPr>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고전과 명작의 문학적 가치,</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독서교육의 질 확보</a:t>
            </a:r>
            <a:endParaRPr lang="en-US" sz="1250" dirty="0"/>
          </a:p>
        </p:txBody>
      </p:sp>
      <p:sp>
        <p:nvSpPr>
          <p:cNvPr id="55" name="Shape 40"/>
          <p:cNvSpPr/>
          <p:nvPr/>
        </p:nvSpPr>
        <p:spPr>
          <a:xfrm>
            <a:off x="4816602"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56" name="Shape 41"/>
          <p:cNvSpPr/>
          <p:nvPr/>
        </p:nvSpPr>
        <p:spPr>
          <a:xfrm>
            <a:off x="4816602" y="1920240"/>
            <a:ext cx="2192274" cy="768096"/>
          </a:xfrm>
          <a:prstGeom prst="roundRect">
            <a:avLst>
              <a:gd name="adj" fmla="val 11905"/>
            </a:avLst>
          </a:prstGeom>
          <a:solidFill>
            <a:srgbClr val="2B4637"/>
          </a:solidFill>
          <a:ln/>
        </p:spPr>
      </p:sp>
      <p:sp>
        <p:nvSpPr>
          <p:cNvPr id="57" name="Shape 42"/>
          <p:cNvSpPr/>
          <p:nvPr/>
        </p:nvSpPr>
        <p:spPr>
          <a:xfrm>
            <a:off x="4816602" y="2596896"/>
            <a:ext cx="2192274" cy="91440"/>
          </a:xfrm>
          <a:prstGeom prst="rect">
            <a:avLst/>
          </a:prstGeom>
          <a:solidFill>
            <a:srgbClr val="2B4637"/>
          </a:solidFill>
          <a:ln/>
        </p:spPr>
      </p:sp>
      <p:sp>
        <p:nvSpPr>
          <p:cNvPr id="58" name="Text 43"/>
          <p:cNvSpPr txBox="1"/>
          <p:nvPr/>
        </p:nvSpPr>
        <p:spPr>
          <a:xfrm>
            <a:off x="4926330" y="1975104"/>
            <a:ext cx="402336" cy="658368"/>
          </a:xfrm>
          <a:prstGeom prst="rect">
            <a:avLst/>
          </a:prstGeom>
          <a:noFill/>
          <a:ln/>
        </p:spPr>
        <p:txBody>
          <a:bodyPr wrap="square" lIns="0" tIns="0" rIns="0" bIns="0" rtlCol="0" anchor="ctr">
            <a:noAutofit/>
          </a:bodyP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2</a:t>
            </a:r>
            <a:endParaRPr lang="en-US" sz="2600" dirty="0"/>
          </a:p>
        </p:txBody>
      </p:sp>
      <p:sp>
        <p:nvSpPr>
          <p:cNvPr id="59" name="Text 44"/>
          <p:cNvSpPr txBox="1"/>
          <p:nvPr/>
        </p:nvSpPr>
        <p:spPr>
          <a:xfrm>
            <a:off x="5346954" y="1920240"/>
            <a:ext cx="1607058" cy="768096"/>
          </a:xfrm>
          <a:prstGeom prst="rect">
            <a:avLst/>
          </a:prstGeom>
          <a:noFill/>
          <a:ln/>
        </p:spPr>
        <p:txBody>
          <a:bodyPr wrap="square" lIns="0" tIns="0" rIns="0" bIns="0" rtlCol="0" anchor="ctr">
            <a:noAutofit/>
          </a:bodyP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현직 교사와 작가의</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공동 개발</a:t>
            </a:r>
            <a:endParaRPr lang="en-US" sz="1500" dirty="0"/>
          </a:p>
        </p:txBody>
      </p:sp>
      <p:sp>
        <p:nvSpPr>
          <p:cNvPr id="60" name="Text 45"/>
          <p:cNvSpPr txBox="1"/>
          <p:nvPr/>
        </p:nvSpPr>
        <p:spPr>
          <a:xfrm>
            <a:off x="4962906" y="2798064"/>
            <a:ext cx="1917954" cy="987552"/>
          </a:xfrm>
          <a:prstGeom prst="rect">
            <a:avLst/>
          </a:prstGeom>
          <a:noFill/>
          <a:ln/>
        </p:spPr>
        <p:txBody>
          <a:bodyPr wrap="square" lIns="0" tIns="0" rIns="0" bIns="0" rtlCol="0" anchor="t">
            <a:noAutofit/>
          </a:bodyPr>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교사의 교육과정 이해와 학생</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지도 경험에 작가의 문학적</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표현을 더했습니다.</a:t>
            </a:r>
            <a:endParaRPr lang="en-US" sz="1350" dirty="0"/>
          </a:p>
        </p:txBody>
      </p:sp>
      <p:sp>
        <p:nvSpPr>
          <p:cNvPr id="61" name="Shape 46"/>
          <p:cNvSpPr/>
          <p:nvPr/>
        </p:nvSpPr>
        <p:spPr>
          <a:xfrm>
            <a:off x="4908042" y="3840480"/>
            <a:ext cx="2009394" cy="822960"/>
          </a:xfrm>
          <a:prstGeom prst="roundRect">
            <a:avLst>
              <a:gd name="adj" fmla="val 8889"/>
            </a:avLst>
          </a:prstGeom>
          <a:solidFill>
            <a:srgbClr val="E6F0E7"/>
          </a:solidFill>
          <a:ln/>
        </p:spPr>
      </p:sp>
      <p:sp>
        <p:nvSpPr>
          <p:cNvPr id="62" name="Text 47"/>
          <p:cNvSpPr txBox="1"/>
          <p:nvPr/>
        </p:nvSpPr>
        <p:spPr>
          <a:xfrm>
            <a:off x="4999482" y="3895344"/>
            <a:ext cx="1826514" cy="237744"/>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63" name="Text 48"/>
          <p:cNvSpPr txBox="1"/>
          <p:nvPr/>
        </p:nvSpPr>
        <p:spPr>
          <a:xfrm>
            <a:off x="4999482" y="4123944"/>
            <a:ext cx="1881378" cy="512064"/>
          </a:xfrm>
          <a:prstGeom prst="rect">
            <a:avLst/>
          </a:prstGeom>
          <a:noFill/>
          <a:ln/>
        </p:spPr>
        <p:txBody>
          <a:bodyPr wrap="square" lIns="0" tIns="0" rIns="0" bIns="0" rtlCol="0" anchor="t">
            <a:noAutofit/>
          </a:bodyPr>
          <a:lstStyle/>
          <a:p>
            <a:pPr indent="0" marL="0">
              <a:lnSpc>
                <a:spcPct val="112000"/>
              </a:lnSpc>
              <a:buNone/>
            </a:pPr>
            <a:r>
              <a:rPr lang="en-US" sz="1107" dirty="0">
                <a:solidFill>
                  <a:srgbClr val="20342A"/>
                </a:solidFill>
                <a:latin typeface="Freesentation 6 SemiBold" pitchFamily="34" charset="0"/>
                <a:ea typeface="Freesentation 6 SemiBold" pitchFamily="34" charset="-122"/>
                <a:cs typeface="Freesentation 6 SemiBold" pitchFamily="34" charset="-120"/>
              </a:rPr>
              <a:t>교사는 학년 수준과 수업</a:t>
            </a:r>
            <a:r>
              <a:rPr lang="en-US" sz="1107" dirty="0">
                <a:solidFill>
                  <a:srgbClr val="20342A"/>
                </a:solidFill>
                <a:latin typeface="Freesentation 6 SemiBold" pitchFamily="34" charset="0"/>
                <a:ea typeface="Freesentation 6 SemiBold" pitchFamily="34" charset="-122"/>
                <a:cs typeface="Freesentation 6 SemiBold" pitchFamily="34" charset="-120"/>
              </a:rPr>
              <a:t> 활용을, 작가는 이야기 전개와 표현을 검토합니다.</a:t>
            </a:r>
            <a:endParaRPr lang="en-US" sz="1107" dirty="0"/>
          </a:p>
        </p:txBody>
      </p:sp>
      <p:sp>
        <p:nvSpPr>
          <p:cNvPr id="64" name="Shape 49"/>
          <p:cNvSpPr/>
          <p:nvPr/>
        </p:nvSpPr>
        <p:spPr>
          <a:xfrm>
            <a:off x="7155180"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65" name="Shape 50"/>
          <p:cNvSpPr/>
          <p:nvPr/>
        </p:nvSpPr>
        <p:spPr>
          <a:xfrm>
            <a:off x="7155180" y="1920240"/>
            <a:ext cx="2192274" cy="768096"/>
          </a:xfrm>
          <a:prstGeom prst="roundRect">
            <a:avLst>
              <a:gd name="adj" fmla="val 11905"/>
            </a:avLst>
          </a:prstGeom>
          <a:solidFill>
            <a:srgbClr val="2B4637"/>
          </a:solidFill>
          <a:ln/>
        </p:spPr>
      </p:sp>
      <p:sp>
        <p:nvSpPr>
          <p:cNvPr id="66" name="Shape 51"/>
          <p:cNvSpPr/>
          <p:nvPr/>
        </p:nvSpPr>
        <p:spPr>
          <a:xfrm>
            <a:off x="7155180" y="2596896"/>
            <a:ext cx="2192274" cy="91440"/>
          </a:xfrm>
          <a:prstGeom prst="rect">
            <a:avLst/>
          </a:prstGeom>
          <a:solidFill>
            <a:srgbClr val="2B4637"/>
          </a:solidFill>
          <a:ln/>
        </p:spPr>
      </p:sp>
      <p:sp>
        <p:nvSpPr>
          <p:cNvPr id="67" name="Text 52"/>
          <p:cNvSpPr txBox="1"/>
          <p:nvPr/>
        </p:nvSpPr>
        <p:spPr>
          <a:xfrm>
            <a:off x="7264908" y="1975104"/>
            <a:ext cx="402336" cy="658368"/>
          </a:xfrm>
          <a:prstGeom prst="rect">
            <a:avLst/>
          </a:prstGeom>
          <a:noFill/>
          <a:ln/>
        </p:spPr>
        <p:txBody>
          <a:bodyPr wrap="square" lIns="0" tIns="0" rIns="0" bIns="0" rtlCol="0" anchor="ctr">
            <a:noAutofit/>
          </a:bodyP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3</a:t>
            </a:r>
            <a:endParaRPr lang="en-US" sz="2600" dirty="0"/>
          </a:p>
        </p:txBody>
      </p:sp>
      <p:sp>
        <p:nvSpPr>
          <p:cNvPr id="68" name="Text 53"/>
          <p:cNvSpPr txBox="1"/>
          <p:nvPr/>
        </p:nvSpPr>
        <p:spPr>
          <a:xfrm>
            <a:off x="7685532" y="1920240"/>
            <a:ext cx="1607058" cy="768096"/>
          </a:xfrm>
          <a:prstGeom prst="rect">
            <a:avLst/>
          </a:prstGeom>
          <a:noFill/>
          <a:ln/>
        </p:spPr>
        <p:txBody>
          <a:bodyPr wrap="square" lIns="0" tIns="0" rIns="0" bIns="0" rtlCol="0" anchor="ctr">
            <a:noAutofit/>
          </a:bodyP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학년별 50권,</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6년 300권의 체계</a:t>
            </a:r>
            <a:endParaRPr lang="en-US" sz="1500" dirty="0"/>
          </a:p>
        </p:txBody>
      </p:sp>
      <p:sp>
        <p:nvSpPr>
          <p:cNvPr id="69" name="Text 54"/>
          <p:cNvSpPr txBox="1"/>
          <p:nvPr/>
        </p:nvSpPr>
        <p:spPr>
          <a:xfrm>
            <a:off x="7301484" y="2798064"/>
            <a:ext cx="1917954" cy="987552"/>
          </a:xfrm>
          <a:prstGeom prst="rect">
            <a:avLst/>
          </a:prstGeom>
          <a:noFill/>
          <a:ln/>
        </p:spPr>
        <p:txBody>
          <a:bodyPr wrap="square" lIns="0" tIns="0" rIns="0" bIns="0" rtlCol="0" anchor="t">
            <a:noAutofit/>
          </a:bodyPr>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학년이 오를수록 이야기가 </a:t>
            </a:r>
            <a:r>
              <a:rPr lang="en-US" sz="1350" dirty="0">
                <a:solidFill>
                  <a:srgbClr val="2E3A30"/>
                </a:solidFill>
                <a:latin typeface="Freesentation 4 Regular" pitchFamily="34" charset="0"/>
                <a:ea typeface="Freesentation 4 Regular" pitchFamily="34" charset="-122"/>
                <a:cs typeface="Freesentation 4 Regular" pitchFamily="34" charset="-120"/>
              </a:rPr>
              <a:t>길어지고, 더 깊이 생각할 주제를 다루</a:t>
            </a:r>
            <a:r>
              <a:rPr lang="en-US" sz="1350" dirty="0">
                <a:solidFill>
                  <a:srgbClr val="2E3A30"/>
                </a:solidFill>
                <a:latin typeface="Freesentation 4 Regular" pitchFamily="34" charset="0"/>
                <a:ea typeface="Freesentation 4 Regular" pitchFamily="34" charset="-122"/>
                <a:cs typeface="Freesentation 4 Regular" pitchFamily="34" charset="-120"/>
              </a:rPr>
              <a:t>도록 순서를 짰습니다.</a:t>
            </a:r>
            <a:endParaRPr lang="en-US" sz="1350" dirty="0"/>
          </a:p>
        </p:txBody>
      </p:sp>
      <p:sp>
        <p:nvSpPr>
          <p:cNvPr id="70" name="Shape 55"/>
          <p:cNvSpPr/>
          <p:nvPr/>
        </p:nvSpPr>
        <p:spPr>
          <a:xfrm>
            <a:off x="7246620" y="3840480"/>
            <a:ext cx="2009394" cy="822960"/>
          </a:xfrm>
          <a:prstGeom prst="roundRect">
            <a:avLst>
              <a:gd name="adj" fmla="val 8889"/>
            </a:avLst>
          </a:prstGeom>
          <a:solidFill>
            <a:srgbClr val="E6F0E7"/>
          </a:solidFill>
          <a:ln/>
        </p:spPr>
      </p:sp>
      <p:sp>
        <p:nvSpPr>
          <p:cNvPr id="71" name="Text 56"/>
          <p:cNvSpPr txBox="1"/>
          <p:nvPr/>
        </p:nvSpPr>
        <p:spPr>
          <a:xfrm>
            <a:off x="7338060" y="3895344"/>
            <a:ext cx="1826514" cy="237744"/>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72" name="Text 57"/>
          <p:cNvSpPr txBox="1"/>
          <p:nvPr/>
        </p:nvSpPr>
        <p:spPr>
          <a:xfrm>
            <a:off x="7338060" y="4123944"/>
            <a:ext cx="1881378" cy="512064"/>
          </a:xfrm>
          <a:prstGeom prst="rect">
            <a:avLst/>
          </a:prstGeom>
          <a:noFill/>
          <a:ln/>
        </p:spPr>
        <p:txBody>
          <a:bodyPr wrap="square" lIns="0" tIns="0" rIns="0" bIns="0" rtlCol="0" anchor="t">
            <a:noAutofit/>
          </a:bodyPr>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1학년부터 6학년까지 읽을 책과</a:t>
            </a:r>
            <a:r>
              <a:rPr lang="en-US" sz="1250" dirty="0">
                <a:solidFill>
                  <a:srgbClr val="20342A"/>
                </a:solidFill>
                <a:latin typeface="Freesentation 6 SemiBold" pitchFamily="34" charset="0"/>
                <a:ea typeface="Freesentation 6 SemiBold" pitchFamily="34" charset="-122"/>
                <a:cs typeface="Freesentation 6 SemiBold" pitchFamily="34" charset="-120"/>
              </a:rPr>
              <a:t> 수업 자료</a:t>
            </a:r>
            <a:endParaRPr lang="en-US" sz="1250" dirty="0"/>
          </a:p>
        </p:txBody>
      </p:sp>
      <p:sp>
        <p:nvSpPr>
          <p:cNvPr id="73" name="Shape 58"/>
          <p:cNvSpPr/>
          <p:nvPr/>
        </p:nvSpPr>
        <p:spPr>
          <a:xfrm>
            <a:off x="9493758"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74" name="Shape 59"/>
          <p:cNvSpPr/>
          <p:nvPr/>
        </p:nvSpPr>
        <p:spPr>
          <a:xfrm>
            <a:off x="9493758" y="1920240"/>
            <a:ext cx="2192274" cy="768096"/>
          </a:xfrm>
          <a:prstGeom prst="roundRect">
            <a:avLst>
              <a:gd name="adj" fmla="val 11905"/>
            </a:avLst>
          </a:prstGeom>
          <a:solidFill>
            <a:srgbClr val="2B4637"/>
          </a:solidFill>
          <a:ln/>
        </p:spPr>
      </p:sp>
      <p:sp>
        <p:nvSpPr>
          <p:cNvPr id="75" name="Shape 60"/>
          <p:cNvSpPr/>
          <p:nvPr/>
        </p:nvSpPr>
        <p:spPr>
          <a:xfrm>
            <a:off x="9493758" y="2596896"/>
            <a:ext cx="2192274" cy="91440"/>
          </a:xfrm>
          <a:prstGeom prst="rect">
            <a:avLst/>
          </a:prstGeom>
          <a:solidFill>
            <a:srgbClr val="2B4637"/>
          </a:solidFill>
          <a:ln/>
        </p:spPr>
      </p:sp>
      <p:sp>
        <p:nvSpPr>
          <p:cNvPr id="76" name="Text 61"/>
          <p:cNvSpPr txBox="1"/>
          <p:nvPr/>
        </p:nvSpPr>
        <p:spPr>
          <a:xfrm>
            <a:off x="9603486" y="1975104"/>
            <a:ext cx="402336" cy="658368"/>
          </a:xfrm>
          <a:prstGeom prst="rect">
            <a:avLst/>
          </a:prstGeom>
          <a:noFill/>
          <a:ln/>
        </p:spPr>
        <p:txBody>
          <a:bodyPr wrap="square" lIns="0" tIns="0" rIns="0" bIns="0" rtlCol="0" anchor="ctr">
            <a:noAutofit/>
          </a:bodyP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4</a:t>
            </a:r>
            <a:endParaRPr lang="en-US" sz="2600" dirty="0"/>
          </a:p>
        </p:txBody>
      </p:sp>
      <p:sp>
        <p:nvSpPr>
          <p:cNvPr id="77" name="Text 62"/>
          <p:cNvSpPr txBox="1"/>
          <p:nvPr/>
        </p:nvSpPr>
        <p:spPr>
          <a:xfrm>
            <a:off x="10024110" y="1920240"/>
            <a:ext cx="1607058" cy="768096"/>
          </a:xfrm>
          <a:prstGeom prst="rect">
            <a:avLst/>
          </a:prstGeom>
          <a:noFill/>
          <a:ln/>
        </p:spPr>
        <p:txBody>
          <a:bodyPr wrap="square" lIns="0" tIns="0" rIns="0" bIns="0" rtlCol="0" anchor="ctr">
            <a:noAutofit/>
          </a:bodyP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학생 눈높이에</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맞춘 가독성</a:t>
            </a:r>
            <a:endParaRPr lang="en-US" sz="1500" dirty="0"/>
          </a:p>
        </p:txBody>
      </p:sp>
      <p:sp>
        <p:nvSpPr>
          <p:cNvPr id="78" name="Text 63"/>
          <p:cNvSpPr txBox="1"/>
          <p:nvPr/>
        </p:nvSpPr>
        <p:spPr>
          <a:xfrm>
            <a:off x="9640062" y="2798064"/>
            <a:ext cx="1917954" cy="987552"/>
          </a:xfrm>
          <a:prstGeom prst="rect">
            <a:avLst/>
          </a:prstGeom>
          <a:noFill/>
          <a:ln/>
        </p:spPr>
        <p:txBody>
          <a:bodyPr wrap="square" lIns="0" tIns="0" rIns="0" bIns="0" rtlCol="0" anchor="t">
            <a:noAutofit/>
          </a:bodyPr>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문장 길이, 어휘 수준, 이야기</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전개를 학년별 읽기 능력에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맞췄습니다.</a:t>
            </a:r>
            <a:endParaRPr lang="en-US" sz="1350" dirty="0"/>
          </a:p>
        </p:txBody>
      </p:sp>
      <p:sp>
        <p:nvSpPr>
          <p:cNvPr id="79" name="Shape 64"/>
          <p:cNvSpPr/>
          <p:nvPr/>
        </p:nvSpPr>
        <p:spPr>
          <a:xfrm>
            <a:off x="9585198" y="3840480"/>
            <a:ext cx="2009394" cy="822960"/>
          </a:xfrm>
          <a:prstGeom prst="roundRect">
            <a:avLst>
              <a:gd name="adj" fmla="val 8889"/>
            </a:avLst>
          </a:prstGeom>
          <a:solidFill>
            <a:srgbClr val="E6F0E7"/>
          </a:solidFill>
          <a:ln/>
        </p:spPr>
      </p:sp>
      <p:sp>
        <p:nvSpPr>
          <p:cNvPr id="80" name="Text 65"/>
          <p:cNvSpPr txBox="1"/>
          <p:nvPr/>
        </p:nvSpPr>
        <p:spPr>
          <a:xfrm>
            <a:off x="9676638" y="3895344"/>
            <a:ext cx="1826514" cy="237744"/>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81" name="Text 66"/>
          <p:cNvSpPr txBox="1"/>
          <p:nvPr/>
        </p:nvSpPr>
        <p:spPr>
          <a:xfrm>
            <a:off x="9676638" y="4123944"/>
            <a:ext cx="1881378" cy="512064"/>
          </a:xfrm>
          <a:prstGeom prst="rect">
            <a:avLst/>
          </a:prstGeom>
          <a:noFill/>
          <a:ln/>
        </p:spPr>
        <p:txBody>
          <a:bodyPr wrap="square" lIns="0" tIns="0" rIns="0" bIns="0" rtlCol="0" anchor="t">
            <a:noAutofit/>
          </a:bodyPr>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읽기 부담을 덜고 독서 참여</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기회를 넓힘</a:t>
            </a:r>
            <a:endParaRPr lang="en-US" sz="1250" dirty="0"/>
          </a:p>
        </p:txBody>
      </p:sp>
      <p:sp>
        <p:nvSpPr>
          <p:cNvPr id="82" name="Shape 67"/>
          <p:cNvSpPr/>
          <p:nvPr/>
        </p:nvSpPr>
        <p:spPr>
          <a:xfrm>
            <a:off x="2478024" y="4901184"/>
            <a:ext cx="2971800" cy="1371600"/>
          </a:xfrm>
          <a:prstGeom prst="roundRect">
            <a:avLst>
              <a:gd name="adj" fmla="val 6667"/>
            </a:avLst>
          </a:prstGeom>
          <a:solidFill>
            <a:srgbClr val="FBF5E6"/>
          </a:solidFill>
          <a:ln w="9525">
            <a:solidFill>
              <a:srgbClr val="E2DCCB"/>
            </a:solidFill>
            <a:prstDash val="solid"/>
          </a:ln>
        </p:spPr>
      </p:sp>
      <p:sp>
        <p:nvSpPr>
          <p:cNvPr id="83" name="Shape 68"/>
          <p:cNvSpPr/>
          <p:nvPr/>
        </p:nvSpPr>
        <p:spPr>
          <a:xfrm>
            <a:off x="2606040" y="5029200"/>
            <a:ext cx="292608" cy="292608"/>
          </a:xfrm>
          <a:prstGeom prst="ellipse">
            <a:avLst/>
          </a:prstGeom>
          <a:solidFill>
            <a:srgbClr val="2F7D4F"/>
          </a:solidFill>
          <a:ln/>
        </p:spPr>
      </p:sp>
      <p:sp>
        <p:nvSpPr>
          <p:cNvPr id="84" name="Text 69"/>
          <p:cNvSpPr txBox="1"/>
          <p:nvPr/>
        </p:nvSpPr>
        <p:spPr>
          <a:xfrm>
            <a:off x="2606040" y="5029200"/>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85" name="Text 70"/>
          <p:cNvSpPr txBox="1"/>
          <p:nvPr/>
        </p:nvSpPr>
        <p:spPr>
          <a:xfrm>
            <a:off x="2971800" y="4992624"/>
            <a:ext cx="2423160" cy="36576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흥미와 정서적 친밀도</a:t>
            </a:r>
            <a:endParaRPr lang="en-US" sz="1500" dirty="0"/>
          </a:p>
        </p:txBody>
      </p:sp>
      <p:sp>
        <p:nvSpPr>
          <p:cNvPr id="86" name="Text 71"/>
          <p:cNvSpPr txBox="1"/>
          <p:nvPr/>
        </p:nvSpPr>
        <p:spPr>
          <a:xfrm>
            <a:off x="2624328" y="5394960"/>
            <a:ext cx="2697480" cy="548640"/>
          </a:xfrm>
          <a:prstGeom prst="rect">
            <a:avLst/>
          </a:prstGeom>
          <a:noFill/>
          <a:ln/>
        </p:spPr>
        <p:txBody>
          <a:bodyPr wrap="square" lIns="0" tIns="0" rIns="0" bIns="0" rtlCol="0" anchor="t">
            <a:noAutofit/>
          </a:bodyPr>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인물의 감정과 갈등을 알기 쉽게 쓰고 몰입을 돕는 삽화를 넣었습니다.</a:t>
            </a:r>
            <a:endParaRPr lang="en-US" sz="1300" dirty="0"/>
          </a:p>
        </p:txBody>
      </p:sp>
      <p:sp>
        <p:nvSpPr>
          <p:cNvPr id="87" name="Text 72"/>
          <p:cNvSpPr txBox="1"/>
          <p:nvPr/>
        </p:nvSpPr>
        <p:spPr>
          <a:xfrm>
            <a:off x="2624328" y="5888736"/>
            <a:ext cx="2697480" cy="292608"/>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 흥미, 공감, 인물 이해</a:t>
            </a:r>
            <a:endParaRPr lang="en-US" sz="1400" dirty="0"/>
          </a:p>
        </p:txBody>
      </p:sp>
      <p:sp>
        <p:nvSpPr>
          <p:cNvPr id="88" name="Shape 73"/>
          <p:cNvSpPr/>
          <p:nvPr/>
        </p:nvSpPr>
        <p:spPr>
          <a:xfrm>
            <a:off x="5596128" y="4901184"/>
            <a:ext cx="2971800" cy="1371600"/>
          </a:xfrm>
          <a:prstGeom prst="roundRect">
            <a:avLst>
              <a:gd name="adj" fmla="val 6667"/>
            </a:avLst>
          </a:prstGeom>
          <a:solidFill>
            <a:srgbClr val="FBF5E6"/>
          </a:solidFill>
          <a:ln w="9525">
            <a:solidFill>
              <a:srgbClr val="E2DCCB"/>
            </a:solidFill>
            <a:prstDash val="solid"/>
          </a:ln>
        </p:spPr>
      </p:sp>
      <p:sp>
        <p:nvSpPr>
          <p:cNvPr id="89" name="Shape 74"/>
          <p:cNvSpPr/>
          <p:nvPr/>
        </p:nvSpPr>
        <p:spPr>
          <a:xfrm>
            <a:off x="5724144" y="5029200"/>
            <a:ext cx="292608" cy="292608"/>
          </a:xfrm>
          <a:prstGeom prst="ellipse">
            <a:avLst/>
          </a:prstGeom>
          <a:solidFill>
            <a:srgbClr val="2F7D4F"/>
          </a:solidFill>
          <a:ln/>
        </p:spPr>
      </p:sp>
      <p:sp>
        <p:nvSpPr>
          <p:cNvPr id="90" name="Text 75"/>
          <p:cNvSpPr txBox="1"/>
          <p:nvPr/>
        </p:nvSpPr>
        <p:spPr>
          <a:xfrm>
            <a:off x="5724144" y="5029200"/>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91" name="Text 76"/>
          <p:cNvSpPr txBox="1"/>
          <p:nvPr/>
        </p:nvSpPr>
        <p:spPr>
          <a:xfrm>
            <a:off x="6089904" y="4992624"/>
            <a:ext cx="2423160" cy="36576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끝까지 읽도록 돕는 구성</a:t>
            </a:r>
            <a:endParaRPr lang="en-US" sz="1500" dirty="0"/>
          </a:p>
        </p:txBody>
      </p:sp>
      <p:sp>
        <p:nvSpPr>
          <p:cNvPr id="92" name="Text 77"/>
          <p:cNvSpPr txBox="1"/>
          <p:nvPr/>
        </p:nvSpPr>
        <p:spPr>
          <a:xfrm>
            <a:off x="5742432" y="5394960"/>
            <a:ext cx="2697480" cy="548640"/>
          </a:xfrm>
          <a:prstGeom prst="rect">
            <a:avLst/>
          </a:prstGeom>
          <a:noFill/>
          <a:ln/>
        </p:spPr>
        <p:txBody>
          <a:bodyPr wrap="square" lIns="0" tIns="0" rIns="0" bIns="0" rtlCol="0" anchor="t">
            <a:noAutofit/>
          </a:bodyPr>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학년별 알맞은 분량에 낱말 뜻과 읽어주기 기능을 더했습니다.</a:t>
            </a:r>
            <a:endParaRPr lang="en-US" sz="1300" dirty="0"/>
          </a:p>
        </p:txBody>
      </p:sp>
      <p:sp>
        <p:nvSpPr>
          <p:cNvPr id="93" name="Text 78"/>
          <p:cNvSpPr txBox="1"/>
          <p:nvPr/>
        </p:nvSpPr>
        <p:spPr>
          <a:xfrm>
            <a:off x="5742432" y="5888736"/>
            <a:ext cx="2697480" cy="292608"/>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중도 포기를 줄이고 완독 경험을 쌓음</a:t>
            </a:r>
            <a:endParaRPr lang="en-US" sz="1400" dirty="0"/>
          </a:p>
        </p:txBody>
      </p:sp>
      <p:sp>
        <p:nvSpPr>
          <p:cNvPr id="94" name="Shape 79"/>
          <p:cNvSpPr/>
          <p:nvPr/>
        </p:nvSpPr>
        <p:spPr>
          <a:xfrm>
            <a:off x="8714232" y="4901184"/>
            <a:ext cx="2971800" cy="1371600"/>
          </a:xfrm>
          <a:prstGeom prst="roundRect">
            <a:avLst>
              <a:gd name="adj" fmla="val 6667"/>
            </a:avLst>
          </a:prstGeom>
          <a:solidFill>
            <a:srgbClr val="FBF5E6"/>
          </a:solidFill>
          <a:ln w="9525">
            <a:solidFill>
              <a:srgbClr val="E2DCCB"/>
            </a:solidFill>
            <a:prstDash val="solid"/>
          </a:ln>
        </p:spPr>
      </p:sp>
      <p:sp>
        <p:nvSpPr>
          <p:cNvPr id="95" name="Shape 80"/>
          <p:cNvSpPr/>
          <p:nvPr/>
        </p:nvSpPr>
        <p:spPr>
          <a:xfrm>
            <a:off x="8842248" y="5029200"/>
            <a:ext cx="292608" cy="292608"/>
          </a:xfrm>
          <a:prstGeom prst="ellipse">
            <a:avLst/>
          </a:prstGeom>
          <a:solidFill>
            <a:srgbClr val="2F7D4F"/>
          </a:solidFill>
          <a:ln/>
        </p:spPr>
      </p:sp>
      <p:sp>
        <p:nvSpPr>
          <p:cNvPr id="96" name="Text 81"/>
          <p:cNvSpPr txBox="1"/>
          <p:nvPr/>
        </p:nvSpPr>
        <p:spPr>
          <a:xfrm>
            <a:off x="8842248" y="5029200"/>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97" name="Text 82"/>
          <p:cNvSpPr txBox="1"/>
          <p:nvPr/>
        </p:nvSpPr>
        <p:spPr>
          <a:xfrm>
            <a:off x="9208008" y="4992624"/>
            <a:ext cx="2423160" cy="36576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생각을 말과 글로 표현하는 수업</a:t>
            </a:r>
            <a:endParaRPr lang="en-US" sz="1500" dirty="0"/>
          </a:p>
        </p:txBody>
      </p:sp>
      <p:sp>
        <p:nvSpPr>
          <p:cNvPr id="98" name="Text 83"/>
          <p:cNvSpPr txBox="1"/>
          <p:nvPr/>
        </p:nvSpPr>
        <p:spPr>
          <a:xfrm>
            <a:off x="8860536" y="5394960"/>
            <a:ext cx="2697480" cy="548640"/>
          </a:xfrm>
          <a:prstGeom prst="rect">
            <a:avLst/>
          </a:prstGeom>
          <a:noFill/>
          <a:ln/>
        </p:spPr>
        <p:txBody>
          <a:bodyPr wrap="square" lIns="0" tIns="0" rIns="0" bIns="0" rtlCol="0" anchor="t">
            <a:noAutofit/>
          </a:bodyPr>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책별 질문, 인물과 대화, 독후활동, 수업 지도안을 함께 드립니다.</a:t>
            </a:r>
            <a:endParaRPr lang="en-US" sz="1300" dirty="0"/>
          </a:p>
        </p:txBody>
      </p:sp>
      <p:sp>
        <p:nvSpPr>
          <p:cNvPr id="99" name="Text 84"/>
          <p:cNvSpPr txBox="1"/>
          <p:nvPr/>
        </p:nvSpPr>
        <p:spPr>
          <a:xfrm>
            <a:off x="8860536" y="5888736"/>
            <a:ext cx="2697480" cy="292608"/>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질문, 해석, 표현 중심 독서수업</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300권을 함께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부기가 책 한 권에 담은 것</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원작을 옮겨 둔 책이 아니라,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 수업을 위해 다시 만든 독서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입니다</a:t>
            </a:r>
            <a:endParaRPr lang="en-US" sz="1400" dirty="0"/>
          </a:p>
        </p:txBody>
      </p:sp>
      <p:sp>
        <p:nvSpPr>
          <p:cNvPr id="10" name="Text 7"/>
          <p:cNvSpPr txBox="1"/>
          <p:nvPr/>
        </p:nvSpPr>
        <p:spPr>
          <a:xfrm>
            <a:off x="211658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859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서재의 새 읽기 화면(2026. 10. 29.). 넓은 화면에서 도구는 왼쪽, 낱말 풀이는 오른쪽 카드로 비켜나고 3초 뒤 책만 남음. 다국어는 1~4학년 200권. 차시 수업자료는 「수업 만들기」의 온책읽기, 국어수업, 아침활동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705944" y="1920240"/>
            <a:ext cx="5102352" cy="3236976"/>
          </a:xfrm>
          <a:prstGeom prst="roundRect">
            <a:avLst>
              <a:gd name="adj" fmla="val 226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3학년 「은혜 갚은 까치」에서 「과거」를 누른 화면">    </p:cNvPr>
          <p:cNvPicPr>
            <a:picLocks noChangeAspect="1"/>
          </p:cNvPicPr>
          <p:nvPr/>
        </p:nvPicPr>
        <p:blipFill>
          <a:blip r:embed="rId2"/>
          <a:stretch>
            <a:fillRect/>
          </a:stretch>
        </p:blipFill>
        <p:spPr>
          <a:xfrm>
            <a:off x="769952" y="1984248"/>
            <a:ext cx="4974336" cy="3108960"/>
          </a:xfrm>
          <a:prstGeom prst="rect">
            <a:avLst/>
          </a:prstGeom>
        </p:spPr>
      </p:pic>
      <p:sp>
        <p:nvSpPr>
          <p:cNvPr id="16" name="Shape 12"/>
          <p:cNvSpPr/>
          <p:nvPr/>
        </p:nvSpPr>
        <p:spPr>
          <a:xfrm>
            <a:off x="815672" y="4773168"/>
            <a:ext cx="3149727" cy="274320"/>
          </a:xfrm>
          <a:prstGeom prst="roundRect">
            <a:avLst>
              <a:gd name="adj" fmla="val 50000"/>
            </a:avLst>
          </a:prstGeom>
          <a:solidFill>
            <a:srgbClr val="20342A">
              <a:alpha val="92000"/>
            </a:srgbClr>
          </a:solidFill>
          <a:ln/>
        </p:spPr>
      </p:sp>
      <p:sp>
        <p:nvSpPr>
          <p:cNvPr id="17" name="Text 13"/>
          <p:cNvSpPr txBox="1"/>
          <p:nvPr/>
        </p:nvSpPr>
        <p:spPr>
          <a:xfrm>
            <a:off x="815672" y="4773168"/>
            <a:ext cx="3149727"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까치」에서 「과거」를 누른 화면</a:t>
            </a:r>
            <a:endParaRPr lang="en-US" sz="1300" dirty="0"/>
          </a:p>
        </p:txBody>
      </p:sp>
      <p:sp>
        <p:nvSpPr>
          <p:cNvPr id="18" name="Shape 14"/>
          <p:cNvSpPr/>
          <p:nvPr/>
        </p:nvSpPr>
        <p:spPr>
          <a:xfrm>
            <a:off x="502920" y="5266944"/>
            <a:ext cx="1367028" cy="292608"/>
          </a:xfrm>
          <a:prstGeom prst="roundRect">
            <a:avLst>
              <a:gd name="adj" fmla="val 50000"/>
            </a:avLst>
          </a:prstGeom>
          <a:solidFill>
            <a:srgbClr val="E6F0E7"/>
          </a:solidFill>
          <a:ln/>
        </p:spPr>
      </p:sp>
      <p:sp>
        <p:nvSpPr>
          <p:cNvPr id="19" name="Text 15"/>
          <p:cNvSpPr txBox="1"/>
          <p:nvPr/>
        </p:nvSpPr>
        <p:spPr>
          <a:xfrm>
            <a:off x="502920" y="5266944"/>
            <a:ext cx="1367028"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도구는 왼쪽으로</a:t>
            </a:r>
            <a:endParaRPr lang="en-US" sz="1450" dirty="0"/>
          </a:p>
        </p:txBody>
      </p:sp>
      <p:sp>
        <p:nvSpPr>
          <p:cNvPr id="20" name="Shape 16"/>
          <p:cNvSpPr/>
          <p:nvPr/>
        </p:nvSpPr>
        <p:spPr>
          <a:xfrm>
            <a:off x="1961388" y="5266944"/>
            <a:ext cx="1741932" cy="292608"/>
          </a:xfrm>
          <a:prstGeom prst="roundRect">
            <a:avLst>
              <a:gd name="adj" fmla="val 50000"/>
            </a:avLst>
          </a:prstGeom>
          <a:solidFill>
            <a:srgbClr val="E6F0E7"/>
          </a:solidFill>
          <a:ln/>
        </p:spPr>
      </p:sp>
      <p:sp>
        <p:nvSpPr>
          <p:cNvPr id="21" name="Text 17"/>
          <p:cNvSpPr txBox="1"/>
          <p:nvPr/>
        </p:nvSpPr>
        <p:spPr>
          <a:xfrm>
            <a:off x="1961388" y="5266944"/>
            <a:ext cx="1741932"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낱말 뜻은 오른쪽 카드</a:t>
            </a:r>
            <a:endParaRPr lang="en-US" sz="1450" dirty="0"/>
          </a:p>
        </p:txBody>
      </p:sp>
      <p:sp>
        <p:nvSpPr>
          <p:cNvPr id="22" name="Shape 18"/>
          <p:cNvSpPr/>
          <p:nvPr/>
        </p:nvSpPr>
        <p:spPr>
          <a:xfrm>
            <a:off x="3794760" y="5266944"/>
            <a:ext cx="1075944" cy="292608"/>
          </a:xfrm>
          <a:prstGeom prst="roundRect">
            <a:avLst>
              <a:gd name="adj" fmla="val 50000"/>
            </a:avLst>
          </a:prstGeom>
          <a:solidFill>
            <a:srgbClr val="E6F0E7"/>
          </a:solidFill>
          <a:ln/>
        </p:spPr>
      </p:sp>
      <p:sp>
        <p:nvSpPr>
          <p:cNvPr id="23" name="Text 19"/>
          <p:cNvSpPr txBox="1"/>
          <p:nvPr/>
        </p:nvSpPr>
        <p:spPr>
          <a:xfrm>
            <a:off x="3794760" y="5266944"/>
            <a:ext cx="1075944"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3초 뒤 책만</a:t>
            </a:r>
            <a:endParaRPr lang="en-US" sz="1450" dirty="0"/>
          </a:p>
        </p:txBody>
      </p:sp>
      <p:sp>
        <p:nvSpPr>
          <p:cNvPr id="24" name="Shape 20"/>
          <p:cNvSpPr/>
          <p:nvPr/>
        </p:nvSpPr>
        <p:spPr>
          <a:xfrm>
            <a:off x="6285640" y="1920240"/>
            <a:ext cx="2636188" cy="827532"/>
          </a:xfrm>
          <a:prstGeom prst="roundRect">
            <a:avLst>
              <a:gd name="adj" fmla="val 11050"/>
            </a:avLst>
          </a:prstGeom>
          <a:solidFill>
            <a:srgbClr val="FBF5E6"/>
          </a:solidFill>
          <a:ln w="9525">
            <a:solidFill>
              <a:srgbClr val="E2DCCB"/>
            </a:solidFill>
            <a:prstDash val="solid"/>
          </a:ln>
        </p:spPr>
      </p:sp>
      <p:sp>
        <p:nvSpPr>
          <p:cNvPr id="25" name="Shape 21"/>
          <p:cNvSpPr/>
          <p:nvPr/>
        </p:nvSpPr>
        <p:spPr>
          <a:xfrm>
            <a:off x="6395368" y="2029968"/>
            <a:ext cx="310896" cy="310896"/>
          </a:xfrm>
          <a:prstGeom prst="ellipse">
            <a:avLst/>
          </a:prstGeom>
          <a:solidFill>
            <a:srgbClr val="2F7D4F"/>
          </a:solidFill>
          <a:ln/>
        </p:spPr>
      </p:sp>
      <p:sp>
        <p:nvSpPr>
          <p:cNvPr id="26" name="Text 22"/>
          <p:cNvSpPr txBox="1"/>
          <p:nvPr/>
        </p:nvSpPr>
        <p:spPr>
          <a:xfrm>
            <a:off x="6395368"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27" name="Text 23"/>
          <p:cNvSpPr txBox="1"/>
          <p:nvPr/>
        </p:nvSpPr>
        <p:spPr>
          <a:xfrm>
            <a:off x="6779416" y="2011680"/>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다시 쓴 본문</a:t>
            </a:r>
            <a:endParaRPr lang="en-US" sz="1500" dirty="0"/>
          </a:p>
        </p:txBody>
      </p:sp>
      <p:sp>
        <p:nvSpPr>
          <p:cNvPr id="28" name="Text 24"/>
          <p:cNvSpPr txBox="1"/>
          <p:nvPr/>
        </p:nvSpPr>
        <p:spPr>
          <a:xfrm>
            <a:off x="6431944" y="2395728"/>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원작의 줄거리, 인물, 주제를 지키며</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학년 읽기 능력에 맞춰 다시 씀</a:t>
            </a:r>
            <a:endParaRPr lang="en-US" sz="950" dirty="0"/>
          </a:p>
        </p:txBody>
      </p:sp>
      <p:sp>
        <p:nvSpPr>
          <p:cNvPr id="29" name="Shape 25"/>
          <p:cNvSpPr/>
          <p:nvPr/>
        </p:nvSpPr>
        <p:spPr>
          <a:xfrm>
            <a:off x="9049844" y="1920240"/>
            <a:ext cx="2636188" cy="827532"/>
          </a:xfrm>
          <a:prstGeom prst="roundRect">
            <a:avLst>
              <a:gd name="adj" fmla="val 11050"/>
            </a:avLst>
          </a:prstGeom>
          <a:solidFill>
            <a:srgbClr val="FFFFFF"/>
          </a:solidFill>
          <a:ln w="9525">
            <a:solidFill>
              <a:srgbClr val="E2DCCB"/>
            </a:solidFill>
            <a:prstDash val="solid"/>
          </a:ln>
        </p:spPr>
      </p:sp>
      <p:sp>
        <p:nvSpPr>
          <p:cNvPr id="30" name="Shape 26"/>
          <p:cNvSpPr/>
          <p:nvPr/>
        </p:nvSpPr>
        <p:spPr>
          <a:xfrm>
            <a:off x="9159572" y="2029968"/>
            <a:ext cx="310896" cy="310896"/>
          </a:xfrm>
          <a:prstGeom prst="ellipse">
            <a:avLst/>
          </a:prstGeom>
          <a:solidFill>
            <a:srgbClr val="2F7D4F"/>
          </a:solidFill>
          <a:ln/>
        </p:spPr>
      </p:sp>
      <p:sp>
        <p:nvSpPr>
          <p:cNvPr id="31" name="Text 27"/>
          <p:cNvSpPr txBox="1"/>
          <p:nvPr/>
        </p:nvSpPr>
        <p:spPr>
          <a:xfrm>
            <a:off x="9159572"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32" name="Text 28"/>
          <p:cNvSpPr txBox="1"/>
          <p:nvPr/>
        </p:nvSpPr>
        <p:spPr>
          <a:xfrm>
            <a:off x="9543620" y="2011680"/>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장면 삽화</a:t>
            </a:r>
            <a:endParaRPr lang="en-US" sz="1500" dirty="0"/>
          </a:p>
        </p:txBody>
      </p:sp>
      <p:sp>
        <p:nvSpPr>
          <p:cNvPr id="33" name="Text 29"/>
          <p:cNvSpPr txBox="1"/>
          <p:nvPr/>
        </p:nvSpPr>
        <p:spPr>
          <a:xfrm>
            <a:off x="9196148" y="2395728"/>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1, 2학년 그림책은 장면마다,</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3학년부터는 글과 삽화를 한 쪽에</a:t>
            </a:r>
            <a:endParaRPr lang="en-US" sz="950" dirty="0"/>
          </a:p>
        </p:txBody>
      </p:sp>
      <p:sp>
        <p:nvSpPr>
          <p:cNvPr id="34" name="Shape 30"/>
          <p:cNvSpPr/>
          <p:nvPr/>
        </p:nvSpPr>
        <p:spPr>
          <a:xfrm>
            <a:off x="6285640" y="2875788"/>
            <a:ext cx="2636188" cy="827532"/>
          </a:xfrm>
          <a:prstGeom prst="roundRect">
            <a:avLst>
              <a:gd name="adj" fmla="val 11050"/>
            </a:avLst>
          </a:prstGeom>
          <a:solidFill>
            <a:srgbClr val="FFFFFF"/>
          </a:solidFill>
          <a:ln w="9525">
            <a:solidFill>
              <a:srgbClr val="E2DCCB"/>
            </a:solidFill>
            <a:prstDash val="solid"/>
          </a:ln>
        </p:spPr>
      </p:sp>
      <p:sp>
        <p:nvSpPr>
          <p:cNvPr id="35" name="Shape 31"/>
          <p:cNvSpPr/>
          <p:nvPr/>
        </p:nvSpPr>
        <p:spPr>
          <a:xfrm>
            <a:off x="6395368" y="2985516"/>
            <a:ext cx="310896" cy="310896"/>
          </a:xfrm>
          <a:prstGeom prst="ellipse">
            <a:avLst/>
          </a:prstGeom>
          <a:solidFill>
            <a:srgbClr val="2F7D4F"/>
          </a:solidFill>
          <a:ln/>
        </p:spPr>
      </p:sp>
      <p:sp>
        <p:nvSpPr>
          <p:cNvPr id="36" name="Text 32"/>
          <p:cNvSpPr txBox="1"/>
          <p:nvPr/>
        </p:nvSpPr>
        <p:spPr>
          <a:xfrm>
            <a:off x="6395368" y="2985516"/>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7" name="Text 33"/>
          <p:cNvSpPr txBox="1"/>
          <p:nvPr/>
        </p:nvSpPr>
        <p:spPr>
          <a:xfrm>
            <a:off x="6779416" y="2967228"/>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낱말 풀이</a:t>
            </a:r>
            <a:endParaRPr lang="en-US" sz="1500" dirty="0"/>
          </a:p>
        </p:txBody>
      </p:sp>
      <p:sp>
        <p:nvSpPr>
          <p:cNvPr id="38" name="Text 34"/>
          <p:cNvSpPr txBox="1"/>
          <p:nvPr/>
        </p:nvSpPr>
        <p:spPr>
          <a:xfrm>
            <a:off x="6431944" y="3351276"/>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누르면 읽던 자리에서 뜻이 뜨고</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쪽마다 「이 쪽 낱말」로 모임</a:t>
            </a:r>
            <a:endParaRPr lang="en-US" sz="950" dirty="0"/>
          </a:p>
        </p:txBody>
      </p:sp>
      <p:sp>
        <p:nvSpPr>
          <p:cNvPr id="39" name="Shape 35"/>
          <p:cNvSpPr/>
          <p:nvPr/>
        </p:nvSpPr>
        <p:spPr>
          <a:xfrm>
            <a:off x="9049844" y="2875788"/>
            <a:ext cx="2636188" cy="827532"/>
          </a:xfrm>
          <a:prstGeom prst="roundRect">
            <a:avLst>
              <a:gd name="adj" fmla="val 11050"/>
            </a:avLst>
          </a:prstGeom>
          <a:solidFill>
            <a:srgbClr val="FBF5E6"/>
          </a:solidFill>
          <a:ln w="9525">
            <a:solidFill>
              <a:srgbClr val="E2DCCB"/>
            </a:solidFill>
            <a:prstDash val="solid"/>
          </a:ln>
        </p:spPr>
      </p:sp>
      <p:sp>
        <p:nvSpPr>
          <p:cNvPr id="40" name="Shape 36"/>
          <p:cNvSpPr/>
          <p:nvPr/>
        </p:nvSpPr>
        <p:spPr>
          <a:xfrm>
            <a:off x="9159572" y="2985516"/>
            <a:ext cx="310896" cy="310896"/>
          </a:xfrm>
          <a:prstGeom prst="ellipse">
            <a:avLst/>
          </a:prstGeom>
          <a:solidFill>
            <a:srgbClr val="2F7D4F"/>
          </a:solidFill>
          <a:ln/>
        </p:spPr>
      </p:sp>
      <p:sp>
        <p:nvSpPr>
          <p:cNvPr id="41" name="Text 37"/>
          <p:cNvSpPr txBox="1"/>
          <p:nvPr/>
        </p:nvSpPr>
        <p:spPr>
          <a:xfrm>
            <a:off x="9159572" y="2985516"/>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2" name="Text 38"/>
          <p:cNvSpPr txBox="1"/>
          <p:nvPr/>
        </p:nvSpPr>
        <p:spPr>
          <a:xfrm>
            <a:off x="9543620" y="2967228"/>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읽어주기</a:t>
            </a:r>
            <a:endParaRPr lang="en-US" sz="1500" dirty="0"/>
          </a:p>
        </p:txBody>
      </p:sp>
      <p:sp>
        <p:nvSpPr>
          <p:cNvPr id="43" name="Text 39"/>
          <p:cNvSpPr txBox="1"/>
          <p:nvPr/>
        </p:nvSpPr>
        <p:spPr>
          <a:xfrm>
            <a:off x="9196148" y="3351276"/>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소리 내어 읽어 주어 혼자 읽기</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힘든 학생도 따라 읽음</a:t>
            </a:r>
            <a:endParaRPr lang="en-US" sz="950" dirty="0"/>
          </a:p>
        </p:txBody>
      </p:sp>
      <p:sp>
        <p:nvSpPr>
          <p:cNvPr id="44" name="Shape 40"/>
          <p:cNvSpPr/>
          <p:nvPr/>
        </p:nvSpPr>
        <p:spPr>
          <a:xfrm>
            <a:off x="6285640" y="3831336"/>
            <a:ext cx="2636188" cy="827532"/>
          </a:xfrm>
          <a:prstGeom prst="roundRect">
            <a:avLst>
              <a:gd name="adj" fmla="val 11050"/>
            </a:avLst>
          </a:prstGeom>
          <a:solidFill>
            <a:srgbClr val="FBF5E6"/>
          </a:solidFill>
          <a:ln w="9525">
            <a:solidFill>
              <a:srgbClr val="E2DCCB"/>
            </a:solidFill>
            <a:prstDash val="solid"/>
          </a:ln>
        </p:spPr>
      </p:sp>
      <p:sp>
        <p:nvSpPr>
          <p:cNvPr id="45" name="Shape 41"/>
          <p:cNvSpPr/>
          <p:nvPr/>
        </p:nvSpPr>
        <p:spPr>
          <a:xfrm>
            <a:off x="6395368" y="3941064"/>
            <a:ext cx="310896" cy="310896"/>
          </a:xfrm>
          <a:prstGeom prst="ellipse">
            <a:avLst/>
          </a:prstGeom>
          <a:solidFill>
            <a:srgbClr val="2F7D4F"/>
          </a:solidFill>
          <a:ln/>
        </p:spPr>
      </p:sp>
      <p:sp>
        <p:nvSpPr>
          <p:cNvPr id="46" name="Text 42"/>
          <p:cNvSpPr txBox="1"/>
          <p:nvPr/>
        </p:nvSpPr>
        <p:spPr>
          <a:xfrm>
            <a:off x="6395368" y="3941064"/>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5</a:t>
            </a:r>
            <a:endParaRPr lang="en-US" sz="1450" dirty="0"/>
          </a:p>
        </p:txBody>
      </p:sp>
      <p:sp>
        <p:nvSpPr>
          <p:cNvPr id="47" name="Text 43"/>
          <p:cNvSpPr txBox="1"/>
          <p:nvPr/>
        </p:nvSpPr>
        <p:spPr>
          <a:xfrm>
            <a:off x="6779416" y="3922776"/>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4개 언어 나란히</a:t>
            </a:r>
            <a:endParaRPr lang="en-US" sz="1500" dirty="0"/>
          </a:p>
        </p:txBody>
      </p:sp>
      <p:sp>
        <p:nvSpPr>
          <p:cNvPr id="48" name="Text 44"/>
          <p:cNvSpPr txBox="1"/>
          <p:nvPr/>
        </p:nvSpPr>
        <p:spPr>
          <a:xfrm>
            <a:off x="6431944" y="4306824"/>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1~4학년 200권을 한국어, 영어,</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베트남어, 러시아어로</a:t>
            </a:r>
            <a:endParaRPr lang="en-US" sz="950" dirty="0"/>
          </a:p>
        </p:txBody>
      </p:sp>
      <p:sp>
        <p:nvSpPr>
          <p:cNvPr id="49" name="Shape 45"/>
          <p:cNvSpPr/>
          <p:nvPr/>
        </p:nvSpPr>
        <p:spPr>
          <a:xfrm>
            <a:off x="9049844" y="3831336"/>
            <a:ext cx="2636188" cy="827532"/>
          </a:xfrm>
          <a:prstGeom prst="roundRect">
            <a:avLst>
              <a:gd name="adj" fmla="val 11050"/>
            </a:avLst>
          </a:prstGeom>
          <a:solidFill>
            <a:srgbClr val="FFFFFF"/>
          </a:solidFill>
          <a:ln w="9525">
            <a:solidFill>
              <a:srgbClr val="E2DCCB"/>
            </a:solidFill>
            <a:prstDash val="solid"/>
          </a:ln>
        </p:spPr>
      </p:sp>
      <p:sp>
        <p:nvSpPr>
          <p:cNvPr id="50" name="Shape 46"/>
          <p:cNvSpPr/>
          <p:nvPr/>
        </p:nvSpPr>
        <p:spPr>
          <a:xfrm>
            <a:off x="9159572" y="3941064"/>
            <a:ext cx="310896" cy="310896"/>
          </a:xfrm>
          <a:prstGeom prst="ellipse">
            <a:avLst/>
          </a:prstGeom>
          <a:solidFill>
            <a:srgbClr val="2F7D4F"/>
          </a:solidFill>
          <a:ln/>
        </p:spPr>
      </p:sp>
      <p:sp>
        <p:nvSpPr>
          <p:cNvPr id="51" name="Text 47"/>
          <p:cNvSpPr txBox="1"/>
          <p:nvPr/>
        </p:nvSpPr>
        <p:spPr>
          <a:xfrm>
            <a:off x="9159572" y="3941064"/>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6</a:t>
            </a:r>
            <a:endParaRPr lang="en-US" sz="1450" dirty="0"/>
          </a:p>
        </p:txBody>
      </p:sp>
      <p:sp>
        <p:nvSpPr>
          <p:cNvPr id="52" name="Text 48"/>
          <p:cNvSpPr txBox="1"/>
          <p:nvPr/>
        </p:nvSpPr>
        <p:spPr>
          <a:xfrm>
            <a:off x="9543620" y="3922776"/>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인물 대화 질문</a:t>
            </a:r>
            <a:endParaRPr lang="en-US" sz="1500" dirty="0"/>
          </a:p>
        </p:txBody>
      </p:sp>
      <p:sp>
        <p:nvSpPr>
          <p:cNvPr id="53" name="Text 49"/>
          <p:cNvSpPr txBox="1"/>
          <p:nvPr/>
        </p:nvSpPr>
        <p:spPr>
          <a:xfrm>
            <a:off x="9196148" y="4306824"/>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책마다 장면과 인물에 맞춰</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미리 쓴 질문</a:t>
            </a:r>
            <a:endParaRPr lang="en-US" sz="950" dirty="0"/>
          </a:p>
        </p:txBody>
      </p:sp>
      <p:sp>
        <p:nvSpPr>
          <p:cNvPr id="54" name="Shape 50"/>
          <p:cNvSpPr/>
          <p:nvPr/>
        </p:nvSpPr>
        <p:spPr>
          <a:xfrm>
            <a:off x="6285640" y="4786884"/>
            <a:ext cx="2636188" cy="827532"/>
          </a:xfrm>
          <a:prstGeom prst="roundRect">
            <a:avLst>
              <a:gd name="adj" fmla="val 11050"/>
            </a:avLst>
          </a:prstGeom>
          <a:solidFill>
            <a:srgbClr val="FFFFFF"/>
          </a:solidFill>
          <a:ln w="9525">
            <a:solidFill>
              <a:srgbClr val="E2DCCB"/>
            </a:solidFill>
            <a:prstDash val="solid"/>
          </a:ln>
        </p:spPr>
      </p:sp>
      <p:sp>
        <p:nvSpPr>
          <p:cNvPr id="55" name="Shape 51"/>
          <p:cNvSpPr/>
          <p:nvPr/>
        </p:nvSpPr>
        <p:spPr>
          <a:xfrm>
            <a:off x="6395368" y="4896612"/>
            <a:ext cx="310896" cy="310896"/>
          </a:xfrm>
          <a:prstGeom prst="ellipse">
            <a:avLst/>
          </a:prstGeom>
          <a:solidFill>
            <a:srgbClr val="2F7D4F"/>
          </a:solidFill>
          <a:ln/>
        </p:spPr>
      </p:sp>
      <p:sp>
        <p:nvSpPr>
          <p:cNvPr id="56" name="Text 52"/>
          <p:cNvSpPr txBox="1"/>
          <p:nvPr/>
        </p:nvSpPr>
        <p:spPr>
          <a:xfrm>
            <a:off x="6395368" y="4896612"/>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7</a:t>
            </a:r>
            <a:endParaRPr lang="en-US" sz="1450" dirty="0"/>
          </a:p>
        </p:txBody>
      </p:sp>
      <p:sp>
        <p:nvSpPr>
          <p:cNvPr id="57" name="Text 53"/>
          <p:cNvSpPr txBox="1"/>
          <p:nvPr/>
        </p:nvSpPr>
        <p:spPr>
          <a:xfrm>
            <a:off x="6779416" y="4878324"/>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독후 퀴즈</a:t>
            </a:r>
            <a:endParaRPr lang="en-US" sz="1500" dirty="0"/>
          </a:p>
        </p:txBody>
      </p:sp>
      <p:sp>
        <p:nvSpPr>
          <p:cNvPr id="58" name="Text 54"/>
          <p:cNvSpPr txBox="1"/>
          <p:nvPr/>
        </p:nvSpPr>
        <p:spPr>
          <a:xfrm>
            <a:off x="6431944" y="5262372"/>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책마다 내용을 확인하는</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짧은 퀴즈</a:t>
            </a:r>
            <a:endParaRPr lang="en-US" sz="950" dirty="0"/>
          </a:p>
        </p:txBody>
      </p:sp>
      <p:sp>
        <p:nvSpPr>
          <p:cNvPr id="59" name="Shape 55"/>
          <p:cNvSpPr/>
          <p:nvPr/>
        </p:nvSpPr>
        <p:spPr>
          <a:xfrm>
            <a:off x="9049844" y="4786884"/>
            <a:ext cx="2636188" cy="827532"/>
          </a:xfrm>
          <a:prstGeom prst="roundRect">
            <a:avLst>
              <a:gd name="adj" fmla="val 11050"/>
            </a:avLst>
          </a:prstGeom>
          <a:solidFill>
            <a:srgbClr val="FBF5E6"/>
          </a:solidFill>
          <a:ln w="9525">
            <a:solidFill>
              <a:srgbClr val="E2DCCB"/>
            </a:solidFill>
            <a:prstDash val="solid"/>
          </a:ln>
        </p:spPr>
      </p:sp>
      <p:sp>
        <p:nvSpPr>
          <p:cNvPr id="60" name="Shape 56"/>
          <p:cNvSpPr/>
          <p:nvPr/>
        </p:nvSpPr>
        <p:spPr>
          <a:xfrm>
            <a:off x="9159572" y="4896612"/>
            <a:ext cx="310896" cy="310896"/>
          </a:xfrm>
          <a:prstGeom prst="ellipse">
            <a:avLst/>
          </a:prstGeom>
          <a:solidFill>
            <a:srgbClr val="2F7D4F"/>
          </a:solidFill>
          <a:ln/>
        </p:spPr>
      </p:sp>
      <p:sp>
        <p:nvSpPr>
          <p:cNvPr id="61" name="Text 57"/>
          <p:cNvSpPr txBox="1"/>
          <p:nvPr/>
        </p:nvSpPr>
        <p:spPr>
          <a:xfrm>
            <a:off x="9159572" y="4896612"/>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8</a:t>
            </a:r>
            <a:endParaRPr lang="en-US" sz="1450" dirty="0"/>
          </a:p>
        </p:txBody>
      </p:sp>
      <p:sp>
        <p:nvSpPr>
          <p:cNvPr id="62" name="Text 58"/>
          <p:cNvSpPr txBox="1"/>
          <p:nvPr/>
        </p:nvSpPr>
        <p:spPr>
          <a:xfrm>
            <a:off x="9543620" y="4878324"/>
            <a:ext cx="2087548" cy="347472"/>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차시 수업자료</a:t>
            </a:r>
            <a:endParaRPr lang="en-US" sz="1500" dirty="0"/>
          </a:p>
        </p:txBody>
      </p:sp>
      <p:sp>
        <p:nvSpPr>
          <p:cNvPr id="63" name="Text 59"/>
          <p:cNvSpPr txBox="1"/>
          <p:nvPr/>
        </p:nvSpPr>
        <p:spPr>
          <a:xfrm>
            <a:off x="9196148" y="5262372"/>
            <a:ext cx="2398444" cy="297180"/>
          </a:xfrm>
          <a:prstGeom prst="rect">
            <a:avLst/>
          </a:prstGeom>
          <a:noFill/>
          <a:ln/>
        </p:spPr>
        <p:txBody>
          <a:bodyPr wrap="square" lIns="0" tIns="0" rIns="0" bIns="0" rtlCol="0" anchor="ctr">
            <a:noAutofit/>
          </a:bodyPr>
          <a:lstStyle/>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온책읽기, 국어, 아침활동 구성과</a:t>
            </a:r>
            <a:endParaRPr lang="en-US" sz="950" dirty="0"/>
          </a:p>
          <a:p>
            <a:pPr indent="0" marL="0">
              <a:lnSpc>
                <a:spcPct val="115000"/>
              </a:lnSpc>
              <a:buNone/>
            </a:pPr>
            <a:r>
              <a:rPr lang="en-US" sz="950" dirty="0">
                <a:solidFill>
                  <a:srgbClr val="2E3A30"/>
                </a:solidFill>
                <a:latin typeface="Freesentation 4 Regular" pitchFamily="34" charset="0"/>
                <a:ea typeface="Freesentation 4 Regular" pitchFamily="34" charset="-122"/>
                <a:cs typeface="Freesentation 4 Regular" pitchFamily="34" charset="-120"/>
              </a:rPr>
              <a:t>차시 PPT, 활동지, 지도안</a:t>
            </a:r>
            <a:endParaRPr lang="en-US" sz="950" dirty="0"/>
          </a:p>
        </p:txBody>
      </p:sp>
      <p:sp>
        <p:nvSpPr>
          <p:cNvPr id="64" name="Shape 60"/>
          <p:cNvSpPr/>
          <p:nvPr/>
        </p:nvSpPr>
        <p:spPr>
          <a:xfrm>
            <a:off x="502920" y="5742432"/>
            <a:ext cx="11183112" cy="530352"/>
          </a:xfrm>
          <a:prstGeom prst="roundRect">
            <a:avLst>
              <a:gd name="adj" fmla="val 13793"/>
            </a:avLst>
          </a:prstGeom>
          <a:solidFill>
            <a:srgbClr val="20342A"/>
          </a:solidFill>
          <a:ln/>
        </p:spPr>
      </p:sp>
      <p:pic>
        <p:nvPicPr>
          <p:cNvPr id="65" name="Image 2" descr="book-2">    </p:cNvPr>
          <p:cNvPicPr>
            <a:picLocks noChangeAspect="1"/>
          </p:cNvPicPr>
          <p:nvPr/>
        </p:nvPicPr>
        <p:blipFill>
          <a:blip r:embed="rId3"/>
          <a:stretch>
            <a:fillRect/>
          </a:stretch>
        </p:blipFill>
        <p:spPr>
          <a:xfrm>
            <a:off x="685800" y="5861304"/>
            <a:ext cx="292608" cy="292608"/>
          </a:xfrm>
          <a:prstGeom prst="rect">
            <a:avLst/>
          </a:prstGeom>
        </p:spPr>
      </p:pic>
      <p:sp>
        <p:nvSpPr>
          <p:cNvPr id="66" name="Text 61"/>
          <p:cNvSpPr txBox="1"/>
          <p:nvPr/>
        </p:nvSpPr>
        <p:spPr>
          <a:xfrm>
            <a:off x="1106424" y="5742432"/>
            <a:ext cx="10396728" cy="530352"/>
          </a:xfrm>
          <a:prstGeom prst="rect">
            <a:avLst/>
          </a:prstGeom>
          <a:noFill/>
          <a:ln/>
        </p:spPr>
        <p:txBody>
          <a:bodyPr wrap="square" lIns="0" tIns="0" rIns="0" bIns="0" rtlCol="0" anchor="ctr">
            <a:noAutofit/>
          </a:bodyP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종이책이나 전자책을 나눠 주는 것과 달리,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읽기 도움과 질문, 활동, 수업자료</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가 책 안에 들어 있어 한 권으로 수업이 됩니다</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300권을 함께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144540" y="1920240"/>
            <a:ext cx="4166006"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1학년 그림책 「토끼와 거북이」 새 읽기 화면">    </p:cNvPr>
          <p:cNvPicPr>
            <a:picLocks noChangeAspect="1"/>
          </p:cNvPicPr>
          <p:nvPr/>
        </p:nvPicPr>
        <p:blipFill>
          <a:blip r:embed="rId2"/>
          <a:stretch>
            <a:fillRect/>
          </a:stretch>
        </p:blipFill>
        <p:spPr>
          <a:xfrm>
            <a:off x="7208548" y="1984248"/>
            <a:ext cx="4037990" cy="2523744"/>
          </a:xfrm>
          <a:prstGeom prst="rect">
            <a:avLst/>
          </a:prstGeom>
        </p:spPr>
      </p:pic>
      <p:sp>
        <p:nvSpPr>
          <p:cNvPr id="28" name="Shape 23"/>
          <p:cNvSpPr/>
          <p:nvPr/>
        </p:nvSpPr>
        <p:spPr>
          <a:xfrm>
            <a:off x="7254268" y="4187952"/>
            <a:ext cx="2880106" cy="274320"/>
          </a:xfrm>
          <a:prstGeom prst="roundRect">
            <a:avLst>
              <a:gd name="adj" fmla="val 50000"/>
            </a:avLst>
          </a:prstGeom>
          <a:solidFill>
            <a:srgbClr val="20342A">
              <a:alpha val="92000"/>
            </a:srgbClr>
          </a:solidFill>
          <a:ln/>
        </p:spPr>
      </p:sp>
      <p:sp>
        <p:nvSpPr>
          <p:cNvPr id="29" name="Text 24"/>
          <p:cNvSpPr txBox="1"/>
          <p:nvPr/>
        </p:nvSpPr>
        <p:spPr>
          <a:xfrm>
            <a:off x="7254268" y="4187952"/>
            <a:ext cx="2880106"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1학년 그림책 「토끼와 거북이」 새 읽기 화면</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noAutofit/>
          </a:bodyPr>
          <a:lstStyle/>
          <a:p>
            <a:pPr indent="0" marL="0">
              <a:lnSpc>
                <a:spcPct val="112000"/>
              </a:lnSpc>
              <a:buNone/>
            </a:pPr>
            <a:r>
              <a:rPr lang="en-US" sz="1455" dirty="0">
                <a:solidFill>
                  <a:srgbClr val="4A564B"/>
                </a:solidFill>
                <a:latin typeface="Freesentation 4 Regular" pitchFamily="34" charset="0"/>
                <a:ea typeface="Freesentation 4 Regular" pitchFamily="34" charset="-122"/>
                <a:cs typeface="Freesentation 4 Regular" pitchFamily="34" charset="-120"/>
              </a:rPr>
              <a:t>누르면 오른쪽 카드에, 아래 「이 쪽 낱말」에 모임</a:t>
            </a:r>
            <a:endParaRPr lang="en-US" sz="1455"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책이 먼저</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도구는 양옆으로, 3초 뒤 책만 남음</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 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소리 내어 읽기, 「가−」 「기본」 「가+」</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300권을 함께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noAutofit/>
          </a:bodyPr>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300권을 함께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지원 언어와 한국어를 나란히 보며 한국어가 서툰 학생도 같은 책으로</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수업에 참여합니다.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noAutofit/>
          </a:bodyP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noAutofit/>
          </a:bodyPr>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noAutofit/>
          </a:bodyPr>
          <a:lstStyle/>
          <a:p>
            <a:pPr algn="ctr" indent="0" marL="0">
              <a:lnSpc>
                <a:spcPct val="112000"/>
              </a:lnSpc>
              <a:buNone/>
            </a:pPr>
            <a:r>
              <a:rPr lang="en-US" sz="1032"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032"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noAutofit/>
          </a:bodyP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noAutofit/>
          </a:bodyP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noAutofit/>
          </a:bodyP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 전, 중, 후의 능동적 읽기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이야기를 짐작하고, 궁금한 점을 묻고, 자기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생각을 말하며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noAutofit/>
          </a:bodyPr>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noAutofit/>
          </a:bodyPr>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noAutofit/>
          </a:bodyPr>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noAutofit/>
          </a:bodyPr>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noAutofit/>
          </a:bodyPr>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카드로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뜻을 이해하지 못한 채 읽을 때</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noAutofit/>
          </a:bodyPr>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noAutofit/>
          </a:bodyPr>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noAutofit/>
          </a:bodyP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그 처지와 선택을 두고 대화했</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noAutofit/>
          </a:bodyPr>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noAutofit/>
          </a:bodyP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인물의 선택에 동의하는지 까닭을 말합</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니다. 친구의 생각을 듣고 자신의 생각을 다시 살펴봅니다.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연습하는 것</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읽고 표현하는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구성과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활동 카드 9가지, 수업 활동 20가지, 실물 자료로 선도교사단이 한 달 동안 </a:t>
            </a:r>
            <a:pPr algn="ctr" indent="0" marL="0">
              <a:lnSpc>
                <a:spcPct val="112000"/>
              </a:lnSpc>
              <a:buNone/>
            </a:pPr>
            <a:r>
              <a:rPr lang="en-US" sz="1900" dirty="0">
                <a:solidFill>
                  <a:srgbClr val="20342A"/>
                </a:solidFill>
                <a:highlight>
                  <a:srgbClr val="F3DD9B"/>
                </a:highlight>
                <a:latin typeface="Freesentation 7 Bold" pitchFamily="34" charset="0"/>
                <a:ea typeface="Freesentation 7 Bold" pitchFamily="34" charset="-122"/>
                <a:cs typeface="Freesentation 7 Bold" pitchFamily="34" charset="-120"/>
              </a:rPr>
              <a:t>독후활동 1,816건</a:t>
            </a:r>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을 남겼습니다</a:t>
            </a:r>
            <a:endParaRPr lang="en-US" sz="1400" dirty="0"/>
          </a:p>
        </p:txBody>
      </p:sp>
      <p:sp>
        <p:nvSpPr>
          <p:cNvPr id="10" name="Text 7"/>
          <p:cNvSpPr txBox="1"/>
          <p:nvPr/>
        </p:nvSpPr>
        <p:spPr>
          <a:xfrm>
            <a:off x="95594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3923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1,816건은 선도교사단 72학급 온오프라인 운영 결과 종합(2026. 9. 20.~10. 21.). 수업 활동 20가지는 고민 책방 수업 설계안에서 고르는 활동.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456224"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화면 독후활동 카드 9가지</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골라 학생 화면에 내주기</a:t>
            </a:r>
            <a:endParaRPr lang="en-US" sz="1650" dirty="0"/>
          </a:p>
        </p:txBody>
      </p:sp>
      <p:sp>
        <p:nvSpPr>
          <p:cNvPr id="16" name="Shape 13"/>
          <p:cNvSpPr/>
          <p:nvPr/>
        </p:nvSpPr>
        <p:spPr>
          <a:xfrm>
            <a:off x="502920" y="2340864"/>
            <a:ext cx="2066731" cy="1005840"/>
          </a:xfrm>
          <a:prstGeom prst="roundRect">
            <a:avLst>
              <a:gd name="adj" fmla="val 9091"/>
            </a:avLst>
          </a:prstGeom>
          <a:solidFill>
            <a:srgbClr val="FBF5E6"/>
          </a:solidFill>
          <a:ln w="9525">
            <a:solidFill>
              <a:srgbClr val="E2DCCB"/>
            </a:solidFill>
            <a:prstDash val="solid"/>
          </a:ln>
        </p:spPr>
      </p:sp>
      <p:pic>
        <p:nvPicPr>
          <p:cNvPr id="17" name="Image 1" descr="인물과 대화">    </p:cNvPr>
          <p:cNvPicPr>
            <a:picLocks noChangeAspect="1"/>
          </p:cNvPicPr>
          <p:nvPr/>
        </p:nvPicPr>
        <p:blipFill>
          <a:blip r:embed="rId2"/>
          <a:stretch>
            <a:fillRect/>
          </a:stretch>
        </p:blipFill>
        <p:spPr>
          <a:xfrm>
            <a:off x="612648" y="2432304"/>
            <a:ext cx="475488" cy="475488"/>
          </a:xfrm>
          <a:prstGeom prst="rect">
            <a:avLst/>
          </a:prstGeom>
        </p:spPr>
      </p:pic>
      <p:sp>
        <p:nvSpPr>
          <p:cNvPr id="18" name="Text 14"/>
          <p:cNvSpPr txBox="1"/>
          <p:nvPr/>
        </p:nvSpPr>
        <p:spPr>
          <a:xfrm>
            <a:off x="1161288" y="2395728"/>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p>
        </p:txBody>
      </p:sp>
      <p:sp>
        <p:nvSpPr>
          <p:cNvPr id="19" name="Text 15"/>
          <p:cNvSpPr txBox="1"/>
          <p:nvPr/>
        </p:nvSpPr>
        <p:spPr>
          <a:xfrm>
            <a:off x="630936" y="2944368"/>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인물이 된 부기의 질문에</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까닭을 들어 답함</a:t>
            </a:r>
            <a:endParaRPr lang="en-US" sz="1200" dirty="0"/>
          </a:p>
        </p:txBody>
      </p:sp>
      <p:sp>
        <p:nvSpPr>
          <p:cNvPr id="20" name="Shape 16"/>
          <p:cNvSpPr/>
          <p:nvPr/>
        </p:nvSpPr>
        <p:spPr>
          <a:xfrm>
            <a:off x="2697667" y="2340864"/>
            <a:ext cx="2066731" cy="1005840"/>
          </a:xfrm>
          <a:prstGeom prst="roundRect">
            <a:avLst>
              <a:gd name="adj" fmla="val 9091"/>
            </a:avLst>
          </a:prstGeom>
          <a:solidFill>
            <a:srgbClr val="FFFFFF"/>
          </a:solidFill>
          <a:ln w="9525">
            <a:solidFill>
              <a:srgbClr val="E2DCCB"/>
            </a:solidFill>
            <a:prstDash val="solid"/>
          </a:ln>
        </p:spPr>
      </p:sp>
      <p:pic>
        <p:nvPicPr>
          <p:cNvPr id="21" name="Image 2" descr="함께 쓰는 교실">    </p:cNvPr>
          <p:cNvPicPr>
            <a:picLocks noChangeAspect="1"/>
          </p:cNvPicPr>
          <p:nvPr/>
        </p:nvPicPr>
        <p:blipFill>
          <a:blip r:embed="rId3"/>
          <a:stretch>
            <a:fillRect/>
          </a:stretch>
        </p:blipFill>
        <p:spPr>
          <a:xfrm>
            <a:off x="2807395" y="2432304"/>
            <a:ext cx="475488" cy="475488"/>
          </a:xfrm>
          <a:prstGeom prst="rect">
            <a:avLst/>
          </a:prstGeom>
        </p:spPr>
      </p:pic>
      <p:sp>
        <p:nvSpPr>
          <p:cNvPr id="22" name="Text 17"/>
          <p:cNvSpPr txBox="1"/>
          <p:nvPr/>
        </p:nvSpPr>
        <p:spPr>
          <a:xfrm>
            <a:off x="3356035" y="2395728"/>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교실</a:t>
            </a:r>
            <a:endParaRPr lang="en-US" sz="1450" dirty="0"/>
          </a:p>
        </p:txBody>
      </p:sp>
      <p:sp>
        <p:nvSpPr>
          <p:cNvPr id="23" name="Text 18"/>
          <p:cNvSpPr txBox="1"/>
          <p:nvPr/>
        </p:nvSpPr>
        <p:spPr>
          <a:xfrm>
            <a:off x="2825683" y="2944368"/>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쓰는 동안 교사가 쪽지로</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도움, 3학년부터</a:t>
            </a:r>
            <a:endParaRPr lang="en-US" sz="1200" dirty="0"/>
          </a:p>
        </p:txBody>
      </p:sp>
      <p:sp>
        <p:nvSpPr>
          <p:cNvPr id="24" name="Shape 19"/>
          <p:cNvSpPr/>
          <p:nvPr/>
        </p:nvSpPr>
        <p:spPr>
          <a:xfrm>
            <a:off x="4892413" y="2340864"/>
            <a:ext cx="2066731" cy="1005840"/>
          </a:xfrm>
          <a:prstGeom prst="roundRect">
            <a:avLst>
              <a:gd name="adj" fmla="val 9091"/>
            </a:avLst>
          </a:prstGeom>
          <a:solidFill>
            <a:srgbClr val="FBF5E6"/>
          </a:solidFill>
          <a:ln w="9525">
            <a:solidFill>
              <a:srgbClr val="E2DCCB"/>
            </a:solidFill>
            <a:prstDash val="solid"/>
          </a:ln>
        </p:spPr>
      </p:sp>
      <p:pic>
        <p:nvPicPr>
          <p:cNvPr id="25" name="Image 3" descr="마음에 남은 장면">    </p:cNvPr>
          <p:cNvPicPr>
            <a:picLocks noChangeAspect="1"/>
          </p:cNvPicPr>
          <p:nvPr/>
        </p:nvPicPr>
        <p:blipFill>
          <a:blip r:embed="rId4"/>
          <a:stretch>
            <a:fillRect/>
          </a:stretch>
        </p:blipFill>
        <p:spPr>
          <a:xfrm>
            <a:off x="5002141" y="2432304"/>
            <a:ext cx="475488" cy="475488"/>
          </a:xfrm>
          <a:prstGeom prst="rect">
            <a:avLst/>
          </a:prstGeom>
        </p:spPr>
      </p:pic>
      <p:sp>
        <p:nvSpPr>
          <p:cNvPr id="26" name="Text 20"/>
          <p:cNvSpPr txBox="1"/>
          <p:nvPr/>
        </p:nvSpPr>
        <p:spPr>
          <a:xfrm>
            <a:off x="5550781" y="2395728"/>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장면</a:t>
            </a:r>
            <a:endParaRPr lang="en-US" sz="1450" dirty="0"/>
          </a:p>
        </p:txBody>
      </p:sp>
      <p:sp>
        <p:nvSpPr>
          <p:cNvPr id="27" name="Text 21"/>
          <p:cNvSpPr txBox="1"/>
          <p:nvPr/>
        </p:nvSpPr>
        <p:spPr>
          <a:xfrm>
            <a:off x="5020429" y="2944368"/>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고르고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마음에 남은 까닭 쓰기</a:t>
            </a:r>
            <a:endParaRPr lang="en-US" sz="1200" dirty="0"/>
          </a:p>
        </p:txBody>
      </p:sp>
      <p:sp>
        <p:nvSpPr>
          <p:cNvPr id="28" name="Shape 22"/>
          <p:cNvSpPr/>
          <p:nvPr/>
        </p:nvSpPr>
        <p:spPr>
          <a:xfrm>
            <a:off x="502920" y="3474720"/>
            <a:ext cx="2066731" cy="1005840"/>
          </a:xfrm>
          <a:prstGeom prst="roundRect">
            <a:avLst>
              <a:gd name="adj" fmla="val 9091"/>
            </a:avLst>
          </a:prstGeom>
          <a:solidFill>
            <a:srgbClr val="FFFFFF"/>
          </a:solidFill>
          <a:ln w="9525">
            <a:solidFill>
              <a:srgbClr val="E2DCCB"/>
            </a:solidFill>
            <a:prstDash val="solid"/>
          </a:ln>
        </p:spPr>
      </p:sp>
      <p:pic>
        <p:nvPicPr>
          <p:cNvPr id="29" name="Image 4" descr="별점과 까닭">    </p:cNvPr>
          <p:cNvPicPr>
            <a:picLocks noChangeAspect="1"/>
          </p:cNvPicPr>
          <p:nvPr/>
        </p:nvPicPr>
        <p:blipFill>
          <a:blip r:embed="rId5"/>
          <a:stretch>
            <a:fillRect/>
          </a:stretch>
        </p:blipFill>
        <p:spPr>
          <a:xfrm>
            <a:off x="612648" y="3566160"/>
            <a:ext cx="475488" cy="475488"/>
          </a:xfrm>
          <a:prstGeom prst="rect">
            <a:avLst/>
          </a:prstGeom>
        </p:spPr>
      </p:pic>
      <p:sp>
        <p:nvSpPr>
          <p:cNvPr id="30" name="Text 23"/>
          <p:cNvSpPr txBox="1"/>
          <p:nvPr/>
        </p:nvSpPr>
        <p:spPr>
          <a:xfrm>
            <a:off x="1161288" y="3529584"/>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p>
        </p:txBody>
      </p:sp>
      <p:sp>
        <p:nvSpPr>
          <p:cNvPr id="31" name="Text 24"/>
          <p:cNvSpPr txBox="1"/>
          <p:nvPr/>
        </p:nvSpPr>
        <p:spPr>
          <a:xfrm>
            <a:off x="630936" y="4078224"/>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별 1~5개와 그만큼 준 까닭 쓰기</a:t>
            </a:r>
            <a:endParaRPr lang="en-US" sz="1200" dirty="0"/>
          </a:p>
        </p:txBody>
      </p:sp>
      <p:sp>
        <p:nvSpPr>
          <p:cNvPr id="32" name="Shape 25"/>
          <p:cNvSpPr/>
          <p:nvPr/>
        </p:nvSpPr>
        <p:spPr>
          <a:xfrm>
            <a:off x="2697667" y="3474720"/>
            <a:ext cx="2066731" cy="1005840"/>
          </a:xfrm>
          <a:prstGeom prst="roundRect">
            <a:avLst>
              <a:gd name="adj" fmla="val 9091"/>
            </a:avLst>
          </a:prstGeom>
          <a:solidFill>
            <a:srgbClr val="FBF5E6"/>
          </a:solidFill>
          <a:ln w="9525">
            <a:solidFill>
              <a:srgbClr val="E2DCCB"/>
            </a:solidFill>
            <a:prstDash val="solid"/>
          </a:ln>
        </p:spPr>
      </p:sp>
      <p:pic>
        <p:nvPicPr>
          <p:cNvPr id="33" name="Image 5" descr="기억에 남는 낱말 셋">    </p:cNvPr>
          <p:cNvPicPr>
            <a:picLocks noChangeAspect="1"/>
          </p:cNvPicPr>
          <p:nvPr/>
        </p:nvPicPr>
        <p:blipFill>
          <a:blip r:embed="rId6"/>
          <a:stretch>
            <a:fillRect/>
          </a:stretch>
        </p:blipFill>
        <p:spPr>
          <a:xfrm>
            <a:off x="2807395" y="3566160"/>
            <a:ext cx="475488" cy="475488"/>
          </a:xfrm>
          <a:prstGeom prst="rect">
            <a:avLst/>
          </a:prstGeom>
        </p:spPr>
      </p:pic>
      <p:sp>
        <p:nvSpPr>
          <p:cNvPr id="34" name="Text 26"/>
          <p:cNvSpPr txBox="1"/>
          <p:nvPr/>
        </p:nvSpPr>
        <p:spPr>
          <a:xfrm>
            <a:off x="3356035" y="3529584"/>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낱말 셋</a:t>
            </a:r>
            <a:endParaRPr lang="en-US" sz="1450" dirty="0"/>
          </a:p>
        </p:txBody>
      </p:sp>
      <p:sp>
        <p:nvSpPr>
          <p:cNvPr id="35" name="Text 27"/>
          <p:cNvSpPr txBox="1"/>
          <p:nvPr/>
        </p:nvSpPr>
        <p:spPr>
          <a:xfrm>
            <a:off x="2825683" y="4078224"/>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책 속 낱말 세 개를 골라 적기</a:t>
            </a:r>
            <a:endParaRPr lang="en-US" sz="1200" dirty="0"/>
          </a:p>
        </p:txBody>
      </p:sp>
      <p:sp>
        <p:nvSpPr>
          <p:cNvPr id="36" name="Shape 28"/>
          <p:cNvSpPr/>
          <p:nvPr/>
        </p:nvSpPr>
        <p:spPr>
          <a:xfrm>
            <a:off x="4892413" y="3474720"/>
            <a:ext cx="2066731" cy="1005840"/>
          </a:xfrm>
          <a:prstGeom prst="roundRect">
            <a:avLst>
              <a:gd name="adj" fmla="val 9091"/>
            </a:avLst>
          </a:prstGeom>
          <a:solidFill>
            <a:srgbClr val="FFFFFF"/>
          </a:solidFill>
          <a:ln w="9525">
            <a:solidFill>
              <a:srgbClr val="E2DCCB"/>
            </a:solidFill>
            <a:prstDash val="solid"/>
          </a:ln>
        </p:spPr>
      </p:sp>
      <p:pic>
        <p:nvPicPr>
          <p:cNvPr id="37" name="Image 6" descr="인물에게 편지">    </p:cNvPr>
          <p:cNvPicPr>
            <a:picLocks noChangeAspect="1"/>
          </p:cNvPicPr>
          <p:nvPr/>
        </p:nvPicPr>
        <p:blipFill>
          <a:blip r:embed="rId7"/>
          <a:stretch>
            <a:fillRect/>
          </a:stretch>
        </p:blipFill>
        <p:spPr>
          <a:xfrm>
            <a:off x="5002141" y="3566160"/>
            <a:ext cx="475488" cy="475488"/>
          </a:xfrm>
          <a:prstGeom prst="rect">
            <a:avLst/>
          </a:prstGeom>
        </p:spPr>
      </p:pic>
      <p:sp>
        <p:nvSpPr>
          <p:cNvPr id="38" name="Text 29"/>
          <p:cNvSpPr txBox="1"/>
          <p:nvPr/>
        </p:nvSpPr>
        <p:spPr>
          <a:xfrm>
            <a:off x="5550781" y="3529584"/>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p>
        </p:txBody>
      </p:sp>
      <p:sp>
        <p:nvSpPr>
          <p:cNvPr id="39" name="Text 30"/>
          <p:cNvSpPr txBox="1"/>
          <p:nvPr/>
        </p:nvSpPr>
        <p:spPr>
          <a:xfrm>
            <a:off x="5020429" y="4078224"/>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 한 명을 골라 편지 쓰기</a:t>
            </a:r>
            <a:endParaRPr lang="en-US" sz="1200" dirty="0"/>
          </a:p>
        </p:txBody>
      </p:sp>
      <p:sp>
        <p:nvSpPr>
          <p:cNvPr id="40" name="Shape 31"/>
          <p:cNvSpPr/>
          <p:nvPr/>
        </p:nvSpPr>
        <p:spPr>
          <a:xfrm>
            <a:off x="502920" y="4608576"/>
            <a:ext cx="2066731" cy="1005840"/>
          </a:xfrm>
          <a:prstGeom prst="roundRect">
            <a:avLst>
              <a:gd name="adj" fmla="val 9091"/>
            </a:avLst>
          </a:prstGeom>
          <a:solidFill>
            <a:srgbClr val="FBF5E6"/>
          </a:solidFill>
          <a:ln w="9525">
            <a:solidFill>
              <a:srgbClr val="E2DCCB"/>
            </a:solidFill>
            <a:prstDash val="solid"/>
          </a:ln>
        </p:spPr>
      </p:sp>
      <p:pic>
        <p:nvPicPr>
          <p:cNvPr id="41" name="Image 7" descr="속마음 말풍선">    </p:cNvPr>
          <p:cNvPicPr>
            <a:picLocks noChangeAspect="1"/>
          </p:cNvPicPr>
          <p:nvPr/>
        </p:nvPicPr>
        <p:blipFill>
          <a:blip r:embed="rId8"/>
          <a:stretch>
            <a:fillRect/>
          </a:stretch>
        </p:blipFill>
        <p:spPr>
          <a:xfrm>
            <a:off x="612648" y="4700016"/>
            <a:ext cx="475488" cy="475488"/>
          </a:xfrm>
          <a:prstGeom prst="rect">
            <a:avLst/>
          </a:prstGeom>
        </p:spPr>
      </p:pic>
      <p:sp>
        <p:nvSpPr>
          <p:cNvPr id="42" name="Text 32"/>
          <p:cNvSpPr txBox="1"/>
          <p:nvPr/>
        </p:nvSpPr>
        <p:spPr>
          <a:xfrm>
            <a:off x="1161288" y="4663440"/>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속마음</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말풍선</a:t>
            </a:r>
            <a:endParaRPr lang="en-US" sz="1450" dirty="0"/>
          </a:p>
        </p:txBody>
      </p:sp>
      <p:sp>
        <p:nvSpPr>
          <p:cNvPr id="43" name="Text 33"/>
          <p:cNvSpPr txBox="1"/>
          <p:nvPr/>
        </p:nvSpPr>
        <p:spPr>
          <a:xfrm>
            <a:off x="630936" y="5212080"/>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장면과 인물을 골라</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속마음 대신 쓰기</a:t>
            </a:r>
            <a:endParaRPr lang="en-US" sz="1200" dirty="0"/>
          </a:p>
        </p:txBody>
      </p:sp>
      <p:sp>
        <p:nvSpPr>
          <p:cNvPr id="44" name="Shape 34"/>
          <p:cNvSpPr/>
          <p:nvPr/>
        </p:nvSpPr>
        <p:spPr>
          <a:xfrm>
            <a:off x="2697667" y="4608576"/>
            <a:ext cx="2066731" cy="1005840"/>
          </a:xfrm>
          <a:prstGeom prst="roundRect">
            <a:avLst>
              <a:gd name="adj" fmla="val 9091"/>
            </a:avLst>
          </a:prstGeom>
          <a:solidFill>
            <a:srgbClr val="FFFFFF"/>
          </a:solidFill>
          <a:ln w="9525">
            <a:solidFill>
              <a:srgbClr val="E2DCCB"/>
            </a:solidFill>
            <a:prstDash val="solid"/>
          </a:ln>
        </p:spPr>
      </p:sp>
      <p:pic>
        <p:nvPicPr>
          <p:cNvPr id="45" name="Image 8" descr="그림으로 표현하기">    </p:cNvPr>
          <p:cNvPicPr>
            <a:picLocks noChangeAspect="1"/>
          </p:cNvPicPr>
          <p:nvPr/>
        </p:nvPicPr>
        <p:blipFill>
          <a:blip r:embed="rId9"/>
          <a:stretch>
            <a:fillRect/>
          </a:stretch>
        </p:blipFill>
        <p:spPr>
          <a:xfrm>
            <a:off x="2807395" y="4700016"/>
            <a:ext cx="475488" cy="475488"/>
          </a:xfrm>
          <a:prstGeom prst="rect">
            <a:avLst/>
          </a:prstGeom>
        </p:spPr>
      </p:pic>
      <p:sp>
        <p:nvSpPr>
          <p:cNvPr id="46" name="Text 35"/>
          <p:cNvSpPr txBox="1"/>
          <p:nvPr/>
        </p:nvSpPr>
        <p:spPr>
          <a:xfrm>
            <a:off x="3356035" y="4663440"/>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표현하기</a:t>
            </a:r>
            <a:endParaRPr lang="en-US" sz="1450" dirty="0"/>
          </a:p>
        </p:txBody>
      </p:sp>
      <p:sp>
        <p:nvSpPr>
          <p:cNvPr id="47" name="Text 36"/>
          <p:cNvSpPr txBox="1"/>
          <p:nvPr/>
        </p:nvSpPr>
        <p:spPr>
          <a:xfrm>
            <a:off x="2825683" y="5212080"/>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그리고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무엇을 그렸는지 한 줄</a:t>
            </a:r>
            <a:endParaRPr lang="en-US" sz="1200" dirty="0"/>
          </a:p>
        </p:txBody>
      </p:sp>
      <p:sp>
        <p:nvSpPr>
          <p:cNvPr id="48" name="Shape 37"/>
          <p:cNvSpPr/>
          <p:nvPr/>
        </p:nvSpPr>
        <p:spPr>
          <a:xfrm>
            <a:off x="4892413" y="4608576"/>
            <a:ext cx="2066731" cy="1005840"/>
          </a:xfrm>
          <a:prstGeom prst="roundRect">
            <a:avLst>
              <a:gd name="adj" fmla="val 9091"/>
            </a:avLst>
          </a:prstGeom>
          <a:solidFill>
            <a:srgbClr val="FBF5E6"/>
          </a:solidFill>
          <a:ln w="9525">
            <a:solidFill>
              <a:srgbClr val="E2DCCB"/>
            </a:solidFill>
            <a:prstDash val="solid"/>
          </a:ln>
        </p:spPr>
      </p:sp>
      <p:pic>
        <p:nvPicPr>
          <p:cNvPr id="49" name="Image 9" descr="읽기 전 짐작, 읽은 후 확인">    </p:cNvPr>
          <p:cNvPicPr>
            <a:picLocks noChangeAspect="1"/>
          </p:cNvPicPr>
          <p:nvPr/>
        </p:nvPicPr>
        <p:blipFill>
          <a:blip r:embed="rId10"/>
          <a:stretch>
            <a:fillRect/>
          </a:stretch>
        </p:blipFill>
        <p:spPr>
          <a:xfrm>
            <a:off x="5002141" y="4700016"/>
            <a:ext cx="475488" cy="475488"/>
          </a:xfrm>
          <a:prstGeom prst="rect">
            <a:avLst/>
          </a:prstGeom>
        </p:spPr>
      </p:pic>
      <p:sp>
        <p:nvSpPr>
          <p:cNvPr id="50" name="Text 38"/>
          <p:cNvSpPr txBox="1"/>
          <p:nvPr/>
        </p:nvSpPr>
        <p:spPr>
          <a:xfrm>
            <a:off x="5550781" y="4663440"/>
            <a:ext cx="1335211" cy="548640"/>
          </a:xfrm>
          <a:prstGeom prst="rect">
            <a:avLst/>
          </a:prstGeom>
          <a:noFill/>
          <a:ln/>
        </p:spPr>
        <p:txBody>
          <a:bodyPr wrap="square" lIns="0" tIns="0" rIns="0" bIns="0" rtlCol="0" anchor="ctr">
            <a:noAutofit/>
          </a:bodyP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p>
        </p:txBody>
      </p:sp>
      <p:sp>
        <p:nvSpPr>
          <p:cNvPr id="51" name="Text 39"/>
          <p:cNvSpPr txBox="1"/>
          <p:nvPr/>
        </p:nvSpPr>
        <p:spPr>
          <a:xfrm>
            <a:off x="5020429" y="5212080"/>
            <a:ext cx="1847275" cy="384048"/>
          </a:xfrm>
          <a:prstGeom prst="rect">
            <a:avLst/>
          </a:prstGeom>
          <a:noFill/>
          <a:ln/>
        </p:spPr>
        <p:txBody>
          <a:bodyPr wrap="square" lIns="0" tIns="0" rIns="0" bIns="0" rtlCol="0" anchor="ctr">
            <a:noAutofit/>
          </a:bodyP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읽기 전 짐작을 읽은 뒤 실제와 비교</a:t>
            </a:r>
            <a:endParaRPr lang="en-US" sz="1200" dirty="0"/>
          </a:p>
        </p:txBody>
      </p:sp>
      <p:sp>
        <p:nvSpPr>
          <p:cNvPr id="52" name="Shape 40"/>
          <p:cNvSpPr/>
          <p:nvPr/>
        </p:nvSpPr>
        <p:spPr>
          <a:xfrm>
            <a:off x="7233464" y="1920240"/>
            <a:ext cx="4452568" cy="1225296"/>
          </a:xfrm>
          <a:prstGeom prst="roundRect">
            <a:avLst>
              <a:gd name="adj" fmla="val 7463"/>
            </a:avLst>
          </a:prstGeom>
          <a:solidFill>
            <a:srgbClr val="E6F0E7"/>
          </a:solidFill>
          <a:ln/>
        </p:spPr>
      </p:sp>
      <p:sp>
        <p:nvSpPr>
          <p:cNvPr id="53" name="Text 41"/>
          <p:cNvSpPr txBox="1"/>
          <p:nvPr/>
        </p:nvSpPr>
        <p:spPr>
          <a:xfrm>
            <a:off x="7398056" y="1993392"/>
            <a:ext cx="4178248" cy="36576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수업 활동 20가지</a:t>
            </a:r>
            <a:pPr indent="0" marL="0">
              <a:lnSpc>
                <a:spcPct val="112000"/>
              </a:lnSpc>
              <a:buNone/>
            </a:pPr>
            <a:r>
              <a:rPr lang="en-US" sz="1200" dirty="0">
                <a:solidFill>
                  <a:srgbClr val="4A564B"/>
                </a:solidFill>
                <a:latin typeface="Freesentation 5 Medium" pitchFamily="34" charset="0"/>
                <a:ea typeface="Freesentation 5 Medium" pitchFamily="34" charset="-122"/>
                <a:cs typeface="Freesentation 5 Medium" pitchFamily="34" charset="-120"/>
              </a:rPr>
              <a:t>   도입 5, 전개 11, 정리 4</a:t>
            </a:r>
            <a:endParaRPr lang="en-US" sz="1400" dirty="0"/>
          </a:p>
        </p:txBody>
      </p:sp>
      <p:sp>
        <p:nvSpPr>
          <p:cNvPr id="54" name="Shape 42"/>
          <p:cNvSpPr/>
          <p:nvPr/>
        </p:nvSpPr>
        <p:spPr>
          <a:xfrm>
            <a:off x="7398056" y="2414016"/>
            <a:ext cx="1924812" cy="292608"/>
          </a:xfrm>
          <a:prstGeom prst="roundRect">
            <a:avLst>
              <a:gd name="adj" fmla="val 50000"/>
            </a:avLst>
          </a:prstGeom>
          <a:solidFill>
            <a:srgbClr val="FFFFFF"/>
          </a:solidFill>
          <a:ln w="9525">
            <a:solidFill>
              <a:srgbClr val="D3E6D6"/>
            </a:solidFill>
            <a:prstDash val="solid"/>
          </a:ln>
        </p:spPr>
      </p:sp>
      <p:sp>
        <p:nvSpPr>
          <p:cNvPr id="55" name="Text 43"/>
          <p:cNvSpPr txBox="1"/>
          <p:nvPr/>
        </p:nvSpPr>
        <p:spPr>
          <a:xfrm>
            <a:off x="7398056" y="2414016"/>
            <a:ext cx="1924812"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표지와 제목으로 상상하기</a:t>
            </a:r>
            <a:endParaRPr lang="en-US" sz="1250" dirty="0"/>
          </a:p>
        </p:txBody>
      </p:sp>
      <p:sp>
        <p:nvSpPr>
          <p:cNvPr id="56" name="Shape 44"/>
          <p:cNvSpPr/>
          <p:nvPr/>
        </p:nvSpPr>
        <p:spPr>
          <a:xfrm>
            <a:off x="9414308" y="2414016"/>
            <a:ext cx="1687068" cy="292608"/>
          </a:xfrm>
          <a:prstGeom prst="roundRect">
            <a:avLst>
              <a:gd name="adj" fmla="val 50000"/>
            </a:avLst>
          </a:prstGeom>
          <a:solidFill>
            <a:srgbClr val="FFFFFF"/>
          </a:solidFill>
          <a:ln w="9525">
            <a:solidFill>
              <a:srgbClr val="D3E6D6"/>
            </a:solidFill>
            <a:prstDash val="solid"/>
          </a:ln>
        </p:spPr>
      </p:sp>
      <p:sp>
        <p:nvSpPr>
          <p:cNvPr id="57" name="Text 45"/>
          <p:cNvSpPr txBox="1"/>
          <p:nvPr/>
        </p:nvSpPr>
        <p:spPr>
          <a:xfrm>
            <a:off x="9414308" y="2414016"/>
            <a:ext cx="1687068"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인물 마음 지도 그리기</a:t>
            </a:r>
            <a:endParaRPr lang="en-US" sz="1250" dirty="0"/>
          </a:p>
        </p:txBody>
      </p:sp>
      <p:sp>
        <p:nvSpPr>
          <p:cNvPr id="58" name="Shape 46"/>
          <p:cNvSpPr/>
          <p:nvPr/>
        </p:nvSpPr>
        <p:spPr>
          <a:xfrm>
            <a:off x="7398056" y="2779776"/>
            <a:ext cx="1312164" cy="292608"/>
          </a:xfrm>
          <a:prstGeom prst="roundRect">
            <a:avLst>
              <a:gd name="adj" fmla="val 50000"/>
            </a:avLst>
          </a:prstGeom>
          <a:solidFill>
            <a:srgbClr val="FFFFFF"/>
          </a:solidFill>
          <a:ln w="9525">
            <a:solidFill>
              <a:srgbClr val="D3E6D6"/>
            </a:solidFill>
            <a:prstDash val="solid"/>
          </a:ln>
        </p:spPr>
      </p:sp>
      <p:sp>
        <p:nvSpPr>
          <p:cNvPr id="59" name="Text 47"/>
          <p:cNvSpPr txBox="1"/>
          <p:nvPr/>
        </p:nvSpPr>
        <p:spPr>
          <a:xfrm>
            <a:off x="7398056" y="2779776"/>
            <a:ext cx="1312164"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역할극과 낭독극</a:t>
            </a:r>
            <a:endParaRPr lang="en-US" sz="1250" dirty="0"/>
          </a:p>
        </p:txBody>
      </p:sp>
      <p:sp>
        <p:nvSpPr>
          <p:cNvPr id="60" name="Shape 48"/>
          <p:cNvSpPr/>
          <p:nvPr/>
        </p:nvSpPr>
        <p:spPr>
          <a:xfrm>
            <a:off x="8801660" y="2779776"/>
            <a:ext cx="1641348" cy="292608"/>
          </a:xfrm>
          <a:prstGeom prst="roundRect">
            <a:avLst>
              <a:gd name="adj" fmla="val 50000"/>
            </a:avLst>
          </a:prstGeom>
          <a:solidFill>
            <a:srgbClr val="FFFFFF"/>
          </a:solidFill>
          <a:ln w="9525">
            <a:solidFill>
              <a:srgbClr val="D3E6D6"/>
            </a:solidFill>
            <a:prstDash val="solid"/>
          </a:ln>
        </p:spPr>
      </p:sp>
      <p:sp>
        <p:nvSpPr>
          <p:cNvPr id="61" name="Text 49"/>
          <p:cNvSpPr txBox="1"/>
          <p:nvPr/>
        </p:nvSpPr>
        <p:spPr>
          <a:xfrm>
            <a:off x="8801660" y="2779776"/>
            <a:ext cx="1641348"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독후감이나 소감 쓰기</a:t>
            </a:r>
            <a:endParaRPr lang="en-US" sz="1250" dirty="0"/>
          </a:p>
        </p:txBody>
      </p:sp>
      <p:sp>
        <p:nvSpPr>
          <p:cNvPr id="62" name="Shape 50"/>
          <p:cNvSpPr/>
          <p:nvPr/>
        </p:nvSpPr>
        <p:spPr>
          <a:xfrm>
            <a:off x="7233464" y="3255264"/>
            <a:ext cx="4452568" cy="969264"/>
          </a:xfrm>
          <a:prstGeom prst="roundRect">
            <a:avLst>
              <a:gd name="adj" fmla="val 9434"/>
            </a:avLst>
          </a:prstGeom>
          <a:solidFill>
            <a:srgbClr val="FFFFFF"/>
          </a:solidFill>
          <a:ln w="9525">
            <a:solidFill>
              <a:srgbClr val="E2DCCB"/>
            </a:solidFill>
            <a:prstDash val="solid"/>
          </a:ln>
        </p:spPr>
      </p:sp>
      <p:sp>
        <p:nvSpPr>
          <p:cNvPr id="63" name="Text 51"/>
          <p:cNvSpPr txBox="1"/>
          <p:nvPr/>
        </p:nvSpPr>
        <p:spPr>
          <a:xfrm>
            <a:off x="7398056" y="3328416"/>
            <a:ext cx="4178248" cy="32918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확인과 피드백</a:t>
            </a:r>
            <a:endParaRPr lang="en-US" sz="1500" dirty="0"/>
          </a:p>
        </p:txBody>
      </p:sp>
      <p:sp>
        <p:nvSpPr>
          <p:cNvPr id="64" name="Shape 52"/>
          <p:cNvSpPr/>
          <p:nvPr/>
        </p:nvSpPr>
        <p:spPr>
          <a:xfrm>
            <a:off x="7856687" y="3639312"/>
            <a:ext cx="347472" cy="347472"/>
          </a:xfrm>
          <a:prstGeom prst="ellipse">
            <a:avLst/>
          </a:prstGeom>
          <a:solidFill>
            <a:srgbClr val="E6F0E7"/>
          </a:solidFill>
          <a:ln/>
        </p:spPr>
      </p:sp>
      <p:pic>
        <p:nvPicPr>
          <p:cNvPr id="65" name="Image 10" descr="list-check">    </p:cNvPr>
          <p:cNvPicPr>
            <a:picLocks noChangeAspect="1"/>
          </p:cNvPicPr>
          <p:nvPr/>
        </p:nvPicPr>
        <p:blipFill>
          <a:blip r:embed="rId11"/>
          <a:stretch>
            <a:fillRect/>
          </a:stretch>
        </p:blipFill>
        <p:spPr>
          <a:xfrm>
            <a:off x="7929656" y="3712281"/>
            <a:ext cx="201534" cy="201534"/>
          </a:xfrm>
          <a:prstGeom prst="rect">
            <a:avLst/>
          </a:prstGeom>
        </p:spPr>
      </p:pic>
      <p:sp>
        <p:nvSpPr>
          <p:cNvPr id="66" name="Text 53"/>
          <p:cNvSpPr txBox="1"/>
          <p:nvPr/>
        </p:nvSpPr>
        <p:spPr>
          <a:xfrm>
            <a:off x="7315760" y="3986784"/>
            <a:ext cx="1429325" cy="219456"/>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책마다 독후 퀴즈</a:t>
            </a:r>
            <a:endParaRPr lang="en-US" sz="1150" dirty="0"/>
          </a:p>
        </p:txBody>
      </p:sp>
      <p:sp>
        <p:nvSpPr>
          <p:cNvPr id="67" name="Shape 54"/>
          <p:cNvSpPr/>
          <p:nvPr/>
        </p:nvSpPr>
        <p:spPr>
          <a:xfrm>
            <a:off x="9286012" y="3639312"/>
            <a:ext cx="347472" cy="347472"/>
          </a:xfrm>
          <a:prstGeom prst="ellipse">
            <a:avLst/>
          </a:prstGeom>
          <a:solidFill>
            <a:srgbClr val="E6F0E7"/>
          </a:solidFill>
          <a:ln/>
        </p:spPr>
      </p:sp>
      <p:pic>
        <p:nvPicPr>
          <p:cNvPr id="68" name="Image 11" descr="stars">    </p:cNvPr>
          <p:cNvPicPr>
            <a:picLocks noChangeAspect="1"/>
          </p:cNvPicPr>
          <p:nvPr/>
        </p:nvPicPr>
        <p:blipFill>
          <a:blip r:embed="rId12"/>
          <a:stretch>
            <a:fillRect/>
          </a:stretch>
        </p:blipFill>
        <p:spPr>
          <a:xfrm>
            <a:off x="9358981" y="3712281"/>
            <a:ext cx="201534" cy="201534"/>
          </a:xfrm>
          <a:prstGeom prst="rect">
            <a:avLst/>
          </a:prstGeom>
        </p:spPr>
      </p:pic>
      <p:sp>
        <p:nvSpPr>
          <p:cNvPr id="69" name="Text 55"/>
          <p:cNvSpPr txBox="1"/>
          <p:nvPr/>
        </p:nvSpPr>
        <p:spPr>
          <a:xfrm>
            <a:off x="8745085" y="3986784"/>
            <a:ext cx="1429325" cy="219456"/>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도장 4종, 한 줄 피드백</a:t>
            </a:r>
            <a:endParaRPr lang="en-US" sz="1150" dirty="0"/>
          </a:p>
        </p:txBody>
      </p:sp>
      <p:sp>
        <p:nvSpPr>
          <p:cNvPr id="70" name="Shape 56"/>
          <p:cNvSpPr/>
          <p:nvPr/>
        </p:nvSpPr>
        <p:spPr>
          <a:xfrm>
            <a:off x="10715337" y="3639312"/>
            <a:ext cx="347472" cy="347472"/>
          </a:xfrm>
          <a:prstGeom prst="ellipse">
            <a:avLst/>
          </a:prstGeom>
          <a:solidFill>
            <a:srgbClr val="E6F0E7"/>
          </a:solidFill>
          <a:ln/>
        </p:spPr>
      </p:sp>
      <p:pic>
        <p:nvPicPr>
          <p:cNvPr id="71" name="Image 12" descr="palette">    </p:cNvPr>
          <p:cNvPicPr>
            <a:picLocks noChangeAspect="1"/>
          </p:cNvPicPr>
          <p:nvPr/>
        </p:nvPicPr>
        <p:blipFill>
          <a:blip r:embed="rId13"/>
          <a:stretch>
            <a:fillRect/>
          </a:stretch>
        </p:blipFill>
        <p:spPr>
          <a:xfrm>
            <a:off x="10788306" y="3712281"/>
            <a:ext cx="201534" cy="201534"/>
          </a:xfrm>
          <a:prstGeom prst="rect">
            <a:avLst/>
          </a:prstGeom>
        </p:spPr>
      </p:pic>
      <p:sp>
        <p:nvSpPr>
          <p:cNvPr id="72" name="Text 57"/>
          <p:cNvSpPr txBox="1"/>
          <p:nvPr/>
        </p:nvSpPr>
        <p:spPr>
          <a:xfrm>
            <a:off x="10174411" y="3986784"/>
            <a:ext cx="1429325" cy="219456"/>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우리 반 전시장</a:t>
            </a:r>
            <a:endParaRPr lang="en-US" sz="1150" dirty="0"/>
          </a:p>
        </p:txBody>
      </p:sp>
      <p:sp>
        <p:nvSpPr>
          <p:cNvPr id="73" name="Shape 58"/>
          <p:cNvSpPr/>
          <p:nvPr/>
        </p:nvSpPr>
        <p:spPr>
          <a:xfrm>
            <a:off x="7233464" y="4334256"/>
            <a:ext cx="4452568" cy="1280160"/>
          </a:xfrm>
          <a:prstGeom prst="roundRect">
            <a:avLst>
              <a:gd name="adj" fmla="val 7143"/>
            </a:avLst>
          </a:prstGeom>
          <a:solidFill>
            <a:srgbClr val="FBF5E6"/>
          </a:solidFill>
          <a:ln w="9525">
            <a:solidFill>
              <a:srgbClr val="E2DCCB"/>
            </a:solidFill>
            <a:prstDash val="solid"/>
          </a:ln>
        </p:spPr>
      </p:sp>
      <p:sp>
        <p:nvSpPr>
          <p:cNvPr id="74" name="Text 59"/>
          <p:cNvSpPr txBox="1"/>
          <p:nvPr/>
        </p:nvSpPr>
        <p:spPr>
          <a:xfrm>
            <a:off x="7398056" y="4389120"/>
            <a:ext cx="4178248" cy="31089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책 밖 실물 자료</a:t>
            </a:r>
            <a:endParaRPr lang="en-US" sz="1500" dirty="0"/>
          </a:p>
        </p:txBody>
      </p:sp>
      <p:sp>
        <p:nvSpPr>
          <p:cNvPr id="75" name="Shape 60"/>
          <p:cNvSpPr/>
          <p:nvPr/>
        </p:nvSpPr>
        <p:spPr>
          <a:xfrm>
            <a:off x="7361480" y="4718304"/>
            <a:ext cx="1337885" cy="621792"/>
          </a:xfrm>
          <a:prstGeom prst="roundRect">
            <a:avLst>
              <a:gd name="adj" fmla="val 11765"/>
            </a:avLst>
          </a:prstGeom>
          <a:solidFill>
            <a:srgbClr val="FFFFFF"/>
          </a:solidFill>
          <a:ln w="9525">
            <a:solidFill>
              <a:srgbClr val="E2DCCB"/>
            </a:solidFill>
            <a:prstDash val="solid"/>
          </a:ln>
        </p:spPr>
      </p:sp>
      <p:pic>
        <p:nvPicPr>
          <p:cNvPr id="76" name="Image 13" descr="옷장 책갈피 32종">    </p:cNvPr>
          <p:cNvPicPr>
            <a:picLocks noChangeAspect="1"/>
          </p:cNvPicPr>
          <p:nvPr/>
        </p:nvPicPr>
        <p:blipFill>
          <a:blip r:embed="rId14"/>
          <a:stretch>
            <a:fillRect/>
          </a:stretch>
        </p:blipFill>
        <p:spPr>
          <a:xfrm>
            <a:off x="7388912" y="4745736"/>
            <a:ext cx="1283021" cy="566928"/>
          </a:xfrm>
          <a:prstGeom prst="rect">
            <a:avLst/>
          </a:prstGeom>
        </p:spPr>
      </p:pic>
      <p:sp>
        <p:nvSpPr>
          <p:cNvPr id="77" name="Text 61"/>
          <p:cNvSpPr txBox="1"/>
          <p:nvPr/>
        </p:nvSpPr>
        <p:spPr>
          <a:xfrm>
            <a:off x="7324904" y="5358384"/>
            <a:ext cx="1411037" cy="237744"/>
          </a:xfrm>
          <a:prstGeom prst="rect">
            <a:avLst/>
          </a:prstGeom>
          <a:noFill/>
          <a:ln/>
        </p:spPr>
        <p:txBody>
          <a:bodyPr wrap="square" lIns="0" tIns="0" rIns="0" bIns="0" rtlCol="0" anchor="ctr">
            <a:noAutofit/>
          </a:bodyP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옷장 책갈피 32종</a:t>
            </a:r>
            <a:endParaRPr lang="en-US" sz="1100" dirty="0"/>
          </a:p>
        </p:txBody>
      </p:sp>
      <p:sp>
        <p:nvSpPr>
          <p:cNvPr id="78" name="Shape 62"/>
          <p:cNvSpPr/>
          <p:nvPr/>
        </p:nvSpPr>
        <p:spPr>
          <a:xfrm>
            <a:off x="8790805" y="4718304"/>
            <a:ext cx="1337885" cy="621792"/>
          </a:xfrm>
          <a:prstGeom prst="roundRect">
            <a:avLst>
              <a:gd name="adj" fmla="val 11765"/>
            </a:avLst>
          </a:prstGeom>
          <a:solidFill>
            <a:srgbClr val="FFFFFF"/>
          </a:solidFill>
          <a:ln w="9525">
            <a:solidFill>
              <a:srgbClr val="E2DCCB"/>
            </a:solidFill>
            <a:prstDash val="solid"/>
          </a:ln>
        </p:spPr>
      </p:sp>
      <p:pic>
        <p:nvPicPr>
          <p:cNvPr id="79" name="Image 14" descr="종이인형 놀이책">    </p:cNvPr>
          <p:cNvPicPr>
            <a:picLocks noChangeAspect="1"/>
          </p:cNvPicPr>
          <p:nvPr/>
        </p:nvPicPr>
        <p:blipFill>
          <a:blip r:embed="rId15"/>
          <a:stretch>
            <a:fillRect/>
          </a:stretch>
        </p:blipFill>
        <p:spPr>
          <a:xfrm>
            <a:off x="8818237" y="4745736"/>
            <a:ext cx="1283021" cy="566928"/>
          </a:xfrm>
          <a:prstGeom prst="rect">
            <a:avLst/>
          </a:prstGeom>
        </p:spPr>
      </p:pic>
      <p:sp>
        <p:nvSpPr>
          <p:cNvPr id="80" name="Text 63"/>
          <p:cNvSpPr txBox="1"/>
          <p:nvPr/>
        </p:nvSpPr>
        <p:spPr>
          <a:xfrm>
            <a:off x="8754229" y="5358384"/>
            <a:ext cx="1411037" cy="237744"/>
          </a:xfrm>
          <a:prstGeom prst="rect">
            <a:avLst/>
          </a:prstGeom>
          <a:noFill/>
          <a:ln/>
        </p:spPr>
        <p:txBody>
          <a:bodyPr wrap="square" lIns="0" tIns="0" rIns="0" bIns="0" rtlCol="0" anchor="ctr">
            <a:noAutofit/>
          </a:bodyP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종이인형 놀이책</a:t>
            </a:r>
            <a:endParaRPr lang="en-US" sz="1100" dirty="0"/>
          </a:p>
        </p:txBody>
      </p:sp>
      <p:sp>
        <p:nvSpPr>
          <p:cNvPr id="81" name="Shape 64"/>
          <p:cNvSpPr/>
          <p:nvPr/>
        </p:nvSpPr>
        <p:spPr>
          <a:xfrm>
            <a:off x="10220131" y="4718304"/>
            <a:ext cx="1337885" cy="621792"/>
          </a:xfrm>
          <a:prstGeom prst="roundRect">
            <a:avLst>
              <a:gd name="adj" fmla="val 11765"/>
            </a:avLst>
          </a:prstGeom>
          <a:solidFill>
            <a:srgbClr val="FFFFFF"/>
          </a:solidFill>
          <a:ln w="9525">
            <a:solidFill>
              <a:srgbClr val="E2DCCB"/>
            </a:solidFill>
            <a:prstDash val="solid"/>
          </a:ln>
        </p:spPr>
      </p:sp>
      <p:pic>
        <p:nvPicPr>
          <p:cNvPr id="82" name="Image 15" descr="스티커북 5권, 색칠 23권">    </p:cNvPr>
          <p:cNvPicPr>
            <a:picLocks noChangeAspect="1"/>
          </p:cNvPicPr>
          <p:nvPr/>
        </p:nvPicPr>
        <p:blipFill>
          <a:blip r:embed="rId16"/>
          <a:stretch>
            <a:fillRect/>
          </a:stretch>
        </p:blipFill>
        <p:spPr>
          <a:xfrm>
            <a:off x="10247563" y="4745736"/>
            <a:ext cx="1283021" cy="566928"/>
          </a:xfrm>
          <a:prstGeom prst="rect">
            <a:avLst/>
          </a:prstGeom>
        </p:spPr>
      </p:pic>
      <p:sp>
        <p:nvSpPr>
          <p:cNvPr id="83" name="Text 65"/>
          <p:cNvSpPr txBox="1"/>
          <p:nvPr/>
        </p:nvSpPr>
        <p:spPr>
          <a:xfrm>
            <a:off x="10183555" y="5358384"/>
            <a:ext cx="1411037" cy="237744"/>
          </a:xfrm>
          <a:prstGeom prst="rect">
            <a:avLst/>
          </a:prstGeom>
          <a:noFill/>
          <a:ln/>
        </p:spPr>
        <p:txBody>
          <a:bodyPr wrap="square" lIns="0" tIns="0" rIns="0" bIns="0" rtlCol="0" anchor="ctr">
            <a:noAutofit/>
          </a:bodyP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스티커북 5권, 색칠 23권</a:t>
            </a:r>
            <a:endParaRPr lang="en-US" sz="1100" dirty="0"/>
          </a:p>
        </p:txBody>
      </p:sp>
      <p:sp>
        <p:nvSpPr>
          <p:cNvPr id="84" name="Shape 66"/>
          <p:cNvSpPr/>
          <p:nvPr/>
        </p:nvSpPr>
        <p:spPr>
          <a:xfrm>
            <a:off x="502920" y="5760720"/>
            <a:ext cx="11183112" cy="512064"/>
          </a:xfrm>
          <a:prstGeom prst="roundRect">
            <a:avLst>
              <a:gd name="adj" fmla="val 14286"/>
            </a:avLst>
          </a:prstGeom>
          <a:solidFill>
            <a:srgbClr val="20342A"/>
          </a:solidFill>
          <a:ln/>
        </p:spPr>
      </p:sp>
      <p:pic>
        <p:nvPicPr>
          <p:cNvPr id="85" name="Image 16" descr="route">    </p:cNvPr>
          <p:cNvPicPr>
            <a:picLocks noChangeAspect="1"/>
          </p:cNvPicPr>
          <p:nvPr/>
        </p:nvPicPr>
        <p:blipFill>
          <a:blip r:embed="rId17"/>
          <a:stretch>
            <a:fillRect/>
          </a:stretch>
        </p:blipFill>
        <p:spPr>
          <a:xfrm>
            <a:off x="685800" y="5870448"/>
            <a:ext cx="292608" cy="292608"/>
          </a:xfrm>
          <a:prstGeom prst="rect">
            <a:avLst/>
          </a:prstGeom>
        </p:spPr>
      </p:pic>
      <p:sp>
        <p:nvSpPr>
          <p:cNvPr id="86" name="Text 67"/>
          <p:cNvSpPr txBox="1"/>
          <p:nvPr/>
        </p:nvSpPr>
        <p:spPr>
          <a:xfrm>
            <a:off x="1106424" y="5760720"/>
            <a:ext cx="10396728" cy="512064"/>
          </a:xfrm>
          <a:prstGeom prst="rect">
            <a:avLst/>
          </a:prstGeom>
          <a:noFill/>
          <a:ln/>
        </p:spPr>
        <p:txBody>
          <a:bodyPr wrap="square" lIns="0" tIns="0" rIns="0" bIns="0" rtlCol="0" anchor="ctr">
            <a:noAutofit/>
          </a:bodyP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운영 흐름   교사가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활동 고르기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학생 화면에 카드  →  학생 제출  →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도장과 한 줄</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독서 포트폴리오에 저장</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읽고 표현하는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카드 9가지 자세히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활동마다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받는 안내와 선생님이 살펴볼 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정해져 있어 바로 내주고 바로 피드백합니다</a:t>
            </a:r>
            <a:endParaRPr lang="en-US" sz="1400" dirty="0"/>
          </a:p>
        </p:txBody>
      </p:sp>
      <p:sp>
        <p:nvSpPr>
          <p:cNvPr id="10" name="Text 7"/>
          <p:cNvSpPr txBox="1"/>
          <p:nvPr/>
        </p:nvSpPr>
        <p:spPr>
          <a:xfrm>
            <a:off x="1265758"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429418"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안내와 살펴볼 점은 부기 교사 화면 「독후활동 내주기」 문구(2026. 10. 29.). 괄호 안 글자 수는 학생이 쓸 수 있는 최대 길이. 함께 쓰는 교실은 3학년부터.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3112" cy="914400"/>
        </p:xfrm>
        <a:graphic>
          <a:graphicData uri="http://schemas.openxmlformats.org/drawingml/2006/table">
            <a:tbl>
              <a:tblPr/>
              <a:tblGrid>
                <a:gridCol w="960120"/>
                <a:gridCol w="1645920"/>
                <a:gridCol w="4800600"/>
                <a:gridCol w="1783080"/>
                <a:gridCol w="1993392"/>
              </a:tblGrid>
              <a:tr h="435254">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읽기 단계</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활동</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받는 안내</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내는 것</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선생님이 보는 점</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5254">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읽기 전</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latin typeface="Freesentation 7 Bold" charset="0"/>
                        <a:ea typeface="Freesentation 7 Bold" charset="0"/>
                        <a:cs typeface="Freesentation 7 Bold" charset="0"/>
                      </a:endParaRPr>
                    </a:p>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읽기 전에 어떤 이야기일지 짐작해 쓰고, 다 읽은 뒤 실제로는 어땠는지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짐작과 확인(60자씩)</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짐작과 책 내용을 비교했는가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4">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읽은 뒤</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짚기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가장 마음에 남은 장면을 고르고, 왜 남았는지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장면과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책에서 근거를 찾았는가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장면을 하나 고르고, 그 장면에서 인물이 속으로 했을 말을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 인물, 속마음(80자)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장면의 상황과 맞는가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 낱말 셋</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책을 읽고 기억에 남는 낱말 세 개를 적어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낱말 세 개</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사건이나 인물을 설명하는 낱말인가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이 책에 별을 몇 개 주고 싶나요? 별을 고르고 까닭을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별 1~5개와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점수보다 까닭이 구체적인가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깊이</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생각하기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 속 인물과 이야기를 나눠 보세요. 인물이 묻는 말에 내 생각을 말해요.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인물이 된 부기와 나눈 대화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인물의 처지를 생각하며 답했는가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 한 명을 골라 하고 싶은 말을 편지로 써 보세요. 내가 겪은 일을 예로 들어 써도 좋아요.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받는 인물과 편지(300자)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자기 경험을 예로 들었는가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표현과</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나눔</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 표현하기</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떠오르는 장면을 그리고, 무엇을 그렸는지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설명 한 줄</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wrap="square">
                      <a:normAutofit/>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그린 까닭을 설명했는가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긴 글을 쓰는 동안 선생님이 쪽지로 도움말을 붙여요.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쓴 글, 우리 반 문집</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도움말을 받아 글을 고쳤는가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읽고 표현하는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수업(2026. 10. 24.), 성취기준은 2022 개정 국어과. 표지와 본문 삽화는 부기 300권 원본.</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noAutofit/>
          </a:bodyPr>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noAutofit/>
          </a:bodyP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④ 독서 포트폴리오</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소중한 자산으로 간직하게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합니다</a:t>
            </a:r>
            <a:endParaRPr lang="en-US" sz="1400" dirty="0"/>
          </a:p>
        </p:txBody>
      </p:sp>
      <p:sp>
        <p:nvSpPr>
          <p:cNvPr id="10" name="Text 7"/>
          <p:cNvSpPr txBox="1"/>
          <p:nvPr/>
        </p:nvSpPr>
        <p:spPr>
          <a:xfrm>
            <a:off x="177396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2121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6각 역량은 부기에 쌓이는 기록(어휘력 진단, 독후 퀴즈, 인물과 대화, 독후활동, 완독 권수, 읽은 날)으로 계산하는 구성안이며 학부모 안내와 학년 말 기록으로도 씀. 6년 기록은 파일로 내려받거나 책으로 만들어 간직하도록 할 예정.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noAutofit/>
          </a:bodyP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noAutofit/>
          </a:bodyP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noAutofit/>
          </a:bodyP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noAutofit/>
          </a:bodyP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noAutofit/>
          </a:bodyP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noAutofit/>
          </a:bodyP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「수업 만들기」에서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책을 먼저 고르거나 학급 고민을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적어 수업을 설계합니다.</a:t>
            </a:r>
            <a:endParaRPr lang="en-US" sz="1400" dirty="0"/>
          </a:p>
        </p:txBody>
      </p:sp>
      <p:sp>
        <p:nvSpPr>
          <p:cNvPr id="10" name="Text 7"/>
          <p:cNvSpPr txBox="1"/>
          <p:nvPr/>
        </p:nvSpPr>
        <p:spPr>
          <a:xfrm>
            <a:off x="2043684"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51492"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교사 화면 「수업 만들기」(2026. 10. 29.). 오른쪽 설계안은 「고민으로 수업 짜기」로 만든 「토끼와 거북이」 2학년 국어 1차시 예시. 고민을 적을 때 학생 이름은 빼도록 안내하며, 적은 글은 수업안을 만들 때만 AI(Anthropic Claude)에 보내고 데이터 무보관(ZDR)을 적용함.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93431" y="1920240"/>
            <a:ext cx="3867653"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어떻게 수업을 만들까요?」">    </p:cNvPr>
          <p:cNvPicPr>
            <a:picLocks noChangeAspect="1"/>
          </p:cNvPicPr>
          <p:nvPr/>
        </p:nvPicPr>
        <p:blipFill>
          <a:blip r:embed="rId2"/>
          <a:stretch>
            <a:fillRect/>
          </a:stretch>
        </p:blipFill>
        <p:spPr>
          <a:xfrm>
            <a:off x="657439" y="1984248"/>
            <a:ext cx="3739637" cy="2523744"/>
          </a:xfrm>
          <a:prstGeom prst="rect">
            <a:avLst/>
          </a:prstGeom>
        </p:spPr>
      </p:pic>
      <p:sp>
        <p:nvSpPr>
          <p:cNvPr id="16" name="Shape 12"/>
          <p:cNvSpPr/>
          <p:nvPr/>
        </p:nvSpPr>
        <p:spPr>
          <a:xfrm>
            <a:off x="703159" y="4187952"/>
            <a:ext cx="1921764" cy="274320"/>
          </a:xfrm>
          <a:prstGeom prst="roundRect">
            <a:avLst>
              <a:gd name="adj" fmla="val 50000"/>
            </a:avLst>
          </a:prstGeom>
          <a:solidFill>
            <a:srgbClr val="20342A">
              <a:alpha val="92000"/>
            </a:srgbClr>
          </a:solidFill>
          <a:ln/>
        </p:spPr>
      </p:sp>
      <p:sp>
        <p:nvSpPr>
          <p:cNvPr id="17" name="Text 13"/>
          <p:cNvSpPr txBox="1"/>
          <p:nvPr/>
        </p:nvSpPr>
        <p:spPr>
          <a:xfrm>
            <a:off x="703159" y="4187952"/>
            <a:ext cx="1921764"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「어떻게 수업을 만들까요?」</a:t>
            </a:r>
            <a:endParaRPr lang="en-US" sz="1300" dirty="0"/>
          </a:p>
        </p:txBody>
      </p:sp>
      <p:sp>
        <p:nvSpPr>
          <p:cNvPr id="18" name="Shape 14"/>
          <p:cNvSpPr/>
          <p:nvPr/>
        </p:nvSpPr>
        <p:spPr>
          <a:xfrm>
            <a:off x="502920" y="4700016"/>
            <a:ext cx="1276407" cy="1572768"/>
          </a:xfrm>
          <a:prstGeom prst="roundRect">
            <a:avLst>
              <a:gd name="adj" fmla="val 7164"/>
            </a:avLst>
          </a:prstGeom>
          <a:solidFill>
            <a:srgbClr val="FFFFFF"/>
          </a:solidFill>
          <a:ln w="9525">
            <a:solidFill>
              <a:srgbClr val="E2DCCB"/>
            </a:solidFill>
            <a:prstDash val="solid"/>
          </a:ln>
        </p:spPr>
      </p:sp>
      <p:sp>
        <p:nvSpPr>
          <p:cNvPr id="19" name="Text 15"/>
          <p:cNvSpPr txBox="1"/>
          <p:nvPr/>
        </p:nvSpPr>
        <p:spPr>
          <a:xfrm>
            <a:off x="612648" y="4754880"/>
            <a:ext cx="1093527" cy="754929"/>
          </a:xfrm>
          <a:prstGeom prst="rect">
            <a:avLst/>
          </a:prstGeom>
          <a:noFill/>
          <a:ln/>
        </p:spPr>
        <p:txBody>
          <a:bodyPr wrap="square" lIns="0" tIns="0" rIns="0" bIns="0" rtlCol="0" anchor="ctr">
            <a:noAutofit/>
          </a:bodyP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구성</a:t>
            </a:r>
            <a:endParaRPr lang="en-US" sz="2250" dirty="0"/>
          </a:p>
        </p:txBody>
      </p:sp>
      <p:sp>
        <p:nvSpPr>
          <p:cNvPr id="20" name="Text 16"/>
          <p:cNvSpPr txBox="1"/>
          <p:nvPr/>
        </p:nvSpPr>
        <p:spPr>
          <a:xfrm>
            <a:off x="612648" y="5486400"/>
            <a:ext cx="1093527" cy="692018"/>
          </a:xfrm>
          <a:prstGeom prst="rect">
            <a:avLst/>
          </a:prstGeom>
          <a:noFill/>
          <a:ln/>
        </p:spPr>
        <p:txBody>
          <a:bodyPr wrap="square" lIns="0" tIns="0" rIns="0" bIns="0" rtlCol="0" anchor="t">
            <a:noAutofit/>
          </a:bodyPr>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온책읽기 10, 국어 4,</a:t>
            </a:r>
            <a:endParaRPr lang="en-US" sz="1100" dirty="0"/>
          </a:p>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아침활동 5차시</a:t>
            </a:r>
            <a:endParaRPr lang="en-US" sz="1100" dirty="0"/>
          </a:p>
        </p:txBody>
      </p:sp>
      <p:sp>
        <p:nvSpPr>
          <p:cNvPr id="21" name="Shape 17"/>
          <p:cNvSpPr/>
          <p:nvPr/>
        </p:nvSpPr>
        <p:spPr>
          <a:xfrm>
            <a:off x="1889055" y="4700016"/>
            <a:ext cx="1276407" cy="1572768"/>
          </a:xfrm>
          <a:prstGeom prst="roundRect">
            <a:avLst>
              <a:gd name="adj" fmla="val 7164"/>
            </a:avLst>
          </a:prstGeom>
          <a:solidFill>
            <a:srgbClr val="FFFFFF"/>
          </a:solidFill>
          <a:ln w="9525">
            <a:solidFill>
              <a:srgbClr val="E2DCCB"/>
            </a:solidFill>
            <a:prstDash val="solid"/>
          </a:ln>
        </p:spPr>
      </p:sp>
      <p:sp>
        <p:nvSpPr>
          <p:cNvPr id="22" name="Text 18"/>
          <p:cNvSpPr txBox="1"/>
          <p:nvPr/>
        </p:nvSpPr>
        <p:spPr>
          <a:xfrm>
            <a:off x="1998783" y="4754880"/>
            <a:ext cx="1093527" cy="754929"/>
          </a:xfrm>
          <a:prstGeom prst="rect">
            <a:avLst/>
          </a:prstGeom>
          <a:noFill/>
          <a:ln/>
        </p:spPr>
        <p:txBody>
          <a:bodyPr wrap="square" lIns="0" tIns="0" rIns="0" bIns="0" rtlCol="0" anchor="ctr">
            <a:noAutofit/>
          </a:bodyP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23" name="Text 19"/>
          <p:cNvSpPr txBox="1"/>
          <p:nvPr/>
        </p:nvSpPr>
        <p:spPr>
          <a:xfrm>
            <a:off x="1998783" y="5486400"/>
            <a:ext cx="1093527" cy="692018"/>
          </a:xfrm>
          <a:prstGeom prst="rect">
            <a:avLst/>
          </a:prstGeom>
          <a:noFill/>
          <a:ln/>
        </p:spPr>
        <p:txBody>
          <a:bodyPr wrap="square" lIns="0" tIns="0" rIns="0" bIns="0" rtlCol="0" anchor="t">
            <a:noAutofit/>
          </a:bodyPr>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100" dirty="0"/>
          </a:p>
        </p:txBody>
      </p:sp>
      <p:sp>
        <p:nvSpPr>
          <p:cNvPr id="24" name="Shape 20"/>
          <p:cNvSpPr/>
          <p:nvPr/>
        </p:nvSpPr>
        <p:spPr>
          <a:xfrm>
            <a:off x="3275189" y="4700016"/>
            <a:ext cx="1276407" cy="1572768"/>
          </a:xfrm>
          <a:prstGeom prst="roundRect">
            <a:avLst>
              <a:gd name="adj" fmla="val 7164"/>
            </a:avLst>
          </a:prstGeom>
          <a:solidFill>
            <a:srgbClr val="20342A"/>
          </a:solidFill>
          <a:ln/>
        </p:spPr>
      </p:sp>
      <p:sp>
        <p:nvSpPr>
          <p:cNvPr id="25" name="Text 21"/>
          <p:cNvSpPr txBox="1"/>
          <p:nvPr/>
        </p:nvSpPr>
        <p:spPr>
          <a:xfrm>
            <a:off x="3384917" y="4754880"/>
            <a:ext cx="1093527" cy="754929"/>
          </a:xfrm>
          <a:prstGeom prst="rect">
            <a:avLst/>
          </a:prstGeom>
          <a:noFill/>
          <a:ln/>
        </p:spPr>
        <p:txBody>
          <a:bodyPr wrap="square" lIns="0" tIns="0" rIns="0" bIns="0" rtlCol="0" anchor="ctr">
            <a:noAutofit/>
          </a:bodyP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1~3</a:t>
            </a:r>
            <a:pP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차시</a:t>
            </a:r>
            <a:endParaRPr lang="en-US" sz="2250" dirty="0"/>
          </a:p>
        </p:txBody>
      </p:sp>
      <p:sp>
        <p:nvSpPr>
          <p:cNvPr id="26" name="Text 22"/>
          <p:cNvSpPr txBox="1"/>
          <p:nvPr/>
        </p:nvSpPr>
        <p:spPr>
          <a:xfrm>
            <a:off x="3384917" y="5486400"/>
            <a:ext cx="1093527" cy="692018"/>
          </a:xfrm>
          <a:prstGeom prst="rect">
            <a:avLst/>
          </a:prstGeom>
          <a:noFill/>
          <a:ln/>
        </p:spPr>
        <p:txBody>
          <a:bodyPr wrap="square" lIns="0" tIns="0" rIns="0" bIns="0" rtlCol="0" anchor="t">
            <a:noAutofit/>
          </a:bodyPr>
          <a:lstStyle/>
          <a:p>
            <a:pPr indent="0" marL="0">
              <a:lnSpc>
                <a:spcPct val="112000"/>
              </a:lnSpc>
              <a:buNone/>
            </a:pPr>
            <a:r>
              <a:rPr lang="en-US" sz="1100" dirty="0">
                <a:solidFill>
                  <a:srgbClr val="DCE6DD"/>
                </a:solidFill>
                <a:latin typeface="Freesentation 4 Regular" pitchFamily="34" charset="0"/>
                <a:ea typeface="Freesentation 4 Regular" pitchFamily="34" charset="-122"/>
                <a:cs typeface="Freesentation 4 Regular" pitchFamily="34" charset="-120"/>
              </a:rPr>
              <a:t>고민으로 짠 설계안</a:t>
            </a:r>
            <a:endParaRPr lang="en-US" sz="1100" dirty="0"/>
          </a:p>
        </p:txBody>
      </p:sp>
      <p:sp>
        <p:nvSpPr>
          <p:cNvPr id="27" name="Shape 23"/>
          <p:cNvSpPr/>
          <p:nvPr/>
        </p:nvSpPr>
        <p:spPr>
          <a:xfrm>
            <a:off x="4752764" y="1920240"/>
            <a:ext cx="4331141" cy="2112264"/>
          </a:xfrm>
          <a:prstGeom prst="roundRect">
            <a:avLst>
              <a:gd name="adj" fmla="val 4329"/>
            </a:avLst>
          </a:prstGeom>
          <a:solidFill>
            <a:srgbClr val="FBF5E6"/>
          </a:solidFill>
          <a:ln w="9525">
            <a:solidFill>
              <a:srgbClr val="E2DCCB"/>
            </a:solidFill>
            <a:prstDash val="solid"/>
          </a:ln>
        </p:spPr>
      </p:sp>
      <p:sp>
        <p:nvSpPr>
          <p:cNvPr id="28" name="Shape 24"/>
          <p:cNvSpPr/>
          <p:nvPr/>
        </p:nvSpPr>
        <p:spPr>
          <a:xfrm>
            <a:off x="4752764" y="1920240"/>
            <a:ext cx="4331141" cy="420624"/>
          </a:xfrm>
          <a:prstGeom prst="roundRect">
            <a:avLst>
              <a:gd name="adj" fmla="val 21739"/>
            </a:avLst>
          </a:prstGeom>
          <a:solidFill>
            <a:srgbClr val="2B4637"/>
          </a:solidFill>
          <a:ln/>
        </p:spPr>
      </p:sp>
      <p:sp>
        <p:nvSpPr>
          <p:cNvPr id="29" name="Shape 25"/>
          <p:cNvSpPr/>
          <p:nvPr/>
        </p:nvSpPr>
        <p:spPr>
          <a:xfrm>
            <a:off x="4752764" y="2249424"/>
            <a:ext cx="4331141" cy="91440"/>
          </a:xfrm>
          <a:prstGeom prst="rect">
            <a:avLst/>
          </a:prstGeom>
          <a:solidFill>
            <a:srgbClr val="2B4637"/>
          </a:solidFill>
          <a:ln/>
        </p:spPr>
      </p:sp>
      <p:sp>
        <p:nvSpPr>
          <p:cNvPr id="30" name="Shape 26"/>
          <p:cNvSpPr/>
          <p:nvPr/>
        </p:nvSpPr>
        <p:spPr>
          <a:xfrm>
            <a:off x="4862492" y="1975104"/>
            <a:ext cx="310896" cy="310896"/>
          </a:xfrm>
          <a:prstGeom prst="ellipse">
            <a:avLst/>
          </a:prstGeom>
          <a:solidFill>
            <a:srgbClr val="C08A1E"/>
          </a:solidFill>
          <a:ln/>
        </p:spPr>
      </p:sp>
      <p:sp>
        <p:nvSpPr>
          <p:cNvPr id="31" name="Text 27"/>
          <p:cNvSpPr txBox="1"/>
          <p:nvPr/>
        </p:nvSpPr>
        <p:spPr>
          <a:xfrm>
            <a:off x="4862492" y="1975104"/>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32" name="Text 28"/>
          <p:cNvSpPr txBox="1"/>
          <p:nvPr/>
        </p:nvSpPr>
        <p:spPr>
          <a:xfrm>
            <a:off x="5264828" y="1920240"/>
            <a:ext cx="3782501"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책 골라 수업 만들기</a:t>
            </a:r>
            <a:endParaRPr lang="en-US" sz="1500" dirty="0"/>
          </a:p>
        </p:txBody>
      </p:sp>
      <p:sp>
        <p:nvSpPr>
          <p:cNvPr id="33" name="Text 29"/>
          <p:cNvSpPr txBox="1"/>
          <p:nvPr/>
        </p:nvSpPr>
        <p:spPr>
          <a:xfrm>
            <a:off x="4899068" y="2395728"/>
            <a:ext cx="4056821" cy="292608"/>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읽힐 책이 이미 정해졌을 때</a:t>
            </a:r>
            <a:endParaRPr lang="en-US" sz="1400" dirty="0"/>
          </a:p>
        </p:txBody>
      </p:sp>
      <p:sp>
        <p:nvSpPr>
          <p:cNvPr id="34" name="Text 30"/>
          <p:cNvSpPr txBox="1"/>
          <p:nvPr/>
        </p:nvSpPr>
        <p:spPr>
          <a:xfrm>
            <a:off x="4899068" y="2724912"/>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구성</a:t>
            </a:r>
            <a:endParaRPr lang="en-US" sz="1200" dirty="0"/>
          </a:p>
        </p:txBody>
      </p:sp>
      <p:sp>
        <p:nvSpPr>
          <p:cNvPr id="35" name="Text 31"/>
          <p:cNvSpPr txBox="1"/>
          <p:nvPr/>
        </p:nvSpPr>
        <p:spPr>
          <a:xfrm>
            <a:off x="5667164" y="2724912"/>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온책읽기 10차시, 국어수업 4차시,</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아침활동 5차시, 직접 제작</a:t>
            </a:r>
            <a:endParaRPr lang="en-US" sz="1150" dirty="0"/>
          </a:p>
        </p:txBody>
      </p:sp>
      <p:sp>
        <p:nvSpPr>
          <p:cNvPr id="36" name="Text 32"/>
          <p:cNvSpPr txBox="1"/>
          <p:nvPr/>
        </p:nvSpPr>
        <p:spPr>
          <a:xfrm>
            <a:off x="4899068" y="3142488"/>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37" name="Text 33"/>
          <p:cNvSpPr txBox="1"/>
          <p:nvPr/>
        </p:nvSpPr>
        <p:spPr>
          <a:xfrm>
            <a:off x="5667164" y="3142488"/>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 PPT, 활동지, 디지털 독서지도안,</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교수학습 과정안(.hwpx, PDF)</a:t>
            </a:r>
            <a:endParaRPr lang="en-US" sz="1150" dirty="0"/>
          </a:p>
        </p:txBody>
      </p:sp>
      <p:sp>
        <p:nvSpPr>
          <p:cNvPr id="38" name="Text 34"/>
          <p:cNvSpPr txBox="1"/>
          <p:nvPr/>
        </p:nvSpPr>
        <p:spPr>
          <a:xfrm>
            <a:off x="4899068" y="3560064"/>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수업</a:t>
            </a:r>
            <a:endParaRPr lang="en-US" sz="1200" dirty="0"/>
          </a:p>
        </p:txBody>
      </p:sp>
      <p:sp>
        <p:nvSpPr>
          <p:cNvPr id="39" name="Text 35"/>
          <p:cNvSpPr txBox="1"/>
          <p:nvPr/>
        </p:nvSpPr>
        <p:spPr>
          <a:xfrm>
            <a:off x="5667164" y="3560064"/>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차시를 넣고 빼고 순서를 바꾼 뒤</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학생에게 배포</a:t>
            </a:r>
            <a:endParaRPr lang="en-US" sz="1150" dirty="0"/>
          </a:p>
        </p:txBody>
      </p:sp>
      <p:sp>
        <p:nvSpPr>
          <p:cNvPr id="40" name="Shape 36"/>
          <p:cNvSpPr/>
          <p:nvPr/>
        </p:nvSpPr>
        <p:spPr>
          <a:xfrm>
            <a:off x="4752764" y="4160520"/>
            <a:ext cx="4331141" cy="2112264"/>
          </a:xfrm>
          <a:prstGeom prst="roundRect">
            <a:avLst>
              <a:gd name="adj" fmla="val 4329"/>
            </a:avLst>
          </a:prstGeom>
          <a:solidFill>
            <a:srgbClr val="E6F0E7"/>
          </a:solidFill>
          <a:ln w="9525">
            <a:solidFill>
              <a:srgbClr val="E2DCCB"/>
            </a:solidFill>
            <a:prstDash val="solid"/>
          </a:ln>
        </p:spPr>
      </p:sp>
      <p:sp>
        <p:nvSpPr>
          <p:cNvPr id="41" name="Shape 37"/>
          <p:cNvSpPr/>
          <p:nvPr/>
        </p:nvSpPr>
        <p:spPr>
          <a:xfrm>
            <a:off x="4752764" y="4160520"/>
            <a:ext cx="4331141" cy="420624"/>
          </a:xfrm>
          <a:prstGeom prst="roundRect">
            <a:avLst>
              <a:gd name="adj" fmla="val 21739"/>
            </a:avLst>
          </a:prstGeom>
          <a:solidFill>
            <a:srgbClr val="2B4637"/>
          </a:solidFill>
          <a:ln/>
        </p:spPr>
      </p:sp>
      <p:sp>
        <p:nvSpPr>
          <p:cNvPr id="42" name="Shape 38"/>
          <p:cNvSpPr/>
          <p:nvPr/>
        </p:nvSpPr>
        <p:spPr>
          <a:xfrm>
            <a:off x="4752764" y="4489704"/>
            <a:ext cx="4331141" cy="91440"/>
          </a:xfrm>
          <a:prstGeom prst="rect">
            <a:avLst/>
          </a:prstGeom>
          <a:solidFill>
            <a:srgbClr val="2B4637"/>
          </a:solidFill>
          <a:ln/>
        </p:spPr>
      </p:sp>
      <p:sp>
        <p:nvSpPr>
          <p:cNvPr id="43" name="Shape 39"/>
          <p:cNvSpPr/>
          <p:nvPr/>
        </p:nvSpPr>
        <p:spPr>
          <a:xfrm>
            <a:off x="4862492" y="4215384"/>
            <a:ext cx="310896" cy="310896"/>
          </a:xfrm>
          <a:prstGeom prst="ellipse">
            <a:avLst/>
          </a:prstGeom>
          <a:solidFill>
            <a:srgbClr val="C08A1E"/>
          </a:solidFill>
          <a:ln/>
        </p:spPr>
      </p:sp>
      <p:sp>
        <p:nvSpPr>
          <p:cNvPr id="44" name="Text 40"/>
          <p:cNvSpPr txBox="1"/>
          <p:nvPr/>
        </p:nvSpPr>
        <p:spPr>
          <a:xfrm>
            <a:off x="4862492" y="4215384"/>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45" name="Text 41"/>
          <p:cNvSpPr txBox="1"/>
          <p:nvPr/>
        </p:nvSpPr>
        <p:spPr>
          <a:xfrm>
            <a:off x="5264828" y="4160520"/>
            <a:ext cx="3782501"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고민으로 수업 짜기(AI)</a:t>
            </a:r>
            <a:endParaRPr lang="en-US" sz="1500" dirty="0"/>
          </a:p>
        </p:txBody>
      </p:sp>
      <p:sp>
        <p:nvSpPr>
          <p:cNvPr id="46" name="Text 42"/>
          <p:cNvSpPr txBox="1"/>
          <p:nvPr/>
        </p:nvSpPr>
        <p:spPr>
          <a:xfrm>
            <a:off x="4899068" y="4636008"/>
            <a:ext cx="4056821" cy="292608"/>
          </a:xfrm>
          <a:prstGeom prst="rect">
            <a:avLst/>
          </a:prstGeom>
          <a:noFill/>
          <a:ln/>
        </p:spPr>
        <p:txBody>
          <a:bodyPr wrap="square" lIns="0" tIns="0" rIns="0" bIns="0" rtlCol="0" anchor="ctr">
            <a:noAutofit/>
          </a:bodyP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요즘 우리 반에 마음 쓰이는 모습이 있을 때</a:t>
            </a:r>
            <a:endParaRPr lang="en-US" sz="1400" dirty="0"/>
          </a:p>
        </p:txBody>
      </p:sp>
      <p:sp>
        <p:nvSpPr>
          <p:cNvPr id="47" name="Text 43"/>
          <p:cNvSpPr txBox="1"/>
          <p:nvPr/>
        </p:nvSpPr>
        <p:spPr>
          <a:xfrm>
            <a:off x="4899068" y="4965192"/>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적는 것</a:t>
            </a:r>
            <a:endParaRPr lang="en-US" sz="1200" dirty="0"/>
          </a:p>
        </p:txBody>
      </p:sp>
      <p:sp>
        <p:nvSpPr>
          <p:cNvPr id="48" name="Text 44"/>
          <p:cNvSpPr txBox="1"/>
          <p:nvPr/>
        </p:nvSpPr>
        <p:spPr>
          <a:xfrm>
            <a:off x="5667164" y="4965192"/>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요즘 우리 반 모습, 수업 시간(1~3차시)</a:t>
            </a:r>
            <a:endParaRPr lang="en-US" sz="1150" dirty="0"/>
          </a:p>
        </p:txBody>
      </p:sp>
      <p:sp>
        <p:nvSpPr>
          <p:cNvPr id="49" name="Text 45"/>
          <p:cNvSpPr txBox="1"/>
          <p:nvPr/>
        </p:nvSpPr>
        <p:spPr>
          <a:xfrm>
            <a:off x="4899068" y="5382768"/>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50" name="Text 46"/>
          <p:cNvSpPr txBox="1"/>
          <p:nvPr/>
        </p:nvSpPr>
        <p:spPr>
          <a:xfrm>
            <a:off x="5667164" y="5382768"/>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수업 질문, 함께 읽을 책, 수업 설계안</a:t>
            </a:r>
            <a:endParaRPr lang="en-US" sz="1150" dirty="0"/>
          </a:p>
        </p:txBody>
      </p:sp>
      <p:sp>
        <p:nvSpPr>
          <p:cNvPr id="51" name="Text 47"/>
          <p:cNvSpPr txBox="1"/>
          <p:nvPr/>
        </p:nvSpPr>
        <p:spPr>
          <a:xfrm>
            <a:off x="4899068" y="5800344"/>
            <a:ext cx="786384" cy="41757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설계안</a:t>
            </a:r>
            <a:endParaRPr lang="en-US" sz="1200" dirty="0"/>
          </a:p>
        </p:txBody>
      </p:sp>
      <p:sp>
        <p:nvSpPr>
          <p:cNvPr id="52" name="Text 48"/>
          <p:cNvSpPr txBox="1"/>
          <p:nvPr/>
        </p:nvSpPr>
        <p:spPr>
          <a:xfrm>
            <a:off x="5667164" y="5800344"/>
            <a:ext cx="3325301" cy="417576"/>
          </a:xfrm>
          <a:prstGeom prst="rect">
            <a:avLst/>
          </a:prstGeom>
          <a:noFill/>
          <a:ln/>
        </p:spPr>
        <p:txBody>
          <a:bodyPr wrap="square" lIns="0" tIns="0" rIns="0" bIns="0" rtlCol="0" anchor="ctr">
            <a:noAutofit/>
          </a:bodyP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성취기준, 학습 목표, 단계별 활동과</a:t>
            </a:r>
            <a:r>
              <a:rPr lang="en-US" sz="1150" dirty="0">
                <a:solidFill>
                  <a:srgbClr val="2E3A30"/>
                </a:solidFill>
                <a:latin typeface="Freesentation 4 Regular" pitchFamily="34" charset="0"/>
                <a:ea typeface="Freesentation 4 Regular" pitchFamily="34" charset="-122"/>
                <a:cs typeface="Freesentation 4 Regular" pitchFamily="34" charset="-120"/>
              </a:rPr>
              <a:t>경험, 사실, 마음, 상상, 가치로 나눈 질문, 학생에게 내주기</a:t>
            </a:r>
            <a:endParaRPr lang="en-US" sz="1150" dirty="0"/>
          </a:p>
        </p:txBody>
      </p:sp>
      <p:sp>
        <p:nvSpPr>
          <p:cNvPr id="53" name="Shape 49"/>
          <p:cNvSpPr/>
          <p:nvPr/>
        </p:nvSpPr>
        <p:spPr>
          <a:xfrm>
            <a:off x="9285073" y="1920240"/>
            <a:ext cx="2400959" cy="3087213"/>
          </a:xfrm>
          <a:prstGeom prst="roundRect">
            <a:avLst>
              <a:gd name="adj" fmla="val 304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4" name="Image 2" descr="화면">    </p:cNvPr>
          <p:cNvPicPr>
            <a:picLocks noChangeAspect="1"/>
          </p:cNvPicPr>
          <p:nvPr/>
        </p:nvPicPr>
        <p:blipFill>
          <a:blip r:embed="rId3"/>
          <a:stretch>
            <a:fillRect/>
          </a:stretch>
        </p:blipFill>
        <p:spPr>
          <a:xfrm>
            <a:off x="9349081" y="1984248"/>
            <a:ext cx="2272943" cy="2959197"/>
          </a:xfrm>
          <a:prstGeom prst="rect">
            <a:avLst/>
          </a:prstGeom>
        </p:spPr>
      </p:pic>
      <p:sp>
        <p:nvSpPr>
          <p:cNvPr id="55" name="Text 50"/>
          <p:cNvSpPr txBox="1"/>
          <p:nvPr/>
        </p:nvSpPr>
        <p:spPr>
          <a:xfrm>
            <a:off x="9285073" y="5044029"/>
            <a:ext cx="2400959" cy="420624"/>
          </a:xfrm>
          <a:prstGeom prst="rect">
            <a:avLst/>
          </a:prstGeom>
          <a:noFill/>
          <a:ln/>
        </p:spPr>
        <p:txBody>
          <a:bodyPr wrap="square" lIns="0" tIns="0" rIns="0" bIns="0" rtlCol="0" anchor="ctr">
            <a:noAutofit/>
          </a:bodyPr>
          <a:lstStyle/>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수업 설계안 예시</a:t>
            </a:r>
            <a:endParaRPr lang="en-US" sz="1100" dirty="0"/>
          </a:p>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「토끼와 거북이」 2학년 1차시</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「고민으로 수업 짜기」는 교사 화면 「수업 만들기」에 들어감(2026. 10. 29.). 아래 화면은 체험판(2026.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noAutofit/>
          </a:bodyP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noAutofit/>
          </a:bodyP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noAutofit/>
          </a:bodyP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다른 관점에서 생각해 볼 책,</a:t>
            </a: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1~3차시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noAutofit/>
          </a:bodyP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성취기준, 학습 목표, 단계별</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활동과 발문, 학생에게 내주기</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noAutofit/>
          </a:bodyPr>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noAutofit/>
          </a:bodyPr>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r>
              <a:rPr lang="en-US" sz="1200" dirty="0">
                <a:solidFill>
                  <a:srgbClr val="1F2B20"/>
                </a:solidFill>
                <a:latin typeface="Freesentation 4 Regular" pitchFamily="34" charset="0"/>
                <a:ea typeface="Freesentation 4 Regular" pitchFamily="34" charset="-122"/>
                <a:cs typeface="Freesentation 4 Regular" pitchFamily="34" charset="-120"/>
              </a:rPr>
              <a:t> 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다른 관점에서 생각해 볼 책, 닮은 인물을</a:t>
            </a: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noAutofit/>
          </a:bodyP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noAutofit/>
          </a:bodyP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활동 카드 9가지에서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noAutofit/>
          </a:bodyPr>
          <a:lstStyle/>
          <a:p>
            <a:pPr indent="0" marL="0">
              <a:lnSpc>
                <a:spcPct val="112000"/>
              </a:lnSpc>
              <a:buNone/>
            </a:pPr>
            <a:r>
              <a:rPr lang="en-US" sz="1369" dirty="0">
                <a:solidFill>
                  <a:srgbClr val="2E3A30"/>
                </a:solidFill>
                <a:latin typeface="Freesentation 4 Regular" pitchFamily="34" charset="0"/>
                <a:ea typeface="Freesentation 4 Regular" pitchFamily="34" charset="-122"/>
                <a:cs typeface="Freesentation 4 Regular" pitchFamily="34" charset="-120"/>
              </a:rPr>
              <a:t>친구의 말을 끝까지 듣고, 친구가 한 말의 뜻을 자기 말로 다시 설명했는가?</a:t>
            </a:r>
            <a:endParaRPr lang="en-US" sz="1369"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학생 화면과 교사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noAutofit/>
          </a:bodyP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진단 그래프 2개는 「부기 제안서 데이터」의 3학년 학급(26명) 기준. 진단 수준은 어휘력 진단 결과의 「한 걸음 더」, 「내 학년 그대로」, 「천천히 다지기」 3단계. 학교 평균은 개인 이름을 제외하고 합산한 통계로만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noAutofit/>
          </a:bodyP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학교별 운영관리 10대 항목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운영계획 수립부터 연간 결과보고까지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학교마다 10개 항목</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운영 기관이 맡아 관리합니다</a:t>
            </a:r>
            <a:endParaRPr lang="en-US" sz="1400" dirty="0"/>
          </a:p>
        </p:txBody>
      </p:sp>
      <p:sp>
        <p:nvSpPr>
          <p:cNvPr id="10" name="Text 7"/>
          <p:cNvSpPr txBox="1"/>
          <p:nvPr/>
        </p:nvSpPr>
        <p:spPr>
          <a:xfrm>
            <a:off x="1497990"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197186"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인력은 「교원 연수와 운영지원」 쪽, 항목별 시기는 「단계별 추진 일정」 쪽. 보고 주기는 월간, 학기별, 연간.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11183112" cy="402336"/>
          </a:xfrm>
          <a:prstGeom prst="roundRect">
            <a:avLst>
              <a:gd name="adj" fmla="val 13636"/>
            </a:avLst>
          </a:prstGeom>
          <a:solidFill>
            <a:srgbClr val="2B4637"/>
          </a:solidFill>
          <a:ln/>
        </p:spPr>
      </p:sp>
      <p:sp>
        <p:nvSpPr>
          <p:cNvPr id="15" name="Text 12"/>
          <p:cNvSpPr txBox="1"/>
          <p:nvPr/>
        </p:nvSpPr>
        <p:spPr>
          <a:xfrm>
            <a:off x="502920" y="1920240"/>
            <a:ext cx="1371600" cy="40233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단계</a:t>
            </a:r>
            <a:endParaRPr lang="en-US" sz="1400" dirty="0"/>
          </a:p>
        </p:txBody>
      </p:sp>
      <p:sp>
        <p:nvSpPr>
          <p:cNvPr id="16" name="Text 13"/>
          <p:cNvSpPr txBox="1"/>
          <p:nvPr/>
        </p:nvSpPr>
        <p:spPr>
          <a:xfrm>
            <a:off x="1874520" y="1920240"/>
            <a:ext cx="566928" cy="40233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번호</a:t>
            </a:r>
            <a:endParaRPr lang="en-US" sz="1400" dirty="0"/>
          </a:p>
        </p:txBody>
      </p:sp>
      <p:sp>
        <p:nvSpPr>
          <p:cNvPr id="17" name="Text 14"/>
          <p:cNvSpPr txBox="1"/>
          <p:nvPr/>
        </p:nvSpPr>
        <p:spPr>
          <a:xfrm>
            <a:off x="2441448" y="1920240"/>
            <a:ext cx="2606040" cy="40233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운영관리 항목</a:t>
            </a:r>
            <a:endParaRPr lang="en-US" sz="1400" dirty="0"/>
          </a:p>
        </p:txBody>
      </p:sp>
      <p:sp>
        <p:nvSpPr>
          <p:cNvPr id="18" name="Text 15"/>
          <p:cNvSpPr txBox="1"/>
          <p:nvPr/>
        </p:nvSpPr>
        <p:spPr>
          <a:xfrm>
            <a:off x="5047488" y="1920240"/>
            <a:ext cx="6638544" cy="402336"/>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구체적인 제공 서비스</a:t>
            </a:r>
            <a:endParaRPr lang="en-US" sz="1400" dirty="0"/>
          </a:p>
        </p:txBody>
      </p:sp>
      <p:sp>
        <p:nvSpPr>
          <p:cNvPr id="19" name="Shape 16"/>
          <p:cNvSpPr/>
          <p:nvPr/>
        </p:nvSpPr>
        <p:spPr>
          <a:xfrm>
            <a:off x="1874520" y="2322576"/>
            <a:ext cx="9811512" cy="395021"/>
          </a:xfrm>
          <a:prstGeom prst="rect">
            <a:avLst/>
          </a:prstGeom>
          <a:solidFill>
            <a:srgbClr val="FFFFFF"/>
          </a:solidFill>
          <a:ln/>
        </p:spPr>
      </p:sp>
      <p:sp>
        <p:nvSpPr>
          <p:cNvPr id="20" name="Shape 17"/>
          <p:cNvSpPr/>
          <p:nvPr/>
        </p:nvSpPr>
        <p:spPr>
          <a:xfrm>
            <a:off x="1874520" y="2717597"/>
            <a:ext cx="9811512" cy="0"/>
          </a:xfrm>
          <a:prstGeom prst="line">
            <a:avLst/>
          </a:prstGeom>
          <a:noFill/>
          <a:ln w="7620">
            <a:solidFill>
              <a:srgbClr val="D6CDB6"/>
            </a:solidFill>
            <a:prstDash val="solid"/>
          </a:ln>
        </p:spPr>
      </p:sp>
      <p:sp>
        <p:nvSpPr>
          <p:cNvPr id="21" name="Shape 18"/>
          <p:cNvSpPr/>
          <p:nvPr/>
        </p:nvSpPr>
        <p:spPr>
          <a:xfrm>
            <a:off x="2002536" y="2364638"/>
            <a:ext cx="310896" cy="310896"/>
          </a:xfrm>
          <a:prstGeom prst="ellipse">
            <a:avLst/>
          </a:prstGeom>
          <a:solidFill>
            <a:srgbClr val="2F7D4F"/>
          </a:solidFill>
          <a:ln/>
        </p:spPr>
      </p:sp>
      <p:sp>
        <p:nvSpPr>
          <p:cNvPr id="22" name="Text 19"/>
          <p:cNvSpPr txBox="1"/>
          <p:nvPr/>
        </p:nvSpPr>
        <p:spPr>
          <a:xfrm>
            <a:off x="2002536" y="2364638"/>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23" name="Text 20"/>
          <p:cNvSpPr txBox="1"/>
          <p:nvPr/>
        </p:nvSpPr>
        <p:spPr>
          <a:xfrm>
            <a:off x="2551176" y="2322576"/>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운영계획 수립</a:t>
            </a:r>
            <a:endParaRPr lang="en-US" sz="1450" dirty="0"/>
          </a:p>
        </p:txBody>
      </p:sp>
      <p:sp>
        <p:nvSpPr>
          <p:cNvPr id="24" name="Text 21"/>
          <p:cNvSpPr txBox="1"/>
          <p:nvPr/>
        </p:nvSpPr>
        <p:spPr>
          <a:xfrm>
            <a:off x="5175504" y="2322576"/>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규모와 학년 구성에 맞춘 연간 독서교육 운영계획과 권장 독서 일정 안내</a:t>
            </a:r>
            <a:endParaRPr lang="en-US" sz="1400" dirty="0"/>
          </a:p>
        </p:txBody>
      </p:sp>
      <p:sp>
        <p:nvSpPr>
          <p:cNvPr id="25" name="Shape 22"/>
          <p:cNvSpPr/>
          <p:nvPr/>
        </p:nvSpPr>
        <p:spPr>
          <a:xfrm>
            <a:off x="1874520" y="2717597"/>
            <a:ext cx="9811512" cy="395021"/>
          </a:xfrm>
          <a:prstGeom prst="rect">
            <a:avLst/>
          </a:prstGeom>
          <a:solidFill>
            <a:srgbClr val="FBF9F3"/>
          </a:solidFill>
          <a:ln/>
        </p:spPr>
      </p:sp>
      <p:sp>
        <p:nvSpPr>
          <p:cNvPr id="26" name="Shape 23"/>
          <p:cNvSpPr/>
          <p:nvPr/>
        </p:nvSpPr>
        <p:spPr>
          <a:xfrm>
            <a:off x="1874520" y="3112618"/>
            <a:ext cx="9811512" cy="0"/>
          </a:xfrm>
          <a:prstGeom prst="line">
            <a:avLst/>
          </a:prstGeom>
          <a:noFill/>
          <a:ln w="7620">
            <a:solidFill>
              <a:srgbClr val="D6CDB6"/>
            </a:solidFill>
            <a:prstDash val="solid"/>
          </a:ln>
        </p:spPr>
      </p:sp>
      <p:sp>
        <p:nvSpPr>
          <p:cNvPr id="27" name="Shape 24"/>
          <p:cNvSpPr/>
          <p:nvPr/>
        </p:nvSpPr>
        <p:spPr>
          <a:xfrm>
            <a:off x="2002536" y="2759659"/>
            <a:ext cx="310896" cy="310896"/>
          </a:xfrm>
          <a:prstGeom prst="ellipse">
            <a:avLst/>
          </a:prstGeom>
          <a:solidFill>
            <a:srgbClr val="2F7D4F"/>
          </a:solidFill>
          <a:ln/>
        </p:spPr>
      </p:sp>
      <p:sp>
        <p:nvSpPr>
          <p:cNvPr id="28" name="Text 25"/>
          <p:cNvSpPr txBox="1"/>
          <p:nvPr/>
        </p:nvSpPr>
        <p:spPr>
          <a:xfrm>
            <a:off x="2002536" y="2759659"/>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9" name="Text 26"/>
          <p:cNvSpPr txBox="1"/>
          <p:nvPr/>
        </p:nvSpPr>
        <p:spPr>
          <a:xfrm>
            <a:off x="2551176" y="2717597"/>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학교와 학급 개설 관리</a:t>
            </a:r>
            <a:endParaRPr lang="en-US" sz="1450" dirty="0"/>
          </a:p>
        </p:txBody>
      </p:sp>
      <p:sp>
        <p:nvSpPr>
          <p:cNvPr id="30" name="Text 27"/>
          <p:cNvSpPr txBox="1"/>
          <p:nvPr/>
        </p:nvSpPr>
        <p:spPr>
          <a:xfrm>
            <a:off x="5175504" y="2717597"/>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등록, 학급 개설, 교사와 학생 계정 생성 안내, 학급 코드와 이용 권한 관리</a:t>
            </a:r>
            <a:endParaRPr lang="en-US" sz="1400" dirty="0"/>
          </a:p>
        </p:txBody>
      </p:sp>
      <p:sp>
        <p:nvSpPr>
          <p:cNvPr id="31" name="Shape 28"/>
          <p:cNvSpPr/>
          <p:nvPr/>
        </p:nvSpPr>
        <p:spPr>
          <a:xfrm>
            <a:off x="1874520" y="3112618"/>
            <a:ext cx="9811512" cy="395021"/>
          </a:xfrm>
          <a:prstGeom prst="rect">
            <a:avLst/>
          </a:prstGeom>
          <a:solidFill>
            <a:srgbClr val="FFFFFF"/>
          </a:solidFill>
          <a:ln/>
        </p:spPr>
      </p:sp>
      <p:sp>
        <p:nvSpPr>
          <p:cNvPr id="32" name="Shape 29"/>
          <p:cNvSpPr/>
          <p:nvPr/>
        </p:nvSpPr>
        <p:spPr>
          <a:xfrm>
            <a:off x="1874520" y="3507638"/>
            <a:ext cx="9811512" cy="0"/>
          </a:xfrm>
          <a:prstGeom prst="line">
            <a:avLst/>
          </a:prstGeom>
          <a:noFill/>
          <a:ln w="7620">
            <a:solidFill>
              <a:srgbClr val="D6CDB6"/>
            </a:solidFill>
            <a:prstDash val="solid"/>
          </a:ln>
        </p:spPr>
      </p:sp>
      <p:sp>
        <p:nvSpPr>
          <p:cNvPr id="33" name="Shape 30"/>
          <p:cNvSpPr/>
          <p:nvPr/>
        </p:nvSpPr>
        <p:spPr>
          <a:xfrm>
            <a:off x="2002536" y="3154680"/>
            <a:ext cx="310896" cy="310896"/>
          </a:xfrm>
          <a:prstGeom prst="ellipse">
            <a:avLst/>
          </a:prstGeom>
          <a:solidFill>
            <a:srgbClr val="2F7D4F"/>
          </a:solidFill>
          <a:ln/>
        </p:spPr>
      </p:sp>
      <p:sp>
        <p:nvSpPr>
          <p:cNvPr id="34" name="Text 31"/>
          <p:cNvSpPr txBox="1"/>
          <p:nvPr/>
        </p:nvSpPr>
        <p:spPr>
          <a:xfrm>
            <a:off x="2002536" y="3154680"/>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2"/>
          <p:cNvSpPr txBox="1"/>
          <p:nvPr/>
        </p:nvSpPr>
        <p:spPr>
          <a:xfrm>
            <a:off x="2551176" y="3112618"/>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수업 운영 지원</a:t>
            </a:r>
            <a:endParaRPr lang="en-US" sz="1450" dirty="0"/>
          </a:p>
        </p:txBody>
      </p:sp>
      <p:sp>
        <p:nvSpPr>
          <p:cNvPr id="36" name="Text 33"/>
          <p:cNvSpPr txBox="1"/>
          <p:nvPr/>
        </p:nvSpPr>
        <p:spPr>
          <a:xfrm>
            <a:off x="5175504" y="3112618"/>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온책읽기, 국어 수업, 아침 독서활동 운영 방법 안내와 차시별 수업자료 활용 지원</a:t>
            </a:r>
            <a:endParaRPr lang="en-US" sz="1400" dirty="0"/>
          </a:p>
        </p:txBody>
      </p:sp>
      <p:sp>
        <p:nvSpPr>
          <p:cNvPr id="37" name="Shape 34"/>
          <p:cNvSpPr/>
          <p:nvPr/>
        </p:nvSpPr>
        <p:spPr>
          <a:xfrm>
            <a:off x="1874520" y="3507638"/>
            <a:ext cx="9811512" cy="395021"/>
          </a:xfrm>
          <a:prstGeom prst="rect">
            <a:avLst/>
          </a:prstGeom>
          <a:solidFill>
            <a:srgbClr val="FBF9F3"/>
          </a:solidFill>
          <a:ln/>
        </p:spPr>
      </p:sp>
      <p:sp>
        <p:nvSpPr>
          <p:cNvPr id="38" name="Shape 35"/>
          <p:cNvSpPr/>
          <p:nvPr/>
        </p:nvSpPr>
        <p:spPr>
          <a:xfrm>
            <a:off x="1874520" y="3902659"/>
            <a:ext cx="9811512" cy="0"/>
          </a:xfrm>
          <a:prstGeom prst="line">
            <a:avLst/>
          </a:prstGeom>
          <a:noFill/>
          <a:ln w="7620">
            <a:solidFill>
              <a:srgbClr val="D6CDB6"/>
            </a:solidFill>
            <a:prstDash val="solid"/>
          </a:ln>
        </p:spPr>
      </p:sp>
      <p:sp>
        <p:nvSpPr>
          <p:cNvPr id="39" name="Shape 36"/>
          <p:cNvSpPr/>
          <p:nvPr/>
        </p:nvSpPr>
        <p:spPr>
          <a:xfrm>
            <a:off x="2002536" y="3549701"/>
            <a:ext cx="310896" cy="310896"/>
          </a:xfrm>
          <a:prstGeom prst="ellipse">
            <a:avLst/>
          </a:prstGeom>
          <a:solidFill>
            <a:srgbClr val="2F7D4F"/>
          </a:solidFill>
          <a:ln/>
        </p:spPr>
      </p:sp>
      <p:sp>
        <p:nvSpPr>
          <p:cNvPr id="40" name="Text 37"/>
          <p:cNvSpPr txBox="1"/>
          <p:nvPr/>
        </p:nvSpPr>
        <p:spPr>
          <a:xfrm>
            <a:off x="2002536" y="3549701"/>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1" name="Text 38"/>
          <p:cNvSpPr txBox="1"/>
          <p:nvPr/>
        </p:nvSpPr>
        <p:spPr>
          <a:xfrm>
            <a:off x="2551176" y="3507638"/>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온라인 연수</a:t>
            </a:r>
            <a:endParaRPr lang="en-US" sz="1450" dirty="0"/>
          </a:p>
        </p:txBody>
      </p:sp>
      <p:sp>
        <p:nvSpPr>
          <p:cNvPr id="42" name="Text 39"/>
          <p:cNvSpPr txBox="1"/>
          <p:nvPr/>
        </p:nvSpPr>
        <p:spPr>
          <a:xfrm>
            <a:off x="5175504" y="3507638"/>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플랫폼 사용법, 수업 설계, 학생 활동 관리를 다루는 정기 온라인 연수</a:t>
            </a:r>
            <a:endParaRPr lang="en-US" sz="1400" dirty="0"/>
          </a:p>
        </p:txBody>
      </p:sp>
      <p:sp>
        <p:nvSpPr>
          <p:cNvPr id="43" name="Shape 40"/>
          <p:cNvSpPr/>
          <p:nvPr/>
        </p:nvSpPr>
        <p:spPr>
          <a:xfrm>
            <a:off x="1874520" y="3902659"/>
            <a:ext cx="9811512" cy="395021"/>
          </a:xfrm>
          <a:prstGeom prst="rect">
            <a:avLst/>
          </a:prstGeom>
          <a:solidFill>
            <a:srgbClr val="FFFFFF"/>
          </a:solidFill>
          <a:ln/>
        </p:spPr>
      </p:sp>
      <p:sp>
        <p:nvSpPr>
          <p:cNvPr id="44" name="Shape 41"/>
          <p:cNvSpPr/>
          <p:nvPr/>
        </p:nvSpPr>
        <p:spPr>
          <a:xfrm>
            <a:off x="1874520" y="4297680"/>
            <a:ext cx="9811512" cy="0"/>
          </a:xfrm>
          <a:prstGeom prst="line">
            <a:avLst/>
          </a:prstGeom>
          <a:noFill/>
          <a:ln w="7620">
            <a:solidFill>
              <a:srgbClr val="D6CDB6"/>
            </a:solidFill>
            <a:prstDash val="solid"/>
          </a:ln>
        </p:spPr>
      </p:sp>
      <p:sp>
        <p:nvSpPr>
          <p:cNvPr id="45" name="Shape 42"/>
          <p:cNvSpPr/>
          <p:nvPr/>
        </p:nvSpPr>
        <p:spPr>
          <a:xfrm>
            <a:off x="2002536" y="3944722"/>
            <a:ext cx="310896" cy="310896"/>
          </a:xfrm>
          <a:prstGeom prst="ellipse">
            <a:avLst/>
          </a:prstGeom>
          <a:solidFill>
            <a:srgbClr val="2F7D4F"/>
          </a:solidFill>
          <a:ln/>
        </p:spPr>
      </p:sp>
      <p:sp>
        <p:nvSpPr>
          <p:cNvPr id="46" name="Text 43"/>
          <p:cNvSpPr txBox="1"/>
          <p:nvPr/>
        </p:nvSpPr>
        <p:spPr>
          <a:xfrm>
            <a:off x="2002536" y="3944722"/>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47" name="Text 44"/>
          <p:cNvSpPr txBox="1"/>
          <p:nvPr/>
        </p:nvSpPr>
        <p:spPr>
          <a:xfrm>
            <a:off x="2551176" y="3902659"/>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학생 이용 활성화 관리</a:t>
            </a:r>
            <a:endParaRPr lang="en-US" sz="1450" dirty="0"/>
          </a:p>
        </p:txBody>
      </p:sp>
      <p:sp>
        <p:nvSpPr>
          <p:cNvPr id="48" name="Text 45"/>
          <p:cNvSpPr txBox="1"/>
          <p:nvPr/>
        </p:nvSpPr>
        <p:spPr>
          <a:xfrm>
            <a:off x="5175504" y="3902659"/>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접속과 독서 참여 현황 점검, 이용이 뜸한 학급의 담당 교사에게 접속과 수업 활용 방법 안내</a:t>
            </a:r>
            <a:endParaRPr lang="en-US" sz="1400" dirty="0"/>
          </a:p>
        </p:txBody>
      </p:sp>
      <p:sp>
        <p:nvSpPr>
          <p:cNvPr id="49" name="Shape 46"/>
          <p:cNvSpPr/>
          <p:nvPr/>
        </p:nvSpPr>
        <p:spPr>
          <a:xfrm>
            <a:off x="1874520" y="4297680"/>
            <a:ext cx="9811512" cy="395021"/>
          </a:xfrm>
          <a:prstGeom prst="rect">
            <a:avLst/>
          </a:prstGeom>
          <a:solidFill>
            <a:srgbClr val="FBF9F3"/>
          </a:solidFill>
          <a:ln/>
        </p:spPr>
      </p:sp>
      <p:sp>
        <p:nvSpPr>
          <p:cNvPr id="50" name="Shape 47"/>
          <p:cNvSpPr/>
          <p:nvPr/>
        </p:nvSpPr>
        <p:spPr>
          <a:xfrm>
            <a:off x="1874520" y="4692701"/>
            <a:ext cx="9811512" cy="0"/>
          </a:xfrm>
          <a:prstGeom prst="line">
            <a:avLst/>
          </a:prstGeom>
          <a:noFill/>
          <a:ln w="7620">
            <a:solidFill>
              <a:srgbClr val="D6CDB6"/>
            </a:solidFill>
            <a:prstDash val="solid"/>
          </a:ln>
        </p:spPr>
      </p:sp>
      <p:sp>
        <p:nvSpPr>
          <p:cNvPr id="51" name="Shape 48"/>
          <p:cNvSpPr/>
          <p:nvPr/>
        </p:nvSpPr>
        <p:spPr>
          <a:xfrm>
            <a:off x="2002536" y="4339742"/>
            <a:ext cx="310896" cy="310896"/>
          </a:xfrm>
          <a:prstGeom prst="ellipse">
            <a:avLst/>
          </a:prstGeom>
          <a:solidFill>
            <a:srgbClr val="2F7D4F"/>
          </a:solidFill>
          <a:ln/>
        </p:spPr>
      </p:sp>
      <p:sp>
        <p:nvSpPr>
          <p:cNvPr id="52" name="Text 49"/>
          <p:cNvSpPr txBox="1"/>
          <p:nvPr/>
        </p:nvSpPr>
        <p:spPr>
          <a:xfrm>
            <a:off x="2002536" y="4339742"/>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53" name="Text 50"/>
          <p:cNvSpPr txBox="1"/>
          <p:nvPr/>
        </p:nvSpPr>
        <p:spPr>
          <a:xfrm>
            <a:off x="2551176" y="4297680"/>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독서활동과 완독 현황 관리</a:t>
            </a:r>
            <a:endParaRPr lang="en-US" sz="1450" dirty="0"/>
          </a:p>
        </p:txBody>
      </p:sp>
      <p:sp>
        <p:nvSpPr>
          <p:cNvPr id="54" name="Text 51"/>
          <p:cNvSpPr txBox="1"/>
          <p:nvPr/>
        </p:nvSpPr>
        <p:spPr>
          <a:xfrm>
            <a:off x="5175504" y="4297680"/>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독서 진행, 완독 권수, 독후활동 참여 현황 집계</a:t>
            </a:r>
            <a:endParaRPr lang="en-US" sz="1400" dirty="0"/>
          </a:p>
        </p:txBody>
      </p:sp>
      <p:sp>
        <p:nvSpPr>
          <p:cNvPr id="55" name="Shape 52"/>
          <p:cNvSpPr/>
          <p:nvPr/>
        </p:nvSpPr>
        <p:spPr>
          <a:xfrm>
            <a:off x="1874520" y="4692701"/>
            <a:ext cx="9811512" cy="395021"/>
          </a:xfrm>
          <a:prstGeom prst="rect">
            <a:avLst/>
          </a:prstGeom>
          <a:solidFill>
            <a:srgbClr val="FFFFFF"/>
          </a:solidFill>
          <a:ln/>
        </p:spPr>
      </p:sp>
      <p:sp>
        <p:nvSpPr>
          <p:cNvPr id="56" name="Shape 53"/>
          <p:cNvSpPr/>
          <p:nvPr/>
        </p:nvSpPr>
        <p:spPr>
          <a:xfrm>
            <a:off x="1874520" y="5087722"/>
            <a:ext cx="9811512" cy="0"/>
          </a:xfrm>
          <a:prstGeom prst="line">
            <a:avLst/>
          </a:prstGeom>
          <a:noFill/>
          <a:ln w="7620">
            <a:solidFill>
              <a:srgbClr val="D6CDB6"/>
            </a:solidFill>
            <a:prstDash val="solid"/>
          </a:ln>
        </p:spPr>
      </p:sp>
      <p:sp>
        <p:nvSpPr>
          <p:cNvPr id="57" name="Shape 54"/>
          <p:cNvSpPr/>
          <p:nvPr/>
        </p:nvSpPr>
        <p:spPr>
          <a:xfrm>
            <a:off x="2002536" y="4734763"/>
            <a:ext cx="310896" cy="310896"/>
          </a:xfrm>
          <a:prstGeom prst="ellipse">
            <a:avLst/>
          </a:prstGeom>
          <a:solidFill>
            <a:srgbClr val="2F7D4F"/>
          </a:solidFill>
          <a:ln/>
        </p:spPr>
      </p:sp>
      <p:sp>
        <p:nvSpPr>
          <p:cNvPr id="58" name="Text 55"/>
          <p:cNvSpPr txBox="1"/>
          <p:nvPr/>
        </p:nvSpPr>
        <p:spPr>
          <a:xfrm>
            <a:off x="2002536" y="4734763"/>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59" name="Text 56"/>
          <p:cNvSpPr txBox="1"/>
          <p:nvPr/>
        </p:nvSpPr>
        <p:spPr>
          <a:xfrm>
            <a:off x="2551176" y="4692701"/>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 성과 보고</a:t>
            </a:r>
            <a:endParaRPr lang="en-US" sz="1450" dirty="0"/>
          </a:p>
        </p:txBody>
      </p:sp>
      <p:sp>
        <p:nvSpPr>
          <p:cNvPr id="60" name="Text 57"/>
          <p:cNvSpPr txBox="1"/>
          <p:nvPr/>
        </p:nvSpPr>
        <p:spPr>
          <a:xfrm>
            <a:off x="5175504" y="4692701"/>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월간 운영 현황, 학기별 독서활동 분석, 연간 결과보고서 제공</a:t>
            </a:r>
            <a:endParaRPr lang="en-US" sz="1400" dirty="0"/>
          </a:p>
        </p:txBody>
      </p:sp>
      <p:sp>
        <p:nvSpPr>
          <p:cNvPr id="61" name="Shape 58"/>
          <p:cNvSpPr/>
          <p:nvPr/>
        </p:nvSpPr>
        <p:spPr>
          <a:xfrm>
            <a:off x="1874520" y="5087722"/>
            <a:ext cx="9811512" cy="395021"/>
          </a:xfrm>
          <a:prstGeom prst="rect">
            <a:avLst/>
          </a:prstGeom>
          <a:solidFill>
            <a:srgbClr val="FBF9F3"/>
          </a:solidFill>
          <a:ln/>
        </p:spPr>
      </p:sp>
      <p:sp>
        <p:nvSpPr>
          <p:cNvPr id="62" name="Shape 59"/>
          <p:cNvSpPr/>
          <p:nvPr/>
        </p:nvSpPr>
        <p:spPr>
          <a:xfrm>
            <a:off x="1874520" y="5482742"/>
            <a:ext cx="9811512" cy="0"/>
          </a:xfrm>
          <a:prstGeom prst="line">
            <a:avLst/>
          </a:prstGeom>
          <a:noFill/>
          <a:ln w="7620">
            <a:solidFill>
              <a:srgbClr val="D6CDB6"/>
            </a:solidFill>
            <a:prstDash val="solid"/>
          </a:ln>
        </p:spPr>
      </p:sp>
      <p:sp>
        <p:nvSpPr>
          <p:cNvPr id="63" name="Shape 60"/>
          <p:cNvSpPr/>
          <p:nvPr/>
        </p:nvSpPr>
        <p:spPr>
          <a:xfrm>
            <a:off x="2002536" y="5129784"/>
            <a:ext cx="310896" cy="310896"/>
          </a:xfrm>
          <a:prstGeom prst="ellipse">
            <a:avLst/>
          </a:prstGeom>
          <a:solidFill>
            <a:srgbClr val="2F7D4F"/>
          </a:solidFill>
          <a:ln/>
        </p:spPr>
      </p:sp>
      <p:sp>
        <p:nvSpPr>
          <p:cNvPr id="64" name="Text 61"/>
          <p:cNvSpPr txBox="1"/>
          <p:nvPr/>
        </p:nvSpPr>
        <p:spPr>
          <a:xfrm>
            <a:off x="2002536" y="5129784"/>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8</a:t>
            </a:r>
            <a:endParaRPr lang="en-US" sz="1300" dirty="0"/>
          </a:p>
        </p:txBody>
      </p:sp>
      <p:sp>
        <p:nvSpPr>
          <p:cNvPr id="65" name="Text 62"/>
          <p:cNvSpPr txBox="1"/>
          <p:nvPr/>
        </p:nvSpPr>
        <p:spPr>
          <a:xfrm>
            <a:off x="2551176" y="5087722"/>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온라인 운영 상담</a:t>
            </a:r>
            <a:endParaRPr lang="en-US" sz="1450" dirty="0"/>
          </a:p>
        </p:txBody>
      </p:sp>
      <p:sp>
        <p:nvSpPr>
          <p:cNvPr id="66" name="Text 63"/>
          <p:cNvSpPr txBox="1"/>
          <p:nvPr/>
        </p:nvSpPr>
        <p:spPr>
          <a:xfrm>
            <a:off x="5175504" y="5087722"/>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담당 교사 대상 운영 점검, 수업 활용 상담, 개선 사항 안내</a:t>
            </a:r>
            <a:endParaRPr lang="en-US" sz="1400" dirty="0"/>
          </a:p>
        </p:txBody>
      </p:sp>
      <p:sp>
        <p:nvSpPr>
          <p:cNvPr id="67" name="Shape 64"/>
          <p:cNvSpPr/>
          <p:nvPr/>
        </p:nvSpPr>
        <p:spPr>
          <a:xfrm>
            <a:off x="1874520" y="5482742"/>
            <a:ext cx="9811512" cy="395021"/>
          </a:xfrm>
          <a:prstGeom prst="rect">
            <a:avLst/>
          </a:prstGeom>
          <a:solidFill>
            <a:srgbClr val="FFFFFF"/>
          </a:solidFill>
          <a:ln/>
        </p:spPr>
      </p:sp>
      <p:sp>
        <p:nvSpPr>
          <p:cNvPr id="68" name="Shape 65"/>
          <p:cNvSpPr/>
          <p:nvPr/>
        </p:nvSpPr>
        <p:spPr>
          <a:xfrm>
            <a:off x="1874520" y="5877763"/>
            <a:ext cx="9811512" cy="0"/>
          </a:xfrm>
          <a:prstGeom prst="line">
            <a:avLst/>
          </a:prstGeom>
          <a:noFill/>
          <a:ln w="7620">
            <a:solidFill>
              <a:srgbClr val="D6CDB6"/>
            </a:solidFill>
            <a:prstDash val="solid"/>
          </a:ln>
        </p:spPr>
      </p:sp>
      <p:sp>
        <p:nvSpPr>
          <p:cNvPr id="69" name="Shape 66"/>
          <p:cNvSpPr/>
          <p:nvPr/>
        </p:nvSpPr>
        <p:spPr>
          <a:xfrm>
            <a:off x="2002536" y="5524805"/>
            <a:ext cx="310896" cy="310896"/>
          </a:xfrm>
          <a:prstGeom prst="ellipse">
            <a:avLst/>
          </a:prstGeom>
          <a:solidFill>
            <a:srgbClr val="2F7D4F"/>
          </a:solidFill>
          <a:ln/>
        </p:spPr>
      </p:sp>
      <p:sp>
        <p:nvSpPr>
          <p:cNvPr id="70" name="Text 67"/>
          <p:cNvSpPr txBox="1"/>
          <p:nvPr/>
        </p:nvSpPr>
        <p:spPr>
          <a:xfrm>
            <a:off x="2002536" y="5524805"/>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9</a:t>
            </a:r>
            <a:endParaRPr lang="en-US" sz="1300" dirty="0"/>
          </a:p>
        </p:txBody>
      </p:sp>
      <p:sp>
        <p:nvSpPr>
          <p:cNvPr id="71" name="Text 68"/>
          <p:cNvSpPr txBox="1"/>
          <p:nvPr/>
        </p:nvSpPr>
        <p:spPr>
          <a:xfrm>
            <a:off x="2551176" y="5482742"/>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기술과 이용자 지원</a:t>
            </a:r>
            <a:endParaRPr lang="en-US" sz="1450" dirty="0"/>
          </a:p>
        </p:txBody>
      </p:sp>
      <p:sp>
        <p:nvSpPr>
          <p:cNvPr id="72" name="Text 69"/>
          <p:cNvSpPr txBox="1"/>
          <p:nvPr/>
        </p:nvSpPr>
        <p:spPr>
          <a:xfrm>
            <a:off x="5175504" y="5482742"/>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로그인, 계정, 서비스 오류 문의 응대, 이용 안내, 장애 접수와 처리</a:t>
            </a:r>
            <a:endParaRPr lang="en-US" sz="1400" dirty="0"/>
          </a:p>
        </p:txBody>
      </p:sp>
      <p:sp>
        <p:nvSpPr>
          <p:cNvPr id="73" name="Shape 70"/>
          <p:cNvSpPr/>
          <p:nvPr/>
        </p:nvSpPr>
        <p:spPr>
          <a:xfrm>
            <a:off x="1874520" y="5877763"/>
            <a:ext cx="9811512" cy="395021"/>
          </a:xfrm>
          <a:prstGeom prst="rect">
            <a:avLst/>
          </a:prstGeom>
          <a:solidFill>
            <a:srgbClr val="FBF9F3"/>
          </a:solidFill>
          <a:ln/>
        </p:spPr>
      </p:sp>
      <p:sp>
        <p:nvSpPr>
          <p:cNvPr id="74" name="Shape 71"/>
          <p:cNvSpPr/>
          <p:nvPr/>
        </p:nvSpPr>
        <p:spPr>
          <a:xfrm>
            <a:off x="1874520" y="6272784"/>
            <a:ext cx="9811512" cy="0"/>
          </a:xfrm>
          <a:prstGeom prst="line">
            <a:avLst/>
          </a:prstGeom>
          <a:noFill/>
          <a:ln w="7620">
            <a:solidFill>
              <a:srgbClr val="D6CDB6"/>
            </a:solidFill>
            <a:prstDash val="solid"/>
          </a:ln>
        </p:spPr>
      </p:sp>
      <p:sp>
        <p:nvSpPr>
          <p:cNvPr id="75" name="Shape 72"/>
          <p:cNvSpPr/>
          <p:nvPr/>
        </p:nvSpPr>
        <p:spPr>
          <a:xfrm>
            <a:off x="2002536" y="5919826"/>
            <a:ext cx="310896" cy="310896"/>
          </a:xfrm>
          <a:prstGeom prst="ellipse">
            <a:avLst/>
          </a:prstGeom>
          <a:solidFill>
            <a:srgbClr val="2F7D4F"/>
          </a:solidFill>
          <a:ln/>
        </p:spPr>
      </p:sp>
      <p:sp>
        <p:nvSpPr>
          <p:cNvPr id="76" name="Text 73"/>
          <p:cNvSpPr txBox="1"/>
          <p:nvPr/>
        </p:nvSpPr>
        <p:spPr>
          <a:xfrm>
            <a:off x="2002536" y="5919826"/>
            <a:ext cx="310896" cy="310896"/>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10</a:t>
            </a:r>
            <a:endParaRPr lang="en-US" sz="1300" dirty="0"/>
          </a:p>
        </p:txBody>
      </p:sp>
      <p:sp>
        <p:nvSpPr>
          <p:cNvPr id="77" name="Text 74"/>
          <p:cNvSpPr txBox="1"/>
          <p:nvPr/>
        </p:nvSpPr>
        <p:spPr>
          <a:xfrm>
            <a:off x="2551176" y="5877763"/>
            <a:ext cx="2459736" cy="395021"/>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콘텐츠와 서비스 유지관리</a:t>
            </a:r>
            <a:endParaRPr lang="en-US" sz="1450" dirty="0"/>
          </a:p>
        </p:txBody>
      </p:sp>
      <p:sp>
        <p:nvSpPr>
          <p:cNvPr id="78" name="Text 75"/>
          <p:cNvSpPr txBox="1"/>
          <p:nvPr/>
        </p:nvSpPr>
        <p:spPr>
          <a:xfrm>
            <a:off x="5175504" y="5877763"/>
            <a:ext cx="6455664" cy="395021"/>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도서와 수업자료 오류 수정, 플랫폼 기능 유지보수, 보안과 개인정보 보호 관리</a:t>
            </a:r>
            <a:endParaRPr lang="en-US" sz="1400" dirty="0"/>
          </a:p>
        </p:txBody>
      </p:sp>
      <p:sp>
        <p:nvSpPr>
          <p:cNvPr id="79" name="Shape 76"/>
          <p:cNvSpPr/>
          <p:nvPr/>
        </p:nvSpPr>
        <p:spPr>
          <a:xfrm>
            <a:off x="521208" y="2350008"/>
            <a:ext cx="1280160" cy="735178"/>
          </a:xfrm>
          <a:prstGeom prst="roundRect">
            <a:avLst>
              <a:gd name="adj" fmla="val 9950"/>
            </a:avLst>
          </a:prstGeom>
          <a:solidFill>
            <a:srgbClr val="E6F0E7"/>
          </a:solidFill>
          <a:ln/>
        </p:spPr>
      </p:sp>
      <p:pic>
        <p:nvPicPr>
          <p:cNvPr id="80" name="Image 1" descr="clipboard-list">    </p:cNvPr>
          <p:cNvPicPr>
            <a:picLocks noChangeAspect="1"/>
          </p:cNvPicPr>
          <p:nvPr/>
        </p:nvPicPr>
        <p:blipFill>
          <a:blip r:embed="rId2"/>
          <a:stretch>
            <a:fillRect/>
          </a:stretch>
        </p:blipFill>
        <p:spPr>
          <a:xfrm>
            <a:off x="1005840" y="2441448"/>
            <a:ext cx="292608" cy="292608"/>
          </a:xfrm>
          <a:prstGeom prst="rect">
            <a:avLst/>
          </a:prstGeom>
        </p:spPr>
      </p:pic>
      <p:sp>
        <p:nvSpPr>
          <p:cNvPr id="81" name="Text 77"/>
          <p:cNvSpPr txBox="1"/>
          <p:nvPr/>
        </p:nvSpPr>
        <p:spPr>
          <a:xfrm>
            <a:off x="521208" y="2752344"/>
            <a:ext cx="1280160" cy="27797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준비</a:t>
            </a:r>
            <a:endParaRPr lang="en-US" sz="1400" dirty="0"/>
          </a:p>
        </p:txBody>
      </p:sp>
      <p:sp>
        <p:nvSpPr>
          <p:cNvPr id="82" name="Shape 78"/>
          <p:cNvSpPr/>
          <p:nvPr/>
        </p:nvSpPr>
        <p:spPr>
          <a:xfrm>
            <a:off x="521208" y="3140050"/>
            <a:ext cx="1280160" cy="735178"/>
          </a:xfrm>
          <a:prstGeom prst="roundRect">
            <a:avLst>
              <a:gd name="adj" fmla="val 9950"/>
            </a:avLst>
          </a:prstGeom>
          <a:solidFill>
            <a:srgbClr val="FBF5E6"/>
          </a:solidFill>
          <a:ln/>
        </p:spPr>
      </p:sp>
      <p:pic>
        <p:nvPicPr>
          <p:cNvPr id="83" name="Image 2" descr="presentation">    </p:cNvPr>
          <p:cNvPicPr>
            <a:picLocks noChangeAspect="1"/>
          </p:cNvPicPr>
          <p:nvPr/>
        </p:nvPicPr>
        <p:blipFill>
          <a:blip r:embed="rId3"/>
          <a:stretch>
            <a:fillRect/>
          </a:stretch>
        </p:blipFill>
        <p:spPr>
          <a:xfrm>
            <a:off x="1005840" y="3231490"/>
            <a:ext cx="292608" cy="292608"/>
          </a:xfrm>
          <a:prstGeom prst="rect">
            <a:avLst/>
          </a:prstGeom>
        </p:spPr>
      </p:pic>
      <p:sp>
        <p:nvSpPr>
          <p:cNvPr id="84" name="Text 79"/>
          <p:cNvSpPr txBox="1"/>
          <p:nvPr/>
        </p:nvSpPr>
        <p:spPr>
          <a:xfrm>
            <a:off x="521208" y="3542386"/>
            <a:ext cx="1280160" cy="27797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수업 운영</a:t>
            </a:r>
            <a:endParaRPr lang="en-US" sz="1400" dirty="0"/>
          </a:p>
        </p:txBody>
      </p:sp>
      <p:sp>
        <p:nvSpPr>
          <p:cNvPr id="85" name="Shape 80"/>
          <p:cNvSpPr/>
          <p:nvPr/>
        </p:nvSpPr>
        <p:spPr>
          <a:xfrm>
            <a:off x="521208" y="3930091"/>
            <a:ext cx="1280160" cy="735178"/>
          </a:xfrm>
          <a:prstGeom prst="roundRect">
            <a:avLst>
              <a:gd name="adj" fmla="val 9950"/>
            </a:avLst>
          </a:prstGeom>
          <a:solidFill>
            <a:srgbClr val="E6F0E7"/>
          </a:solidFill>
          <a:ln/>
        </p:spPr>
      </p:sp>
      <p:pic>
        <p:nvPicPr>
          <p:cNvPr id="86" name="Image 3" descr="chart-bar">    </p:cNvPr>
          <p:cNvPicPr>
            <a:picLocks noChangeAspect="1"/>
          </p:cNvPicPr>
          <p:nvPr/>
        </p:nvPicPr>
        <p:blipFill>
          <a:blip r:embed="rId4"/>
          <a:stretch>
            <a:fillRect/>
          </a:stretch>
        </p:blipFill>
        <p:spPr>
          <a:xfrm>
            <a:off x="1005840" y="4021531"/>
            <a:ext cx="292608" cy="292608"/>
          </a:xfrm>
          <a:prstGeom prst="rect">
            <a:avLst/>
          </a:prstGeom>
        </p:spPr>
      </p:pic>
      <p:sp>
        <p:nvSpPr>
          <p:cNvPr id="87" name="Text 81"/>
          <p:cNvSpPr txBox="1"/>
          <p:nvPr/>
        </p:nvSpPr>
        <p:spPr>
          <a:xfrm>
            <a:off x="521208" y="4332427"/>
            <a:ext cx="1280160" cy="27797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참여 점검</a:t>
            </a:r>
            <a:endParaRPr lang="en-US" sz="1400" dirty="0"/>
          </a:p>
        </p:txBody>
      </p:sp>
      <p:sp>
        <p:nvSpPr>
          <p:cNvPr id="88" name="Shape 82"/>
          <p:cNvSpPr/>
          <p:nvPr/>
        </p:nvSpPr>
        <p:spPr>
          <a:xfrm>
            <a:off x="521208" y="4720133"/>
            <a:ext cx="1280160" cy="735178"/>
          </a:xfrm>
          <a:prstGeom prst="roundRect">
            <a:avLst>
              <a:gd name="adj" fmla="val 9950"/>
            </a:avLst>
          </a:prstGeom>
          <a:solidFill>
            <a:srgbClr val="FBF5E6"/>
          </a:solidFill>
          <a:ln/>
        </p:spPr>
      </p:sp>
      <p:pic>
        <p:nvPicPr>
          <p:cNvPr id="89" name="Image 4" descr="report-analytics">    </p:cNvPr>
          <p:cNvPicPr>
            <a:picLocks noChangeAspect="1"/>
          </p:cNvPicPr>
          <p:nvPr/>
        </p:nvPicPr>
        <p:blipFill>
          <a:blip r:embed="rId5"/>
          <a:stretch>
            <a:fillRect/>
          </a:stretch>
        </p:blipFill>
        <p:spPr>
          <a:xfrm>
            <a:off x="1005840" y="4811573"/>
            <a:ext cx="292608" cy="292608"/>
          </a:xfrm>
          <a:prstGeom prst="rect">
            <a:avLst/>
          </a:prstGeom>
        </p:spPr>
      </p:pic>
      <p:sp>
        <p:nvSpPr>
          <p:cNvPr id="90" name="Text 83"/>
          <p:cNvSpPr txBox="1"/>
          <p:nvPr/>
        </p:nvSpPr>
        <p:spPr>
          <a:xfrm>
            <a:off x="521208" y="5122469"/>
            <a:ext cx="1280160" cy="27797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보고와 상담</a:t>
            </a:r>
            <a:endParaRPr lang="en-US" sz="1400" dirty="0"/>
          </a:p>
        </p:txBody>
      </p:sp>
      <p:sp>
        <p:nvSpPr>
          <p:cNvPr id="91" name="Shape 84"/>
          <p:cNvSpPr/>
          <p:nvPr/>
        </p:nvSpPr>
        <p:spPr>
          <a:xfrm>
            <a:off x="521208" y="5510174"/>
            <a:ext cx="1280160" cy="735178"/>
          </a:xfrm>
          <a:prstGeom prst="roundRect">
            <a:avLst>
              <a:gd name="adj" fmla="val 9950"/>
            </a:avLst>
          </a:prstGeom>
          <a:solidFill>
            <a:srgbClr val="E6F0E7"/>
          </a:solidFill>
          <a:ln/>
        </p:spPr>
      </p:sp>
      <p:pic>
        <p:nvPicPr>
          <p:cNvPr id="92" name="Image 5" descr="lifebuoy">    </p:cNvPr>
          <p:cNvPicPr>
            <a:picLocks noChangeAspect="1"/>
          </p:cNvPicPr>
          <p:nvPr/>
        </p:nvPicPr>
        <p:blipFill>
          <a:blip r:embed="rId6"/>
          <a:stretch>
            <a:fillRect/>
          </a:stretch>
        </p:blipFill>
        <p:spPr>
          <a:xfrm>
            <a:off x="1005840" y="5601614"/>
            <a:ext cx="292608" cy="292608"/>
          </a:xfrm>
          <a:prstGeom prst="rect">
            <a:avLst/>
          </a:prstGeom>
        </p:spPr>
      </p:pic>
      <p:sp>
        <p:nvSpPr>
          <p:cNvPr id="93" name="Text 85"/>
          <p:cNvSpPr txBox="1"/>
          <p:nvPr/>
        </p:nvSpPr>
        <p:spPr>
          <a:xfrm>
            <a:off x="521208" y="5912510"/>
            <a:ext cx="1280160" cy="27797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지원과 유지</a:t>
            </a:r>
            <a:endParaRPr lang="en-US" sz="1400" dirty="0"/>
          </a:p>
        </p:txBody>
      </p:sp>
      <p:sp>
        <p:nvSpPr>
          <p:cNvPr id="94" name="Shape 86"/>
          <p:cNvSpPr/>
          <p:nvPr/>
        </p:nvSpPr>
        <p:spPr>
          <a:xfrm>
            <a:off x="1874520" y="2322576"/>
            <a:ext cx="0" cy="3950208"/>
          </a:xfrm>
          <a:prstGeom prst="line">
            <a:avLst/>
          </a:prstGeom>
          <a:noFill/>
          <a:ln w="7620">
            <a:solidFill>
              <a:srgbClr val="D6CDB6"/>
            </a:solidFill>
            <a:prstDash val="solid"/>
          </a:ln>
        </p:spPr>
      </p:sp>
      <p:sp>
        <p:nvSpPr>
          <p:cNvPr id="95" name="Shape 87"/>
          <p:cNvSpPr/>
          <p:nvPr/>
        </p:nvSpPr>
        <p:spPr>
          <a:xfrm>
            <a:off x="2441448" y="2322576"/>
            <a:ext cx="0" cy="3950208"/>
          </a:xfrm>
          <a:prstGeom prst="line">
            <a:avLst/>
          </a:prstGeom>
          <a:noFill/>
          <a:ln w="7620">
            <a:solidFill>
              <a:srgbClr val="D6CDB6"/>
            </a:solidFill>
            <a:prstDash val="solid"/>
          </a:ln>
        </p:spPr>
      </p:sp>
      <p:sp>
        <p:nvSpPr>
          <p:cNvPr id="96" name="Shape 88"/>
          <p:cNvSpPr/>
          <p:nvPr/>
        </p:nvSpPr>
        <p:spPr>
          <a:xfrm>
            <a:off x="5047488" y="2322576"/>
            <a:ext cx="0" cy="3950208"/>
          </a:xfrm>
          <a:prstGeom prst="line">
            <a:avLst/>
          </a:prstGeom>
          <a:noFill/>
          <a:ln w="7620">
            <a:solidFill>
              <a:srgbClr val="D6CDB6"/>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현황, 학기별 분석, 연간 결과보고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드립니다</a:t>
            </a:r>
            <a:endParaRPr lang="en-US" sz="1400" dirty="0"/>
          </a:p>
        </p:txBody>
      </p:sp>
      <p:sp>
        <p:nvSpPr>
          <p:cNvPr id="10" name="Text 7"/>
          <p:cNvSpPr txBox="1"/>
          <p:nvPr/>
        </p:nvSpPr>
        <p:spPr>
          <a:xfrm>
            <a:off x="1902054"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93122"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noAutofit/>
          </a:bodyPr>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noAutofit/>
          </a:bodyPr>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개인 이름을 제외한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noAutofit/>
          </a:bodyP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완독 보상으로 다음 책에도 관심을 갖도록 돕습니다.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noAutofit/>
          </a:bodyP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noAutofit/>
          </a:bodyPr>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noAutofit/>
          </a:bodyP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noAutofit/>
          </a:bodyPr>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noAutofit/>
          </a:bodyP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r>
              <a:rPr lang="en-US" sz="1200" dirty="0">
                <a:solidFill>
                  <a:srgbClr val="7B857B"/>
                </a:solidFill>
                <a:latin typeface="Freesentation 6 SemiBold" pitchFamily="34" charset="0"/>
                <a:ea typeface="Freesentation 6 SemiBold" pitchFamily="34" charset="-122"/>
                <a:cs typeface="Freesentation 6 SemiBold" pitchFamily="34" charset="-120"/>
              </a:rPr>
              <a:t> 캐릭터  </a:t>
            </a: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noAutofit/>
          </a:bodyPr>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noAutofit/>
          </a:bodyP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r>
              <a:rPr lang="en-US" sz="1200" dirty="0">
                <a:solidFill>
                  <a:srgbClr val="7B857B"/>
                </a:solidFill>
                <a:latin typeface="Freesentation 6 SemiBold" pitchFamily="34" charset="0"/>
                <a:ea typeface="Freesentation 6 SemiBold" pitchFamily="34" charset="-122"/>
                <a:cs typeface="Freesentation 6 SemiBold" pitchFamily="34" charset="-120"/>
              </a:rPr>
              <a:t> 작가  </a:t>
            </a: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noAutofit/>
          </a:bodyP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인물의 선택을 이야기하고 친구의 생각을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들으며, 함께 문제를 푸는 연습</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합니다.</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꾸준히 읽으며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새 낱말을 익히고 글을 이해하는 연습을 합니다.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noAutofit/>
          </a:bodyP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noAutofit/>
          </a:bodyP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noAutofit/>
          </a:bodyP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noAutofit/>
          </a:bodyP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noAutofit/>
          </a:bodyPr>
          <a:lstStyle/>
          <a:p>
            <a:pPr indent="0" marL="0">
              <a:lnSpc>
                <a:spcPct val="112000"/>
              </a:lnSpc>
              <a:buNone/>
            </a:pPr>
            <a:r>
              <a:rPr lang="en-US" sz="1455" dirty="0">
                <a:solidFill>
                  <a:srgbClr val="C08A1E"/>
                </a:solidFill>
                <a:latin typeface="Freesentation 9 Black" pitchFamily="34" charset="0"/>
                <a:ea typeface="Freesentation 9 Black" pitchFamily="34" charset="-122"/>
                <a:cs typeface="Freesentation 9 Black" pitchFamily="34" charset="-120"/>
              </a:rPr>
              <a:t>114.6만 낱말</a:t>
            </a:r>
            <a:endParaRPr lang="en-US" sz="1455" dirty="0"/>
          </a:p>
        </p:txBody>
      </p:sp>
      <p:sp>
        <p:nvSpPr>
          <p:cNvPr id="33" name="Text 30"/>
          <p:cNvSpPr txBox="1"/>
          <p:nvPr/>
        </p:nvSpPr>
        <p:spPr>
          <a:xfrm>
            <a:off x="576072" y="4425696"/>
            <a:ext cx="1005840" cy="420624"/>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noAutofit/>
          </a:bodyP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noAutofit/>
          </a:bodyPr>
          <a:lstStyle/>
          <a:p>
            <a:pPr indent="0" marL="0">
              <a:lnSpc>
                <a:spcPct val="112000"/>
              </a:lnSpc>
              <a:buNone/>
            </a:pPr>
            <a:r>
              <a:rPr lang="en-US" sz="1455" dirty="0">
                <a:solidFill>
                  <a:srgbClr val="20342A"/>
                </a:solidFill>
                <a:latin typeface="Freesentation 9 Black" pitchFamily="34" charset="0"/>
                <a:ea typeface="Freesentation 9 Black" pitchFamily="34" charset="-122"/>
                <a:cs typeface="Freesentation 9 Black" pitchFamily="34" charset="-120"/>
              </a:rPr>
              <a:t>182.3만 낱말</a:t>
            </a:r>
            <a:endParaRPr lang="en-US" sz="1455" dirty="0"/>
          </a:p>
        </p:txBody>
      </p:sp>
      <p:sp>
        <p:nvSpPr>
          <p:cNvPr id="37" name="Text 34"/>
          <p:cNvSpPr txBox="1"/>
          <p:nvPr/>
        </p:nvSpPr>
        <p:spPr>
          <a:xfrm>
            <a:off x="4748022" y="3081528"/>
            <a:ext cx="1371600" cy="256032"/>
          </a:xfrm>
          <a:prstGeom prst="rect">
            <a:avLst/>
          </a:prstGeom>
          <a:noFill/>
          <a:ln/>
        </p:spPr>
        <p:txBody>
          <a:bodyPr wrap="square" lIns="0" tIns="0" rIns="0" bIns="0" rtlCol="0" anchor="ctr">
            <a:noAutofit/>
          </a:bodyP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noAutofit/>
          </a:bodyP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noAutofit/>
          </a:bodyP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noAutofit/>
          </a:bodyP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noAutofit/>
          </a:bodyP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noAutofit/>
          </a:bodyPr>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noAutofit/>
          </a:bodyPr>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noAutofit/>
          </a:bodyPr>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noAutofit/>
          </a:bodyPr>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noAutofit/>
          </a:bodyPr>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noAutofit/>
          </a:bodyP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noAutofit/>
          </a:bodyPr>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noAutofit/>
          </a:bodyPr>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noAutofit/>
          </a:bodyPr>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noAutofit/>
          </a:bodyP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noAutofit/>
          </a:bodyPr>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noAutofit/>
          </a:bodyP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noAutofit/>
          </a:bodyP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noAutofit/>
          </a:bodyP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noAutofit/>
          </a:bodyP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noAutofit/>
          </a:bodyP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교육청에는 운영 성과를, 교사에게는 수업 활용법을, 학부모와 학생에게는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읽기와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방법을 안내합니다.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noAutofit/>
          </a:bodyP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명작과 함께 읽을 수 있도록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오늘의 교실 문제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다룬 교사 창작 도서를 펴냅니다</a:t>
            </a:r>
            <a:endParaRPr lang="en-US" sz="1400" dirty="0"/>
          </a:p>
        </p:txBody>
      </p:sp>
      <p:sp>
        <p:nvSpPr>
          <p:cNvPr id="10" name="Text 7"/>
          <p:cNvSpPr txBox="1"/>
          <p:nvPr/>
        </p:nvSpPr>
        <p:spPr>
          <a:xfrm>
            <a:off x="2199894"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95282"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6단계</a:t>
            </a:r>
            <a:endParaRPr lang="en-US" sz="1650" dirty="0"/>
          </a:p>
        </p:txBody>
      </p:sp>
      <p:sp>
        <p:nvSpPr>
          <p:cNvPr id="16" name="Shape 13"/>
          <p:cNvSpPr/>
          <p:nvPr/>
        </p:nvSpPr>
        <p:spPr>
          <a:xfrm>
            <a:off x="502920" y="2340864"/>
            <a:ext cx="1711452" cy="1874520"/>
          </a:xfrm>
          <a:prstGeom prst="roundRect">
            <a:avLst>
              <a:gd name="adj" fmla="val 5343"/>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1757172" y="2523744"/>
            <a:ext cx="292608" cy="292608"/>
          </a:xfrm>
          <a:prstGeom prst="ellipse">
            <a:avLst/>
          </a:prstGeom>
          <a:solidFill>
            <a:srgbClr val="2F7D4F"/>
          </a:solidFill>
          <a:ln/>
        </p:spPr>
      </p:sp>
      <p:sp>
        <p:nvSpPr>
          <p:cNvPr id="20" name="Text 16"/>
          <p:cNvSpPr txBox="1"/>
          <p:nvPr/>
        </p:nvSpPr>
        <p:spPr>
          <a:xfrm>
            <a:off x="1757172"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디지털 생활, 환경,</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마음 건강</a:t>
            </a:r>
            <a:endParaRPr lang="en-US" sz="1300" dirty="0"/>
          </a:p>
        </p:txBody>
      </p:sp>
      <p:sp>
        <p:nvSpPr>
          <p:cNvPr id="23" name="Shape 19"/>
          <p:cNvSpPr/>
          <p:nvPr/>
        </p:nvSpPr>
        <p:spPr>
          <a:xfrm>
            <a:off x="2241804" y="3159252"/>
            <a:ext cx="128016" cy="237744"/>
          </a:xfrm>
          <a:prstGeom prst="chevron">
            <a:avLst/>
          </a:prstGeom>
          <a:solidFill>
            <a:srgbClr val="C08A1E"/>
          </a:solidFill>
          <a:ln/>
        </p:spPr>
      </p:sp>
      <p:sp>
        <p:nvSpPr>
          <p:cNvPr id="24" name="Shape 20"/>
          <p:cNvSpPr/>
          <p:nvPr/>
        </p:nvSpPr>
        <p:spPr>
          <a:xfrm>
            <a:off x="2397252" y="2340864"/>
            <a:ext cx="1711452" cy="1874520"/>
          </a:xfrm>
          <a:prstGeom prst="roundRect">
            <a:avLst>
              <a:gd name="adj" fmla="val 5343"/>
            </a:avLst>
          </a:prstGeom>
          <a:solidFill>
            <a:srgbClr val="FFFFFF"/>
          </a:solidFill>
          <a:ln w="9525">
            <a:solidFill>
              <a:srgbClr val="E2DCCB"/>
            </a:solidFill>
            <a:prstDash val="solid"/>
          </a:ln>
        </p:spPr>
      </p:sp>
      <p:sp>
        <p:nvSpPr>
          <p:cNvPr id="25" name="Shape 21"/>
          <p:cNvSpPr/>
          <p:nvPr/>
        </p:nvSpPr>
        <p:spPr>
          <a:xfrm>
            <a:off x="2543556"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2651089" y="2594701"/>
            <a:ext cx="296997" cy="296997"/>
          </a:xfrm>
          <a:prstGeom prst="rect">
            <a:avLst/>
          </a:prstGeom>
        </p:spPr>
      </p:pic>
      <p:sp>
        <p:nvSpPr>
          <p:cNvPr id="27" name="Shape 22"/>
          <p:cNvSpPr/>
          <p:nvPr/>
        </p:nvSpPr>
        <p:spPr>
          <a:xfrm>
            <a:off x="3651504" y="2523744"/>
            <a:ext cx="292608" cy="292608"/>
          </a:xfrm>
          <a:prstGeom prst="ellipse">
            <a:avLst/>
          </a:prstGeom>
          <a:solidFill>
            <a:srgbClr val="2F7D4F"/>
          </a:solidFill>
          <a:ln/>
        </p:spPr>
      </p:sp>
      <p:sp>
        <p:nvSpPr>
          <p:cNvPr id="28" name="Text 23"/>
          <p:cNvSpPr txBox="1"/>
          <p:nvPr/>
        </p:nvSpPr>
        <p:spPr>
          <a:xfrm>
            <a:off x="3651504"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543556"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543556"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136136" y="3159252"/>
            <a:ext cx="128016" cy="237744"/>
          </a:xfrm>
          <a:prstGeom prst="chevron">
            <a:avLst/>
          </a:prstGeom>
          <a:solidFill>
            <a:srgbClr val="C08A1E"/>
          </a:solidFill>
          <a:ln/>
        </p:spPr>
      </p:sp>
      <p:sp>
        <p:nvSpPr>
          <p:cNvPr id="32" name="Shape 27"/>
          <p:cNvSpPr/>
          <p:nvPr/>
        </p:nvSpPr>
        <p:spPr>
          <a:xfrm>
            <a:off x="4291584" y="2340864"/>
            <a:ext cx="1711452" cy="1874520"/>
          </a:xfrm>
          <a:prstGeom prst="roundRect">
            <a:avLst>
              <a:gd name="adj" fmla="val 5343"/>
            </a:avLst>
          </a:prstGeom>
          <a:solidFill>
            <a:srgbClr val="FFFFFF"/>
          </a:solidFill>
          <a:ln w="9525">
            <a:solidFill>
              <a:srgbClr val="E2DCCB"/>
            </a:solidFill>
            <a:prstDash val="solid"/>
          </a:ln>
        </p:spPr>
      </p:sp>
      <p:sp>
        <p:nvSpPr>
          <p:cNvPr id="33" name="Shape 28"/>
          <p:cNvSpPr/>
          <p:nvPr/>
        </p:nvSpPr>
        <p:spPr>
          <a:xfrm>
            <a:off x="4437888"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4545421" y="2594701"/>
            <a:ext cx="296997" cy="296997"/>
          </a:xfrm>
          <a:prstGeom prst="rect">
            <a:avLst/>
          </a:prstGeom>
        </p:spPr>
      </p:pic>
      <p:sp>
        <p:nvSpPr>
          <p:cNvPr id="35" name="Shape 29"/>
          <p:cNvSpPr/>
          <p:nvPr/>
        </p:nvSpPr>
        <p:spPr>
          <a:xfrm>
            <a:off x="5545836" y="2523744"/>
            <a:ext cx="292608" cy="292608"/>
          </a:xfrm>
          <a:prstGeom prst="ellipse">
            <a:avLst/>
          </a:prstGeom>
          <a:solidFill>
            <a:srgbClr val="2F7D4F"/>
          </a:solidFill>
          <a:ln/>
        </p:spPr>
      </p:sp>
      <p:sp>
        <p:nvSpPr>
          <p:cNvPr id="36" name="Text 30"/>
          <p:cNvSpPr txBox="1"/>
          <p:nvPr/>
        </p:nvSpPr>
        <p:spPr>
          <a:xfrm>
            <a:off x="5545836"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4437888"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4437888"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6030468" y="3159252"/>
            <a:ext cx="128016" cy="237744"/>
          </a:xfrm>
          <a:prstGeom prst="chevron">
            <a:avLst/>
          </a:prstGeom>
          <a:solidFill>
            <a:srgbClr val="C08A1E"/>
          </a:solidFill>
          <a:ln/>
        </p:spPr>
      </p:sp>
      <p:sp>
        <p:nvSpPr>
          <p:cNvPr id="40" name="Shape 34"/>
          <p:cNvSpPr/>
          <p:nvPr/>
        </p:nvSpPr>
        <p:spPr>
          <a:xfrm>
            <a:off x="6185916" y="2340864"/>
            <a:ext cx="1711452" cy="1874520"/>
          </a:xfrm>
          <a:prstGeom prst="roundRect">
            <a:avLst>
              <a:gd name="adj" fmla="val 5343"/>
            </a:avLst>
          </a:prstGeom>
          <a:solidFill>
            <a:srgbClr val="E6F0E7"/>
          </a:solidFill>
          <a:ln w="9525">
            <a:solidFill>
              <a:srgbClr val="E2DCCB"/>
            </a:solidFill>
            <a:prstDash val="solid"/>
          </a:ln>
        </p:spPr>
      </p:sp>
      <p:sp>
        <p:nvSpPr>
          <p:cNvPr id="41" name="Shape 35"/>
          <p:cNvSpPr/>
          <p:nvPr/>
        </p:nvSpPr>
        <p:spPr>
          <a:xfrm>
            <a:off x="6332220" y="2487168"/>
            <a:ext cx="512064" cy="512064"/>
          </a:xfrm>
          <a:prstGeom prst="ellipse">
            <a:avLst/>
          </a:prstGeom>
          <a:solidFill>
            <a:srgbClr val="FFFFFF"/>
          </a:solidFill>
          <a:ln/>
        </p:spPr>
      </p:sp>
      <p:pic>
        <p:nvPicPr>
          <p:cNvPr id="42" name="Image 4" descr="brush">    </p:cNvPr>
          <p:cNvPicPr>
            <a:picLocks noChangeAspect="1"/>
          </p:cNvPicPr>
          <p:nvPr/>
        </p:nvPicPr>
        <p:blipFill>
          <a:blip r:embed="rId5"/>
          <a:stretch>
            <a:fillRect/>
          </a:stretch>
        </p:blipFill>
        <p:spPr>
          <a:xfrm>
            <a:off x="6439753" y="2594701"/>
            <a:ext cx="296997" cy="296997"/>
          </a:xfrm>
          <a:prstGeom prst="rect">
            <a:avLst/>
          </a:prstGeom>
        </p:spPr>
      </p:pic>
      <p:sp>
        <p:nvSpPr>
          <p:cNvPr id="43" name="Shape 36"/>
          <p:cNvSpPr/>
          <p:nvPr/>
        </p:nvSpPr>
        <p:spPr>
          <a:xfrm>
            <a:off x="7440168" y="2523744"/>
            <a:ext cx="292608" cy="292608"/>
          </a:xfrm>
          <a:prstGeom prst="ellipse">
            <a:avLst/>
          </a:prstGeom>
          <a:solidFill>
            <a:srgbClr val="2F7D4F"/>
          </a:solidFill>
          <a:ln/>
        </p:spPr>
      </p:sp>
      <p:sp>
        <p:nvSpPr>
          <p:cNvPr id="44" name="Text 37"/>
          <p:cNvSpPr txBox="1"/>
          <p:nvPr/>
        </p:nvSpPr>
        <p:spPr>
          <a:xfrm>
            <a:off x="7440168"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6332220"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작가 검토와 삽화</a:t>
            </a:r>
            <a:endParaRPr lang="en-US" sz="1650" dirty="0"/>
          </a:p>
        </p:txBody>
      </p:sp>
      <p:sp>
        <p:nvSpPr>
          <p:cNvPr id="46" name="Text 39"/>
          <p:cNvSpPr txBox="1"/>
          <p:nvPr/>
        </p:nvSpPr>
        <p:spPr>
          <a:xfrm>
            <a:off x="6332220"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전문 작가가 검토하고</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장면 삽화를 그림</a:t>
            </a:r>
            <a:endParaRPr lang="en-US" sz="1300" dirty="0"/>
          </a:p>
        </p:txBody>
      </p:sp>
      <p:sp>
        <p:nvSpPr>
          <p:cNvPr id="47" name="Shape 40"/>
          <p:cNvSpPr/>
          <p:nvPr/>
        </p:nvSpPr>
        <p:spPr>
          <a:xfrm>
            <a:off x="7924800" y="3159252"/>
            <a:ext cx="128016" cy="237744"/>
          </a:xfrm>
          <a:prstGeom prst="chevron">
            <a:avLst/>
          </a:prstGeom>
          <a:solidFill>
            <a:srgbClr val="C08A1E"/>
          </a:solidFill>
          <a:ln/>
        </p:spPr>
      </p:sp>
      <p:sp>
        <p:nvSpPr>
          <p:cNvPr id="48" name="Shape 41"/>
          <p:cNvSpPr/>
          <p:nvPr/>
        </p:nvSpPr>
        <p:spPr>
          <a:xfrm>
            <a:off x="8080248" y="2340864"/>
            <a:ext cx="1711452" cy="1874520"/>
          </a:xfrm>
          <a:prstGeom prst="roundRect">
            <a:avLst>
              <a:gd name="adj" fmla="val 5343"/>
            </a:avLst>
          </a:prstGeom>
          <a:solidFill>
            <a:srgbClr val="E6F0E7"/>
          </a:solidFill>
          <a:ln w="9525">
            <a:solidFill>
              <a:srgbClr val="E2DCCB"/>
            </a:solidFill>
            <a:prstDash val="solid"/>
          </a:ln>
        </p:spPr>
      </p:sp>
      <p:sp>
        <p:nvSpPr>
          <p:cNvPr id="49" name="Shape 42"/>
          <p:cNvSpPr/>
          <p:nvPr/>
        </p:nvSpPr>
        <p:spPr>
          <a:xfrm>
            <a:off x="8226552" y="2487168"/>
            <a:ext cx="512064" cy="512064"/>
          </a:xfrm>
          <a:prstGeom prst="ellipse">
            <a:avLst/>
          </a:prstGeom>
          <a:solidFill>
            <a:srgbClr val="FFFFFF"/>
          </a:solidFill>
          <a:ln/>
        </p:spPr>
      </p:sp>
      <p:pic>
        <p:nvPicPr>
          <p:cNvPr id="50" name="Image 5" descr="barcode">    </p:cNvPr>
          <p:cNvPicPr>
            <a:picLocks noChangeAspect="1"/>
          </p:cNvPicPr>
          <p:nvPr/>
        </p:nvPicPr>
        <p:blipFill>
          <a:blip r:embed="rId6"/>
          <a:stretch>
            <a:fillRect/>
          </a:stretch>
        </p:blipFill>
        <p:spPr>
          <a:xfrm>
            <a:off x="8334085" y="2594701"/>
            <a:ext cx="296997" cy="296997"/>
          </a:xfrm>
          <a:prstGeom prst="rect">
            <a:avLst/>
          </a:prstGeom>
        </p:spPr>
      </p:pic>
      <p:sp>
        <p:nvSpPr>
          <p:cNvPr id="51" name="Shape 43"/>
          <p:cNvSpPr/>
          <p:nvPr/>
        </p:nvSpPr>
        <p:spPr>
          <a:xfrm>
            <a:off x="9334500" y="2523744"/>
            <a:ext cx="292608" cy="292608"/>
          </a:xfrm>
          <a:prstGeom prst="ellipse">
            <a:avLst/>
          </a:prstGeom>
          <a:solidFill>
            <a:srgbClr val="2F7D4F"/>
          </a:solidFill>
          <a:ln/>
        </p:spPr>
      </p:sp>
      <p:sp>
        <p:nvSpPr>
          <p:cNvPr id="52" name="Text 44"/>
          <p:cNvSpPr txBox="1"/>
          <p:nvPr/>
        </p:nvSpPr>
        <p:spPr>
          <a:xfrm>
            <a:off x="9334500"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8226552"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ISBN 발행</a:t>
            </a:r>
            <a:endParaRPr lang="en-US" sz="1650" dirty="0"/>
          </a:p>
        </p:txBody>
      </p:sp>
      <p:sp>
        <p:nvSpPr>
          <p:cNvPr id="54" name="Text 46"/>
          <p:cNvSpPr txBox="1"/>
          <p:nvPr/>
        </p:nvSpPr>
        <p:spPr>
          <a:xfrm>
            <a:off x="8226552"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(주)엠에스이씨엠이</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ISBN 등록, 정식 출간</a:t>
            </a:r>
            <a:endParaRPr lang="en-US" sz="1300" dirty="0"/>
          </a:p>
        </p:txBody>
      </p:sp>
      <p:sp>
        <p:nvSpPr>
          <p:cNvPr id="55" name="Shape 47"/>
          <p:cNvSpPr/>
          <p:nvPr/>
        </p:nvSpPr>
        <p:spPr>
          <a:xfrm>
            <a:off x="9819132" y="3159252"/>
            <a:ext cx="128016" cy="237744"/>
          </a:xfrm>
          <a:prstGeom prst="chevron">
            <a:avLst/>
          </a:prstGeom>
          <a:solidFill>
            <a:srgbClr val="C08A1E"/>
          </a:solidFill>
          <a:ln/>
        </p:spPr>
      </p:sp>
      <p:sp>
        <p:nvSpPr>
          <p:cNvPr id="56" name="Shape 48"/>
          <p:cNvSpPr/>
          <p:nvPr/>
        </p:nvSpPr>
        <p:spPr>
          <a:xfrm>
            <a:off x="9974580" y="2340864"/>
            <a:ext cx="1711452" cy="1874520"/>
          </a:xfrm>
          <a:prstGeom prst="roundRect">
            <a:avLst>
              <a:gd name="adj" fmla="val 5343"/>
            </a:avLst>
          </a:prstGeom>
          <a:solidFill>
            <a:srgbClr val="FBF5E6"/>
          </a:solidFill>
          <a:ln w="9525">
            <a:solidFill>
              <a:srgbClr val="E2DCCB"/>
            </a:solidFill>
            <a:prstDash val="solid"/>
          </a:ln>
        </p:spPr>
      </p:sp>
      <p:sp>
        <p:nvSpPr>
          <p:cNvPr id="57" name="Shape 49"/>
          <p:cNvSpPr/>
          <p:nvPr/>
        </p:nvSpPr>
        <p:spPr>
          <a:xfrm>
            <a:off x="10120884" y="2487168"/>
            <a:ext cx="512064" cy="512064"/>
          </a:xfrm>
          <a:prstGeom prst="ellipse">
            <a:avLst/>
          </a:prstGeom>
          <a:solidFill>
            <a:srgbClr val="E6F0E7"/>
          </a:solidFill>
          <a:ln/>
        </p:spPr>
      </p:sp>
      <p:pic>
        <p:nvPicPr>
          <p:cNvPr id="58" name="Image 6" descr="books">    </p:cNvPr>
          <p:cNvPicPr>
            <a:picLocks noChangeAspect="1"/>
          </p:cNvPicPr>
          <p:nvPr/>
        </p:nvPicPr>
        <p:blipFill>
          <a:blip r:embed="rId7"/>
          <a:stretch>
            <a:fillRect/>
          </a:stretch>
        </p:blipFill>
        <p:spPr>
          <a:xfrm>
            <a:off x="10228417" y="2594701"/>
            <a:ext cx="296997" cy="296997"/>
          </a:xfrm>
          <a:prstGeom prst="rect">
            <a:avLst/>
          </a:prstGeom>
        </p:spPr>
      </p:pic>
      <p:sp>
        <p:nvSpPr>
          <p:cNvPr id="59" name="Shape 50"/>
          <p:cNvSpPr/>
          <p:nvPr/>
        </p:nvSpPr>
        <p:spPr>
          <a:xfrm>
            <a:off x="11228832" y="2523744"/>
            <a:ext cx="292608" cy="292608"/>
          </a:xfrm>
          <a:prstGeom prst="ellipse">
            <a:avLst/>
          </a:prstGeom>
          <a:solidFill>
            <a:srgbClr val="C08A1E"/>
          </a:solidFill>
          <a:ln/>
        </p:spPr>
      </p:sp>
      <p:sp>
        <p:nvSpPr>
          <p:cNvPr id="60" name="Text 51"/>
          <p:cNvSpPr txBox="1"/>
          <p:nvPr/>
        </p:nvSpPr>
        <p:spPr>
          <a:xfrm>
            <a:off x="11228832" y="2523744"/>
            <a:ext cx="292608" cy="292608"/>
          </a:xfrm>
          <a:prstGeom prst="rect">
            <a:avLst/>
          </a:prstGeom>
          <a:noFill/>
          <a:ln/>
        </p:spPr>
        <p:txBody>
          <a:bodyPr wrap="square" lIns="0" tIns="0" rIns="0" bIns="0" rtlCol="0" anchor="ctr">
            <a:noAutofit/>
          </a:bodyP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61" name="Text 52"/>
          <p:cNvSpPr txBox="1"/>
          <p:nvPr/>
        </p:nvSpPr>
        <p:spPr>
          <a:xfrm>
            <a:off x="10120884" y="3072384"/>
            <a:ext cx="143713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62" name="Text 53"/>
          <p:cNvSpPr txBox="1"/>
          <p:nvPr/>
        </p:nvSpPr>
        <p:spPr>
          <a:xfrm>
            <a:off x="10120884" y="3438144"/>
            <a:ext cx="1437132" cy="722376"/>
          </a:xfrm>
          <a:prstGeom prst="rect">
            <a:avLst/>
          </a:prstGeom>
          <a:noFill/>
          <a:ln/>
        </p:spPr>
        <p:txBody>
          <a:bodyPr wrap="square" lIns="0" tIns="0" rIns="0" bIns="0" rtlCol="0" anchor="t">
            <a:noAutofit/>
          </a:bodyPr>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낱말 뜻, 독후활동,</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다국어를 붙여</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300권에 더함</a:t>
            </a:r>
            <a:endParaRPr lang="en-US" sz="1300" dirty="0"/>
          </a:p>
        </p:txBody>
      </p:sp>
      <p:sp>
        <p:nvSpPr>
          <p:cNvPr id="63" name="Shape 54"/>
          <p:cNvSpPr/>
          <p:nvPr/>
        </p:nvSpPr>
        <p:spPr>
          <a:xfrm>
            <a:off x="502920" y="4398264"/>
            <a:ext cx="5321362" cy="1874520"/>
          </a:xfrm>
          <a:prstGeom prst="roundRect">
            <a:avLst>
              <a:gd name="adj" fmla="val 4878"/>
            </a:avLst>
          </a:prstGeom>
          <a:solidFill>
            <a:srgbClr val="20342A"/>
          </a:solidFill>
          <a:ln/>
        </p:spPr>
      </p:sp>
      <p:sp>
        <p:nvSpPr>
          <p:cNvPr id="64" name="Text 55"/>
          <p:cNvSpPr txBox="1"/>
          <p:nvPr/>
        </p:nvSpPr>
        <p:spPr>
          <a:xfrm>
            <a:off x="704088" y="4471416"/>
            <a:ext cx="4955602" cy="347472"/>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65" name="Text 56"/>
          <p:cNvSpPr txBox="1"/>
          <p:nvPr/>
        </p:nvSpPr>
        <p:spPr>
          <a:xfrm>
            <a:off x="704088" y="4855464"/>
            <a:ext cx="4955602" cy="1362456"/>
          </a:xfrm>
          <a:prstGeom prst="rect">
            <a:avLst/>
          </a:prstGeom>
          <a:noFill/>
          <a:ln/>
        </p:spPr>
        <p:txBody>
          <a:bodyPr wrap="square" lIns="0" tIns="0" rIns="0" bIns="0" rtlCol="0" anchor="t">
            <a:noAutofit/>
          </a:bodyPr>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명작 300권으로 다진 읽기가 교사가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오늘의 이야기</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로 이어져, 교실과 사회의 문제를 함께 풀어 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 창작한 교사의 이름을 걸고 펴내며,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 수상작은 박람회와 사례집으로 알리고, 시도 학교가 함께 쓰는 공공 독서 자료로 삼아 다국어로 해외에도 소개합니다.</a:t>
            </a:r>
            <a:endParaRPr lang="en-US" sz="1650" dirty="0"/>
          </a:p>
        </p:txBody>
      </p:sp>
      <p:sp>
        <p:nvSpPr>
          <p:cNvPr id="66" name="Shape 57"/>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67" name="Text 58"/>
          <p:cNvSpPr txBox="1"/>
          <p:nvPr/>
        </p:nvSpPr>
        <p:spPr>
          <a:xfrm>
            <a:off x="6281482" y="4471416"/>
            <a:ext cx="5221670" cy="347472"/>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8" name="Shape 59"/>
          <p:cNvSpPr/>
          <p:nvPr/>
        </p:nvSpPr>
        <p:spPr>
          <a:xfrm>
            <a:off x="6281482" y="4855464"/>
            <a:ext cx="1667405" cy="1307592"/>
          </a:xfrm>
          <a:prstGeom prst="roundRect">
            <a:avLst>
              <a:gd name="adj" fmla="val 5594"/>
            </a:avLst>
          </a:prstGeom>
          <a:solidFill>
            <a:srgbClr val="FBF5E6"/>
          </a:solidFill>
          <a:ln/>
        </p:spPr>
      </p:sp>
      <p:sp>
        <p:nvSpPr>
          <p:cNvPr id="69" name="Text 60"/>
          <p:cNvSpPr txBox="1"/>
          <p:nvPr/>
        </p:nvSpPr>
        <p:spPr>
          <a:xfrm>
            <a:off x="6354634" y="4892040"/>
            <a:ext cx="1521101" cy="719176"/>
          </a:xfrm>
          <a:prstGeom prst="rect">
            <a:avLst/>
          </a:prstGeom>
          <a:noFill/>
          <a:ln/>
        </p:spPr>
        <p:txBody>
          <a:bodyPr wrap="square" lIns="0" tIns="0" rIns="0" bIns="0" rtlCol="0" anchor="ctr">
            <a:noAutofit/>
          </a:bodyP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70" name="Text 61"/>
          <p:cNvSpPr txBox="1"/>
          <p:nvPr/>
        </p:nvSpPr>
        <p:spPr>
          <a:xfrm>
            <a:off x="6354634" y="5574640"/>
            <a:ext cx="1521101" cy="549189"/>
          </a:xfrm>
          <a:prstGeom prst="rect">
            <a:avLst/>
          </a:prstGeom>
          <a:noFill/>
          <a:ln/>
        </p:spPr>
        <p:txBody>
          <a:bodyPr wrap="square" lIns="0" tIns="0" rIns="0" bIns="0" rtlCol="0" anchor="t">
            <a:noAutofit/>
          </a:bodyP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71" name="Shape 62"/>
          <p:cNvSpPr/>
          <p:nvPr/>
        </p:nvSpPr>
        <p:spPr>
          <a:xfrm>
            <a:off x="8058615" y="4855464"/>
            <a:ext cx="1667405" cy="1307592"/>
          </a:xfrm>
          <a:prstGeom prst="roundRect">
            <a:avLst>
              <a:gd name="adj" fmla="val 5594"/>
            </a:avLst>
          </a:prstGeom>
          <a:solidFill>
            <a:srgbClr val="E6F0E7"/>
          </a:solidFill>
          <a:ln/>
        </p:spPr>
      </p:sp>
      <p:sp>
        <p:nvSpPr>
          <p:cNvPr id="72" name="Text 63"/>
          <p:cNvSpPr txBox="1"/>
          <p:nvPr/>
        </p:nvSpPr>
        <p:spPr>
          <a:xfrm>
            <a:off x="8131767" y="4892040"/>
            <a:ext cx="1521101" cy="719176"/>
          </a:xfrm>
          <a:prstGeom prst="rect">
            <a:avLst/>
          </a:prstGeom>
          <a:noFill/>
          <a:ln/>
        </p:spPr>
        <p:txBody>
          <a:bodyPr wrap="square" lIns="0" tIns="0" rIns="0" bIns="0" rtlCol="0" anchor="ctr">
            <a:noAutofit/>
          </a:bodyP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73" name="Text 64"/>
          <p:cNvSpPr txBox="1"/>
          <p:nvPr/>
        </p:nvSpPr>
        <p:spPr>
          <a:xfrm>
            <a:off x="8131767" y="5574640"/>
            <a:ext cx="1521101" cy="549189"/>
          </a:xfrm>
          <a:prstGeom prst="rect">
            <a:avLst/>
          </a:prstGeom>
          <a:noFill/>
          <a:ln/>
        </p:spPr>
        <p:txBody>
          <a:bodyPr wrap="square" lIns="0" tIns="0" rIns="0" bIns="0" rtlCol="0" anchor="t">
            <a:noAutofit/>
          </a:bodyP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74" name="Shape 65"/>
          <p:cNvSpPr/>
          <p:nvPr/>
        </p:nvSpPr>
        <p:spPr>
          <a:xfrm>
            <a:off x="9835747" y="4855464"/>
            <a:ext cx="1667405" cy="1307592"/>
          </a:xfrm>
          <a:prstGeom prst="roundRect">
            <a:avLst>
              <a:gd name="adj" fmla="val 5594"/>
            </a:avLst>
          </a:prstGeom>
          <a:solidFill>
            <a:srgbClr val="E6F0E7"/>
          </a:solidFill>
          <a:ln/>
        </p:spPr>
      </p:sp>
      <p:sp>
        <p:nvSpPr>
          <p:cNvPr id="75" name="Text 66"/>
          <p:cNvSpPr txBox="1"/>
          <p:nvPr/>
        </p:nvSpPr>
        <p:spPr>
          <a:xfrm>
            <a:off x="9908899" y="4892040"/>
            <a:ext cx="1521101" cy="719176"/>
          </a:xfrm>
          <a:prstGeom prst="rect">
            <a:avLst/>
          </a:prstGeom>
          <a:noFill/>
          <a:ln/>
        </p:spPr>
        <p:txBody>
          <a:bodyPr wrap="square" lIns="0" tIns="0" rIns="0" bIns="0" rtlCol="0" anchor="ctr">
            <a:noAutofit/>
          </a:bodyP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76" name="Text 67"/>
          <p:cNvSpPr txBox="1"/>
          <p:nvPr/>
        </p:nvSpPr>
        <p:spPr>
          <a:xfrm>
            <a:off x="9908899" y="5574640"/>
            <a:ext cx="1521101" cy="549189"/>
          </a:xfrm>
          <a:prstGeom prst="rect">
            <a:avLst/>
          </a:prstGeom>
          <a:noFill/>
          <a:ln/>
        </p:spPr>
        <p:txBody>
          <a:bodyPr wrap="square" lIns="0" tIns="0" rIns="0" bIns="0" rtlCol="0" anchor="t">
            <a:noAutofit/>
          </a:bodyP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noAutofit/>
          </a:bodyP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noAutofit/>
          </a:bodyP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noAutofit/>
          </a:bodyP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noAutofit/>
          </a:bodyP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noAutofit/>
          </a:bodyP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noAutofit/>
          </a:bodyPr>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학기별, 연간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noAutofit/>
          </a:bodyPr>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noAutofit/>
          </a:bodyP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noAutofit/>
          </a:bodyPr>
          <a:lstStyle/>
          <a:p>
            <a:pPr indent="0" marL="0">
              <a:lnSpc>
                <a:spcPct val="112000"/>
              </a:lnSpc>
              <a:buNone/>
            </a:pPr>
            <a:r>
              <a:rPr lang="en-US" sz="2635"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552" dirty="0">
                <a:solidFill>
                  <a:srgbClr val="2F7D4F"/>
                </a:solidFill>
                <a:latin typeface="Freesentation 7 Bold" pitchFamily="34" charset="0"/>
                <a:ea typeface="Freesentation 7 Bold" pitchFamily="34" charset="-122"/>
                <a:cs typeface="Freesentation 7 Bold" pitchFamily="34" charset="-120"/>
              </a:rPr>
              <a:t> 건</a:t>
            </a:r>
            <a:endParaRPr lang="en-US" sz="1552" dirty="0"/>
          </a:p>
        </p:txBody>
      </p:sp>
      <p:sp>
        <p:nvSpPr>
          <p:cNvPr id="16" name="Text 13"/>
          <p:cNvSpPr txBox="1"/>
          <p:nvPr/>
        </p:nvSpPr>
        <p:spPr>
          <a:xfrm>
            <a:off x="649224" y="2487168"/>
            <a:ext cx="2584427" cy="256032"/>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noAutofit/>
          </a:bodyPr>
          <a:lstStyle/>
          <a:p>
            <a:pPr indent="0" marL="0">
              <a:lnSpc>
                <a:spcPct val="112000"/>
              </a:lnSpc>
              <a:buNone/>
            </a:pPr>
            <a:r>
              <a:rPr lang="en-US" sz="2635"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552" dirty="0">
                <a:solidFill>
                  <a:srgbClr val="2F7D4F"/>
                </a:solidFill>
                <a:latin typeface="Freesentation 7 Bold" pitchFamily="34" charset="0"/>
                <a:ea typeface="Freesentation 7 Bold" pitchFamily="34" charset="-122"/>
                <a:cs typeface="Freesentation 7 Bold" pitchFamily="34" charset="-120"/>
              </a:rPr>
              <a:t> 억 원</a:t>
            </a:r>
            <a:endParaRPr lang="en-US" sz="1552" dirty="0"/>
          </a:p>
        </p:txBody>
      </p:sp>
      <p:sp>
        <p:nvSpPr>
          <p:cNvPr id="19" name="Text 16"/>
          <p:cNvSpPr txBox="1"/>
          <p:nvPr/>
        </p:nvSpPr>
        <p:spPr>
          <a:xfrm>
            <a:off x="3690851" y="2487168"/>
            <a:ext cx="2584427" cy="256032"/>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noAutofit/>
          </a:bodyPr>
          <a:lstStyle/>
          <a:p>
            <a:pPr indent="0" marL="0">
              <a:lnSpc>
                <a:spcPct val="112000"/>
              </a:lnSpc>
              <a:buNone/>
            </a:pPr>
            <a:r>
              <a:rPr lang="en-US" sz="2635"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552" dirty="0">
                <a:solidFill>
                  <a:srgbClr val="2F7D4F"/>
                </a:solidFill>
                <a:latin typeface="Freesentation 7 Bold" pitchFamily="34" charset="0"/>
                <a:ea typeface="Freesentation 7 Bold" pitchFamily="34" charset="-122"/>
                <a:cs typeface="Freesentation 7 Bold" pitchFamily="34" charset="-120"/>
              </a:rPr>
              <a:t> 개</a:t>
            </a:r>
            <a:endParaRPr lang="en-US" sz="1552" dirty="0"/>
          </a:p>
        </p:txBody>
      </p:sp>
      <p:sp>
        <p:nvSpPr>
          <p:cNvPr id="22" name="Text 19"/>
          <p:cNvSpPr txBox="1"/>
          <p:nvPr/>
        </p:nvSpPr>
        <p:spPr>
          <a:xfrm>
            <a:off x="649224" y="3511296"/>
            <a:ext cx="2584427" cy="256032"/>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noAutofit/>
          </a:bodyPr>
          <a:lstStyle/>
          <a:p>
            <a:pPr indent="0" marL="0">
              <a:lnSpc>
                <a:spcPct val="112000"/>
              </a:lnSpc>
              <a:buNone/>
            </a:pPr>
            <a:r>
              <a:rPr lang="en-US" sz="2635"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552" dirty="0">
                <a:solidFill>
                  <a:srgbClr val="2F7D4F"/>
                </a:solidFill>
                <a:latin typeface="Freesentation 7 Bold" pitchFamily="34" charset="0"/>
                <a:ea typeface="Freesentation 7 Bold" pitchFamily="34" charset="-122"/>
                <a:cs typeface="Freesentation 7 Bold" pitchFamily="34" charset="-120"/>
              </a:rPr>
              <a:t> 곳</a:t>
            </a:r>
            <a:endParaRPr lang="en-US" sz="1552" dirty="0"/>
          </a:p>
        </p:txBody>
      </p:sp>
      <p:sp>
        <p:nvSpPr>
          <p:cNvPr id="25" name="Text 22"/>
          <p:cNvSpPr txBox="1"/>
          <p:nvPr/>
        </p:nvSpPr>
        <p:spPr>
          <a:xfrm>
            <a:off x="3690851" y="3511296"/>
            <a:ext cx="2584427" cy="256032"/>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noAutofit/>
          </a:bodyP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noAutofit/>
          </a:bodyP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39</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선도교사단 계정 현황(2026. 10. 28.), 선도교사단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40</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noAutofit/>
          </a:bodyP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noAutofit/>
          </a:bodyP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noAutofit/>
          </a:bodyP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noAutofit/>
          </a:bodyP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noAutofit/>
          </a:bodyPr>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noAutofit/>
          </a:bodyP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41</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noAutofit/>
          </a:bodyP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noAutofit/>
          </a:bodyP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noAutofit/>
          </a:bodyP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noAutofit/>
          </a:bodyP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noAutofit/>
          </a:bodyP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noAutofit/>
          </a:bodyP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42</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noAutofit/>
          </a:bodyP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noAutofit/>
          </a:bodyP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noAutofit/>
          </a:bodyP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noAutofit/>
          </a:bodyP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noAutofit/>
          </a:bodyP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noAutofit/>
          </a:bodyP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43</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noAutofit/>
          </a:bodyP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noAutofit/>
          </a:bodyPr>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noAutofit/>
          </a:bodyPr>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noAutofit/>
          </a:bodyPr>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noAutofit/>
          </a:bodyPr>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noAutofit/>
          </a:bodyP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noAutofit/>
          </a:bodyPr>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noAutofit/>
          </a:bodyPr>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독서수업 프로그램 부기 기반 독서교육 위탁운영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noAutofit/>
          </a:bodyPr>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noAutofit/>
          </a:bodyP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noAutofit/>
          </a:bodyP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noAutofit/>
          </a:bodyP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noAutofit/>
          </a:bodyP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noAutofit/>
          </a:bodyP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noAutofit/>
          </a:bodyPr>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noAutofit/>
          </a:bodyP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45</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noAutofit/>
          </a:bodyPr>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 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noAutofit/>
          </a:bodyP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noAutofit/>
          </a:bodyP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noAutofit/>
          </a:bodyPr>
          <a:lstStyle/>
          <a:p>
            <a:pPr algn="ctr" indent="0" marL="0">
              <a:lnSpc>
                <a:spcPct val="112000"/>
              </a:lnSpc>
              <a:buNone/>
            </a:pPr>
            <a:r>
              <a:rPr lang="en-US" sz="1331"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331"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noAutofit/>
          </a:bodyP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noAutofit/>
          </a:bodyPr>
          <a:lstStyle/>
          <a:p>
            <a:pPr algn="ctr" indent="0" marL="0">
              <a:lnSpc>
                <a:spcPct val="112000"/>
              </a:lnSpc>
              <a:buNone/>
            </a:pPr>
            <a:r>
              <a:rPr lang="en-US" sz="1331"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331"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noAutofit/>
          </a:bodyP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noAutofit/>
          </a:bodyPr>
          <a:lstStyle/>
          <a:p>
            <a:pPr algn="ctr" indent="0" marL="0">
              <a:lnSpc>
                <a:spcPct val="112000"/>
              </a:lnSpc>
              <a:buNone/>
            </a:pPr>
            <a:r>
              <a:rPr lang="en-US" sz="1331"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331" dirty="0"/>
          </a:p>
        </p:txBody>
      </p:sp>
      <p:sp>
        <p:nvSpPr>
          <p:cNvPr id="36" name="Text 31"/>
          <p:cNvSpPr txBox="1"/>
          <p:nvPr/>
        </p:nvSpPr>
        <p:spPr>
          <a:xfrm>
            <a:off x="6409275" y="5888736"/>
            <a:ext cx="5276757" cy="384048"/>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noAutofit/>
          </a:bodyP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noAutofit/>
          </a:bodyP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noAutofit/>
          </a:bodyP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noAutofit/>
          </a:bodyP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noAutofit/>
          </a:bodyP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noAutofit/>
          </a:bodyP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noAutofit/>
          </a:bodyP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noAutofit/>
          </a:bodyP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noAutofit/>
          </a:bodyP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46</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noAutofit/>
          </a:bodyP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noAutofit/>
          </a:bodyPr>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noAutofit/>
          </a:bodyPr>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noAutofit/>
          </a:bodyPr>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noAutofit/>
          </a:bodyPr>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noAutofit/>
          </a:bodyP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noAutofit/>
          </a:bodyPr>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noAutofit/>
          </a:bodyP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noAutofit/>
          </a:bodyP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선생님이 계획한 독서수업을 운영하도록 자료와 연수를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noAutofit/>
          </a:bodyP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noAutofit/>
          </a:bodyP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독서수업 프로그램 부기(BOOKIE) 기반 독서교육 위탁운영 제안서</dc:title>
  <dc:subject>PptxGenJS Presentation</dc:subject>
  <dc:creator>MSECM</dc:creator>
  <cp:lastModifiedBy>MSECM</cp:lastModifiedBy>
  <cp:revision>1</cp:revision>
  <dcterms:created xsi:type="dcterms:W3CDTF">2026-10-31T03:04:06Z</dcterms:created>
  <dcterms:modified xsi:type="dcterms:W3CDTF">2026-10-31T03:04:06Z</dcterms:modified>
</cp:coreProperties>
</file>